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73ef5bd81f431d" /><Relationship Type="http://schemas.openxmlformats.org/officeDocument/2006/relationships/extended-properties" Target="/docProps/app.xml" Id="Rafb65d207acf4ca7" /><Relationship Type="http://schemas.openxmlformats.org/officeDocument/2006/relationships/officeDocument" Target="/ppt/presentation.xml" Id="R9464eba4921746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8b358b2bc44f54"/>
  </p:sldMasterIdLst>
  <p:notesMasterIdLst>
    <p:notesMasterId xmlns:r="http://schemas.openxmlformats.org/officeDocument/2006/relationships" r:id="R7caa2f036f8c49d5"/>
  </p:notesMasterIdLst>
  <p:sldIdLst>
    <p:sldId xmlns:r="http://schemas.openxmlformats.org/officeDocument/2006/relationships" id="256" r:id="R3c419c7b6f344c3b"/>
    <p:sldId xmlns:r="http://schemas.openxmlformats.org/officeDocument/2006/relationships" id="257" r:id="Ra88ca77f4ece42d4"/>
    <p:sldId xmlns:r="http://schemas.openxmlformats.org/officeDocument/2006/relationships" id="258" r:id="Re3214fc80bba4b3d"/>
    <p:sldId xmlns:r="http://schemas.openxmlformats.org/officeDocument/2006/relationships" id="259" r:id="R7e5423f70518478b"/>
    <p:sldId xmlns:r="http://schemas.openxmlformats.org/officeDocument/2006/relationships" id="260" r:id="R5b920e17d53947d1"/>
    <p:sldId xmlns:r="http://schemas.openxmlformats.org/officeDocument/2006/relationships" id="261" r:id="R8f14b89ae58d48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5aa2a459204044" /><Relationship Type="http://schemas.openxmlformats.org/officeDocument/2006/relationships/slideMaster" Target="/ppt/slideMasters/slideMaster1.xml" Id="Rc78b358b2bc44f54" /><Relationship Type="http://schemas.openxmlformats.org/officeDocument/2006/relationships/notesMaster" Target="/ppt/notesMasters/notesMaster1.xml" Id="R7caa2f036f8c49d5" /><Relationship Type="http://schemas.openxmlformats.org/officeDocument/2006/relationships/presProps" Target="/ppt/presProps.xml" Id="R3479a2096bf9424c" /><Relationship Type="http://schemas.openxmlformats.org/officeDocument/2006/relationships/tableStyles" Target="/ppt/tableStyles.xml" Id="Rc82188cc038b49a7" /><Relationship Type="http://schemas.openxmlformats.org/officeDocument/2006/relationships/slide" Target="/ppt/slides/slide1.xml" Id="R3c419c7b6f344c3b" /><Relationship Type="http://schemas.openxmlformats.org/officeDocument/2006/relationships/slide" Target="/ppt/slides/slide2.xml" Id="Ra88ca77f4ece42d4" /><Relationship Type="http://schemas.openxmlformats.org/officeDocument/2006/relationships/slide" Target="/ppt/slides/slide3.xml" Id="Re3214fc80bba4b3d" /><Relationship Type="http://schemas.openxmlformats.org/officeDocument/2006/relationships/slide" Target="/ppt/slides/slide4.xml" Id="R7e5423f70518478b" /><Relationship Type="http://schemas.openxmlformats.org/officeDocument/2006/relationships/slide" Target="/ppt/slides/slide5.xml" Id="R5b920e17d53947d1" /><Relationship Type="http://schemas.openxmlformats.org/officeDocument/2006/relationships/slide" Target="/ppt/slides/slide6.xml" Id="R8f14b89ae58d48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1bd37b5e4c4e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a8b2a6ff3f4909" /><Relationship Type="http://schemas.openxmlformats.org/officeDocument/2006/relationships/notesMaster" Target="/ppt/notesMasters/notesMaster1.xml" Id="Red35a2a4906043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c429e98e8d4c1e" /><Relationship Type="http://schemas.openxmlformats.org/officeDocument/2006/relationships/notesMaster" Target="/ppt/notesMasters/notesMaster1.xml" Id="Ree28b4805e7c4b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1b04e1a608464d" /><Relationship Type="http://schemas.openxmlformats.org/officeDocument/2006/relationships/notesMaster" Target="/ppt/notesMasters/notesMaster1.xml" Id="Rad39e9fb6a4a4d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2e296bfd124d92" /><Relationship Type="http://schemas.openxmlformats.org/officeDocument/2006/relationships/notesMaster" Target="/ppt/notesMasters/notesMaster1.xml" Id="R3f508f5230684d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0a53246c0e4a7b" /><Relationship Type="http://schemas.openxmlformats.org/officeDocument/2006/relationships/notesMaster" Target="/ppt/notesMasters/notesMaster1.xml" Id="Red9d93fc1a3845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b92da59ab4498f" /><Relationship Type="http://schemas.openxmlformats.org/officeDocument/2006/relationships/notesMaster" Target="/ppt/notesMasters/notesMaster1.xml" Id="R6fc611b40da84f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[Component] DC-01 County Trend Three Judgments</a:t>
            </a:r>
          </a:p>
          <a:p xmlns:a="http://schemas.openxmlformats.org/drawingml/2006/main">
            <a:r>
              <a:t>[Instructor] 先让学员判断县域机会是减少还是迁移，再逐条揭示。</a:t>
            </a:r>
          </a:p>
          <a:p xmlns:a="http://schemas.openxmlformats.org/drawingml/2006/main">
            <a:r>
              <a:t>[Learner] 每人说出一个本地需求场景变化。</a:t>
            </a:r>
          </a:p>
          <a:p xmlns:a="http://schemas.openxmlformats.org/drawingml/2006/main">
            <a:r>
              <a:t>[Replace] TITLE, SUBTITLE, J01/J02/J03_LABEL, J01/J02/J03_FROM, J01/J02/J03_TO, TEACHING_CUE.</a:t>
            </a:r>
          </a:p>
          <a:p xmlns:a="http://schemas.openxmlformats.org/drawingml/2006/main">
            <a:r>
              <a:t>[Keep] 三条纵向变化链、编号、箭头方向和三种语义色。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[Component] DC-02 County Business Territory Map</a:t>
            </a:r>
          </a:p>
          <a:p xmlns:a="http://schemas.openxmlformats.org/drawingml/2006/main">
            <a:r>
              <a:t>[Instructor] 示范如何用经营动作而不是销售高低给区域分类。</a:t>
            </a:r>
          </a:p>
          <a:p xmlns:a="http://schemas.openxmlformats.org/drawingml/2006/main">
            <a:r>
              <a:t>[Learner] 标出守盘区、做深区、开拓区，并说明证据。</a:t>
            </a:r>
          </a:p>
          <a:p xmlns:a="http://schemas.openxmlformats.org/drawingml/2006/main">
            <a:r>
              <a:t>[Replace] COUNTY_NAME, COUNTY_EVIDENCE, TOWN_01..04_LABEL, TOWN_01..04_ACTION, TEACHING_CUE.</a:t>
            </a:r>
          </a:p>
          <a:p xmlns:a="http://schemas.openxmlformats.org/drawingml/2006/main">
            <a:r>
              <a:t>[Keep] 县城中心、乡镇空间关系、守盘/做深/开拓语义色。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[Component] DC-03 Four-Force Diagnosis</a:t>
            </a:r>
          </a:p>
          <a:p xmlns:a="http://schemas.openxmlformats.org/drawingml/2006/main">
            <a:r>
              <a:t>[Instructor] 不先打分。先让学员选症状，再追问哪一力最能解释症状。</a:t>
            </a:r>
          </a:p>
          <a:p xmlns:a="http://schemas.openxmlformats.org/drawingml/2006/main">
            <a:r>
              <a:t>[Learner] 选1个主短板、最多1个辅助短板，并写证据。</a:t>
            </a:r>
          </a:p>
          <a:p xmlns:a="http://schemas.openxmlformats.org/drawingml/2006/main">
            <a:r>
              <a:t>[Replace] CORE_PROBLEM, BRAND/CHANNEL/SCENE/PRODUCT_QUESTION and _EVIDENCE, TEACHING_CUE.</a:t>
            </a:r>
          </a:p>
          <a:p xmlns:a="http://schemas.openxmlformats.org/drawingml/2006/main">
            <a:r>
              <a:t>[Keep] 中心问题与四力环绕关系；禁止四项都标红。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[Component] DC-04 Four-Stage Growth Diagnosis</a:t>
            </a:r>
          </a:p>
          <a:p xmlns:a="http://schemas.openxmlformats.org/drawingml/2006/main">
            <a:r>
              <a:t>[Instructor] 先展示情境，隐藏标准答案；学员选阶段后再逐级解释。</a:t>
            </a:r>
          </a:p>
          <a:p xmlns:a="http://schemas.openxmlformats.org/drawingml/2006/main">
            <a:r>
              <a:t>[Learner] 选择阶段并说出一个已经形成的结果。</a:t>
            </a:r>
          </a:p>
          <a:p xmlns:a="http://schemas.openxmlformats.org/drawingml/2006/main">
            <a:r>
              <a:t>[Replace] S1..S4_RESULT, S1..S4_TASK, STAGE_RULE, TEACHING_CUE.</a:t>
            </a:r>
          </a:p>
          <a:p xmlns:a="http://schemas.openxmlformats.org/drawingml/2006/main">
            <a:r>
              <a:t>[Keep] 四级阶梯、由浅到深的视觉进阶、阶段名称。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[Component] DC-17 Symptom Clustering And Core-Problem Convergence</a:t>
            </a:r>
          </a:p>
          <a:p xmlns:a="http://schemas.openxmlformats.org/drawingml/2006/main">
            <a:r>
              <a:t>[Instructor] 先只展示左侧症状墙；让小组归类后，再揭示右侧四类病症。</a:t>
            </a:r>
          </a:p>
          <a:p xmlns:a="http://schemas.openxmlformats.org/drawingml/2006/main">
            <a:r>
              <a:t>[Learner] 对症状归类并投票选1个主病症。</a:t>
            </a:r>
          </a:p>
          <a:p xmlns:a="http://schemas.openxmlformats.org/drawingml/2006/main">
            <a:r>
              <a:t>[Replace] SYMPTOM_01..08_TEXT, C1..C4_LABEL, C1..C4_DESC, TEACHING_CUE.</a:t>
            </a:r>
          </a:p>
          <a:p xmlns:a="http://schemas.openxmlformats.org/drawingml/2006/main">
            <a:r>
              <a:t>[Keep] 左侧零散事实到右侧病症聚类的收敛关系。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[Component] DC-20 Integrated Diagnosis Chain</a:t>
            </a:r>
          </a:p>
          <a:p xmlns:a="http://schemas.openxmlformats.org/drawingml/2006/main">
            <a:r>
              <a:t>[Instructor] 逐步推进，禁止学员在没有阶段和病症证据时直接给动作。</a:t>
            </a:r>
          </a:p>
          <a:p xmlns:a="http://schemas.openxmlformats.org/drawingml/2006/main">
            <a:r>
              <a:t>[Learner] 完成五步诊断，并用一句话陈述结论。</a:t>
            </a:r>
          </a:p>
          <a:p xmlns:a="http://schemas.openxmlformats.org/drawingml/2006/main">
            <a:r>
              <a:t>[Replace] CASE_PROMPT, STEP_1..5_OUTPUT, STEP_1..5_QUESTION, TEACHING_CUE.</a:t>
            </a:r>
          </a:p>
          <a:p xmlns:a="http://schemas.openxmlformats.org/drawingml/2006/main">
            <a:r>
              <a:t>[Keep] 五步顺序和左侧诊断脊柱；动作最多3项。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8e98ed2144b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114340bdaa495e" /><Relationship Type="http://schemas.openxmlformats.org/officeDocument/2006/relationships/slideLayout" Target="/ppt/slideLayouts/slideLayout1.xml" Id="R49c458e055b24c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c458e055b24c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57eeab31d4190" /><Relationship Type="http://schemas.openxmlformats.org/officeDocument/2006/relationships/notesSlide" Target="/ppt/notesSlides/notesSlide1.xml" Id="R5258e675e0a441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27e8ec3994c23" /><Relationship Type="http://schemas.openxmlformats.org/officeDocument/2006/relationships/notesSlide" Target="/ppt/notesSlides/notesSlide2.xml" Id="R860dea4a709a4d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ebbc31af347a3" /><Relationship Type="http://schemas.openxmlformats.org/officeDocument/2006/relationships/notesSlide" Target="/ppt/notesSlides/notesSlide3.xml" Id="R73fd3eeaf03e40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3297522234d0b" /><Relationship Type="http://schemas.openxmlformats.org/officeDocument/2006/relationships/notesSlide" Target="/ppt/notesSlides/notesSlide4.xml" Id="R86670896d85c46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48b1022dd42c6" /><Relationship Type="http://schemas.openxmlformats.org/officeDocument/2006/relationships/notesSlide" Target="/ppt/notesSlides/notesSlide5.xml" Id="R3d87ab7f85894a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05465a5a1403a" /><Relationship Type="http://schemas.openxmlformats.org/officeDocument/2006/relationships/notesSlide" Target="/ppt/notesSlides/notesSlide6.xml" Id="Rc1895ac13b3c4a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RAND_RED_RAIL">
            <a:extLst xmlns:a="http://schemas.openxmlformats.org/drawingml/2006/main">
              <a:ext uri="{FF2B5EF4-FFF2-40B4-BE49-F238E27FC236}">
                <a16:creationId xmlns:a16="http://schemas.microsoft.com/office/drawing/2014/main" id="{20EE8419-905E-4CD8-B20B-4CF4E317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0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ONENT_ID">
            <a:extLst xmlns:a="http://schemas.openxmlformats.org/drawingml/2006/main">
              <a:ext uri="{FF2B5EF4-FFF2-40B4-BE49-F238E27FC236}">
                <a16:creationId xmlns:a16="http://schemas.microsoft.com/office/drawing/2014/main" id="{6DC3A899-1565-4279-820E-D4E49A89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05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DC-01 · COUNTY TREND THREE JUDGMENTS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3A2CA7-78E2-4A6B-9F02-B23A373E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县域机会没有消失，但机会来源、位置和购买逻辑都变了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2B61CBA-2991-4CDF-9869-2C37721D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把宏观趋势翻译成经销商可以观察、判断和行动的三条经营变化链</a:t>
            </a:r>
          </a:p>
        </p:txBody>
      </p:sp>
      <p:sp>
        <p:nvSpPr>
          <p:cNvPr id="5" name="BRAND_MARK">
            <a:extLst xmlns:a="http://schemas.openxmlformats.org/drawingml/2006/main">
              <a:ext uri="{FF2B5EF4-FFF2-40B4-BE49-F238E27FC236}">
                <a16:creationId xmlns:a16="http://schemas.microsoft.com/office/drawing/2014/main" id="{17C9B046-BF5F-4253-B4C0-AB8FD0B5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38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东方雨虹</a:t>
            </a:r>
          </a:p>
        </p:txBody>
      </p:sp>
      <p:sp>
        <p:nvSpPr>
          <p:cNvPr id="6" name="HEADER_RULE">
            <a:extLst xmlns:a="http://schemas.openxmlformats.org/drawingml/2006/main">
              <a:ext uri="{FF2B5EF4-FFF2-40B4-BE49-F238E27FC236}">
                <a16:creationId xmlns:a16="http://schemas.microsoft.com/office/drawing/2014/main" id="{BD6DC31A-A82B-456C-A49B-2835260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7" name="J01_NUMBER">
            <a:extLst xmlns:a="http://schemas.openxmlformats.org/drawingml/2006/main">
              <a:ext uri="{FF2B5EF4-FFF2-40B4-BE49-F238E27FC236}">
                <a16:creationId xmlns:a16="http://schemas.microsoft.com/office/drawing/2014/main" id="{8DB34C77-9B33-4C47-9736-C32A58C5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J01_LABEL">
            <a:extLst xmlns:a="http://schemas.openxmlformats.org/drawingml/2006/main">
              <a:ext uri="{FF2B5EF4-FFF2-40B4-BE49-F238E27FC236}">
                <a16:creationId xmlns:a16="http://schemas.microsoft.com/office/drawing/2014/main" id="{46CEF953-3BAF-4216-B218-F4129034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145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机会来源变了</a:t>
            </a:r>
          </a:p>
        </p:txBody>
      </p:sp>
      <p:sp>
        <p:nvSpPr>
          <p:cNvPr id="9" name="J01_FROM">
            <a:extLst xmlns:a="http://schemas.openxmlformats.org/drawingml/2006/main">
              <a:ext uri="{FF2B5EF4-FFF2-40B4-BE49-F238E27FC236}">
                <a16:creationId xmlns:a16="http://schemas.microsoft.com/office/drawing/2014/main" id="{184225CF-794D-48C8-ACE6-A5C74790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383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只等新房新建</a:t>
            </a:r>
          </a:p>
        </p:txBody>
      </p:sp>
      <p:sp>
        <p:nvSpPr>
          <p:cNvPr id="10" name="J01_ARROW">
            <a:extLst xmlns:a="http://schemas.openxmlformats.org/drawingml/2006/main">
              <a:ext uri="{FF2B5EF4-FFF2-40B4-BE49-F238E27FC236}">
                <a16:creationId xmlns:a16="http://schemas.microsoft.com/office/drawing/2014/main" id="{D6509F61-2914-45BA-BCB1-40444D76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10668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0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J01_TO_SURFACE">
            <a:extLst xmlns:a="http://schemas.openxmlformats.org/drawingml/2006/main">
              <a:ext uri="{FF2B5EF4-FFF2-40B4-BE49-F238E27FC236}">
                <a16:creationId xmlns:a16="http://schemas.microsoft.com/office/drawing/2014/main" id="{CBB658FB-269F-46D0-80D2-DB4C8BC9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1930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D6001C"/>
            </a:solidFill>
            <a:prstDash val="solid"/>
          </a:ln>
        </p:spPr>
      </p:sp>
      <p:sp>
        <p:nvSpPr>
          <p:cNvPr id="12" name="J01_TO">
            <a:extLst xmlns:a="http://schemas.openxmlformats.org/drawingml/2006/main">
              <a:ext uri="{FF2B5EF4-FFF2-40B4-BE49-F238E27FC236}">
                <a16:creationId xmlns:a16="http://schemas.microsoft.com/office/drawing/2014/main" id="{F3D14615-927C-45BC-B09F-CC27811B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新建 + 翻修 + 维修 + 更新</a:t>
            </a:r>
          </a:p>
        </p:txBody>
      </p:sp>
      <p:sp>
        <p:nvSpPr>
          <p:cNvPr id="13" name="J02_NUMBER">
            <a:extLst xmlns:a="http://schemas.openxmlformats.org/drawingml/2006/main">
              <a:ext uri="{FF2B5EF4-FFF2-40B4-BE49-F238E27FC236}">
                <a16:creationId xmlns:a16="http://schemas.microsoft.com/office/drawing/2014/main" id="{348DA8DF-6A44-478D-A237-895FED39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J02_LABEL">
            <a:extLst xmlns:a="http://schemas.openxmlformats.org/drawingml/2006/main">
              <a:ext uri="{FF2B5EF4-FFF2-40B4-BE49-F238E27FC236}">
                <a16:creationId xmlns:a16="http://schemas.microsoft.com/office/drawing/2014/main" id="{B0B969D8-36D6-4B22-952F-5034E866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09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机会位置变了</a:t>
            </a:r>
          </a:p>
        </p:txBody>
      </p:sp>
      <p:sp>
        <p:nvSpPr>
          <p:cNvPr id="15" name="J02_FROM">
            <a:extLst xmlns:a="http://schemas.openxmlformats.org/drawingml/2006/main">
              <a:ext uri="{FF2B5EF4-FFF2-40B4-BE49-F238E27FC236}">
                <a16:creationId xmlns:a16="http://schemas.microsoft.com/office/drawing/2014/main" id="{D06E2F57-162B-4FDF-B228-74D11F82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只盯县城门店</a:t>
            </a:r>
          </a:p>
        </p:txBody>
      </p:sp>
      <p:sp>
        <p:nvSpPr>
          <p:cNvPr id="16" name="J02_ARROW">
            <a:extLst xmlns:a="http://schemas.openxmlformats.org/drawingml/2006/main">
              <a:ext uri="{FF2B5EF4-FFF2-40B4-BE49-F238E27FC236}">
                <a16:creationId xmlns:a16="http://schemas.microsoft.com/office/drawing/2014/main" id="{E31BA782-9A19-418B-B8B7-3C853731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10668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6A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J02_TO_SURFACE">
            <a:extLst xmlns:a="http://schemas.openxmlformats.org/drawingml/2006/main">
              <a:ext uri="{FF2B5EF4-FFF2-40B4-BE49-F238E27FC236}">
                <a16:creationId xmlns:a16="http://schemas.microsoft.com/office/drawing/2014/main" id="{1E1EBA9A-2EDB-4355-9ECE-E249B6BF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246AA8"/>
            </a:solidFill>
            <a:prstDash val="solid"/>
          </a:ln>
        </p:spPr>
      </p:sp>
      <p:sp>
        <p:nvSpPr>
          <p:cNvPr id="18" name="J02_TO">
            <a:extLst xmlns:a="http://schemas.openxmlformats.org/drawingml/2006/main">
              <a:ext uri="{FF2B5EF4-FFF2-40B4-BE49-F238E27FC236}">
                <a16:creationId xmlns:a16="http://schemas.microsoft.com/office/drawing/2014/main" id="{E8E3C8E5-B537-4173-9ECD-4E709F1B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19475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县城经营中心 + 重点乡镇需求触点</a:t>
            </a:r>
          </a:p>
        </p:txBody>
      </p:sp>
      <p:sp>
        <p:nvSpPr>
          <p:cNvPr id="19" name="J03_NUMBER">
            <a:extLst xmlns:a="http://schemas.openxmlformats.org/drawingml/2006/main">
              <a:ext uri="{FF2B5EF4-FFF2-40B4-BE49-F238E27FC236}">
                <a16:creationId xmlns:a16="http://schemas.microsoft.com/office/drawing/2014/main" id="{3FAF351A-76BC-49AD-A1B2-8CE7C507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J03_LABEL">
            <a:extLst xmlns:a="http://schemas.openxmlformats.org/drawingml/2006/main">
              <a:ext uri="{FF2B5EF4-FFF2-40B4-BE49-F238E27FC236}">
                <a16:creationId xmlns:a16="http://schemas.microsoft.com/office/drawing/2014/main" id="{C0FDA0D9-0C3A-40BF-8055-76E0C701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购买逻辑变了</a:t>
            </a:r>
          </a:p>
        </p:txBody>
      </p:sp>
      <p:sp>
        <p:nvSpPr>
          <p:cNvPr id="21" name="J03_FROM">
            <a:extLst xmlns:a="http://schemas.openxmlformats.org/drawingml/2006/main">
              <a:ext uri="{FF2B5EF4-FFF2-40B4-BE49-F238E27FC236}">
                <a16:creationId xmlns:a16="http://schemas.microsoft.com/office/drawing/2014/main" id="{A15819D4-F01B-4DF7-A69F-3D4A9ADD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291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产品与价格</a:t>
            </a:r>
          </a:p>
        </p:txBody>
      </p:sp>
      <p:sp>
        <p:nvSpPr>
          <p:cNvPr id="22" name="J03_ARROW">
            <a:extLst xmlns:a="http://schemas.openxmlformats.org/drawingml/2006/main">
              <a:ext uri="{FF2B5EF4-FFF2-40B4-BE49-F238E27FC236}">
                <a16:creationId xmlns:a16="http://schemas.microsoft.com/office/drawing/2014/main" id="{A5FDEBE8-FB0A-4371-A995-65961A8F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24400"/>
            <a:ext cx="10668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J03_TO_SURFACE">
            <a:extLst xmlns:a="http://schemas.openxmlformats.org/drawingml/2006/main">
              <a:ext uri="{FF2B5EF4-FFF2-40B4-BE49-F238E27FC236}">
                <a16:creationId xmlns:a16="http://schemas.microsoft.com/office/drawing/2014/main" id="{A60BA2DD-F7E3-4999-B8F2-DA8EC463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10100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14288">
            <a:solidFill>
              <a:srgbClr val="26866A"/>
            </a:solidFill>
            <a:prstDash val="solid"/>
          </a:ln>
        </p:spPr>
      </p:sp>
      <p:sp>
        <p:nvSpPr>
          <p:cNvPr id="24" name="J03_TO">
            <a:extLst xmlns:a="http://schemas.openxmlformats.org/drawingml/2006/main">
              <a:ext uri="{FF2B5EF4-FFF2-40B4-BE49-F238E27FC236}">
                <a16:creationId xmlns:a16="http://schemas.microsoft.com/office/drawing/2014/main" id="{ADBD459D-66CB-4E01-AE5D-A1A80381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02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82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品牌 + 熟人推荐 + 施工与售后确定性</a:t>
            </a:r>
          </a:p>
        </p:txBody>
      </p:sp>
      <p:sp>
        <p:nvSpPr>
          <p:cNvPr id="25" name="TEACHING_CUE">
            <a:extLst xmlns:a="http://schemas.openxmlformats.org/drawingml/2006/main">
              <a:ext uri="{FF2B5EF4-FFF2-40B4-BE49-F238E27FC236}">
                <a16:creationId xmlns:a16="http://schemas.microsoft.com/office/drawing/2014/main" id="{E1EFE987-8404-48B5-9F5C-5766F6BA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讲师动作：先问“机会哪里变了”，收集答案后逐条揭示三条判断。</a:t>
            </a:r>
          </a:p>
        </p:txBody>
      </p:sp>
      <p:sp>
        <p:nvSpPr>
          <p:cNvPr id="2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EE5A4A45-F944-4D1C-B0A6-6E5A090F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2948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_RED_RAIL">
            <a:extLst xmlns:a="http://schemas.openxmlformats.org/drawingml/2006/main">
              <a:ext uri="{FF2B5EF4-FFF2-40B4-BE49-F238E27FC236}">
                <a16:creationId xmlns:a16="http://schemas.microsoft.com/office/drawing/2014/main" id="{6728B84C-0521-4935-9690-3B705BA2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0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ONENT_ID">
            <a:extLst xmlns:a="http://schemas.openxmlformats.org/drawingml/2006/main">
              <a:ext uri="{FF2B5EF4-FFF2-40B4-BE49-F238E27FC236}">
                <a16:creationId xmlns:a16="http://schemas.microsoft.com/office/drawing/2014/main" id="{1834B4A0-FC1E-4FCE-BFEC-11411A08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942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DC-02 · COUNTY BUSINESS TERRITORY MAP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4BEAC0-C28F-442E-95F8-E7B78369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增长空间不是一张名单，而是一张有经营动作的县域版图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B1E2B74-D6E7-4EFD-918F-9AFFF4DF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按守盘、做深、开拓三类动作标注县城和乡镇，避免只用销售高低给区域上色</a:t>
            </a:r>
          </a:p>
        </p:txBody>
      </p:sp>
      <p:sp>
        <p:nvSpPr>
          <p:cNvPr id="5" name="BRAND_MARK">
            <a:extLst xmlns:a="http://schemas.openxmlformats.org/drawingml/2006/main">
              <a:ext uri="{FF2B5EF4-FFF2-40B4-BE49-F238E27FC236}">
                <a16:creationId xmlns:a16="http://schemas.microsoft.com/office/drawing/2014/main" id="{27BA06F2-0FBE-41F9-BDD9-26921C75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38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东方雨虹</a:t>
            </a:r>
          </a:p>
        </p:txBody>
      </p:sp>
      <p:sp>
        <p:nvSpPr>
          <p:cNvPr id="6" name="HEADER_RULE">
            <a:extLst xmlns:a="http://schemas.openxmlformats.org/drawingml/2006/main">
              <a:ext uri="{FF2B5EF4-FFF2-40B4-BE49-F238E27FC236}">
                <a16:creationId xmlns:a16="http://schemas.microsoft.com/office/drawing/2014/main" id="{CB02E9BE-766C-48BD-886F-35E21F2F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7" name="COUNTY_CENTER">
            <a:extLst xmlns:a="http://schemas.openxmlformats.org/drawingml/2006/main">
              <a:ext uri="{FF2B5EF4-FFF2-40B4-BE49-F238E27FC236}">
                <a16:creationId xmlns:a16="http://schemas.microsoft.com/office/drawing/2014/main" id="{F20FC3FA-8B08-47BF-91E8-EA13B578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0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UNTY_NAME">
            <a:extLst xmlns:a="http://schemas.openxmlformats.org/drawingml/2006/main">
              <a:ext uri="{FF2B5EF4-FFF2-40B4-BE49-F238E27FC236}">
                <a16:creationId xmlns:a16="http://schemas.microsoft.com/office/drawing/2014/main" id="{00226CA5-6E44-4DD0-889E-45A1F5E4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县城大本营</a:t>
            </a:r>
          </a:p>
        </p:txBody>
      </p:sp>
      <p:sp>
        <p:nvSpPr>
          <p:cNvPr id="9" name="COUNTY_EVIDENCE">
            <a:extLst xmlns:a="http://schemas.openxmlformats.org/drawingml/2006/main">
              <a:ext uri="{FF2B5EF4-FFF2-40B4-BE49-F238E27FC236}">
                <a16:creationId xmlns:a16="http://schemas.microsoft.com/office/drawing/2014/main" id="{ABD351DC-6101-47ED-802F-546E5B44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433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核心门店｜配送｜服务</a:t>
            </a:r>
          </a:p>
        </p:txBody>
      </p:sp>
      <p:sp>
        <p:nvSpPr>
          <p:cNvPr id="10" name="TOWN_01_LINK">
            <a:extLst xmlns:a="http://schemas.openxmlformats.org/drawingml/2006/main">
              <a:ext uri="{FF2B5EF4-FFF2-40B4-BE49-F238E27FC236}">
                <a16:creationId xmlns:a16="http://schemas.microsoft.com/office/drawing/2014/main" id="{C9EE6FD8-575E-4AB1-B39F-8FE43213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1333500" cy="3779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866A"/>
            </a:solidFill>
            <a:prstDash val="solid"/>
          </a:ln>
        </p:spPr>
      </p:sp>
      <p:sp>
        <p:nvSpPr>
          <p:cNvPr id="11" name="TOWN_01_NODE">
            <a:extLst xmlns:a="http://schemas.openxmlformats.org/drawingml/2006/main">
              <a:ext uri="{FF2B5EF4-FFF2-40B4-BE49-F238E27FC236}">
                <a16:creationId xmlns:a16="http://schemas.microsoft.com/office/drawing/2014/main" id="{F289FF18-E060-4086-A667-1889811D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52650"/>
            <a:ext cx="169545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1"/>
          </a:solidFill>
          <a:ln xmlns:a="http://schemas.openxmlformats.org/drawingml/2006/main" w="19050">
            <a:solidFill>
              <a:srgbClr val="26866A"/>
            </a:solidFill>
            <a:prstDash val="solid"/>
          </a:ln>
        </p:spPr>
      </p:sp>
      <p:sp>
        <p:nvSpPr>
          <p:cNvPr id="12" name="TOWN_01_LABEL">
            <a:extLst xmlns:a="http://schemas.openxmlformats.org/drawingml/2006/main">
              <a:ext uri="{FF2B5EF4-FFF2-40B4-BE49-F238E27FC236}">
                <a16:creationId xmlns:a16="http://schemas.microsoft.com/office/drawing/2014/main" id="{445EDD39-97E7-444F-B6CE-24F0EBD7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145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中心镇A</a:t>
            </a:r>
          </a:p>
        </p:txBody>
      </p:sp>
      <p:sp>
        <p:nvSpPr>
          <p:cNvPr id="13" name="TOWN_01_ACTION">
            <a:extLst xmlns:a="http://schemas.openxmlformats.org/drawingml/2006/main">
              <a:ext uri="{FF2B5EF4-FFF2-40B4-BE49-F238E27FC236}">
                <a16:creationId xmlns:a16="http://schemas.microsoft.com/office/drawing/2014/main" id="{9F25BA7F-57F4-4495-9223-3814E374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574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做深</a:t>
            </a:r>
          </a:p>
        </p:txBody>
      </p:sp>
      <p:sp>
        <p:nvSpPr>
          <p:cNvPr id="14" name="TOWN_02_LINK">
            <a:extLst xmlns:a="http://schemas.openxmlformats.org/drawingml/2006/main">
              <a:ext uri="{FF2B5EF4-FFF2-40B4-BE49-F238E27FC236}">
                <a16:creationId xmlns:a16="http://schemas.microsoft.com/office/drawing/2014/main" id="{A3B4B54B-9445-4B3A-8999-2EE065EC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33750"/>
            <a:ext cx="1333500" cy="3962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6AA8"/>
            </a:solidFill>
            <a:prstDash val="solid"/>
          </a:ln>
        </p:spPr>
      </p:sp>
      <p:sp>
        <p:nvSpPr>
          <p:cNvPr id="15" name="TOWN_02_NODE">
            <a:extLst xmlns:a="http://schemas.openxmlformats.org/drawingml/2006/main">
              <a:ext uri="{FF2B5EF4-FFF2-40B4-BE49-F238E27FC236}">
                <a16:creationId xmlns:a16="http://schemas.microsoft.com/office/drawing/2014/main" id="{10CEF9E2-99C6-4519-967A-034F461E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72000"/>
            <a:ext cx="169545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19050">
            <a:solidFill>
              <a:srgbClr val="246AA8"/>
            </a:solidFill>
            <a:prstDash val="solid"/>
          </a:ln>
        </p:spPr>
      </p:sp>
      <p:sp>
        <p:nvSpPr>
          <p:cNvPr id="16" name="TOWN_02_LABEL">
            <a:extLst xmlns:a="http://schemas.openxmlformats.org/drawingml/2006/main">
              <a:ext uri="{FF2B5EF4-FFF2-40B4-BE49-F238E27FC236}">
                <a16:creationId xmlns:a16="http://schemas.microsoft.com/office/drawing/2014/main" id="{6924B289-C96E-4ECB-A847-886A462E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339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乡镇B</a:t>
            </a:r>
          </a:p>
        </p:txBody>
      </p:sp>
      <p:sp>
        <p:nvSpPr>
          <p:cNvPr id="17" name="TOWN_02_ACTION">
            <a:extLst xmlns:a="http://schemas.openxmlformats.org/drawingml/2006/main">
              <a:ext uri="{FF2B5EF4-FFF2-40B4-BE49-F238E27FC236}">
                <a16:creationId xmlns:a16="http://schemas.microsoft.com/office/drawing/2014/main" id="{DF87962D-5931-4B54-BEA5-ECE51297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76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守盘</a:t>
            </a:r>
          </a:p>
        </p:txBody>
      </p:sp>
      <p:sp>
        <p:nvSpPr>
          <p:cNvPr id="18" name="TOWN_03_LINK">
            <a:extLst xmlns:a="http://schemas.openxmlformats.org/drawingml/2006/main">
              <a:ext uri="{FF2B5EF4-FFF2-40B4-BE49-F238E27FC236}">
                <a16:creationId xmlns:a16="http://schemas.microsoft.com/office/drawing/2014/main" id="{29D6AA3F-0943-40C7-8A5C-DDD49CCE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5075"/>
            <a:ext cx="131445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7700"/>
            </a:solidFill>
            <a:prstDash val="solid"/>
          </a:ln>
        </p:spPr>
      </p:sp>
      <p:sp>
        <p:nvSpPr>
          <p:cNvPr id="19" name="TOWN_03_NODE">
            <a:extLst xmlns:a="http://schemas.openxmlformats.org/drawingml/2006/main">
              <a:ext uri="{FF2B5EF4-FFF2-40B4-BE49-F238E27FC236}">
                <a16:creationId xmlns:a16="http://schemas.microsoft.com/office/drawing/2014/main" id="{8D88CF59-0127-42AD-AF35-213EF3B7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47875"/>
            <a:ext cx="169545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19050">
            <a:solidFill>
              <a:srgbClr val="B87700"/>
            </a:solidFill>
            <a:prstDash val="solid"/>
          </a:ln>
        </p:spPr>
      </p:sp>
      <p:sp>
        <p:nvSpPr>
          <p:cNvPr id="20" name="TOWN_03_LABEL">
            <a:extLst xmlns:a="http://schemas.openxmlformats.org/drawingml/2006/main">
              <a:ext uri="{FF2B5EF4-FFF2-40B4-BE49-F238E27FC236}">
                <a16:creationId xmlns:a16="http://schemas.microsoft.com/office/drawing/2014/main" id="{358D8641-03B7-45BD-BA23-30741A83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乡镇C</a:t>
            </a:r>
          </a:p>
        </p:txBody>
      </p:sp>
      <p:sp>
        <p:nvSpPr>
          <p:cNvPr id="21" name="TOWN_03_ACTION">
            <a:extLst xmlns:a="http://schemas.openxmlformats.org/drawingml/2006/main">
              <a:ext uri="{FF2B5EF4-FFF2-40B4-BE49-F238E27FC236}">
                <a16:creationId xmlns:a16="http://schemas.microsoft.com/office/drawing/2014/main" id="{6FCE488C-4A75-4293-A0A7-2E4E442A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52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开拓</a:t>
            </a:r>
          </a:p>
        </p:txBody>
      </p:sp>
      <p:sp>
        <p:nvSpPr>
          <p:cNvPr id="22" name="TOWN_04_LINK">
            <a:extLst xmlns:a="http://schemas.openxmlformats.org/drawingml/2006/main">
              <a:ext uri="{FF2B5EF4-FFF2-40B4-BE49-F238E27FC236}">
                <a16:creationId xmlns:a16="http://schemas.microsoft.com/office/drawing/2014/main" id="{8B768CDA-E014-45A1-9160-7B5CE17E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571625" cy="3779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646B"/>
            </a:solidFill>
            <a:prstDash val="solid"/>
          </a:ln>
        </p:spPr>
      </p:sp>
      <p:sp>
        <p:nvSpPr>
          <p:cNvPr id="23" name="TOWN_04_NODE">
            <a:extLst xmlns:a="http://schemas.openxmlformats.org/drawingml/2006/main">
              <a:ext uri="{FF2B5EF4-FFF2-40B4-BE49-F238E27FC236}">
                <a16:creationId xmlns:a16="http://schemas.microsoft.com/office/drawing/2014/main" id="{1DECEBDE-08A0-45FA-B904-497A6910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14850"/>
            <a:ext cx="169545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19050">
            <a:solidFill>
              <a:srgbClr val="5F646B"/>
            </a:solidFill>
            <a:prstDash val="solid"/>
          </a:ln>
        </p:spPr>
      </p:sp>
      <p:sp>
        <p:nvSpPr>
          <p:cNvPr id="24" name="TOWN_04_LABEL">
            <a:extLst xmlns:a="http://schemas.openxmlformats.org/drawingml/2006/main">
              <a:ext uri="{FF2B5EF4-FFF2-40B4-BE49-F238E27FC236}">
                <a16:creationId xmlns:a16="http://schemas.microsoft.com/office/drawing/2014/main" id="{0DF52C39-AB7B-4F87-90EE-EA0282C6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767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乡镇D</a:t>
            </a:r>
          </a:p>
        </p:txBody>
      </p:sp>
      <p:sp>
        <p:nvSpPr>
          <p:cNvPr id="25" name="TOWN_04_ACTION">
            <a:extLst xmlns:a="http://schemas.openxmlformats.org/drawingml/2006/main">
              <a:ext uri="{FF2B5EF4-FFF2-40B4-BE49-F238E27FC236}">
                <a16:creationId xmlns:a16="http://schemas.microsoft.com/office/drawing/2014/main" id="{2EAF9D99-1B7B-47A8-A826-D280429C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019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待验证</a:t>
            </a:r>
          </a:p>
        </p:txBody>
      </p:sp>
      <p:sp>
        <p:nvSpPr>
          <p:cNvPr id="26" name="LEGEND_KEEP">
            <a:extLst xmlns:a="http://schemas.openxmlformats.org/drawingml/2006/main">
              <a:ext uri="{FF2B5EF4-FFF2-40B4-BE49-F238E27FC236}">
                <a16:creationId xmlns:a16="http://schemas.microsoft.com/office/drawing/2014/main" id="{4E615121-DD8C-4704-89E4-8664EE63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768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守盘</a:t>
            </a:r>
          </a:p>
        </p:txBody>
      </p:sp>
      <p:sp>
        <p:nvSpPr>
          <p:cNvPr id="27" name="LEGEND_DEEPEN">
            <a:extLst xmlns:a="http://schemas.openxmlformats.org/drawingml/2006/main">
              <a:ext uri="{FF2B5EF4-FFF2-40B4-BE49-F238E27FC236}">
                <a16:creationId xmlns:a16="http://schemas.microsoft.com/office/drawing/2014/main" id="{5075CC6B-4CCA-4B6A-A134-7F2B7F04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768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做深</a:t>
            </a:r>
          </a:p>
        </p:txBody>
      </p:sp>
      <p:sp>
        <p:nvSpPr>
          <p:cNvPr id="28" name="LEGEND_EXPAND">
            <a:extLst xmlns:a="http://schemas.openxmlformats.org/drawingml/2006/main">
              <a:ext uri="{FF2B5EF4-FFF2-40B4-BE49-F238E27FC236}">
                <a16:creationId xmlns:a16="http://schemas.microsoft.com/office/drawing/2014/main" id="{03F0608D-C72B-4604-BF3D-FD68B19E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768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开拓</a:t>
            </a:r>
          </a:p>
        </p:txBody>
      </p:sp>
      <p:sp>
        <p:nvSpPr>
          <p:cNvPr id="29" name="TEACHING_CUE">
            <a:extLst xmlns:a="http://schemas.openxmlformats.org/drawingml/2006/main">
              <a:ext uri="{FF2B5EF4-FFF2-40B4-BE49-F238E27FC236}">
                <a16:creationId xmlns:a16="http://schemas.microsoft.com/office/drawing/2014/main" id="{7865C13A-C158-4426-A8FE-AD3B178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学员产出：标出1个守盘乡镇、1个做深乡镇和1个开拓乡镇，并写出证据。</a:t>
            </a:r>
          </a:p>
        </p:txBody>
      </p:sp>
      <p:sp>
        <p:nvSpPr>
          <p:cNvPr id="30" name="PAGE_NUMBER">
            <a:extLst xmlns:a="http://schemas.openxmlformats.org/drawingml/2006/main">
              <a:ext uri="{FF2B5EF4-FFF2-40B4-BE49-F238E27FC236}">
                <a16:creationId xmlns:a16="http://schemas.microsoft.com/office/drawing/2014/main" id="{43EEE192-B173-4CE4-B093-CFA7969F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2429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RAND_RED_RAIL">
            <a:extLst xmlns:a="http://schemas.openxmlformats.org/drawingml/2006/main">
              <a:ext uri="{FF2B5EF4-FFF2-40B4-BE49-F238E27FC236}">
                <a16:creationId xmlns:a16="http://schemas.microsoft.com/office/drawing/2014/main" id="{156EE6F1-095E-4975-A69F-D23129B2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0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ONENT_ID">
            <a:extLst xmlns:a="http://schemas.openxmlformats.org/drawingml/2006/main">
              <a:ext uri="{FF2B5EF4-FFF2-40B4-BE49-F238E27FC236}">
                <a16:creationId xmlns:a16="http://schemas.microsoft.com/office/drawing/2014/main" id="{4FFC46C4-65D3-4744-8C5E-F24946E4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DC-03 · FOUR-FORCE DIAGNOSIS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174E65-E07B-4595-8C06-0A9CBD72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四力不是四个概念，而是四个可以现场回答的经营问题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3981555-FCC6-4B21-88B1-7054E6B8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先选最突出症状，再用品牌力、渠道力、场景力、产品力寻找主短板与证据</a:t>
            </a:r>
          </a:p>
        </p:txBody>
      </p:sp>
      <p:sp>
        <p:nvSpPr>
          <p:cNvPr id="5" name="BRAND_MARK">
            <a:extLst xmlns:a="http://schemas.openxmlformats.org/drawingml/2006/main">
              <a:ext uri="{FF2B5EF4-FFF2-40B4-BE49-F238E27FC236}">
                <a16:creationId xmlns:a16="http://schemas.microsoft.com/office/drawing/2014/main" id="{DF4CDB13-626E-4009-BCF4-4E7C2F8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38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东方雨虹</a:t>
            </a:r>
          </a:p>
        </p:txBody>
      </p:sp>
      <p:sp>
        <p:nvSpPr>
          <p:cNvPr id="6" name="HEADER_RULE">
            <a:extLst xmlns:a="http://schemas.openxmlformats.org/drawingml/2006/main">
              <a:ext uri="{FF2B5EF4-FFF2-40B4-BE49-F238E27FC236}">
                <a16:creationId xmlns:a16="http://schemas.microsoft.com/office/drawing/2014/main" id="{04ACF05B-DCCE-46DC-9C30-1A97130F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7" name="DIAGNOSIS_CORE">
            <a:extLst xmlns:a="http://schemas.openxmlformats.org/drawingml/2006/main">
              <a:ext uri="{FF2B5EF4-FFF2-40B4-BE49-F238E27FC236}">
                <a16:creationId xmlns:a16="http://schemas.microsoft.com/office/drawing/2014/main" id="{4EDF7D7A-CE22-4A89-8A7B-97511E27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RE_PROBLEM">
            <a:extLst xmlns:a="http://schemas.openxmlformats.org/drawingml/2006/main">
              <a:ext uri="{FF2B5EF4-FFF2-40B4-BE49-F238E27FC236}">
                <a16:creationId xmlns:a16="http://schemas.microsoft.com/office/drawing/2014/main" id="{156D94E6-C945-4C87-AF7F-A3CA6BE8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90900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当前最卡的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经营问题</a:t>
            </a:r>
          </a:p>
        </p:txBody>
      </p:sp>
      <p:sp>
        <p:nvSpPr>
          <p:cNvPr id="9" name="BRAND_LINK">
            <a:extLst xmlns:a="http://schemas.openxmlformats.org/drawingml/2006/main">
              <a:ext uri="{FF2B5EF4-FFF2-40B4-BE49-F238E27FC236}">
                <a16:creationId xmlns:a16="http://schemas.microsoft.com/office/drawing/2014/main" id="{B767A619-B52F-478E-87B2-8128B847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76525"/>
            <a:ext cx="72390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001C"/>
            </a:solidFill>
            <a:prstDash val="solid"/>
          </a:ln>
        </p:spPr>
      </p:sp>
      <p:sp>
        <p:nvSpPr>
          <p:cNvPr id="10" name="BRAND_SURFACE">
            <a:extLst xmlns:a="http://schemas.openxmlformats.org/drawingml/2006/main">
              <a:ext uri="{FF2B5EF4-FFF2-40B4-BE49-F238E27FC236}">
                <a16:creationId xmlns:a16="http://schemas.microsoft.com/office/drawing/2014/main" id="{40B0A206-C8D4-4384-B657-0DA99894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9050">
            <a:solidFill>
              <a:srgbClr val="D6001C"/>
            </a:solidFill>
            <a:prstDash val="solid"/>
          </a:ln>
        </p:spPr>
      </p:sp>
      <p:sp>
        <p:nvSpPr>
          <p:cNvPr id="11" name="BRAND_LABEL">
            <a:extLst xmlns:a="http://schemas.openxmlformats.org/drawingml/2006/main">
              <a:ext uri="{FF2B5EF4-FFF2-40B4-BE49-F238E27FC236}">
                <a16:creationId xmlns:a16="http://schemas.microsoft.com/office/drawing/2014/main" id="{00F88D87-FA43-4B81-9B8D-BC7AB02B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95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品牌力</a:t>
            </a:r>
          </a:p>
        </p:txBody>
      </p:sp>
      <p:sp>
        <p:nvSpPr>
          <p:cNvPr id="12" name="BRAND_QUESTION">
            <a:extLst xmlns:a="http://schemas.openxmlformats.org/drawingml/2006/main">
              <a:ext uri="{FF2B5EF4-FFF2-40B4-BE49-F238E27FC236}">
                <a16:creationId xmlns:a16="http://schemas.microsoft.com/office/drawing/2014/main" id="{24F23C98-C2D6-48A1-8D71-073C74EA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384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当地客户为什么相信你？</a:t>
            </a:r>
          </a:p>
        </p:txBody>
      </p:sp>
      <p:sp>
        <p:nvSpPr>
          <p:cNvPr id="13" name="BRAND_EVIDENCE">
            <a:extLst xmlns:a="http://schemas.openxmlformats.org/drawingml/2006/main">
              <a:ext uri="{FF2B5EF4-FFF2-40B4-BE49-F238E27FC236}">
                <a16:creationId xmlns:a16="http://schemas.microsoft.com/office/drawing/2014/main" id="{7D226B41-9501-4D1F-BF9A-BEA1BB3A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908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本地认知｜样板｜口碑</a:t>
            </a:r>
          </a:p>
        </p:txBody>
      </p:sp>
      <p:sp>
        <p:nvSpPr>
          <p:cNvPr id="14" name="CHANNEL_LINK">
            <a:extLst xmlns:a="http://schemas.openxmlformats.org/drawingml/2006/main">
              <a:ext uri="{FF2B5EF4-FFF2-40B4-BE49-F238E27FC236}">
                <a16:creationId xmlns:a16="http://schemas.microsoft.com/office/drawing/2014/main" id="{869203AC-831F-471F-91CA-BF31BDAA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76525"/>
            <a:ext cx="114300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6AA8"/>
            </a:solidFill>
            <a:prstDash val="solid"/>
          </a:ln>
        </p:spPr>
      </p:sp>
      <p:sp>
        <p:nvSpPr>
          <p:cNvPr id="15" name="CHANNEL_SURFACE">
            <a:extLst xmlns:a="http://schemas.openxmlformats.org/drawingml/2006/main">
              <a:ext uri="{FF2B5EF4-FFF2-40B4-BE49-F238E27FC236}">
                <a16:creationId xmlns:a16="http://schemas.microsoft.com/office/drawing/2014/main" id="{435B9E77-8E0D-40D1-90BC-9094D991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9050">
            <a:solidFill>
              <a:srgbClr val="246AA8"/>
            </a:solidFill>
            <a:prstDash val="solid"/>
          </a:ln>
        </p:spPr>
      </p:sp>
      <p:sp>
        <p:nvSpPr>
          <p:cNvPr id="16" name="CHANNEL_LABEL">
            <a:extLst xmlns:a="http://schemas.openxmlformats.org/drawingml/2006/main">
              <a:ext uri="{FF2B5EF4-FFF2-40B4-BE49-F238E27FC236}">
                <a16:creationId xmlns:a16="http://schemas.microsoft.com/office/drawing/2014/main" id="{C8A89BFA-4BAC-4419-8685-662A6063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渠道力</a:t>
            </a:r>
          </a:p>
        </p:txBody>
      </p:sp>
      <p:sp>
        <p:nvSpPr>
          <p:cNvPr id="17" name="CHANNEL_QUESTION">
            <a:extLst xmlns:a="http://schemas.openxmlformats.org/drawingml/2006/main">
              <a:ext uri="{FF2B5EF4-FFF2-40B4-BE49-F238E27FC236}">
                <a16:creationId xmlns:a16="http://schemas.microsoft.com/office/drawing/2014/main" id="{5D9F9F16-98A5-4534-A6CE-A2481A82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当地有没有人持续卖、持续推？</a:t>
            </a:r>
          </a:p>
        </p:txBody>
      </p:sp>
      <p:sp>
        <p:nvSpPr>
          <p:cNvPr id="18" name="CHANNEL_EVIDENCE">
            <a:extLst xmlns:a="http://schemas.openxmlformats.org/drawingml/2006/main">
              <a:ext uri="{FF2B5EF4-FFF2-40B4-BE49-F238E27FC236}">
                <a16:creationId xmlns:a16="http://schemas.microsoft.com/office/drawing/2014/main" id="{24104CD1-8DF7-46B6-B48D-1EB9BCCE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核心网点｜工人｜关键人</a:t>
            </a:r>
          </a:p>
        </p:txBody>
      </p:sp>
      <p:sp>
        <p:nvSpPr>
          <p:cNvPr id="19" name="SCENE_LINK">
            <a:extLst xmlns:a="http://schemas.openxmlformats.org/drawingml/2006/main">
              <a:ext uri="{FF2B5EF4-FFF2-40B4-BE49-F238E27FC236}">
                <a16:creationId xmlns:a16="http://schemas.microsoft.com/office/drawing/2014/main" id="{E3812C07-AC96-4D44-B5A8-41337B1F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76750"/>
            <a:ext cx="72390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7700"/>
            </a:solidFill>
            <a:prstDash val="solid"/>
          </a:ln>
        </p:spPr>
      </p:sp>
      <p:sp>
        <p:nvSpPr>
          <p:cNvPr id="20" name="SCENE_SURFACE">
            <a:extLst xmlns:a="http://schemas.openxmlformats.org/drawingml/2006/main">
              <a:ext uri="{FF2B5EF4-FFF2-40B4-BE49-F238E27FC236}">
                <a16:creationId xmlns:a16="http://schemas.microsoft.com/office/drawing/2014/main" id="{C2395F50-F185-4D08-93DA-F702639B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19050">
            <a:solidFill>
              <a:srgbClr val="B87700"/>
            </a:solidFill>
            <a:prstDash val="solid"/>
          </a:ln>
        </p:spPr>
      </p:sp>
      <p:sp>
        <p:nvSpPr>
          <p:cNvPr id="21" name="SCENE_LABEL">
            <a:extLst xmlns:a="http://schemas.openxmlformats.org/drawingml/2006/main">
              <a:ext uri="{FF2B5EF4-FFF2-40B4-BE49-F238E27FC236}">
                <a16:creationId xmlns:a16="http://schemas.microsoft.com/office/drawing/2014/main" id="{E3533932-C006-40A8-9E62-8E188289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96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场景力</a:t>
            </a:r>
          </a:p>
        </p:txBody>
      </p:sp>
      <p:sp>
        <p:nvSpPr>
          <p:cNvPr id="22" name="SCENE_QUESTION">
            <a:extLst xmlns:a="http://schemas.openxmlformats.org/drawingml/2006/main">
              <a:ext uri="{FF2B5EF4-FFF2-40B4-BE49-F238E27FC236}">
                <a16:creationId xmlns:a16="http://schemas.microsoft.com/office/drawing/2014/main" id="{AF84A24B-3E37-41C9-832E-072F6D2C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625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能不能持续找到真实项目？</a:t>
            </a:r>
          </a:p>
        </p:txBody>
      </p:sp>
      <p:sp>
        <p:nvSpPr>
          <p:cNvPr id="23" name="SCENE_EVIDENCE">
            <a:extLst xmlns:a="http://schemas.openxmlformats.org/drawingml/2006/main">
              <a:ext uri="{FF2B5EF4-FFF2-40B4-BE49-F238E27FC236}">
                <a16:creationId xmlns:a16="http://schemas.microsoft.com/office/drawing/2014/main" id="{742863A3-607C-426F-8A6A-34E907E4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线索｜节点｜转化</a:t>
            </a:r>
          </a:p>
        </p:txBody>
      </p:sp>
      <p:sp>
        <p:nvSpPr>
          <p:cNvPr id="24" name="PRODUCT_LINK">
            <a:extLst xmlns:a="http://schemas.openxmlformats.org/drawingml/2006/main">
              <a:ext uri="{FF2B5EF4-FFF2-40B4-BE49-F238E27FC236}">
                <a16:creationId xmlns:a16="http://schemas.microsoft.com/office/drawing/2014/main" id="{7E89A4B1-D239-4EDA-A50C-733CC008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76750"/>
            <a:ext cx="114300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866A"/>
            </a:solidFill>
            <a:prstDash val="solid"/>
          </a:ln>
        </p:spPr>
      </p:sp>
      <p:sp>
        <p:nvSpPr>
          <p:cNvPr id="25" name="PRODUCT_SURFACE">
            <a:extLst xmlns:a="http://schemas.openxmlformats.org/drawingml/2006/main">
              <a:ext uri="{FF2B5EF4-FFF2-40B4-BE49-F238E27FC236}">
                <a16:creationId xmlns:a16="http://schemas.microsoft.com/office/drawing/2014/main" id="{657347C3-132A-4654-BC89-24367335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19050">
            <a:solidFill>
              <a:srgbClr val="26866A"/>
            </a:solidFill>
            <a:prstDash val="solid"/>
          </a:ln>
        </p:spPr>
      </p:sp>
      <p:sp>
        <p:nvSpPr>
          <p:cNvPr id="26" name="PRODUCT_LABEL">
            <a:extLst xmlns:a="http://schemas.openxmlformats.org/drawingml/2006/main">
              <a:ext uri="{FF2B5EF4-FFF2-40B4-BE49-F238E27FC236}">
                <a16:creationId xmlns:a16="http://schemas.microsoft.com/office/drawing/2014/main" id="{BC94698D-B6BE-4902-8DF9-CBE9F7CD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96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产品力</a:t>
            </a:r>
          </a:p>
        </p:txBody>
      </p:sp>
      <p:sp>
        <p:nvSpPr>
          <p:cNvPr id="27" name="PRODUCT_QUESTION">
            <a:extLst xmlns:a="http://schemas.openxmlformats.org/drawingml/2006/main">
              <a:ext uri="{FF2B5EF4-FFF2-40B4-BE49-F238E27FC236}">
                <a16:creationId xmlns:a16="http://schemas.microsoft.com/office/drawing/2014/main" id="{A64C96B1-A9A4-4677-B76E-30FB5173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625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产品能否切入、动销并扩品？</a:t>
            </a:r>
          </a:p>
        </p:txBody>
      </p:sp>
      <p:sp>
        <p:nvSpPr>
          <p:cNvPr id="28" name="PRODUCT_EVIDENCE">
            <a:extLst xmlns:a="http://schemas.openxmlformats.org/drawingml/2006/main">
              <a:ext uri="{FF2B5EF4-FFF2-40B4-BE49-F238E27FC236}">
                <a16:creationId xmlns:a16="http://schemas.microsoft.com/office/drawing/2014/main" id="{AFC18B0B-29CD-4A98-B4E6-E2A4A9BD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149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首单｜复购｜组合</a:t>
            </a:r>
          </a:p>
        </p:txBody>
      </p:sp>
      <p:sp>
        <p:nvSpPr>
          <p:cNvPr id="29" name="TEACHING_CUE">
            <a:extLst xmlns:a="http://schemas.openxmlformats.org/drawingml/2006/main">
              <a:ext uri="{FF2B5EF4-FFF2-40B4-BE49-F238E27FC236}">
                <a16:creationId xmlns:a16="http://schemas.microsoft.com/office/drawing/2014/main" id="{8D938446-8400-4DF0-A382-AA3D6780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判断规则：只能选1个主短板、最多1个辅助短板，并各写出一条证据。</a:t>
            </a:r>
          </a:p>
        </p:txBody>
      </p:sp>
      <p:sp>
        <p:nvSpPr>
          <p:cNvPr id="30" name="PAGE_NUMBER">
            <a:extLst xmlns:a="http://schemas.openxmlformats.org/drawingml/2006/main">
              <a:ext uri="{FF2B5EF4-FFF2-40B4-BE49-F238E27FC236}">
                <a16:creationId xmlns:a16="http://schemas.microsoft.com/office/drawing/2014/main" id="{CAC01B4F-05E4-4BD5-A44F-8715BACE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3819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RAND_RED_RAIL">
            <a:extLst xmlns:a="http://schemas.openxmlformats.org/drawingml/2006/main">
              <a:ext uri="{FF2B5EF4-FFF2-40B4-BE49-F238E27FC236}">
                <a16:creationId xmlns:a16="http://schemas.microsoft.com/office/drawing/2014/main" id="{A68631B1-D03A-4CCD-A19E-699F61BA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0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ONENT_ID">
            <a:extLst xmlns:a="http://schemas.openxmlformats.org/drawingml/2006/main">
              <a:ext uri="{FF2B5EF4-FFF2-40B4-BE49-F238E27FC236}">
                <a16:creationId xmlns:a16="http://schemas.microsoft.com/office/drawing/2014/main" id="{B339CA92-25D8-4CC8-BDDD-B0404654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38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DC-04 · FOUR-STAGE GROWTH DIAGNOSIS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15E4D5-A524-41E6-B76F-43845D31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阶段不按开发了几年判断，而是看市场已经形成了什么结果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AC61086-CA39-4AB3-B09C-98DBC03D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每一级只回答两件事：已经形成什么经营结果，下一步必须完成什么通关任务</a:t>
            </a:r>
          </a:p>
        </p:txBody>
      </p:sp>
      <p:sp>
        <p:nvSpPr>
          <p:cNvPr id="5" name="BRAND_MARK">
            <a:extLst xmlns:a="http://schemas.openxmlformats.org/drawingml/2006/main">
              <a:ext uri="{FF2B5EF4-FFF2-40B4-BE49-F238E27FC236}">
                <a16:creationId xmlns:a16="http://schemas.microsoft.com/office/drawing/2014/main" id="{69C43D8C-6B28-4D40-A9A8-FA861C4A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38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东方雨虹</a:t>
            </a:r>
          </a:p>
        </p:txBody>
      </p:sp>
      <p:sp>
        <p:nvSpPr>
          <p:cNvPr id="6" name="HEADER_RULE">
            <a:extLst xmlns:a="http://schemas.openxmlformats.org/drawingml/2006/main">
              <a:ext uri="{FF2B5EF4-FFF2-40B4-BE49-F238E27FC236}">
                <a16:creationId xmlns:a16="http://schemas.microsoft.com/office/drawing/2014/main" id="{7CE5B6D3-DE5C-4726-896E-90CA9E61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7" name="S1_BLOCK">
            <a:extLst xmlns:a="http://schemas.openxmlformats.org/drawingml/2006/main">
              <a:ext uri="{FF2B5EF4-FFF2-40B4-BE49-F238E27FC236}">
                <a16:creationId xmlns:a16="http://schemas.microsoft.com/office/drawing/2014/main" id="{0CC200C0-2479-4589-8C5C-F7AB5110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381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1_NUMBER">
            <a:extLst xmlns:a="http://schemas.openxmlformats.org/drawingml/2006/main">
              <a:ext uri="{FF2B5EF4-FFF2-40B4-BE49-F238E27FC236}">
                <a16:creationId xmlns:a16="http://schemas.microsoft.com/office/drawing/2014/main" id="{C42F2D47-C6A3-49FF-B0BE-ACBCB8FD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1_LABEL">
            <a:extLst xmlns:a="http://schemas.openxmlformats.org/drawingml/2006/main">
              <a:ext uri="{FF2B5EF4-FFF2-40B4-BE49-F238E27FC236}">
                <a16:creationId xmlns:a16="http://schemas.microsoft.com/office/drawing/2014/main" id="{6826E5DF-73FF-4359-A0BD-5612FD97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进得去</a:t>
            </a:r>
          </a:p>
        </p:txBody>
      </p:sp>
      <p:sp>
        <p:nvSpPr>
          <p:cNvPr id="10" name="S1_RESULT">
            <a:extLst xmlns:a="http://schemas.openxmlformats.org/drawingml/2006/main">
              <a:ext uri="{FF2B5EF4-FFF2-40B4-BE49-F238E27FC236}">
                <a16:creationId xmlns:a16="http://schemas.microsoft.com/office/drawing/2014/main" id="{7F11A11A-7548-44DA-B7A4-99E64437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发生第一批真实业务</a:t>
            </a:r>
          </a:p>
        </p:txBody>
      </p:sp>
      <p:sp>
        <p:nvSpPr>
          <p:cNvPr id="11" name="S1_TASK">
            <a:extLst xmlns:a="http://schemas.openxmlformats.org/drawingml/2006/main">
              <a:ext uri="{FF2B5EF4-FFF2-40B4-BE49-F238E27FC236}">
                <a16:creationId xmlns:a16="http://schemas.microsoft.com/office/drawing/2014/main" id="{11891CEB-2EF2-4A22-A0C1-AAE73995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C5258"/>
                </a:solidFill>
                <a:latin typeface="Microsoft YaHei"/>
                <a:ea typeface="Microsoft YaHei"/>
                <a:cs typeface="Microsoft YaHei"/>
              </a:rPr>
              <a:t>下一关：找到入口，完成破零</a:t>
            </a:r>
          </a:p>
        </p:txBody>
      </p:sp>
      <p:sp>
        <p:nvSpPr>
          <p:cNvPr id="12" name="S2_BLOCK">
            <a:extLst xmlns:a="http://schemas.openxmlformats.org/drawingml/2006/main">
              <a:ext uri="{FF2B5EF4-FFF2-40B4-BE49-F238E27FC236}">
                <a16:creationId xmlns:a16="http://schemas.microsoft.com/office/drawing/2014/main" id="{D442830E-21CC-497A-B8C9-AE600877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33750"/>
            <a:ext cx="2381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_NUMBER">
            <a:extLst xmlns:a="http://schemas.openxmlformats.org/drawingml/2006/main">
              <a:ext uri="{FF2B5EF4-FFF2-40B4-BE49-F238E27FC236}">
                <a16:creationId xmlns:a16="http://schemas.microsoft.com/office/drawing/2014/main" id="{2E2BBD6C-68D8-4A0E-B668-69E86A71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S2_LABEL">
            <a:extLst xmlns:a="http://schemas.openxmlformats.org/drawingml/2006/main">
              <a:ext uri="{FF2B5EF4-FFF2-40B4-BE49-F238E27FC236}">
                <a16:creationId xmlns:a16="http://schemas.microsoft.com/office/drawing/2014/main" id="{679E81D6-96D7-407B-A975-A8CD08D4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站得住</a:t>
            </a:r>
          </a:p>
        </p:txBody>
      </p:sp>
      <p:sp>
        <p:nvSpPr>
          <p:cNvPr id="15" name="S2_RESULT">
            <a:extLst xmlns:a="http://schemas.openxmlformats.org/drawingml/2006/main">
              <a:ext uri="{FF2B5EF4-FFF2-40B4-BE49-F238E27FC236}">
                <a16:creationId xmlns:a16="http://schemas.microsoft.com/office/drawing/2014/main" id="{C85427F5-E885-4784-8324-F9C175B5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053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网点、线索和产品开始重复</a:t>
            </a:r>
          </a:p>
        </p:txBody>
      </p:sp>
      <p:sp>
        <p:nvSpPr>
          <p:cNvPr id="16" name="S2_TASK">
            <a:extLst xmlns:a="http://schemas.openxmlformats.org/drawingml/2006/main">
              <a:ext uri="{FF2B5EF4-FFF2-40B4-BE49-F238E27FC236}">
                <a16:creationId xmlns:a16="http://schemas.microsoft.com/office/drawing/2014/main" id="{8A1D2ADB-A9A6-4641-9706-A2E78C93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43A40"/>
                </a:solidFill>
                <a:latin typeface="Microsoft YaHei"/>
                <a:ea typeface="Microsoft YaHei"/>
                <a:cs typeface="Microsoft YaHei"/>
              </a:rPr>
              <a:t>下一关：把一次成交变成稳定基础</a:t>
            </a:r>
          </a:p>
        </p:txBody>
      </p:sp>
      <p:sp>
        <p:nvSpPr>
          <p:cNvPr id="17" name="S3_BLOCK">
            <a:extLst xmlns:a="http://schemas.openxmlformats.org/drawingml/2006/main">
              <a:ext uri="{FF2B5EF4-FFF2-40B4-BE49-F238E27FC236}">
                <a16:creationId xmlns:a16="http://schemas.microsoft.com/office/drawing/2014/main" id="{71D57944-2CB7-4753-85DA-DBA84083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67000"/>
            <a:ext cx="238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1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3_NUMBER">
            <a:extLst xmlns:a="http://schemas.openxmlformats.org/drawingml/2006/main">
              <a:ext uri="{FF2B5EF4-FFF2-40B4-BE49-F238E27FC236}">
                <a16:creationId xmlns:a16="http://schemas.microsoft.com/office/drawing/2014/main" id="{404A2C83-862F-4BA2-830E-F11AE757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S3_LABEL">
            <a:extLst xmlns:a="http://schemas.openxmlformats.org/drawingml/2006/main">
              <a:ext uri="{FF2B5EF4-FFF2-40B4-BE49-F238E27FC236}">
                <a16:creationId xmlns:a16="http://schemas.microsoft.com/office/drawing/2014/main" id="{26EDCA7E-FC7D-41FC-B987-6E5B69E7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卖得动</a:t>
            </a:r>
          </a:p>
        </p:txBody>
      </p:sp>
      <p:sp>
        <p:nvSpPr>
          <p:cNvPr id="20" name="S3_RESULT">
            <a:extLst xmlns:a="http://schemas.openxmlformats.org/drawingml/2006/main">
              <a:ext uri="{FF2B5EF4-FFF2-40B4-BE49-F238E27FC236}">
                <a16:creationId xmlns:a16="http://schemas.microsoft.com/office/drawing/2014/main" id="{68E3C6B4-236D-48EC-BA3E-6412DA09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客户、项目和销量持续增加</a:t>
            </a:r>
          </a:p>
        </p:txBody>
      </p:sp>
      <p:sp>
        <p:nvSpPr>
          <p:cNvPr id="21" name="S3_TASK">
            <a:extLst xmlns:a="http://schemas.openxmlformats.org/drawingml/2006/main">
              <a:ext uri="{FF2B5EF4-FFF2-40B4-BE49-F238E27FC236}">
                <a16:creationId xmlns:a16="http://schemas.microsoft.com/office/drawing/2014/main" id="{A1262302-D77E-4133-97FD-6D80D5AA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1962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下一关：提高有效网点与转化效率</a:t>
            </a:r>
          </a:p>
        </p:txBody>
      </p:sp>
      <p:sp>
        <p:nvSpPr>
          <p:cNvPr id="22" name="S4_BLOCK">
            <a:extLst xmlns:a="http://schemas.openxmlformats.org/drawingml/2006/main">
              <a:ext uri="{FF2B5EF4-FFF2-40B4-BE49-F238E27FC236}">
                <a16:creationId xmlns:a16="http://schemas.microsoft.com/office/drawing/2014/main" id="{970AB39D-EF02-4440-BC3E-1F453A2A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3333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0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4_NUMBER">
            <a:extLst xmlns:a="http://schemas.openxmlformats.org/drawingml/2006/main">
              <a:ext uri="{FF2B5EF4-FFF2-40B4-BE49-F238E27FC236}">
                <a16:creationId xmlns:a16="http://schemas.microsoft.com/office/drawing/2014/main" id="{DD0FAAA6-DD49-4ED2-BE19-37733728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S4_LABEL">
            <a:extLst xmlns:a="http://schemas.openxmlformats.org/drawingml/2006/main">
              <a:ext uri="{FF2B5EF4-FFF2-40B4-BE49-F238E27FC236}">
                <a16:creationId xmlns:a16="http://schemas.microsoft.com/office/drawing/2014/main" id="{ECEF836E-8D91-41B5-9684-8266ED3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做得深</a:t>
            </a:r>
          </a:p>
        </p:txBody>
      </p:sp>
      <p:sp>
        <p:nvSpPr>
          <p:cNvPr id="25" name="S4_RESULT">
            <a:extLst xmlns:a="http://schemas.openxmlformats.org/drawingml/2006/main">
              <a:ext uri="{FF2B5EF4-FFF2-40B4-BE49-F238E27FC236}">
                <a16:creationId xmlns:a16="http://schemas.microsoft.com/office/drawing/2014/main" id="{D9E2C376-C085-46D6-8A07-22B109C2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单点、单客和单项目价值提高</a:t>
            </a:r>
          </a:p>
        </p:txBody>
      </p:sp>
      <p:sp>
        <p:nvSpPr>
          <p:cNvPr id="26" name="S4_TASK">
            <a:extLst xmlns:a="http://schemas.openxmlformats.org/drawingml/2006/main">
              <a:ext uri="{FF2B5EF4-FFF2-40B4-BE49-F238E27FC236}">
                <a16:creationId xmlns:a16="http://schemas.microsoft.com/office/drawing/2014/main" id="{ED4627A6-F825-47D8-BA32-62E46C4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29146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下一关：组合扩品，沉淀并复制方法</a:t>
            </a:r>
          </a:p>
        </p:txBody>
      </p:sp>
      <p:sp>
        <p:nvSpPr>
          <p:cNvPr id="27" name="STAGE_RULE">
            <a:extLst xmlns:a="http://schemas.openxmlformats.org/drawingml/2006/main">
              <a:ext uri="{FF2B5EF4-FFF2-40B4-BE49-F238E27FC236}">
                <a16:creationId xmlns:a16="http://schemas.microsoft.com/office/drawing/2014/main" id="{1D4E1AF0-EC74-4EAC-AC79-B1F60C72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先说证据，再选阶段；阶段决定下一步任务，不是给乡镇打分。</a:t>
            </a:r>
          </a:p>
        </p:txBody>
      </p:sp>
      <p:sp>
        <p:nvSpPr>
          <p:cNvPr id="28" name="TEACHING_CUE">
            <a:extLst xmlns:a="http://schemas.openxmlformats.org/drawingml/2006/main">
              <a:ext uri="{FF2B5EF4-FFF2-40B4-BE49-F238E27FC236}">
                <a16:creationId xmlns:a16="http://schemas.microsoft.com/office/drawing/2014/main" id="{2DB1E978-80B2-47BD-832B-E67D68C2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课堂动作：给出一个乡镇情境，学员先举牌选阶段，再说出支撑判断的事实。</a:t>
            </a:r>
          </a:p>
        </p:txBody>
      </p:sp>
      <p:sp>
        <p:nvSpPr>
          <p:cNvPr id="29" name="PAGE_NUMBER">
            <a:extLst xmlns:a="http://schemas.openxmlformats.org/drawingml/2006/main">
              <a:ext uri="{FF2B5EF4-FFF2-40B4-BE49-F238E27FC236}">
                <a16:creationId xmlns:a16="http://schemas.microsoft.com/office/drawing/2014/main" id="{0884160C-C642-4EF0-A1D2-4E58AD8F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24614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RAND_RED_RAIL">
            <a:extLst xmlns:a="http://schemas.openxmlformats.org/drawingml/2006/main">
              <a:ext uri="{FF2B5EF4-FFF2-40B4-BE49-F238E27FC236}">
                <a16:creationId xmlns:a16="http://schemas.microsoft.com/office/drawing/2014/main" id="{D2C561FF-A0B0-4A13-A827-8C14B7CD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0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ONENT_ID">
            <a:extLst xmlns:a="http://schemas.openxmlformats.org/drawingml/2006/main">
              <a:ext uri="{FF2B5EF4-FFF2-40B4-BE49-F238E27FC236}">
                <a16:creationId xmlns:a16="http://schemas.microsoft.com/office/drawing/2014/main" id="{FB45F5DD-6DF3-42AB-8B60-3EF0E556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DC-17 · SYMPTOM CLUSTERING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D74369-284E-4DB6-B9FE-326ED399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问题很多时，先把零散现象聚成四类病症，再找真正的主问题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301BA9C-77DE-4ACD-A7EA-4268BCBD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症状写事实，病症做归纳；不要把“继续铺货、继续活动”当成未经诊断的默认答案</a:t>
            </a:r>
          </a:p>
        </p:txBody>
      </p:sp>
      <p:sp>
        <p:nvSpPr>
          <p:cNvPr id="5" name="BRAND_MARK">
            <a:extLst xmlns:a="http://schemas.openxmlformats.org/drawingml/2006/main">
              <a:ext uri="{FF2B5EF4-FFF2-40B4-BE49-F238E27FC236}">
                <a16:creationId xmlns:a16="http://schemas.microsoft.com/office/drawing/2014/main" id="{A3AB96AF-9F65-4EE8-888A-4A581691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38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东方雨虹</a:t>
            </a:r>
          </a:p>
        </p:txBody>
      </p:sp>
      <p:sp>
        <p:nvSpPr>
          <p:cNvPr id="6" name="HEADER_RULE">
            <a:extLst xmlns:a="http://schemas.openxmlformats.org/drawingml/2006/main">
              <a:ext uri="{FF2B5EF4-FFF2-40B4-BE49-F238E27FC236}">
                <a16:creationId xmlns:a16="http://schemas.microsoft.com/office/drawing/2014/main" id="{D1DE82DE-35D1-410A-B376-33077165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7" name="SYMPTOM_01">
            <a:extLst xmlns:a="http://schemas.openxmlformats.org/drawingml/2006/main">
              <a:ext uri="{FF2B5EF4-FFF2-40B4-BE49-F238E27FC236}">
                <a16:creationId xmlns:a16="http://schemas.microsoft.com/office/drawing/2014/main" id="{236107BA-0123-4633-A1D8-33DFA553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666750" y="205740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8"/>
          </a:solidFill>
          <a:ln xmlns:a="http://schemas.openxmlformats.org/drawingml/2006/main" w="9525">
            <a:solidFill>
              <a:srgbClr val="E7CC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YMPTOM_01_TEXT">
            <a:extLst xmlns:a="http://schemas.openxmlformats.org/drawingml/2006/main">
              <a:ext uri="{FF2B5EF4-FFF2-40B4-BE49-F238E27FC236}">
                <a16:creationId xmlns:a16="http://schemas.microsoft.com/office/drawing/2014/main" id="{7DE256CA-D539-410A-85B8-D75A5631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752475" y="21717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活动很多</a:t>
            </a:r>
          </a:p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市场一停就安静</a:t>
            </a:r>
          </a:p>
        </p:txBody>
      </p:sp>
      <p:sp>
        <p:nvSpPr>
          <p:cNvPr id="9" name="SYMPTOM_02">
            <a:extLst xmlns:a="http://schemas.openxmlformats.org/drawingml/2006/main">
              <a:ext uri="{FF2B5EF4-FFF2-40B4-BE49-F238E27FC236}">
                <a16:creationId xmlns:a16="http://schemas.microsoft.com/office/drawing/2014/main" id="{4E2A0B50-ACFD-4D8E-8EDE-37F22D9A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2428875" y="18859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B8"/>
          </a:solidFill>
          <a:ln xmlns:a="http://schemas.openxmlformats.org/drawingml/2006/main" w="9525">
            <a:solidFill>
              <a:srgbClr val="E7CC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YMPTOM_02_TEXT">
            <a:extLst xmlns:a="http://schemas.openxmlformats.org/drawingml/2006/main">
              <a:ext uri="{FF2B5EF4-FFF2-40B4-BE49-F238E27FC236}">
                <a16:creationId xmlns:a16="http://schemas.microsoft.com/office/drawing/2014/main" id="{9C84BC26-9C2F-4023-BE93-64037011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2514600" y="200025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有曝光</a:t>
            </a:r>
          </a:p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没有购买入口</a:t>
            </a:r>
          </a:p>
        </p:txBody>
      </p:sp>
      <p:sp>
        <p:nvSpPr>
          <p:cNvPr id="11" name="SYMPTOM_03">
            <a:extLst xmlns:a="http://schemas.openxmlformats.org/drawingml/2006/main">
              <a:ext uri="{FF2B5EF4-FFF2-40B4-BE49-F238E27FC236}">
                <a16:creationId xmlns:a16="http://schemas.microsoft.com/office/drawing/2014/main" id="{5CAFD797-6866-457A-9A8B-84269899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866775" y="2886075"/>
            <a:ext cx="1638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8"/>
          </a:solidFill>
          <a:ln xmlns:a="http://schemas.openxmlformats.org/drawingml/2006/main" w="9525">
            <a:solidFill>
              <a:srgbClr val="E7CC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SYMPTOM_03_TEXT">
            <a:extLst xmlns:a="http://schemas.openxmlformats.org/drawingml/2006/main">
              <a:ext uri="{FF2B5EF4-FFF2-40B4-BE49-F238E27FC236}">
                <a16:creationId xmlns:a16="http://schemas.microsoft.com/office/drawing/2014/main" id="{F6222EA3-98DE-4D46-A1EF-1A714637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952500" y="3000375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首批进货后</a:t>
            </a:r>
          </a:p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很少补货</a:t>
            </a:r>
          </a:p>
        </p:txBody>
      </p:sp>
      <p:sp>
        <p:nvSpPr>
          <p:cNvPr id="13" name="SYMPTOM_04">
            <a:extLst xmlns:a="http://schemas.openxmlformats.org/drawingml/2006/main">
              <a:ext uri="{FF2B5EF4-FFF2-40B4-BE49-F238E27FC236}">
                <a16:creationId xmlns:a16="http://schemas.microsoft.com/office/drawing/2014/main" id="{95669166-597D-4E3A-996D-63CFC614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2686050" y="27813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B8"/>
          </a:solidFill>
          <a:ln xmlns:a="http://schemas.openxmlformats.org/drawingml/2006/main" w="9525">
            <a:solidFill>
              <a:srgbClr val="E7CC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YMPTOM_04_TEXT">
            <a:extLst xmlns:a="http://schemas.openxmlformats.org/drawingml/2006/main">
              <a:ext uri="{FF2B5EF4-FFF2-40B4-BE49-F238E27FC236}">
                <a16:creationId xmlns:a16="http://schemas.microsoft.com/office/drawing/2014/main" id="{ABD6CE9C-26CD-4B1E-8581-45FEAA66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2771775" y="2895600"/>
            <a:ext cx="144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项目做完</a:t>
            </a:r>
          </a:p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没有新线索</a:t>
            </a:r>
          </a:p>
        </p:txBody>
      </p:sp>
      <p:sp>
        <p:nvSpPr>
          <p:cNvPr id="15" name="SYMPTOM_05">
            <a:extLst xmlns:a="http://schemas.openxmlformats.org/drawingml/2006/main">
              <a:ext uri="{FF2B5EF4-FFF2-40B4-BE49-F238E27FC236}">
                <a16:creationId xmlns:a16="http://schemas.microsoft.com/office/drawing/2014/main" id="{AACDF1F3-847E-42E0-801A-7DEB303F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695325" y="3800475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8"/>
          </a:solidFill>
          <a:ln xmlns:a="http://schemas.openxmlformats.org/drawingml/2006/main" w="9525">
            <a:solidFill>
              <a:srgbClr val="E7CC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SYMPTOM_05_TEXT">
            <a:extLst xmlns:a="http://schemas.openxmlformats.org/drawingml/2006/main">
              <a:ext uri="{FF2B5EF4-FFF2-40B4-BE49-F238E27FC236}">
                <a16:creationId xmlns:a16="http://schemas.microsoft.com/office/drawing/2014/main" id="{D28A1884-4B9E-4FE4-AE5A-46D3A1DD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81050" y="3914775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网点不少</a:t>
            </a:r>
          </a:p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真正卖货的很少</a:t>
            </a:r>
          </a:p>
        </p:txBody>
      </p:sp>
      <p:sp>
        <p:nvSpPr>
          <p:cNvPr id="17" name="SYMPTOM_06">
            <a:extLst xmlns:a="http://schemas.openxmlformats.org/drawingml/2006/main">
              <a:ext uri="{FF2B5EF4-FFF2-40B4-BE49-F238E27FC236}">
                <a16:creationId xmlns:a16="http://schemas.microsoft.com/office/drawing/2014/main" id="{83B34019-E26B-4591-AD05-A6D0A0D3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2533650" y="3743325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B8"/>
          </a:solidFill>
          <a:ln xmlns:a="http://schemas.openxmlformats.org/drawingml/2006/main" w="9525">
            <a:solidFill>
              <a:srgbClr val="E7CC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SYMPTOM_06_TEXT">
            <a:extLst xmlns:a="http://schemas.openxmlformats.org/drawingml/2006/main">
              <a:ext uri="{FF2B5EF4-FFF2-40B4-BE49-F238E27FC236}">
                <a16:creationId xmlns:a16="http://schemas.microsoft.com/office/drawing/2014/main" id="{5E710C74-14B7-4DEE-81E0-4B12F29F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2619375" y="3857625"/>
            <a:ext cx="1590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业务员天天跑</a:t>
            </a:r>
          </a:p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仍以送货收款为主</a:t>
            </a:r>
          </a:p>
        </p:txBody>
      </p:sp>
      <p:sp>
        <p:nvSpPr>
          <p:cNvPr id="19" name="SYMPTOM_07">
            <a:extLst xmlns:a="http://schemas.openxmlformats.org/drawingml/2006/main">
              <a:ext uri="{FF2B5EF4-FFF2-40B4-BE49-F238E27FC236}">
                <a16:creationId xmlns:a16="http://schemas.microsoft.com/office/drawing/2014/main" id="{A3E816CC-80E9-45F3-8384-EEE0AE83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1019175" y="4733925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8"/>
          </a:solidFill>
          <a:ln xmlns:a="http://schemas.openxmlformats.org/drawingml/2006/main" w="9525">
            <a:solidFill>
              <a:srgbClr val="E7CC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SYMPTOM_07_TEXT">
            <a:extLst xmlns:a="http://schemas.openxmlformats.org/drawingml/2006/main">
              <a:ext uri="{FF2B5EF4-FFF2-40B4-BE49-F238E27FC236}">
                <a16:creationId xmlns:a16="http://schemas.microsoft.com/office/drawing/2014/main" id="{375F6752-2277-4CD7-A37A-DC0E0B70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1104900" y="48482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销量稳定</a:t>
            </a:r>
          </a:p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单点产出不再增长</a:t>
            </a:r>
          </a:p>
        </p:txBody>
      </p:sp>
      <p:sp>
        <p:nvSpPr>
          <p:cNvPr id="21" name="SYMPTOM_08">
            <a:extLst xmlns:a="http://schemas.openxmlformats.org/drawingml/2006/main">
              <a:ext uri="{FF2B5EF4-FFF2-40B4-BE49-F238E27FC236}">
                <a16:creationId xmlns:a16="http://schemas.microsoft.com/office/drawing/2014/main" id="{0356F3CD-0E1B-47B5-93BB-093A9A16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2828925" y="4629150"/>
            <a:ext cx="1600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B8"/>
          </a:solidFill>
          <a:ln xmlns:a="http://schemas.openxmlformats.org/drawingml/2006/main" w="9525">
            <a:solidFill>
              <a:srgbClr val="E7CC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SYMPTOM_08_TEXT">
            <a:extLst xmlns:a="http://schemas.openxmlformats.org/drawingml/2006/main">
              <a:ext uri="{FF2B5EF4-FFF2-40B4-BE49-F238E27FC236}">
                <a16:creationId xmlns:a16="http://schemas.microsoft.com/office/drawing/2014/main" id="{64100E53-911E-4A9D-84F6-040FBE2B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2914650" y="4743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长期依赖</a:t>
            </a:r>
          </a:p>
          <a:p xmlns:a="http://schemas.openxmlformats.org/drawingml/2006/main">
            <a:pPr algn="ctr">
              <a:def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少数单品和熟人</a:t>
            </a:r>
          </a:p>
        </p:txBody>
      </p:sp>
      <p:sp>
        <p:nvSpPr>
          <p:cNvPr id="23" name="CONVERGE_ARROW">
            <a:extLst xmlns:a="http://schemas.openxmlformats.org/drawingml/2006/main">
              <a:ext uri="{FF2B5EF4-FFF2-40B4-BE49-F238E27FC236}">
                <a16:creationId xmlns:a16="http://schemas.microsoft.com/office/drawing/2014/main" id="{1D33780E-034F-430A-B80C-22D7B282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43275"/>
            <a:ext cx="9144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0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1_CLUSTER">
            <a:extLst xmlns:a="http://schemas.openxmlformats.org/drawingml/2006/main">
              <a:ext uri="{FF2B5EF4-FFF2-40B4-BE49-F238E27FC236}">
                <a16:creationId xmlns:a16="http://schemas.microsoft.com/office/drawing/2014/main" id="{86F3D1BC-3F9D-4CF5-90B2-89B72B1F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2343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9050">
            <a:solidFill>
              <a:srgbClr val="D6001C"/>
            </a:solidFill>
            <a:prstDash val="solid"/>
          </a:ln>
        </p:spPr>
      </p:sp>
      <p:sp>
        <p:nvSpPr>
          <p:cNvPr id="25" name="C1_LABEL">
            <a:extLst xmlns:a="http://schemas.openxmlformats.org/drawingml/2006/main">
              <a:ext uri="{FF2B5EF4-FFF2-40B4-BE49-F238E27FC236}">
                <a16:creationId xmlns:a16="http://schemas.microsoft.com/office/drawing/2014/main" id="{CF5C6B6B-EBFC-4F3C-8F59-0D019E27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市场空转症</a:t>
            </a:r>
          </a:p>
        </p:txBody>
      </p:sp>
      <p:sp>
        <p:nvSpPr>
          <p:cNvPr id="26" name="C1_DESC">
            <a:extLst xmlns:a="http://schemas.openxmlformats.org/drawingml/2006/main">
              <a:ext uri="{FF2B5EF4-FFF2-40B4-BE49-F238E27FC236}">
                <a16:creationId xmlns:a16="http://schemas.microsoft.com/office/drawing/2014/main" id="{BE675C0E-E728-4A09-836B-DABD880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有动作，没入口</a:t>
            </a:r>
          </a:p>
        </p:txBody>
      </p:sp>
      <p:sp>
        <p:nvSpPr>
          <p:cNvPr id="27" name="C2_CLUSTER">
            <a:extLst xmlns:a="http://schemas.openxmlformats.org/drawingml/2006/main">
              <a:ext uri="{FF2B5EF4-FFF2-40B4-BE49-F238E27FC236}">
                <a16:creationId xmlns:a16="http://schemas.microsoft.com/office/drawing/2014/main" id="{C0E70DE0-4FDA-4428-AE79-833B239B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2343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9050">
            <a:solidFill>
              <a:srgbClr val="246AA8"/>
            </a:solidFill>
            <a:prstDash val="solid"/>
          </a:ln>
        </p:spPr>
      </p:sp>
      <p:sp>
        <p:nvSpPr>
          <p:cNvPr id="28" name="C2_LABEL">
            <a:extLst xmlns:a="http://schemas.openxmlformats.org/drawingml/2006/main">
              <a:ext uri="{FF2B5EF4-FFF2-40B4-BE49-F238E27FC236}">
                <a16:creationId xmlns:a16="http://schemas.microsoft.com/office/drawing/2014/main" id="{ED24C0D1-93C7-44FE-B16E-D26E633E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首单依赖症</a:t>
            </a:r>
          </a:p>
        </p:txBody>
      </p:sp>
      <p:sp>
        <p:nvSpPr>
          <p:cNvPr id="29" name="C2_DESC">
            <a:extLst xmlns:a="http://schemas.openxmlformats.org/drawingml/2006/main">
              <a:ext uri="{FF2B5EF4-FFF2-40B4-BE49-F238E27FC236}">
                <a16:creationId xmlns:a16="http://schemas.microsoft.com/office/drawing/2014/main" id="{B3F3BA6B-53D5-4002-AB10-BD0A20D0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有首单，没复购</a:t>
            </a:r>
          </a:p>
        </p:txBody>
      </p:sp>
      <p:sp>
        <p:nvSpPr>
          <p:cNvPr id="30" name="C3_CLUSTER">
            <a:extLst xmlns:a="http://schemas.openxmlformats.org/drawingml/2006/main">
              <a:ext uri="{FF2B5EF4-FFF2-40B4-BE49-F238E27FC236}">
                <a16:creationId xmlns:a16="http://schemas.microsoft.com/office/drawing/2014/main" id="{90B98366-EF37-439A-8D17-9E69A0CF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48100"/>
            <a:ext cx="2343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19050">
            <a:solidFill>
              <a:srgbClr val="B87700"/>
            </a:solidFill>
            <a:prstDash val="solid"/>
          </a:ln>
        </p:spPr>
      </p:sp>
      <p:sp>
        <p:nvSpPr>
          <p:cNvPr id="31" name="C3_LABEL">
            <a:extLst xmlns:a="http://schemas.openxmlformats.org/drawingml/2006/main">
              <a:ext uri="{FF2B5EF4-FFF2-40B4-BE49-F238E27FC236}">
                <a16:creationId xmlns:a16="http://schemas.microsoft.com/office/drawing/2014/main" id="{4700807F-1BB2-47A7-9528-8DE9E5B0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33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网点低效症</a:t>
            </a:r>
          </a:p>
        </p:txBody>
      </p:sp>
      <p:sp>
        <p:nvSpPr>
          <p:cNvPr id="32" name="C3_DESC">
            <a:extLst xmlns:a="http://schemas.openxmlformats.org/drawingml/2006/main">
              <a:ext uri="{FF2B5EF4-FFF2-40B4-BE49-F238E27FC236}">
                <a16:creationId xmlns:a16="http://schemas.microsoft.com/office/drawing/2014/main" id="{6639D601-14F0-4DD8-B0ED-E75448FE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29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有网点，没增量</a:t>
            </a:r>
          </a:p>
        </p:txBody>
      </p:sp>
      <p:sp>
        <p:nvSpPr>
          <p:cNvPr id="33" name="C4_CLUSTER">
            <a:extLst xmlns:a="http://schemas.openxmlformats.org/drawingml/2006/main">
              <a:ext uri="{FF2B5EF4-FFF2-40B4-BE49-F238E27FC236}">
                <a16:creationId xmlns:a16="http://schemas.microsoft.com/office/drawing/2014/main" id="{F8EE678C-EC13-49ED-9590-21A3D5BD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23431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19050">
            <a:solidFill>
              <a:srgbClr val="26866A"/>
            </a:solidFill>
            <a:prstDash val="solid"/>
          </a:ln>
        </p:spPr>
      </p:sp>
      <p:sp>
        <p:nvSpPr>
          <p:cNvPr id="34" name="C4_LABEL">
            <a:extLst xmlns:a="http://schemas.openxmlformats.org/drawingml/2006/main">
              <a:ext uri="{FF2B5EF4-FFF2-40B4-BE49-F238E27FC236}">
                <a16:creationId xmlns:a16="http://schemas.microsoft.com/office/drawing/2014/main" id="{AF8CE514-2A7A-45C2-88A5-FDF4FC94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33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老路依赖症</a:t>
            </a:r>
          </a:p>
        </p:txBody>
      </p:sp>
      <p:sp>
        <p:nvSpPr>
          <p:cNvPr id="35" name="C4_DESC">
            <a:extLst xmlns:a="http://schemas.openxmlformats.org/drawingml/2006/main">
              <a:ext uri="{FF2B5EF4-FFF2-40B4-BE49-F238E27FC236}">
                <a16:creationId xmlns:a16="http://schemas.microsoft.com/office/drawing/2014/main" id="{3D63F975-A552-4FFB-9359-6905BE3D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29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有销量，没突破</a:t>
            </a:r>
          </a:p>
        </p:txBody>
      </p:sp>
      <p:sp>
        <p:nvSpPr>
          <p:cNvPr id="36" name="TEACHING_CUE">
            <a:extLst xmlns:a="http://schemas.openxmlformats.org/drawingml/2006/main">
              <a:ext uri="{FF2B5EF4-FFF2-40B4-BE49-F238E27FC236}">
                <a16:creationId xmlns:a16="http://schemas.microsoft.com/office/drawing/2014/main" id="{80B5F507-5834-422C-98EF-1A7FB86F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课堂动作：先把症状便签归类，再投票选出影响最大的1个主病症。</a:t>
            </a:r>
          </a:p>
        </p:txBody>
      </p:sp>
      <p:sp>
        <p:nvSpPr>
          <p:cNvPr id="37" name="PAGE_NUMBER">
            <a:extLst xmlns:a="http://schemas.openxmlformats.org/drawingml/2006/main">
              <a:ext uri="{FF2B5EF4-FFF2-40B4-BE49-F238E27FC236}">
                <a16:creationId xmlns:a16="http://schemas.microsoft.com/office/drawing/2014/main" id="{4C24D9BC-D7BF-47C3-B68C-51CCAA4A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91753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BRAND_RED_RAIL">
            <a:extLst xmlns:a="http://schemas.openxmlformats.org/drawingml/2006/main">
              <a:ext uri="{FF2B5EF4-FFF2-40B4-BE49-F238E27FC236}">
                <a16:creationId xmlns:a16="http://schemas.microsoft.com/office/drawing/2014/main" id="{DF55E2AF-BD8E-40F9-8FFA-E6D72E0B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0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MPONENT_ID">
            <a:extLst xmlns:a="http://schemas.openxmlformats.org/drawingml/2006/main">
              <a:ext uri="{FF2B5EF4-FFF2-40B4-BE49-F238E27FC236}">
                <a16:creationId xmlns:a16="http://schemas.microsoft.com/office/drawing/2014/main" id="{406F3525-0FD2-4CF1-A4D3-C1DF83B7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45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DC-20 · INTEGRATED DIAGNOSIS CHAIN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E19D81-A60E-45BC-88EF-BC2CE407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综合诊断必须走完五步，不能从病症直接跳到促销动作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B367540-AAAE-4837-8FCA-C972935B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先确认经营结果，再确定阶段任务；然后识别病症、锁定四力短板，最后只选2—3项优先动作</a:t>
            </a:r>
          </a:p>
        </p:txBody>
      </p:sp>
      <p:sp>
        <p:nvSpPr>
          <p:cNvPr id="5" name="BRAND_MARK">
            <a:extLst xmlns:a="http://schemas.openxmlformats.org/drawingml/2006/main">
              <a:ext uri="{FF2B5EF4-FFF2-40B4-BE49-F238E27FC236}">
                <a16:creationId xmlns:a16="http://schemas.microsoft.com/office/drawing/2014/main" id="{9CA829E8-3ABF-429E-96A3-7AA38888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38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东方雨虹</a:t>
            </a:r>
          </a:p>
        </p:txBody>
      </p:sp>
      <p:sp>
        <p:nvSpPr>
          <p:cNvPr id="6" name="HEADER_RULE">
            <a:extLst xmlns:a="http://schemas.openxmlformats.org/drawingml/2006/main">
              <a:ext uri="{FF2B5EF4-FFF2-40B4-BE49-F238E27FC236}">
                <a16:creationId xmlns:a16="http://schemas.microsoft.com/office/drawing/2014/main" id="{ABC45785-B4B5-4BCA-8EAE-3ABEF96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11191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0"/>
            </a:solidFill>
            <a:prstDash val="solid"/>
          </a:ln>
        </p:spPr>
      </p:sp>
      <p:sp>
        <p:nvSpPr>
          <p:cNvPr id="7" name="DIAGNOSIS_SPINE">
            <a:extLst xmlns:a="http://schemas.openxmlformats.org/drawingml/2006/main">
              <a:ext uri="{FF2B5EF4-FFF2-40B4-BE49-F238E27FC236}">
                <a16:creationId xmlns:a16="http://schemas.microsoft.com/office/drawing/2014/main" id="{794CD394-276C-49E8-88E4-D185C473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24075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001C"/>
            </a:solidFill>
            <a:prstDash val="solid"/>
          </a:ln>
        </p:spPr>
      </p:sp>
      <p:sp>
        <p:nvSpPr>
          <p:cNvPr id="8" name="STEP_1_DOT">
            <a:extLst xmlns:a="http://schemas.openxmlformats.org/drawingml/2006/main">
              <a:ext uri="{FF2B5EF4-FFF2-40B4-BE49-F238E27FC236}">
                <a16:creationId xmlns:a16="http://schemas.microsoft.com/office/drawing/2014/main" id="{ED55369F-4A6B-4817-AB57-81CB7B98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95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A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1_NUMBER">
            <a:extLst xmlns:a="http://schemas.openxmlformats.org/drawingml/2006/main">
              <a:ext uri="{FF2B5EF4-FFF2-40B4-BE49-F238E27FC236}">
                <a16:creationId xmlns:a16="http://schemas.microsoft.com/office/drawing/2014/main" id="{DCD5586A-D942-43F8-A4D6-AE81284E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90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STEP_1_LABEL">
            <a:extLst xmlns:a="http://schemas.openxmlformats.org/drawingml/2006/main">
              <a:ext uri="{FF2B5EF4-FFF2-40B4-BE49-F238E27FC236}">
                <a16:creationId xmlns:a16="http://schemas.microsoft.com/office/drawing/2014/main" id="{29C47432-7B74-4232-86DA-601E0B0E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11" name="STEP_1_QUESTION">
            <a:extLst xmlns:a="http://schemas.openxmlformats.org/drawingml/2006/main">
              <a:ext uri="{FF2B5EF4-FFF2-40B4-BE49-F238E27FC236}">
                <a16:creationId xmlns:a16="http://schemas.microsoft.com/office/drawing/2014/main" id="{C7326DED-C623-464B-A965-19859DD2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已经形成什么结果？</a:t>
            </a:r>
          </a:p>
        </p:txBody>
      </p:sp>
      <p:sp>
        <p:nvSpPr>
          <p:cNvPr id="12" name="STEP_1_OUTPUT_SURFACE">
            <a:extLst xmlns:a="http://schemas.openxmlformats.org/drawingml/2006/main">
              <a:ext uri="{FF2B5EF4-FFF2-40B4-BE49-F238E27FC236}">
                <a16:creationId xmlns:a16="http://schemas.microsoft.com/office/drawing/2014/main" id="{8042AA74-67BC-4751-BFA7-CDC3C236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2882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4288">
            <a:solidFill>
              <a:srgbClr val="246AA8"/>
            </a:solidFill>
            <a:prstDash val="solid"/>
          </a:ln>
        </p:spPr>
      </p:sp>
      <p:sp>
        <p:nvSpPr>
          <p:cNvPr id="13" name="STEP_1_OUTPUT">
            <a:extLst xmlns:a="http://schemas.openxmlformats.org/drawingml/2006/main">
              <a:ext uri="{FF2B5EF4-FFF2-40B4-BE49-F238E27FC236}">
                <a16:creationId xmlns:a16="http://schemas.microsoft.com/office/drawing/2014/main" id="{5F0F91D4-D2A8-4387-B430-4E471B79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6AA8"/>
                </a:solidFill>
                <a:latin typeface="Microsoft YaHei"/>
                <a:ea typeface="Microsoft YaHei"/>
                <a:cs typeface="Microsoft YaHei"/>
              </a:rPr>
              <a:t>当前阶段：站得住</a:t>
            </a:r>
          </a:p>
        </p:txBody>
      </p:sp>
      <p:sp>
        <p:nvSpPr>
          <p:cNvPr id="14" name="STEP_2_DOT">
            <a:extLst xmlns:a="http://schemas.openxmlformats.org/drawingml/2006/main">
              <a:ext uri="{FF2B5EF4-FFF2-40B4-BE49-F238E27FC236}">
                <a16:creationId xmlns:a16="http://schemas.microsoft.com/office/drawing/2014/main" id="{1BEFCA22-C0CC-4B06-89C6-A7158802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0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_2_NUMBER">
            <a:extLst xmlns:a="http://schemas.openxmlformats.org/drawingml/2006/main">
              <a:ext uri="{FF2B5EF4-FFF2-40B4-BE49-F238E27FC236}">
                <a16:creationId xmlns:a16="http://schemas.microsoft.com/office/drawing/2014/main" id="{0C395E19-1AC0-4E9E-9C9D-EC9F78EA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STEP_2_LABEL">
            <a:extLst xmlns:a="http://schemas.openxmlformats.org/drawingml/2006/main">
              <a:ext uri="{FF2B5EF4-FFF2-40B4-BE49-F238E27FC236}">
                <a16:creationId xmlns:a16="http://schemas.microsoft.com/office/drawing/2014/main" id="{6426F3DB-16C1-42DB-A9F0-4ADC3915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7" name="STEP_2_QUESTION">
            <a:extLst xmlns:a="http://schemas.openxmlformats.org/drawingml/2006/main">
              <a:ext uri="{FF2B5EF4-FFF2-40B4-BE49-F238E27FC236}">
                <a16:creationId xmlns:a16="http://schemas.microsoft.com/office/drawing/2014/main" id="{6E1A889E-3BCA-4329-935E-08418A62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987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下一关必须完成什么？</a:t>
            </a:r>
          </a:p>
        </p:txBody>
      </p:sp>
      <p:sp>
        <p:nvSpPr>
          <p:cNvPr id="18" name="STEP_2_OUTPUT_SURFACE">
            <a:extLst xmlns:a="http://schemas.openxmlformats.org/drawingml/2006/main">
              <a:ext uri="{FF2B5EF4-FFF2-40B4-BE49-F238E27FC236}">
                <a16:creationId xmlns:a16="http://schemas.microsoft.com/office/drawing/2014/main" id="{7A99844D-3C2F-42FC-9FF8-55DDFB98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9082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D6001C"/>
            </a:solidFill>
            <a:prstDash val="solid"/>
          </a:ln>
        </p:spPr>
      </p:sp>
      <p:sp>
        <p:nvSpPr>
          <p:cNvPr id="19" name="STEP_2_OUTPUT">
            <a:extLst xmlns:a="http://schemas.openxmlformats.org/drawingml/2006/main">
              <a:ext uri="{FF2B5EF4-FFF2-40B4-BE49-F238E27FC236}">
                <a16:creationId xmlns:a16="http://schemas.microsoft.com/office/drawing/2014/main" id="{FA789ADD-978A-4EC2-AB76-82A73407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05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让网点、线索和产品重复</a:t>
            </a:r>
          </a:p>
        </p:txBody>
      </p:sp>
      <p:sp>
        <p:nvSpPr>
          <p:cNvPr id="20" name="STEP_3_DOT">
            <a:extLst xmlns:a="http://schemas.openxmlformats.org/drawingml/2006/main">
              <a:ext uri="{FF2B5EF4-FFF2-40B4-BE49-F238E27FC236}">
                <a16:creationId xmlns:a16="http://schemas.microsoft.com/office/drawing/2014/main" id="{4F81240A-793C-40D0-B07F-30A48084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19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_3_NUMBER">
            <a:extLst xmlns:a="http://schemas.openxmlformats.org/drawingml/2006/main">
              <a:ext uri="{FF2B5EF4-FFF2-40B4-BE49-F238E27FC236}">
                <a16:creationId xmlns:a16="http://schemas.microsoft.com/office/drawing/2014/main" id="{C2A6D2D2-5002-4573-9D22-D258ECBF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14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STEP_3_LABEL">
            <a:extLst xmlns:a="http://schemas.openxmlformats.org/drawingml/2006/main">
              <a:ext uri="{FF2B5EF4-FFF2-40B4-BE49-F238E27FC236}">
                <a16:creationId xmlns:a16="http://schemas.microsoft.com/office/drawing/2014/main" id="{DA58EDCD-1675-43A4-8E5E-8D8CD976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病症</a:t>
            </a:r>
          </a:p>
        </p:txBody>
      </p:sp>
      <p:sp>
        <p:nvSpPr>
          <p:cNvPr id="23" name="STEP_3_QUESTION">
            <a:extLst xmlns:a="http://schemas.openxmlformats.org/drawingml/2006/main">
              <a:ext uri="{FF2B5EF4-FFF2-40B4-BE49-F238E27FC236}">
                <a16:creationId xmlns:a16="http://schemas.microsoft.com/office/drawing/2014/main" id="{B736A411-6933-4569-95F7-1C986301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7187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投入与结果哪里不匹配？</a:t>
            </a:r>
          </a:p>
        </p:txBody>
      </p:sp>
      <p:sp>
        <p:nvSpPr>
          <p:cNvPr id="24" name="STEP_3_OUTPUT_SURFACE">
            <a:extLst xmlns:a="http://schemas.openxmlformats.org/drawingml/2006/main">
              <a:ext uri="{FF2B5EF4-FFF2-40B4-BE49-F238E27FC236}">
                <a16:creationId xmlns:a16="http://schemas.microsoft.com/office/drawing/2014/main" id="{7313737C-9491-47CD-B1E7-69621995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5282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DC"/>
          </a:solidFill>
          <a:ln xmlns:a="http://schemas.openxmlformats.org/drawingml/2006/main" w="14288">
            <a:solidFill>
              <a:srgbClr val="B87700"/>
            </a:solidFill>
            <a:prstDash val="solid"/>
          </a:ln>
        </p:spPr>
      </p:sp>
      <p:sp>
        <p:nvSpPr>
          <p:cNvPr id="25" name="STEP_3_OUTPUT">
            <a:extLst xmlns:a="http://schemas.openxmlformats.org/drawingml/2006/main">
              <a:ext uri="{FF2B5EF4-FFF2-40B4-BE49-F238E27FC236}">
                <a16:creationId xmlns:a16="http://schemas.microsoft.com/office/drawing/2014/main" id="{8F98B9D2-8880-4445-AD78-FDEB3DFC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67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7700"/>
                </a:solidFill>
                <a:latin typeface="Microsoft YaHei"/>
                <a:ea typeface="Microsoft YaHei"/>
                <a:cs typeface="Microsoft YaHei"/>
              </a:rPr>
              <a:t>主病症：首单依赖</a:t>
            </a:r>
          </a:p>
        </p:txBody>
      </p:sp>
      <p:sp>
        <p:nvSpPr>
          <p:cNvPr id="26" name="STEP_4_DOT">
            <a:extLst xmlns:a="http://schemas.openxmlformats.org/drawingml/2006/main">
              <a:ext uri="{FF2B5EF4-FFF2-40B4-BE49-F238E27FC236}">
                <a16:creationId xmlns:a16="http://schemas.microsoft.com/office/drawing/2014/main" id="{A573DEE1-9024-4BBB-9BA1-91E3CB65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81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8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EP_4_NUMBER">
            <a:extLst xmlns:a="http://schemas.openxmlformats.org/drawingml/2006/main">
              <a:ext uri="{FF2B5EF4-FFF2-40B4-BE49-F238E27FC236}">
                <a16:creationId xmlns:a16="http://schemas.microsoft.com/office/drawing/2014/main" id="{53FAA616-C888-4C38-B67B-E402E215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76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STEP_4_LABEL">
            <a:extLst xmlns:a="http://schemas.openxmlformats.org/drawingml/2006/main">
              <a:ext uri="{FF2B5EF4-FFF2-40B4-BE49-F238E27FC236}">
                <a16:creationId xmlns:a16="http://schemas.microsoft.com/office/drawing/2014/main" id="{A83AA673-2482-432F-9E4E-EEE1AAB7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四力短板</a:t>
            </a:r>
          </a:p>
        </p:txBody>
      </p:sp>
      <p:sp>
        <p:nvSpPr>
          <p:cNvPr id="29" name="STEP_4_QUESTION">
            <a:extLst xmlns:a="http://schemas.openxmlformats.org/drawingml/2006/main">
              <a:ext uri="{FF2B5EF4-FFF2-40B4-BE49-F238E27FC236}">
                <a16:creationId xmlns:a16="http://schemas.microsoft.com/office/drawing/2014/main" id="{3CE317E3-6A4C-4FDF-8E72-6CB4A154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3387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哪一力最能解释病症？</a:t>
            </a:r>
          </a:p>
        </p:txBody>
      </p:sp>
      <p:sp>
        <p:nvSpPr>
          <p:cNvPr id="30" name="STEP_4_OUTPUT_SURFACE">
            <a:extLst xmlns:a="http://schemas.openxmlformats.org/drawingml/2006/main">
              <a:ext uri="{FF2B5EF4-FFF2-40B4-BE49-F238E27FC236}">
                <a16:creationId xmlns:a16="http://schemas.microsoft.com/office/drawing/2014/main" id="{FDEF4397-8E2E-4CDD-917A-6FA2D166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1482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14288">
            <a:solidFill>
              <a:srgbClr val="26866A"/>
            </a:solidFill>
            <a:prstDash val="solid"/>
          </a:ln>
        </p:spPr>
      </p:sp>
      <p:sp>
        <p:nvSpPr>
          <p:cNvPr id="31" name="STEP_4_OUTPUT">
            <a:extLst xmlns:a="http://schemas.openxmlformats.org/drawingml/2006/main">
              <a:ext uri="{FF2B5EF4-FFF2-40B4-BE49-F238E27FC236}">
                <a16:creationId xmlns:a16="http://schemas.microsoft.com/office/drawing/2014/main" id="{377542C7-CC1D-439C-AA5E-568ECDD6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29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866A"/>
                </a:solidFill>
                <a:latin typeface="Microsoft YaHei"/>
                <a:ea typeface="Microsoft YaHei"/>
                <a:cs typeface="Microsoft YaHei"/>
              </a:rPr>
              <a:t>主短板：渠道力</a:t>
            </a:r>
          </a:p>
        </p:txBody>
      </p:sp>
      <p:sp>
        <p:nvSpPr>
          <p:cNvPr id="32" name="STEP_5_DOT">
            <a:extLst xmlns:a="http://schemas.openxmlformats.org/drawingml/2006/main">
              <a:ext uri="{FF2B5EF4-FFF2-40B4-BE49-F238E27FC236}">
                <a16:creationId xmlns:a16="http://schemas.microsoft.com/office/drawing/2014/main" id="{70766968-8112-4316-84EA-CEDDB44F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43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TEP_5_NUMBER">
            <a:extLst xmlns:a="http://schemas.openxmlformats.org/drawingml/2006/main">
              <a:ext uri="{FF2B5EF4-FFF2-40B4-BE49-F238E27FC236}">
                <a16:creationId xmlns:a16="http://schemas.microsoft.com/office/drawing/2014/main" id="{AE1767D9-FF43-4E83-A1D3-F189725B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238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STEP_5_LABEL">
            <a:extLst xmlns:a="http://schemas.openxmlformats.org/drawingml/2006/main">
              <a:ext uri="{FF2B5EF4-FFF2-40B4-BE49-F238E27FC236}">
                <a16:creationId xmlns:a16="http://schemas.microsoft.com/office/drawing/2014/main" id="{5B62859E-F32C-415C-85A8-033FBB6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优先动作</a:t>
            </a:r>
          </a:p>
        </p:txBody>
      </p:sp>
      <p:sp>
        <p:nvSpPr>
          <p:cNvPr id="35" name="STEP_5_QUESTION">
            <a:extLst xmlns:a="http://schemas.openxmlformats.org/drawingml/2006/main">
              <a:ext uri="{FF2B5EF4-FFF2-40B4-BE49-F238E27FC236}">
                <a16:creationId xmlns:a16="http://schemas.microsoft.com/office/drawing/2014/main" id="{96405759-A2EE-472B-9AC6-85A4C2C8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9587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现在最先做哪2—3件事？</a:t>
            </a:r>
          </a:p>
        </p:txBody>
      </p:sp>
      <p:sp>
        <p:nvSpPr>
          <p:cNvPr id="36" name="STEP_5_OUTPUT_SURFACE">
            <a:extLst xmlns:a="http://schemas.openxmlformats.org/drawingml/2006/main">
              <a:ext uri="{FF2B5EF4-FFF2-40B4-BE49-F238E27FC236}">
                <a16:creationId xmlns:a16="http://schemas.microsoft.com/office/drawing/2014/main" id="{6D882ECA-662D-436D-8D08-E46DF5A3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7682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14288">
            <a:solidFill>
              <a:srgbClr val="191919"/>
            </a:solidFill>
            <a:prstDash val="solid"/>
          </a:ln>
        </p:spPr>
      </p:sp>
      <p:sp>
        <p:nvSpPr>
          <p:cNvPr id="37" name="STEP_5_OUTPUT">
            <a:extLst xmlns:a="http://schemas.openxmlformats.org/drawingml/2006/main">
              <a:ext uri="{FF2B5EF4-FFF2-40B4-BE49-F238E27FC236}">
                <a16:creationId xmlns:a16="http://schemas.microsoft.com/office/drawing/2014/main" id="{4028430D-0280-4652-BBC5-186D432C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91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核心网点 + 补货复盘 + 项目线索</a:t>
            </a:r>
          </a:p>
        </p:txBody>
      </p:sp>
      <p:sp>
        <p:nvSpPr>
          <p:cNvPr id="38" name="CASE_PROMPT">
            <a:extLst xmlns:a="http://schemas.openxmlformats.org/drawingml/2006/main">
              <a:ext uri="{FF2B5EF4-FFF2-40B4-BE49-F238E27FC236}">
                <a16:creationId xmlns:a16="http://schemas.microsoft.com/office/drawing/2014/main" id="{5D2CDFAB-14E6-45F4-B90A-0E70BFA8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综合情境案例：某乡镇完成首批铺货，但两个月补货很少；业务员持续跑店，仍主要靠老板推动。</a:t>
            </a:r>
          </a:p>
        </p:txBody>
      </p:sp>
      <p:sp>
        <p:nvSpPr>
          <p:cNvPr id="39" name="TEACHING_CUE">
            <a:extLst xmlns:a="http://schemas.openxmlformats.org/drawingml/2006/main">
              <a:ext uri="{FF2B5EF4-FFF2-40B4-BE49-F238E27FC236}">
                <a16:creationId xmlns:a16="http://schemas.microsoft.com/office/drawing/2014/main" id="{B5763167-D64A-437C-A069-8743E06E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46B"/>
                </a:solidFill>
                <a:latin typeface="Microsoft YaHei"/>
                <a:ea typeface="Microsoft YaHei"/>
                <a:cs typeface="Microsoft YaHei"/>
              </a:rPr>
              <a:t>学员产出：用一句话说清“阶段—任务—病症—短板—动作”，并说明证据。</a:t>
            </a:r>
          </a:p>
        </p:txBody>
      </p:sp>
      <p:sp>
        <p:nvSpPr>
          <p:cNvPr id="40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748C6DE-D55D-4DEC-B951-52DF0D63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6001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93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2026-08-13T12:27:10.8170000Z</dcterms:created>
  <dcterms:modified xsi:type="dcterms:W3CDTF">2026-08-13T12:27:10.8170000Z</dcterms:modified>
</coreProperties>
</file>