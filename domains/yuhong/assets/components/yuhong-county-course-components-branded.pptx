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5F646B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4F5F6"/>
          </a:solidFill>
          <a:ln w="19050">
            <a:solidFill>
              <a:srgbClr val="5F646B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D6001C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246AA8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B87700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26866A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E9ECEF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4C5258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D9DEE3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343A40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2D313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FF8D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FF3B8"/>
          </a:solidFill>
          <a:ln w="9525">
            <a:solidFill>
              <a:srgbClr val="E7CC6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0F2"/>
          </a:solidFill>
          <a:ln w="19050">
            <a:solidFill>
              <a:srgbClr val="D6001C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2FA"/>
          </a:solidFill>
          <a:ln w="19050">
            <a:solidFill>
              <a:srgbClr val="246AA8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FF4DC"/>
          </a:solidFill>
          <a:ln w="19050">
            <a:solidFill>
              <a:srgbClr val="B87700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EAF5F1"/>
          </a:solidFill>
          <a:ln w="19050">
            <a:solidFill>
              <a:srgbClr val="26866A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D8DCE0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D6001C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246AA8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2FA"/>
          </a:solidFill>
          <a:ln w="14288">
            <a:solidFill>
              <a:srgbClr val="246AA8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6AA8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D6001C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0F2"/>
          </a:solidFill>
          <a:ln w="14288">
            <a:solidFill>
              <a:srgbClr val="D6001C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B87700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FF4DC"/>
          </a:solidFill>
          <a:ln w="14288">
            <a:solidFill>
              <a:srgbClr val="B87700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87700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26866A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EAF5F1"/>
          </a:solidFill>
          <a:ln w="14288">
            <a:solidFill>
              <a:srgbClr val="26866A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6866A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4F5F6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F646B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6001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天：谁、对谁、做什么、怎么验收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C617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0F1EF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7E6E6"/>
          </a:solidFill>
          <a:ln w="9525">
            <a:solidFill>
              <a:srgbClr val="6674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172A3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172A3A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行动必须连接前面诊断出的短板或机会；最多 </a:t>
            </a:r>
            <a:r>
              <a:rPr lang="en-US" altLang="zh-CN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6747C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项，选最重要的。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B4CD45-9413-140C-6E54-A612BEDFAD3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渠道增长卡在哪：覆盖、活跃，还是单店产出？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8540BC9-D356-9D3D-1FD9-F90DA4805716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2CB47E7C-E2D1-33A5-D7E6-3C874AB0000F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2B34EE29-2A52-BD47-178B-4F6B3651D15C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CEC918B-6D4C-35F7-9BC7-1A42D26C2F58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网点铺够了吗？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F205A6D-82FD-BFE1-A449-0ADF3E21EBF2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11CF328E-A325-614B-76A3-BBE96E27C1C3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28FBAEB3-BAB6-2F46-4D67-FEC9DE35C1A9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1700F865-CA7E-A91F-9075-691FE62909A8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2EDAD1D4-16FA-3CCA-7C0F-A78ACC424195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铺了，动销了吗？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5CE25A41-1FC9-84AB-614C-1327F1D7E803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4E5FFA9A-487A-23C7-8EDE-34B4A6D904F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C5C4B1E0-975F-B6CF-C735-1E06BCFEFDF9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D6086B7A-8EF1-75BE-F62E-1CCD1ACE35F5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149446F-1555-3C00-B6D5-5A9ECE094789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单店卖得够吗？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4327F205-F649-CD3D-9C9E-9D5CE798799C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944E7E92-4CA7-FA8A-CDAF-DC82532CFD77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A83C6291-D2E9-3192-ACFA-48A8570C0EF1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D1FB3717-3834-6744-AF3F-72730F2336B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POOL_TITLE">
            <a:extLst>
              <a:ext uri="{FF2B5EF4-FFF2-40B4-BE49-F238E27FC236}">
                <a16:creationId xmlns:a16="http://schemas.microsoft.com/office/drawing/2014/main" id="{79757373-5D87-C86D-15D7-B127F74AA623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重点网点池</a:t>
            </a:r>
          </a:p>
        </p:txBody>
      </p:sp>
      <p:sp>
        <p:nvSpPr>
          <p:cNvPr id="22" name="POOL_TEXT">
            <a:extLst>
              <a:ext uri="{FF2B5EF4-FFF2-40B4-BE49-F238E27FC236}">
                <a16:creationId xmlns:a16="http://schemas.microsoft.com/office/drawing/2014/main" id="{5F7505BF-E2B7-1B78-46B2-BBF238174989}"/>
              </a:ext>
            </a:extLst>
          </p:cNvPr>
          <p:cNvSpPr txBox="1"/>
          <p:nvPr/>
        </p:nvSpPr>
        <p:spPr>
          <a:xfrm>
            <a:off x="2834640" y="5394960"/>
            <a:ext cx="8778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圈定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个重点网点：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4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TEACHING_CUE">
            <a:extLst>
              <a:ext uri="{FF2B5EF4-FFF2-40B4-BE49-F238E27FC236}">
                <a16:creationId xmlns:a16="http://schemas.microsoft.com/office/drawing/2014/main" id="{E0D39E11-AA9E-1E34-B985-6856B0AAB740}"/>
              </a:ext>
            </a:extLst>
          </p:cNvPr>
          <p:cNvSpPr txBox="1"/>
          <p:nvPr/>
        </p:nvSpPr>
        <p:spPr>
          <a:xfrm>
            <a:off x="548640" y="612648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根据数据只突出一个主杠杆，其余作为约束项；指标口径必须一致，口径不一致会产生伪诊断。</a:t>
            </a:r>
          </a:p>
        </p:txBody>
      </p:sp>
    </p:spTree>
    <p:extLst>
      <p:ext uri="{BB962C8B-B14F-4D97-AF65-F5344CB8AC3E}">
        <p14:creationId xmlns:p14="http://schemas.microsoft.com/office/powerpoint/2010/main" val="218063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CBC54E2-9E63-8162-495E-35E6515F33B8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8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国家资源是不是离开县域了？</a:t>
            </a:r>
          </a:p>
        </p:txBody>
      </p:sp>
      <p:sp>
        <p:nvSpPr>
          <p:cNvPr id="3" name="ASK_PROMPT">
            <a:extLst>
              <a:ext uri="{FF2B5EF4-FFF2-40B4-BE49-F238E27FC236}">
                <a16:creationId xmlns:a16="http://schemas.microsoft.com/office/drawing/2014/main" id="{48762A02-FA42-56BB-CE51-1EBBF0035643}"/>
              </a:ext>
            </a:extLst>
          </p:cNvPr>
          <p:cNvSpPr txBox="1"/>
          <p:nvPr/>
        </p:nvSpPr>
        <p:spPr>
          <a:xfrm>
            <a:off x="548640" y="15544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先表态：国家资源离开县域了吗？</a:t>
            </a:r>
          </a:p>
        </p:txBody>
      </p:sp>
      <p:sp>
        <p:nvSpPr>
          <p:cNvPr id="4" name="OPT_BAND_1">
            <a:extLst>
              <a:ext uri="{FF2B5EF4-FFF2-40B4-BE49-F238E27FC236}">
                <a16:creationId xmlns:a16="http://schemas.microsoft.com/office/drawing/2014/main" id="{8DF92F48-4AB2-897E-70C5-DBBD2B435AFC}"/>
              </a:ext>
            </a:extLst>
          </p:cNvPr>
          <p:cNvSpPr/>
          <p:nvPr/>
        </p:nvSpPr>
        <p:spPr>
          <a:xfrm>
            <a:off x="548640" y="214884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OPT_1_TEXT">
            <a:extLst>
              <a:ext uri="{FF2B5EF4-FFF2-40B4-BE49-F238E27FC236}">
                <a16:creationId xmlns:a16="http://schemas.microsoft.com/office/drawing/2014/main" id="{E051D4F4-C95F-411B-09B1-2CC24C18104D}"/>
              </a:ext>
            </a:extLst>
          </p:cNvPr>
          <p:cNvSpPr txBox="1"/>
          <p:nvPr/>
        </p:nvSpPr>
        <p:spPr>
          <a:xfrm>
            <a:off x="822960" y="224028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离开了，资源都在大城市</a:t>
            </a:r>
          </a:p>
        </p:txBody>
      </p:sp>
      <p:sp>
        <p:nvSpPr>
          <p:cNvPr id="6" name="OPT_BAND_2">
            <a:extLst>
              <a:ext uri="{FF2B5EF4-FFF2-40B4-BE49-F238E27FC236}">
                <a16:creationId xmlns:a16="http://schemas.microsoft.com/office/drawing/2014/main" id="{D6EBE1B6-3014-E2C5-6A91-DECAA312CE11}"/>
              </a:ext>
            </a:extLst>
          </p:cNvPr>
          <p:cNvSpPr/>
          <p:nvPr/>
        </p:nvSpPr>
        <p:spPr>
          <a:xfrm>
            <a:off x="548640" y="2880360"/>
            <a:ext cx="10789920" cy="566928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PT_2_TEXT">
            <a:extLst>
              <a:ext uri="{FF2B5EF4-FFF2-40B4-BE49-F238E27FC236}">
                <a16:creationId xmlns:a16="http://schemas.microsoft.com/office/drawing/2014/main" id="{6E51E0B5-18EA-2EAA-2453-03A77C6492D9}"/>
              </a:ext>
            </a:extLst>
          </p:cNvPr>
          <p:cNvSpPr txBox="1"/>
          <p:nvPr/>
        </p:nvSpPr>
        <p:spPr>
          <a:xfrm>
            <a:off x="822960" y="297180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没离开，但和政策无关</a:t>
            </a:r>
          </a:p>
        </p:txBody>
      </p:sp>
      <p:sp>
        <p:nvSpPr>
          <p:cNvPr id="8" name="OPT_BAND_3">
            <a:extLst>
              <a:ext uri="{FF2B5EF4-FFF2-40B4-BE49-F238E27FC236}">
                <a16:creationId xmlns:a16="http://schemas.microsoft.com/office/drawing/2014/main" id="{84ED1604-B9E3-1406-5907-DD91D4E9383C}"/>
              </a:ext>
            </a:extLst>
          </p:cNvPr>
          <p:cNvSpPr/>
          <p:nvPr/>
        </p:nvSpPr>
        <p:spPr>
          <a:xfrm>
            <a:off x="548640" y="361188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OPT_3_TEXT">
            <a:extLst>
              <a:ext uri="{FF2B5EF4-FFF2-40B4-BE49-F238E27FC236}">
                <a16:creationId xmlns:a16="http://schemas.microsoft.com/office/drawing/2014/main" id="{6AC1E4E6-8E1D-C303-D605-18775B001804}"/>
              </a:ext>
            </a:extLst>
          </p:cNvPr>
          <p:cNvSpPr txBox="1"/>
          <p:nvPr/>
        </p:nvSpPr>
        <p:spPr>
          <a:xfrm>
            <a:off x="822960" y="370332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没离开，政策会带来真实场景</a:t>
            </a:r>
          </a:p>
        </p:txBody>
      </p:sp>
      <p:sp>
        <p:nvSpPr>
          <p:cNvPr id="10" name="REVEAL_BAND">
            <a:extLst>
              <a:ext uri="{FF2B5EF4-FFF2-40B4-BE49-F238E27FC236}">
                <a16:creationId xmlns:a16="http://schemas.microsoft.com/office/drawing/2014/main" id="{70C4870A-E77E-AB3C-63BE-E805A22B8F6E}"/>
              </a:ext>
            </a:extLst>
          </p:cNvPr>
          <p:cNvSpPr/>
          <p:nvPr/>
        </p:nvSpPr>
        <p:spPr>
          <a:xfrm>
            <a:off x="548640" y="4526280"/>
            <a:ext cx="11064240" cy="146304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VEAL_TITLE">
            <a:extLst>
              <a:ext uri="{FF2B5EF4-FFF2-40B4-BE49-F238E27FC236}">
                <a16:creationId xmlns:a16="http://schemas.microsoft.com/office/drawing/2014/main" id="{DA45E95A-6755-09BA-9CAC-042B84BC0009}"/>
              </a:ext>
            </a:extLst>
          </p:cNvPr>
          <p:cNvSpPr txBox="1"/>
          <p:nvPr/>
        </p:nvSpPr>
        <p:spPr>
          <a:xfrm>
            <a:off x="777240" y="470916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国家资源没有离开县域</a:t>
            </a:r>
          </a:p>
        </p:txBody>
      </p:sp>
      <p:sp>
        <p:nvSpPr>
          <p:cNvPr id="12" name="REVEAL_TEXT">
            <a:extLst>
              <a:ext uri="{FF2B5EF4-FFF2-40B4-BE49-F238E27FC236}">
                <a16:creationId xmlns:a16="http://schemas.microsoft.com/office/drawing/2014/main" id="{B3FC26CC-DC3B-89D8-12F9-E8BB6C393E1C}"/>
              </a:ext>
            </a:extLst>
          </p:cNvPr>
          <p:cNvSpPr txBox="1"/>
          <p:nvPr/>
        </p:nvSpPr>
        <p:spPr>
          <a:xfrm>
            <a:off x="777240" y="521208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政策方向会翻译成真实场景：县城更新、中心镇集聚、乡村建设、绿色建材下乡。不要只问政策有没有补贴，更要问政策会让哪些地方发生建设、哪些房子需要改善。</a:t>
            </a:r>
          </a:p>
        </p:txBody>
      </p:sp>
      <p:sp>
        <p:nvSpPr>
          <p:cNvPr id="13" name="TEACHING_CUE">
            <a:extLst>
              <a:ext uri="{FF2B5EF4-FFF2-40B4-BE49-F238E27FC236}">
                <a16:creationId xmlns:a16="http://schemas.microsoft.com/office/drawing/2014/main" id="{82F0EA86-9312-827D-7FAE-CEC56B018354}"/>
              </a:ext>
            </a:extLst>
          </p:cNvPr>
          <p:cNvSpPr txBox="1"/>
          <p:nvPr/>
        </p:nvSpPr>
        <p:spPr>
          <a:xfrm>
            <a:off x="548640" y="621792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先让学员表态（举手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分组），再揭示；本页不提前讲答案。</a:t>
            </a:r>
          </a:p>
        </p:txBody>
      </p:sp>
    </p:spTree>
    <p:extLst>
      <p:ext uri="{BB962C8B-B14F-4D97-AF65-F5344CB8AC3E}">
        <p14:creationId xmlns:p14="http://schemas.microsoft.com/office/powerpoint/2010/main" val="307532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3791F-A759-464A-AAA9-9A49798F3BDD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资源有限，先投哪个乡镇？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E451F756-0A7D-69C0-C525-584CC5B535C2}"/>
              </a:ext>
            </a:extLst>
          </p:cNvPr>
          <p:cNvSpPr txBox="1"/>
          <p:nvPr/>
        </p:nvSpPr>
        <p:spPr>
          <a:xfrm>
            <a:off x="548640" y="96012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按「经营价值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攻坚难度」两阶段排序：先看价值，再加难度，最后下注</a:t>
            </a:r>
          </a:p>
        </p:txBody>
      </p:sp>
      <p:sp>
        <p:nvSpPr>
          <p:cNvPr id="4" name="CAN_TITLE">
            <a:extLst>
              <a:ext uri="{FF2B5EF4-FFF2-40B4-BE49-F238E27FC236}">
                <a16:creationId xmlns:a16="http://schemas.microsoft.com/office/drawing/2014/main" id="{151DC87A-1E68-CB1A-40B3-0D66749257DC}"/>
              </a:ext>
            </a:extLst>
          </p:cNvPr>
          <p:cNvSpPr txBox="1"/>
          <p:nvPr/>
        </p:nvSpPr>
        <p:spPr>
          <a:xfrm>
            <a:off x="548640" y="1463040"/>
            <a:ext cx="4572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候选证据卡（先按经营价值排序）</a:t>
            </a:r>
          </a:p>
        </p:txBody>
      </p:sp>
      <p:sp>
        <p:nvSpPr>
          <p:cNvPr id="5" name="CAN_BAND_1">
            <a:extLst>
              <a:ext uri="{FF2B5EF4-FFF2-40B4-BE49-F238E27FC236}">
                <a16:creationId xmlns:a16="http://schemas.microsoft.com/office/drawing/2014/main" id="{F401AAAB-7B58-4FFE-B351-D2B4ABFE90F9}"/>
              </a:ext>
            </a:extLst>
          </p:cNvPr>
          <p:cNvSpPr/>
          <p:nvPr/>
        </p:nvSpPr>
        <p:spPr>
          <a:xfrm>
            <a:off x="548640" y="19202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CAN_1_NAME">
            <a:extLst>
              <a:ext uri="{FF2B5EF4-FFF2-40B4-BE49-F238E27FC236}">
                <a16:creationId xmlns:a16="http://schemas.microsoft.com/office/drawing/2014/main" id="{ED1C3FDA-4564-7895-30D8-7068ED20F4FC}"/>
              </a:ext>
            </a:extLst>
          </p:cNvPr>
          <p:cNvSpPr txBox="1"/>
          <p:nvPr/>
        </p:nvSpPr>
        <p:spPr>
          <a:xfrm>
            <a:off x="731520" y="19202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中心镇</a:t>
            </a:r>
          </a:p>
        </p:txBody>
      </p:sp>
      <p:sp>
        <p:nvSpPr>
          <p:cNvPr id="7" name="CAN_1_EVIDENCE">
            <a:extLst>
              <a:ext uri="{FF2B5EF4-FFF2-40B4-BE49-F238E27FC236}">
                <a16:creationId xmlns:a16="http://schemas.microsoft.com/office/drawing/2014/main" id="{A28A0FDF-D904-56DF-FCD6-FEC3636209D8}"/>
              </a:ext>
            </a:extLst>
          </p:cNvPr>
          <p:cNvSpPr txBox="1"/>
          <p:nvPr/>
        </p:nvSpPr>
        <p:spPr>
          <a:xfrm>
            <a:off x="731520" y="21945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人口与商业集聚，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家活跃网点，有项目线索</a:t>
            </a:r>
          </a:p>
        </p:txBody>
      </p:sp>
      <p:sp>
        <p:nvSpPr>
          <p:cNvPr id="8" name="CAN_BAND_2">
            <a:extLst>
              <a:ext uri="{FF2B5EF4-FFF2-40B4-BE49-F238E27FC236}">
                <a16:creationId xmlns:a16="http://schemas.microsoft.com/office/drawing/2014/main" id="{F61BD6D6-0074-53D5-2AC3-4C332A354CFD}"/>
              </a:ext>
            </a:extLst>
          </p:cNvPr>
          <p:cNvSpPr/>
          <p:nvPr/>
        </p:nvSpPr>
        <p:spPr>
          <a:xfrm>
            <a:off x="548640" y="2606040"/>
            <a:ext cx="3931920" cy="5486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AN_2_NAME">
            <a:extLst>
              <a:ext uri="{FF2B5EF4-FFF2-40B4-BE49-F238E27FC236}">
                <a16:creationId xmlns:a16="http://schemas.microsoft.com/office/drawing/2014/main" id="{3712C16E-5CB7-9681-41D8-10E5124F15E1}"/>
              </a:ext>
            </a:extLst>
          </p:cNvPr>
          <p:cNvSpPr txBox="1"/>
          <p:nvPr/>
        </p:nvSpPr>
        <p:spPr>
          <a:xfrm>
            <a:off x="731520" y="26060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0" name="CAN_2_EVIDENCE">
            <a:extLst>
              <a:ext uri="{FF2B5EF4-FFF2-40B4-BE49-F238E27FC236}">
                <a16:creationId xmlns:a16="http://schemas.microsoft.com/office/drawing/2014/main" id="{64BE933B-4CD2-2B29-DB16-9CBF5DDE7E90}"/>
              </a:ext>
            </a:extLst>
          </p:cNvPr>
          <p:cNvSpPr txBox="1"/>
          <p:nvPr/>
        </p:nvSpPr>
        <p:spPr>
          <a:xfrm>
            <a:off x="731520" y="28803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自建房多，无网点，老板有熟人关系</a:t>
            </a:r>
          </a:p>
        </p:txBody>
      </p:sp>
      <p:sp>
        <p:nvSpPr>
          <p:cNvPr id="11" name="CAN_BAND_3">
            <a:extLst>
              <a:ext uri="{FF2B5EF4-FFF2-40B4-BE49-F238E27FC236}">
                <a16:creationId xmlns:a16="http://schemas.microsoft.com/office/drawing/2014/main" id="{E9B95C12-E444-1035-AEC6-9BBB5146B23D}"/>
              </a:ext>
            </a:extLst>
          </p:cNvPr>
          <p:cNvSpPr/>
          <p:nvPr/>
        </p:nvSpPr>
        <p:spPr>
          <a:xfrm>
            <a:off x="548640" y="32918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AN_3_NAME">
            <a:extLst>
              <a:ext uri="{FF2B5EF4-FFF2-40B4-BE49-F238E27FC236}">
                <a16:creationId xmlns:a16="http://schemas.microsoft.com/office/drawing/2014/main" id="{80CBC99B-6011-59B8-3156-F144B2AAE6CC}"/>
              </a:ext>
            </a:extLst>
          </p:cNvPr>
          <p:cNvSpPr txBox="1"/>
          <p:nvPr/>
        </p:nvSpPr>
        <p:spPr>
          <a:xfrm>
            <a:off x="731520" y="32918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3" name="CAN_3_EVIDENCE">
            <a:extLst>
              <a:ext uri="{FF2B5EF4-FFF2-40B4-BE49-F238E27FC236}">
                <a16:creationId xmlns:a16="http://schemas.microsoft.com/office/drawing/2014/main" id="{B57CD9E0-5029-344B-1296-5AD48D3E98AD}"/>
              </a:ext>
            </a:extLst>
          </p:cNvPr>
          <p:cNvSpPr txBox="1"/>
          <p:nvPr/>
        </p:nvSpPr>
        <p:spPr>
          <a:xfrm>
            <a:off x="731520" y="35661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项目零散、依赖客情，配送半径外</a:t>
            </a:r>
          </a:p>
        </p:txBody>
      </p:sp>
      <p:sp>
        <p:nvSpPr>
          <p:cNvPr id="14" name="MATRIX_TITLE">
            <a:extLst>
              <a:ext uri="{FF2B5EF4-FFF2-40B4-BE49-F238E27FC236}">
                <a16:creationId xmlns:a16="http://schemas.microsoft.com/office/drawing/2014/main" id="{4D21C050-1713-EB68-5111-245BE03C9703}"/>
              </a:ext>
            </a:extLst>
          </p:cNvPr>
          <p:cNvSpPr txBox="1"/>
          <p:nvPr/>
        </p:nvSpPr>
        <p:spPr>
          <a:xfrm>
            <a:off x="4754880" y="1463040"/>
            <a:ext cx="5486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经营价值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</a:t>
            </a:r>
          </a:p>
        </p:txBody>
      </p:sp>
      <p:sp>
        <p:nvSpPr>
          <p:cNvPr id="15" name="QUAD_Q1">
            <a:extLst>
              <a:ext uri="{FF2B5EF4-FFF2-40B4-BE49-F238E27FC236}">
                <a16:creationId xmlns:a16="http://schemas.microsoft.com/office/drawing/2014/main" id="{602981BB-1F89-C441-673A-5AAE3DAE6AA8}"/>
              </a:ext>
            </a:extLst>
          </p:cNvPr>
          <p:cNvSpPr/>
          <p:nvPr/>
        </p:nvSpPr>
        <p:spPr>
          <a:xfrm>
            <a:off x="4754880" y="19202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QUAD_Q1_LABEL">
            <a:extLst>
              <a:ext uri="{FF2B5EF4-FFF2-40B4-BE49-F238E27FC236}">
                <a16:creationId xmlns:a16="http://schemas.microsoft.com/office/drawing/2014/main" id="{87254A10-BD0A-68A3-C8B5-D7D395F43E61}"/>
              </a:ext>
            </a:extLst>
          </p:cNvPr>
          <p:cNvSpPr txBox="1"/>
          <p:nvPr/>
        </p:nvSpPr>
        <p:spPr>
          <a:xfrm>
            <a:off x="489204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优先拿下</a:t>
            </a:r>
          </a:p>
        </p:txBody>
      </p:sp>
      <p:sp>
        <p:nvSpPr>
          <p:cNvPr id="17" name="QUAD_Q1_HINT">
            <a:extLst>
              <a:ext uri="{FF2B5EF4-FFF2-40B4-BE49-F238E27FC236}">
                <a16:creationId xmlns:a16="http://schemas.microsoft.com/office/drawing/2014/main" id="{2F6CCBB1-EF56-727E-ABC6-724FAB85C5F2}"/>
              </a:ext>
            </a:extLst>
          </p:cNvPr>
          <p:cNvSpPr txBox="1"/>
          <p:nvPr/>
        </p:nvSpPr>
        <p:spPr>
          <a:xfrm>
            <a:off x="489204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18" name="QUAD_Q1_FILL">
            <a:extLst>
              <a:ext uri="{FF2B5EF4-FFF2-40B4-BE49-F238E27FC236}">
                <a16:creationId xmlns:a16="http://schemas.microsoft.com/office/drawing/2014/main" id="{E9812A0C-1BE2-112C-48E1-AE2F521A21AA}"/>
              </a:ext>
            </a:extLst>
          </p:cNvPr>
          <p:cNvSpPr txBox="1"/>
          <p:nvPr/>
        </p:nvSpPr>
        <p:spPr>
          <a:xfrm>
            <a:off x="489204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QUAD_Q2">
            <a:extLst>
              <a:ext uri="{FF2B5EF4-FFF2-40B4-BE49-F238E27FC236}">
                <a16:creationId xmlns:a16="http://schemas.microsoft.com/office/drawing/2014/main" id="{CCC8B029-1EBB-B5AD-544C-30FEC4FE67E4}"/>
              </a:ext>
            </a:extLst>
          </p:cNvPr>
          <p:cNvSpPr/>
          <p:nvPr/>
        </p:nvSpPr>
        <p:spPr>
          <a:xfrm>
            <a:off x="8138160" y="1920240"/>
            <a:ext cx="3200400" cy="128016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QUAD_Q2_LABEL">
            <a:extLst>
              <a:ext uri="{FF2B5EF4-FFF2-40B4-BE49-F238E27FC236}">
                <a16:creationId xmlns:a16="http://schemas.microsoft.com/office/drawing/2014/main" id="{8BF87F57-4E11-B744-B51A-4D57B64179AC}"/>
              </a:ext>
            </a:extLst>
          </p:cNvPr>
          <p:cNvSpPr txBox="1"/>
          <p:nvPr/>
        </p:nvSpPr>
        <p:spPr>
          <a:xfrm>
            <a:off x="827532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重点攻坚</a:t>
            </a:r>
          </a:p>
        </p:txBody>
      </p:sp>
      <p:sp>
        <p:nvSpPr>
          <p:cNvPr id="21" name="QUAD_Q2_HINT">
            <a:extLst>
              <a:ext uri="{FF2B5EF4-FFF2-40B4-BE49-F238E27FC236}">
                <a16:creationId xmlns:a16="http://schemas.microsoft.com/office/drawing/2014/main" id="{33D26DE7-9EE8-E762-07CB-9D78F6FC23A6}"/>
              </a:ext>
            </a:extLst>
          </p:cNvPr>
          <p:cNvSpPr txBox="1"/>
          <p:nvPr/>
        </p:nvSpPr>
        <p:spPr>
          <a:xfrm>
            <a:off x="827532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22" name="QUAD_Q2_FILL">
            <a:extLst>
              <a:ext uri="{FF2B5EF4-FFF2-40B4-BE49-F238E27FC236}">
                <a16:creationId xmlns:a16="http://schemas.microsoft.com/office/drawing/2014/main" id="{B751B424-BCF7-F39A-29AB-EC7A6A4841A5}"/>
              </a:ext>
            </a:extLst>
          </p:cNvPr>
          <p:cNvSpPr txBox="1"/>
          <p:nvPr/>
        </p:nvSpPr>
        <p:spPr>
          <a:xfrm>
            <a:off x="827532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QUAD_Q3">
            <a:extLst>
              <a:ext uri="{FF2B5EF4-FFF2-40B4-BE49-F238E27FC236}">
                <a16:creationId xmlns:a16="http://schemas.microsoft.com/office/drawing/2014/main" id="{BCF02BF2-F431-89E8-E237-70550008A939}"/>
              </a:ext>
            </a:extLst>
          </p:cNvPr>
          <p:cNvSpPr/>
          <p:nvPr/>
        </p:nvSpPr>
        <p:spPr>
          <a:xfrm>
            <a:off x="4754880" y="32918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QUAD_Q3_LABEL">
            <a:extLst>
              <a:ext uri="{FF2B5EF4-FFF2-40B4-BE49-F238E27FC236}">
                <a16:creationId xmlns:a16="http://schemas.microsoft.com/office/drawing/2014/main" id="{AFB5AE1D-43AD-004C-8B6D-4A58C46683DC}"/>
              </a:ext>
            </a:extLst>
          </p:cNvPr>
          <p:cNvSpPr txBox="1"/>
          <p:nvPr/>
        </p:nvSpPr>
        <p:spPr>
          <a:xfrm>
            <a:off x="489204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观察验证</a:t>
            </a:r>
          </a:p>
        </p:txBody>
      </p:sp>
      <p:sp>
        <p:nvSpPr>
          <p:cNvPr id="25" name="QUAD_Q3_HINT">
            <a:extLst>
              <a:ext uri="{FF2B5EF4-FFF2-40B4-BE49-F238E27FC236}">
                <a16:creationId xmlns:a16="http://schemas.microsoft.com/office/drawing/2014/main" id="{1E8D4B5B-951F-429C-AE51-33F64ED0BAE0}"/>
              </a:ext>
            </a:extLst>
          </p:cNvPr>
          <p:cNvSpPr txBox="1"/>
          <p:nvPr/>
        </p:nvSpPr>
        <p:spPr>
          <a:xfrm>
            <a:off x="489204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26" name="QUAD_Q3_FILL">
            <a:extLst>
              <a:ext uri="{FF2B5EF4-FFF2-40B4-BE49-F238E27FC236}">
                <a16:creationId xmlns:a16="http://schemas.microsoft.com/office/drawing/2014/main" id="{25653AA1-AD51-E037-8607-C85034A24C94}"/>
              </a:ext>
            </a:extLst>
          </p:cNvPr>
          <p:cNvSpPr txBox="1"/>
          <p:nvPr/>
        </p:nvSpPr>
        <p:spPr>
          <a:xfrm>
            <a:off x="489204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QUAD_Q4">
            <a:extLst>
              <a:ext uri="{FF2B5EF4-FFF2-40B4-BE49-F238E27FC236}">
                <a16:creationId xmlns:a16="http://schemas.microsoft.com/office/drawing/2014/main" id="{CC6F5EC0-751C-88AF-8E6C-253BDCB98CBD}"/>
              </a:ext>
            </a:extLst>
          </p:cNvPr>
          <p:cNvSpPr/>
          <p:nvPr/>
        </p:nvSpPr>
        <p:spPr>
          <a:xfrm>
            <a:off x="8138160" y="3291840"/>
            <a:ext cx="3200400" cy="128016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QUAD_Q4_LABEL">
            <a:extLst>
              <a:ext uri="{FF2B5EF4-FFF2-40B4-BE49-F238E27FC236}">
                <a16:creationId xmlns:a16="http://schemas.microsoft.com/office/drawing/2014/main" id="{DC112707-C82B-252A-34B3-1F95C8CE9EED}"/>
              </a:ext>
            </a:extLst>
          </p:cNvPr>
          <p:cNvSpPr txBox="1"/>
          <p:nvPr/>
        </p:nvSpPr>
        <p:spPr>
          <a:xfrm>
            <a:off x="827532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暂缓投入</a:t>
            </a:r>
          </a:p>
        </p:txBody>
      </p:sp>
      <p:sp>
        <p:nvSpPr>
          <p:cNvPr id="29" name="QUAD_Q4_HINT">
            <a:extLst>
              <a:ext uri="{FF2B5EF4-FFF2-40B4-BE49-F238E27FC236}">
                <a16:creationId xmlns:a16="http://schemas.microsoft.com/office/drawing/2014/main" id="{289539D4-1019-4E57-45EF-C4195335465B}"/>
              </a:ext>
            </a:extLst>
          </p:cNvPr>
          <p:cNvSpPr txBox="1"/>
          <p:nvPr/>
        </p:nvSpPr>
        <p:spPr>
          <a:xfrm>
            <a:off x="827532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30" name="QUAD_Q4_FILL">
            <a:extLst>
              <a:ext uri="{FF2B5EF4-FFF2-40B4-BE49-F238E27FC236}">
                <a16:creationId xmlns:a16="http://schemas.microsoft.com/office/drawing/2014/main" id="{FF931194-BD25-44DA-92FE-E5ABCC67ED1F}"/>
              </a:ext>
            </a:extLst>
          </p:cNvPr>
          <p:cNvSpPr txBox="1"/>
          <p:nvPr/>
        </p:nvSpPr>
        <p:spPr>
          <a:xfrm>
            <a:off x="827532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BET_BAND">
            <a:extLst>
              <a:ext uri="{FF2B5EF4-FFF2-40B4-BE49-F238E27FC236}">
                <a16:creationId xmlns:a16="http://schemas.microsoft.com/office/drawing/2014/main" id="{D013884A-E625-04CF-3742-0E43FACB85BB}"/>
              </a:ext>
            </a:extLst>
          </p:cNvPr>
          <p:cNvSpPr/>
          <p:nvPr/>
        </p:nvSpPr>
        <p:spPr>
          <a:xfrm>
            <a:off x="548640" y="489204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BET_TITLE">
            <a:extLst>
              <a:ext uri="{FF2B5EF4-FFF2-40B4-BE49-F238E27FC236}">
                <a16:creationId xmlns:a16="http://schemas.microsoft.com/office/drawing/2014/main" id="{72019D6E-EA05-300E-E175-8C8E2DA90B81}"/>
              </a:ext>
            </a:extLst>
          </p:cNvPr>
          <p:cNvSpPr txBox="1"/>
          <p:nvPr/>
        </p:nvSpPr>
        <p:spPr>
          <a:xfrm>
            <a:off x="777240" y="5029200"/>
            <a:ext cx="18288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资源下注</a:t>
            </a:r>
          </a:p>
        </p:txBody>
      </p:sp>
      <p:sp>
        <p:nvSpPr>
          <p:cNvPr id="33" name="BET_1_LABEL">
            <a:extLst>
              <a:ext uri="{FF2B5EF4-FFF2-40B4-BE49-F238E27FC236}">
                <a16:creationId xmlns:a16="http://schemas.microsoft.com/office/drawing/2014/main" id="{786E9C03-D23A-EC23-1787-13C5BE70457D}"/>
              </a:ext>
            </a:extLst>
          </p:cNvPr>
          <p:cNvSpPr txBox="1"/>
          <p:nvPr/>
        </p:nvSpPr>
        <p:spPr>
          <a:xfrm>
            <a:off x="27432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首战</a:t>
            </a:r>
          </a:p>
        </p:txBody>
      </p:sp>
      <p:sp>
        <p:nvSpPr>
          <p:cNvPr id="34" name="BET_1_TARGET">
            <a:extLst>
              <a:ext uri="{FF2B5EF4-FFF2-40B4-BE49-F238E27FC236}">
                <a16:creationId xmlns:a16="http://schemas.microsoft.com/office/drawing/2014/main" id="{DDAD1189-109D-3637-A9B4-E26A3933BC62}"/>
              </a:ext>
            </a:extLst>
          </p:cNvPr>
          <p:cNvSpPr txBox="1"/>
          <p:nvPr/>
        </p:nvSpPr>
        <p:spPr>
          <a:xfrm>
            <a:off x="27432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5" name="BET_2_LABEL">
            <a:extLst>
              <a:ext uri="{FF2B5EF4-FFF2-40B4-BE49-F238E27FC236}">
                <a16:creationId xmlns:a16="http://schemas.microsoft.com/office/drawing/2014/main" id="{BFFD6B03-C8A5-93A0-5FB9-7FCD27928AA6}"/>
              </a:ext>
            </a:extLst>
          </p:cNvPr>
          <p:cNvSpPr txBox="1"/>
          <p:nvPr/>
        </p:nvSpPr>
        <p:spPr>
          <a:xfrm>
            <a:off x="54864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候补</a:t>
            </a:r>
          </a:p>
        </p:txBody>
      </p:sp>
      <p:sp>
        <p:nvSpPr>
          <p:cNvPr id="36" name="BET_2_TARGET">
            <a:extLst>
              <a:ext uri="{FF2B5EF4-FFF2-40B4-BE49-F238E27FC236}">
                <a16:creationId xmlns:a16="http://schemas.microsoft.com/office/drawing/2014/main" id="{20C6796D-60B7-787B-4CF3-64AD15D0A9A1}"/>
              </a:ext>
            </a:extLst>
          </p:cNvPr>
          <p:cNvSpPr txBox="1"/>
          <p:nvPr/>
        </p:nvSpPr>
        <p:spPr>
          <a:xfrm>
            <a:off x="54864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7" name="BET_3_LABEL">
            <a:extLst>
              <a:ext uri="{FF2B5EF4-FFF2-40B4-BE49-F238E27FC236}">
                <a16:creationId xmlns:a16="http://schemas.microsoft.com/office/drawing/2014/main" id="{B2810A25-749D-D4E8-04A4-9B4DADE29AB6}"/>
              </a:ext>
            </a:extLst>
          </p:cNvPr>
          <p:cNvSpPr txBox="1"/>
          <p:nvPr/>
        </p:nvSpPr>
        <p:spPr>
          <a:xfrm>
            <a:off x="82296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</a:t>
            </a:r>
          </a:p>
        </p:txBody>
      </p:sp>
      <p:sp>
        <p:nvSpPr>
          <p:cNvPr id="38" name="BET_3_TARGET">
            <a:extLst>
              <a:ext uri="{FF2B5EF4-FFF2-40B4-BE49-F238E27FC236}">
                <a16:creationId xmlns:a16="http://schemas.microsoft.com/office/drawing/2014/main" id="{BF29331E-D7FA-AD22-9850-32330DB686D1}"/>
              </a:ext>
            </a:extLst>
          </p:cNvPr>
          <p:cNvSpPr txBox="1"/>
          <p:nvPr/>
        </p:nvSpPr>
        <p:spPr>
          <a:xfrm>
            <a:off x="82296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8C34CACC-2A17-882E-E2E3-05E617781765}"/>
              </a:ext>
            </a:extLst>
          </p:cNvPr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先按经营价值排序，再加实施难度；用「高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证据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待验证字段」，不打精确分数。</a:t>
            </a:r>
          </a:p>
        </p:txBody>
      </p:sp>
    </p:spTree>
    <p:extLst>
      <p:ext uri="{BB962C8B-B14F-4D97-AF65-F5344CB8AC3E}">
        <p14:creationId xmlns:p14="http://schemas.microsoft.com/office/powerpoint/2010/main" val="1518005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3233FEB-5B3F-7EDC-FEF0-59E330411D99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产品增长卡在哪：铺得更广、卖得更动，还是核心品项产出？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914DCF3-D917-3A0C-FC85-06723E57DA52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铺货网点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动销回转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FEDEE5C4-7BC9-9CC7-B327-C8FEF12B8919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05AC0F55-E458-C52F-786F-087C6EB21846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50BBAC5-6861-6C70-5AC5-A748A54B9D42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铺得广吗？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E8A664A-A2AA-6F94-49EA-F8F0841A504B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个网点 ｜ 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E244A3C0-CEC7-45B1-4AFF-E3B4ED6360FF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D32A23FB-72AF-8AFB-83F9-AEA45C987028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E2036FE0-5401-8A45-26B7-BA892BBFBC7C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33F524A9-C071-4F99-0750-20F59B6F198E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铺了，回转了吗？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A823C6AE-CA59-5623-702A-0D0E62A79D9C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｜ 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E59B378A-A4F3-32EF-5D87-2C7860BB867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E84C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D1A5C50C-29E0-38EC-3F61-B9116115DBCA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6E579A35-6578-EA7C-31D4-2B8083AFCB39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D041BAD-D1D0-B507-A9FE-56EA7655F466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品项卖得动吗？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A2E973F4-4FD7-C5F0-6F4C-4E1FCC965ADD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单品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F42265E0-5BF6-A670-52D2-57B9D0E8E288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88FA4898-8BB5-1A3B-AD7F-BC7424E8992E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54550F49-ECFE-13D3-F09B-CBC5F1117AA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SKU_TITLE">
            <a:extLst>
              <a:ext uri="{FF2B5EF4-FFF2-40B4-BE49-F238E27FC236}">
                <a16:creationId xmlns:a16="http://schemas.microsoft.com/office/drawing/2014/main" id="{38F04CB4-60C4-B623-D175-F63997849F5B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核心品项策略</a:t>
            </a:r>
          </a:p>
        </p:txBody>
      </p:sp>
      <p:sp>
        <p:nvSpPr>
          <p:cNvPr id="22" name="SKU_BAND_1">
            <a:extLst>
              <a:ext uri="{FF2B5EF4-FFF2-40B4-BE49-F238E27FC236}">
                <a16:creationId xmlns:a16="http://schemas.microsoft.com/office/drawing/2014/main" id="{BABB55BF-8E45-4362-EC7F-04A0558CD713}"/>
              </a:ext>
            </a:extLst>
          </p:cNvPr>
          <p:cNvSpPr/>
          <p:nvPr/>
        </p:nvSpPr>
        <p:spPr>
          <a:xfrm>
            <a:off x="5486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SKU_1_LABEL">
            <a:extLst>
              <a:ext uri="{FF2B5EF4-FFF2-40B4-BE49-F238E27FC236}">
                <a16:creationId xmlns:a16="http://schemas.microsoft.com/office/drawing/2014/main" id="{9C2271AB-D720-355C-DBF5-BC865266B3F3}"/>
              </a:ext>
            </a:extLst>
          </p:cNvPr>
          <p:cNvSpPr txBox="1"/>
          <p:nvPr/>
        </p:nvSpPr>
        <p:spPr>
          <a:xfrm>
            <a:off x="6858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守</a:t>
            </a:r>
          </a:p>
        </p:txBody>
      </p:sp>
      <p:sp>
        <p:nvSpPr>
          <p:cNvPr id="24" name="SKU_1_TEXT">
            <a:extLst>
              <a:ext uri="{FF2B5EF4-FFF2-40B4-BE49-F238E27FC236}">
                <a16:creationId xmlns:a16="http://schemas.microsoft.com/office/drawing/2014/main" id="{E1D7ADB7-68AA-0B96-D23D-60E6A01B703A}"/>
              </a:ext>
            </a:extLst>
          </p:cNvPr>
          <p:cNvSpPr txBox="1"/>
          <p:nvPr/>
        </p:nvSpPr>
        <p:spPr>
          <a:xfrm>
            <a:off x="6858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爆品做深：保覆盖、追复购</a:t>
            </a:r>
          </a:p>
        </p:txBody>
      </p:sp>
      <p:sp>
        <p:nvSpPr>
          <p:cNvPr id="25" name="SKU_BAND_2">
            <a:extLst>
              <a:ext uri="{FF2B5EF4-FFF2-40B4-BE49-F238E27FC236}">
                <a16:creationId xmlns:a16="http://schemas.microsoft.com/office/drawing/2014/main" id="{90DC4061-6732-C0D0-BD74-173CDAFBAA1B}"/>
              </a:ext>
            </a:extLst>
          </p:cNvPr>
          <p:cNvSpPr/>
          <p:nvPr/>
        </p:nvSpPr>
        <p:spPr>
          <a:xfrm>
            <a:off x="3291840" y="5394960"/>
            <a:ext cx="2468880" cy="91440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SKU_2_LABEL">
            <a:extLst>
              <a:ext uri="{FF2B5EF4-FFF2-40B4-BE49-F238E27FC236}">
                <a16:creationId xmlns:a16="http://schemas.microsoft.com/office/drawing/2014/main" id="{D5919042-9605-5FA2-ED02-3D33838816DB}"/>
              </a:ext>
            </a:extLst>
          </p:cNvPr>
          <p:cNvSpPr txBox="1"/>
          <p:nvPr/>
        </p:nvSpPr>
        <p:spPr>
          <a:xfrm>
            <a:off x="34290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</a:t>
            </a:r>
          </a:p>
        </p:txBody>
      </p:sp>
      <p:sp>
        <p:nvSpPr>
          <p:cNvPr id="27" name="SKU_2_TEXT">
            <a:extLst>
              <a:ext uri="{FF2B5EF4-FFF2-40B4-BE49-F238E27FC236}">
                <a16:creationId xmlns:a16="http://schemas.microsoft.com/office/drawing/2014/main" id="{0142CF99-C39B-1B1A-E4B7-16218236D99F}"/>
              </a:ext>
            </a:extLst>
          </p:cNvPr>
          <p:cNvSpPr txBox="1"/>
          <p:nvPr/>
        </p:nvSpPr>
        <p:spPr>
          <a:xfrm>
            <a:off x="34290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潜力品项铺开到匹配网点</a:t>
            </a:r>
          </a:p>
        </p:txBody>
      </p:sp>
      <p:sp>
        <p:nvSpPr>
          <p:cNvPr id="28" name="SKU_BAND_3">
            <a:extLst>
              <a:ext uri="{FF2B5EF4-FFF2-40B4-BE49-F238E27FC236}">
                <a16:creationId xmlns:a16="http://schemas.microsoft.com/office/drawing/2014/main" id="{9280703C-1259-BFB8-E7A1-C2213B16BBD9}"/>
              </a:ext>
            </a:extLst>
          </p:cNvPr>
          <p:cNvSpPr/>
          <p:nvPr/>
        </p:nvSpPr>
        <p:spPr>
          <a:xfrm>
            <a:off x="60350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SKU_3_LABEL">
            <a:extLst>
              <a:ext uri="{FF2B5EF4-FFF2-40B4-BE49-F238E27FC236}">
                <a16:creationId xmlns:a16="http://schemas.microsoft.com/office/drawing/2014/main" id="{DC01EA15-4709-96D5-2B1E-81D7AA6BFD94}"/>
              </a:ext>
            </a:extLst>
          </p:cNvPr>
          <p:cNvSpPr txBox="1"/>
          <p:nvPr/>
        </p:nvSpPr>
        <p:spPr>
          <a:xfrm>
            <a:off x="61722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育</a:t>
            </a:r>
          </a:p>
        </p:txBody>
      </p:sp>
      <p:sp>
        <p:nvSpPr>
          <p:cNvPr id="30" name="SKU_3_TEXT">
            <a:extLst>
              <a:ext uri="{FF2B5EF4-FFF2-40B4-BE49-F238E27FC236}">
                <a16:creationId xmlns:a16="http://schemas.microsoft.com/office/drawing/2014/main" id="{A61A1836-475F-5557-EB7C-3D75470FA52D}"/>
              </a:ext>
            </a:extLst>
          </p:cNvPr>
          <p:cNvSpPr txBox="1"/>
          <p:nvPr/>
        </p:nvSpPr>
        <p:spPr>
          <a:xfrm>
            <a:off x="61722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孵化新品项：小批量验证</a:t>
            </a:r>
          </a:p>
        </p:txBody>
      </p:sp>
      <p:sp>
        <p:nvSpPr>
          <p:cNvPr id="31" name="SKU_BAND_4">
            <a:extLst>
              <a:ext uri="{FF2B5EF4-FFF2-40B4-BE49-F238E27FC236}">
                <a16:creationId xmlns:a16="http://schemas.microsoft.com/office/drawing/2014/main" id="{6A83717F-4A4D-BAC9-62B5-C545C7E8EB5A}"/>
              </a:ext>
            </a:extLst>
          </p:cNvPr>
          <p:cNvSpPr/>
          <p:nvPr/>
        </p:nvSpPr>
        <p:spPr>
          <a:xfrm>
            <a:off x="8778240" y="5394960"/>
            <a:ext cx="2468880" cy="91440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SKU_4_LABEL">
            <a:extLst>
              <a:ext uri="{FF2B5EF4-FFF2-40B4-BE49-F238E27FC236}">
                <a16:creationId xmlns:a16="http://schemas.microsoft.com/office/drawing/2014/main" id="{5A7F105B-61E0-65DF-0BE8-49C8A65A57B3}"/>
              </a:ext>
            </a:extLst>
          </p:cNvPr>
          <p:cNvSpPr txBox="1"/>
          <p:nvPr/>
        </p:nvSpPr>
        <p:spPr>
          <a:xfrm>
            <a:off x="89154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淘汰</a:t>
            </a:r>
          </a:p>
        </p:txBody>
      </p:sp>
      <p:sp>
        <p:nvSpPr>
          <p:cNvPr id="33" name="SKU_4_TEXT">
            <a:extLst>
              <a:ext uri="{FF2B5EF4-FFF2-40B4-BE49-F238E27FC236}">
                <a16:creationId xmlns:a16="http://schemas.microsoft.com/office/drawing/2014/main" id="{2770535A-2758-2C64-F43D-8DD51D09CBBF}"/>
              </a:ext>
            </a:extLst>
          </p:cNvPr>
          <p:cNvSpPr txBox="1"/>
          <p:nvPr/>
        </p:nvSpPr>
        <p:spPr>
          <a:xfrm>
            <a:off x="89154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低效品项退出或换品</a:t>
            </a:r>
          </a:p>
        </p:txBody>
      </p:sp>
      <p:sp>
        <p:nvSpPr>
          <p:cNvPr id="34" name="TEACHING_CUE">
            <a:extLst>
              <a:ext uri="{FF2B5EF4-FFF2-40B4-BE49-F238E27FC236}">
                <a16:creationId xmlns:a16="http://schemas.microsoft.com/office/drawing/2014/main" id="{44FE768B-F44F-362A-09BB-79B9C6E7897C}"/>
              </a:ext>
            </a:extLst>
          </p:cNvPr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一次销量≠爆品：检查覆盖、回转与复购；缺数据用低置信度代理并标注缺失。</a:t>
            </a:r>
          </a:p>
        </p:txBody>
      </p:sp>
    </p:spTree>
    <p:extLst>
      <p:ext uri="{BB962C8B-B14F-4D97-AF65-F5344CB8AC3E}">
        <p14:creationId xmlns:p14="http://schemas.microsoft.com/office/powerpoint/2010/main" val="3332818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9C48DE-3B72-13E3-A3FD-D1ACA3E1800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如果你是这位经销商，你会先怎么做？</a:t>
            </a:r>
          </a:p>
        </p:txBody>
      </p:sp>
      <p:sp>
        <p:nvSpPr>
          <p:cNvPr id="3" name="SCENARIO_BAND">
            <a:extLst>
              <a:ext uri="{FF2B5EF4-FFF2-40B4-BE49-F238E27FC236}">
                <a16:creationId xmlns:a16="http://schemas.microsoft.com/office/drawing/2014/main" id="{66847BD6-1832-5631-2A4F-8BB802A90B03}"/>
              </a:ext>
            </a:extLst>
          </p:cNvPr>
          <p:cNvSpPr/>
          <p:nvPr/>
        </p:nvSpPr>
        <p:spPr>
          <a:xfrm>
            <a:off x="548640" y="1143000"/>
            <a:ext cx="11064240" cy="14173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CENARIO_TITLE">
            <a:extLst>
              <a:ext uri="{FF2B5EF4-FFF2-40B4-BE49-F238E27FC236}">
                <a16:creationId xmlns:a16="http://schemas.microsoft.com/office/drawing/2014/main" id="{99016AF5-FD60-3394-9DDC-B3790F813EFB}"/>
              </a:ext>
            </a:extLst>
          </p:cNvPr>
          <p:cNvSpPr txBox="1"/>
          <p:nvPr/>
        </p:nvSpPr>
        <p:spPr>
          <a:xfrm>
            <a:off x="777240" y="1280160"/>
            <a:ext cx="36576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情景（匿名综合案例）</a:t>
            </a:r>
          </a:p>
        </p:txBody>
      </p:sp>
      <p:sp>
        <p:nvSpPr>
          <p:cNvPr id="5" name="SCENARIO_TEXT">
            <a:extLst>
              <a:ext uri="{FF2B5EF4-FFF2-40B4-BE49-F238E27FC236}">
                <a16:creationId xmlns:a16="http://schemas.microsoft.com/office/drawing/2014/main" id="{22C2228F-0C31-17A4-3CFF-D7F53A20673C}"/>
              </a:ext>
            </a:extLst>
          </p:cNvPr>
          <p:cNvSpPr txBox="1"/>
          <p:nvPr/>
        </p:nvSpPr>
        <p:spPr>
          <a:xfrm>
            <a:off x="777240" y="1691640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某县经销商：县城新房交付减少，已在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个乡镇铺过货但动销一般；手上有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个业务员，资金有限。刚听说邻县中心镇有一个大型安置房项目正在启动。</a:t>
            </a:r>
          </a:p>
        </p:txBody>
      </p:sp>
      <p:sp>
        <p:nvSpPr>
          <p:cNvPr id="6" name="CHOICE_TITLE">
            <a:extLst>
              <a:ext uri="{FF2B5EF4-FFF2-40B4-BE49-F238E27FC236}">
                <a16:creationId xmlns:a16="http://schemas.microsoft.com/office/drawing/2014/main" id="{139D36BB-CF5C-23B7-63E6-AC44DCCFFEA0}"/>
              </a:ext>
            </a:extLst>
          </p:cNvPr>
          <p:cNvSpPr txBox="1"/>
          <p:nvPr/>
        </p:nvSpPr>
        <p:spPr>
          <a:xfrm>
            <a:off x="548640" y="2788920"/>
            <a:ext cx="73152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你会先怎么做？</a:t>
            </a:r>
          </a:p>
        </p:txBody>
      </p:sp>
      <p:sp>
        <p:nvSpPr>
          <p:cNvPr id="7" name="CHOICE_BAND_1">
            <a:extLst>
              <a:ext uri="{FF2B5EF4-FFF2-40B4-BE49-F238E27FC236}">
                <a16:creationId xmlns:a16="http://schemas.microsoft.com/office/drawing/2014/main" id="{BBFC4A4E-9086-F238-69A2-DA5852D8DF3A}"/>
              </a:ext>
            </a:extLst>
          </p:cNvPr>
          <p:cNvSpPr/>
          <p:nvPr/>
        </p:nvSpPr>
        <p:spPr>
          <a:xfrm>
            <a:off x="548640" y="33375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CHOICE_1_TEXT">
            <a:extLst>
              <a:ext uri="{FF2B5EF4-FFF2-40B4-BE49-F238E27FC236}">
                <a16:creationId xmlns:a16="http://schemas.microsoft.com/office/drawing/2014/main" id="{519F2A7A-CAE7-1405-19F2-088D4352D8DC}"/>
              </a:ext>
            </a:extLst>
          </p:cNvPr>
          <p:cNvSpPr txBox="1"/>
          <p:nvPr/>
        </p:nvSpPr>
        <p:spPr>
          <a:xfrm>
            <a:off x="868680" y="333756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先打邻县中心镇安置房项目，找关系进项目</a:t>
            </a:r>
          </a:p>
        </p:txBody>
      </p:sp>
      <p:sp>
        <p:nvSpPr>
          <p:cNvPr id="9" name="CHOICE_BAND_2">
            <a:extLst>
              <a:ext uri="{FF2B5EF4-FFF2-40B4-BE49-F238E27FC236}">
                <a16:creationId xmlns:a16="http://schemas.microsoft.com/office/drawing/2014/main" id="{E9BAAACE-97F5-E22A-71CA-3FFFE6F4A502}"/>
              </a:ext>
            </a:extLst>
          </p:cNvPr>
          <p:cNvSpPr/>
          <p:nvPr/>
        </p:nvSpPr>
        <p:spPr>
          <a:xfrm>
            <a:off x="548640" y="3931920"/>
            <a:ext cx="11064240" cy="50292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CHOICE_2_TEXT">
            <a:extLst>
              <a:ext uri="{FF2B5EF4-FFF2-40B4-BE49-F238E27FC236}">
                <a16:creationId xmlns:a16="http://schemas.microsoft.com/office/drawing/2014/main" id="{63124779-893F-56F7-4DFA-EC6464EECA45}"/>
              </a:ext>
            </a:extLst>
          </p:cNvPr>
          <p:cNvSpPr txBox="1"/>
          <p:nvPr/>
        </p:nvSpPr>
        <p:spPr>
          <a:xfrm>
            <a:off x="868680" y="393192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先激活已有 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个乡镇网点，促动销、补货</a:t>
            </a:r>
          </a:p>
        </p:txBody>
      </p:sp>
      <p:sp>
        <p:nvSpPr>
          <p:cNvPr id="11" name="CHOICE_BAND_3">
            <a:extLst>
              <a:ext uri="{FF2B5EF4-FFF2-40B4-BE49-F238E27FC236}">
                <a16:creationId xmlns:a16="http://schemas.microsoft.com/office/drawing/2014/main" id="{BA41100A-3526-FEE6-B14B-7B6A5CCDA214}"/>
              </a:ext>
            </a:extLst>
          </p:cNvPr>
          <p:cNvSpPr/>
          <p:nvPr/>
        </p:nvSpPr>
        <p:spPr>
          <a:xfrm>
            <a:off x="548640" y="452628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HOICE_3_TEXT">
            <a:extLst>
              <a:ext uri="{FF2B5EF4-FFF2-40B4-BE49-F238E27FC236}">
                <a16:creationId xmlns:a16="http://schemas.microsoft.com/office/drawing/2014/main" id="{A1018907-D5E9-5AC9-D044-C8DD3A417D1F}"/>
              </a:ext>
            </a:extLst>
          </p:cNvPr>
          <p:cNvSpPr txBox="1"/>
          <p:nvPr/>
        </p:nvSpPr>
        <p:spPr>
          <a:xfrm>
            <a:off x="868680" y="452628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先在县城做品牌展示和服务站，夯实大本营</a:t>
            </a:r>
          </a:p>
        </p:txBody>
      </p:sp>
      <p:sp>
        <p:nvSpPr>
          <p:cNvPr id="13" name="CHOICE_BAND_4">
            <a:extLst>
              <a:ext uri="{FF2B5EF4-FFF2-40B4-BE49-F238E27FC236}">
                <a16:creationId xmlns:a16="http://schemas.microsoft.com/office/drawing/2014/main" id="{DF86394F-7B31-58E2-014C-B573BCD56A69}"/>
              </a:ext>
            </a:extLst>
          </p:cNvPr>
          <p:cNvSpPr/>
          <p:nvPr/>
        </p:nvSpPr>
        <p:spPr>
          <a:xfrm>
            <a:off x="548640" y="5120640"/>
            <a:ext cx="11064240" cy="50292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CHOICE_4_TEXT">
            <a:extLst>
              <a:ext uri="{FF2B5EF4-FFF2-40B4-BE49-F238E27FC236}">
                <a16:creationId xmlns:a16="http://schemas.microsoft.com/office/drawing/2014/main" id="{8FB12730-7740-E3EC-59DF-6B2241118AFB}"/>
              </a:ext>
            </a:extLst>
          </p:cNvPr>
          <p:cNvSpPr txBox="1"/>
          <p:nvPr/>
        </p:nvSpPr>
        <p:spPr>
          <a:xfrm>
            <a:off x="868680" y="512064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先加跑乡镇的业务员，增加触达和线索</a:t>
            </a:r>
          </a:p>
        </p:txBody>
      </p:sp>
      <p:sp>
        <p:nvSpPr>
          <p:cNvPr id="15" name="DEBRIEF_CUE">
            <a:extLst>
              <a:ext uri="{FF2B5EF4-FFF2-40B4-BE49-F238E27FC236}">
                <a16:creationId xmlns:a16="http://schemas.microsoft.com/office/drawing/2014/main" id="{7B970C88-B014-1D34-A257-D3066A911C0C}"/>
              </a:ext>
            </a:extLst>
          </p:cNvPr>
          <p:cNvSpPr txBox="1"/>
          <p:nvPr/>
        </p:nvSpPr>
        <p:spPr>
          <a:xfrm>
            <a:off x="548640" y="580644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先选，再讲理由；本页不公布答案。</a:t>
            </a:r>
          </a:p>
        </p:txBody>
      </p:sp>
      <p:sp>
        <p:nvSpPr>
          <p:cNvPr id="16" name="TEACHING_CUE">
            <a:extLst>
              <a:ext uri="{FF2B5EF4-FFF2-40B4-BE49-F238E27FC236}">
                <a16:creationId xmlns:a16="http://schemas.microsoft.com/office/drawing/2014/main" id="{A7D14817-8851-6253-50C6-A6B12570FAB3}"/>
              </a:ext>
            </a:extLst>
          </p:cNvPr>
          <p:cNvSpPr txBox="1"/>
          <p:nvPr/>
        </p:nvSpPr>
        <p:spPr>
          <a:xfrm>
            <a:off x="548640" y="62179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先收集各组的选项与理由，再引导讨论每个选项的成本与可验证依据；选项无对错，避免羞辱。</a:t>
            </a:r>
          </a:p>
        </p:txBody>
      </p:sp>
    </p:spTree>
    <p:extLst>
      <p:ext uri="{BB962C8B-B14F-4D97-AF65-F5344CB8AC3E}">
        <p14:creationId xmlns:p14="http://schemas.microsoft.com/office/powerpoint/2010/main" val="2930308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D348B54-B680-DB9B-C4B6-4784A300A26A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5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先看症状，再给解读：你的乡镇经营卡在哪？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0CDBDFC-F762-FC87-4652-9FE9F40C76EF}"/>
              </a:ext>
            </a:extLst>
          </p:cNvPr>
          <p:cNvSpPr txBox="1"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按维度逐行诊断：症状是事实，解读是判断，下一步是动作</a:t>
            </a:r>
          </a:p>
        </p:txBody>
      </p:sp>
      <p:sp>
        <p:nvSpPr>
          <p:cNvPr id="4" name="HDR_1">
            <a:extLst>
              <a:ext uri="{FF2B5EF4-FFF2-40B4-BE49-F238E27FC236}">
                <a16:creationId xmlns:a16="http://schemas.microsoft.com/office/drawing/2014/main" id="{BE52C567-7A51-F0F2-AB3D-35215106491A}"/>
              </a:ext>
            </a:extLst>
          </p:cNvPr>
          <p:cNvSpPr txBox="1"/>
          <p:nvPr/>
        </p:nvSpPr>
        <p:spPr>
          <a:xfrm>
            <a:off x="548640" y="1463040"/>
            <a:ext cx="219456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经营维度</a:t>
            </a:r>
          </a:p>
        </p:txBody>
      </p:sp>
      <p:sp>
        <p:nvSpPr>
          <p:cNvPr id="5" name="HDR_2">
            <a:extLst>
              <a:ext uri="{FF2B5EF4-FFF2-40B4-BE49-F238E27FC236}">
                <a16:creationId xmlns:a16="http://schemas.microsoft.com/office/drawing/2014/main" id="{62847ADC-7C5F-3370-D193-84EAFA0AD2A3}"/>
              </a:ext>
            </a:extLst>
          </p:cNvPr>
          <p:cNvSpPr txBox="1"/>
          <p:nvPr/>
        </p:nvSpPr>
        <p:spPr>
          <a:xfrm>
            <a:off x="283464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可见症状</a:t>
            </a:r>
          </a:p>
        </p:txBody>
      </p:sp>
      <p:sp>
        <p:nvSpPr>
          <p:cNvPr id="6" name="HDR_3">
            <a:extLst>
              <a:ext uri="{FF2B5EF4-FFF2-40B4-BE49-F238E27FC236}">
                <a16:creationId xmlns:a16="http://schemas.microsoft.com/office/drawing/2014/main" id="{4C178E36-50EF-33C0-19B2-41DF2D4E3AA5}"/>
              </a:ext>
            </a:extLst>
          </p:cNvPr>
          <p:cNvSpPr txBox="1"/>
          <p:nvPr/>
        </p:nvSpPr>
        <p:spPr>
          <a:xfrm>
            <a:off x="548640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解读</a:t>
            </a:r>
          </a:p>
        </p:txBody>
      </p:sp>
      <p:sp>
        <p:nvSpPr>
          <p:cNvPr id="7" name="HDR_4">
            <a:extLst>
              <a:ext uri="{FF2B5EF4-FFF2-40B4-BE49-F238E27FC236}">
                <a16:creationId xmlns:a16="http://schemas.microsoft.com/office/drawing/2014/main" id="{6E15FE9A-5A22-C4D4-75D9-0F93A90F99EB}"/>
              </a:ext>
            </a:extLst>
          </p:cNvPr>
          <p:cNvSpPr txBox="1"/>
          <p:nvPr/>
        </p:nvSpPr>
        <p:spPr>
          <a:xfrm>
            <a:off x="8138160" y="1463040"/>
            <a:ext cx="34747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下一步</a:t>
            </a:r>
          </a:p>
        </p:txBody>
      </p:sp>
      <p:sp>
        <p:nvSpPr>
          <p:cNvPr id="8" name="ROW_BAND_1">
            <a:extLst>
              <a:ext uri="{FF2B5EF4-FFF2-40B4-BE49-F238E27FC236}">
                <a16:creationId xmlns:a16="http://schemas.microsoft.com/office/drawing/2014/main" id="{7C186B51-50DB-7BD4-0425-68B30FC00298}"/>
              </a:ext>
            </a:extLst>
          </p:cNvPr>
          <p:cNvSpPr/>
          <p:nvPr/>
        </p:nvSpPr>
        <p:spPr>
          <a:xfrm>
            <a:off x="548640" y="192024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DIM_1_NAME">
            <a:extLst>
              <a:ext uri="{FF2B5EF4-FFF2-40B4-BE49-F238E27FC236}">
                <a16:creationId xmlns:a16="http://schemas.microsoft.com/office/drawing/2014/main" id="{9F34780E-5F06-32CC-1145-C4468720E266}"/>
              </a:ext>
            </a:extLst>
          </p:cNvPr>
          <p:cNvSpPr txBox="1"/>
          <p:nvPr/>
        </p:nvSpPr>
        <p:spPr>
          <a:xfrm>
            <a:off x="685800" y="199339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10" name="DIM_1_SYMPTOM">
            <a:extLst>
              <a:ext uri="{FF2B5EF4-FFF2-40B4-BE49-F238E27FC236}">
                <a16:creationId xmlns:a16="http://schemas.microsoft.com/office/drawing/2014/main" id="{96438923-3B34-EEE7-6698-E088990D3979}"/>
              </a:ext>
            </a:extLst>
          </p:cNvPr>
          <p:cNvSpPr txBox="1"/>
          <p:nvPr/>
        </p:nvSpPr>
        <p:spPr>
          <a:xfrm>
            <a:off x="297180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网点铺了，但不动销</a:t>
            </a:r>
          </a:p>
        </p:txBody>
      </p:sp>
      <p:sp>
        <p:nvSpPr>
          <p:cNvPr id="11" name="DIM_1_READ">
            <a:extLst>
              <a:ext uri="{FF2B5EF4-FFF2-40B4-BE49-F238E27FC236}">
                <a16:creationId xmlns:a16="http://schemas.microsoft.com/office/drawing/2014/main" id="{03A3FF9F-A980-AD0F-15CD-EBAD4E176935}"/>
              </a:ext>
            </a:extLst>
          </p:cNvPr>
          <p:cNvSpPr txBox="1"/>
          <p:nvPr/>
        </p:nvSpPr>
        <p:spPr>
          <a:xfrm>
            <a:off x="562356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渠道力偏弱</a:t>
            </a:r>
          </a:p>
        </p:txBody>
      </p:sp>
      <p:sp>
        <p:nvSpPr>
          <p:cNvPr id="12" name="DIM_1_NEXT">
            <a:extLst>
              <a:ext uri="{FF2B5EF4-FFF2-40B4-BE49-F238E27FC236}">
                <a16:creationId xmlns:a16="http://schemas.microsoft.com/office/drawing/2014/main" id="{86A6E245-2D19-96C7-D7BF-E37220EE1841}"/>
              </a:ext>
            </a:extLst>
          </p:cNvPr>
          <p:cNvSpPr txBox="1"/>
          <p:nvPr/>
        </p:nvSpPr>
        <p:spPr>
          <a:xfrm>
            <a:off x="8275320" y="199339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按核心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普通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低效分类，集中激活</a:t>
            </a:r>
          </a:p>
        </p:txBody>
      </p:sp>
      <p:sp>
        <p:nvSpPr>
          <p:cNvPr id="13" name="ROW_BAND_2">
            <a:extLst>
              <a:ext uri="{FF2B5EF4-FFF2-40B4-BE49-F238E27FC236}">
                <a16:creationId xmlns:a16="http://schemas.microsoft.com/office/drawing/2014/main" id="{55943540-F103-5EFD-0155-13E5A587367B}"/>
              </a:ext>
            </a:extLst>
          </p:cNvPr>
          <p:cNvSpPr/>
          <p:nvPr/>
        </p:nvSpPr>
        <p:spPr>
          <a:xfrm>
            <a:off x="548640" y="2514600"/>
            <a:ext cx="11064240" cy="50292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DIM_2_NAME">
            <a:extLst>
              <a:ext uri="{FF2B5EF4-FFF2-40B4-BE49-F238E27FC236}">
                <a16:creationId xmlns:a16="http://schemas.microsoft.com/office/drawing/2014/main" id="{9A101BCD-4D62-9E6F-6D45-2F4D3A0A337D}"/>
              </a:ext>
            </a:extLst>
          </p:cNvPr>
          <p:cNvSpPr txBox="1"/>
          <p:nvPr/>
        </p:nvSpPr>
        <p:spPr>
          <a:xfrm>
            <a:off x="685800" y="258775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5" name="DIM_2_SYMPTOM">
            <a:extLst>
              <a:ext uri="{FF2B5EF4-FFF2-40B4-BE49-F238E27FC236}">
                <a16:creationId xmlns:a16="http://schemas.microsoft.com/office/drawing/2014/main" id="{F6AF167C-568F-B747-D47B-7A914351C73B}"/>
              </a:ext>
            </a:extLst>
          </p:cNvPr>
          <p:cNvSpPr txBox="1"/>
          <p:nvPr/>
        </p:nvSpPr>
        <p:spPr>
          <a:xfrm>
            <a:off x="297180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补货不稳定，靠促销撑</a:t>
            </a:r>
          </a:p>
        </p:txBody>
      </p:sp>
      <p:sp>
        <p:nvSpPr>
          <p:cNvPr id="16" name="DIM_2_READ">
            <a:extLst>
              <a:ext uri="{FF2B5EF4-FFF2-40B4-BE49-F238E27FC236}">
                <a16:creationId xmlns:a16="http://schemas.microsoft.com/office/drawing/2014/main" id="{C1398A27-6A25-020F-53CB-91DE7CF0DFCB}"/>
              </a:ext>
            </a:extLst>
          </p:cNvPr>
          <p:cNvSpPr txBox="1"/>
          <p:nvPr/>
        </p:nvSpPr>
        <p:spPr>
          <a:xfrm>
            <a:off x="562356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拜访缺任务，动销未形成</a:t>
            </a:r>
          </a:p>
        </p:txBody>
      </p:sp>
      <p:sp>
        <p:nvSpPr>
          <p:cNvPr id="17" name="DIM_2_NEXT">
            <a:extLst>
              <a:ext uri="{FF2B5EF4-FFF2-40B4-BE49-F238E27FC236}">
                <a16:creationId xmlns:a16="http://schemas.microsoft.com/office/drawing/2014/main" id="{D5EFB405-A445-5EB2-A799-899C4670B41C}"/>
              </a:ext>
            </a:extLst>
          </p:cNvPr>
          <p:cNvSpPr txBox="1"/>
          <p:nvPr/>
        </p:nvSpPr>
        <p:spPr>
          <a:xfrm>
            <a:off x="8275320" y="258775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固定路线，每次拜访带项目提问</a:t>
            </a:r>
          </a:p>
        </p:txBody>
      </p:sp>
      <p:sp>
        <p:nvSpPr>
          <p:cNvPr id="18" name="ROW_BAND_3">
            <a:extLst>
              <a:ext uri="{FF2B5EF4-FFF2-40B4-BE49-F238E27FC236}">
                <a16:creationId xmlns:a16="http://schemas.microsoft.com/office/drawing/2014/main" id="{63F862FA-64FB-A96E-7486-C6AD81B05089}"/>
              </a:ext>
            </a:extLst>
          </p:cNvPr>
          <p:cNvSpPr/>
          <p:nvPr/>
        </p:nvSpPr>
        <p:spPr>
          <a:xfrm>
            <a:off x="548640" y="31089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IM_3_NAME">
            <a:extLst>
              <a:ext uri="{FF2B5EF4-FFF2-40B4-BE49-F238E27FC236}">
                <a16:creationId xmlns:a16="http://schemas.microsoft.com/office/drawing/2014/main" id="{BDF8D63D-3A10-D5EA-5188-F515DFD282B6}"/>
              </a:ext>
            </a:extLst>
          </p:cNvPr>
          <p:cNvSpPr txBox="1"/>
          <p:nvPr/>
        </p:nvSpPr>
        <p:spPr>
          <a:xfrm>
            <a:off x="685800" y="318211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</a:t>
            </a:r>
          </a:p>
        </p:txBody>
      </p:sp>
      <p:sp>
        <p:nvSpPr>
          <p:cNvPr id="20" name="DIM_3_SYMPTOM">
            <a:extLst>
              <a:ext uri="{FF2B5EF4-FFF2-40B4-BE49-F238E27FC236}">
                <a16:creationId xmlns:a16="http://schemas.microsoft.com/office/drawing/2014/main" id="{7A1E9BA9-2E5B-7849-95E9-91833DDBA39E}"/>
              </a:ext>
            </a:extLst>
          </p:cNvPr>
          <p:cNvSpPr txBox="1"/>
          <p:nvPr/>
        </p:nvSpPr>
        <p:spPr>
          <a:xfrm>
            <a:off x="297180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没有主推品项</a:t>
            </a:r>
          </a:p>
        </p:txBody>
      </p:sp>
      <p:sp>
        <p:nvSpPr>
          <p:cNvPr id="21" name="DIM_3_READ">
            <a:extLst>
              <a:ext uri="{FF2B5EF4-FFF2-40B4-BE49-F238E27FC236}">
                <a16:creationId xmlns:a16="http://schemas.microsoft.com/office/drawing/2014/main" id="{6F6EA3BF-9CA5-4DFE-FED2-5518487C6214}"/>
              </a:ext>
            </a:extLst>
          </p:cNvPr>
          <p:cNvSpPr txBox="1"/>
          <p:nvPr/>
        </p:nvSpPr>
        <p:spPr>
          <a:xfrm>
            <a:off x="562356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产品力弱，上量无抓手</a:t>
            </a:r>
          </a:p>
        </p:txBody>
      </p:sp>
      <p:sp>
        <p:nvSpPr>
          <p:cNvPr id="22" name="DIM_3_NEXT">
            <a:extLst>
              <a:ext uri="{FF2B5EF4-FFF2-40B4-BE49-F238E27FC236}">
                <a16:creationId xmlns:a16="http://schemas.microsoft.com/office/drawing/2014/main" id="{4EB2A178-812F-6C01-E644-8BE9DCD98B61}"/>
              </a:ext>
            </a:extLst>
          </p:cNvPr>
          <p:cNvSpPr txBox="1"/>
          <p:nvPr/>
        </p:nvSpPr>
        <p:spPr>
          <a:xfrm>
            <a:off x="8275320" y="318211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选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1-2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款主推，配套陈列与话术</a:t>
            </a:r>
          </a:p>
        </p:txBody>
      </p:sp>
      <p:sp>
        <p:nvSpPr>
          <p:cNvPr id="23" name="ROW_BAND_4">
            <a:extLst>
              <a:ext uri="{FF2B5EF4-FFF2-40B4-BE49-F238E27FC236}">
                <a16:creationId xmlns:a16="http://schemas.microsoft.com/office/drawing/2014/main" id="{DF6ACB09-3F0C-E5FD-A8CF-66F1DA8B82FF}"/>
              </a:ext>
            </a:extLst>
          </p:cNvPr>
          <p:cNvSpPr/>
          <p:nvPr/>
        </p:nvSpPr>
        <p:spPr>
          <a:xfrm>
            <a:off x="548640" y="3703320"/>
            <a:ext cx="11064240" cy="502920"/>
          </a:xfrm>
          <a:prstGeom prst="rect">
            <a:avLst/>
          </a:prstGeom>
          <a:solidFill>
            <a:srgbClr val="EEECE1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DIM_4_NAME">
            <a:extLst>
              <a:ext uri="{FF2B5EF4-FFF2-40B4-BE49-F238E27FC236}">
                <a16:creationId xmlns:a16="http://schemas.microsoft.com/office/drawing/2014/main" id="{BBD963CA-428E-B658-21CE-B98339442A57}"/>
              </a:ext>
            </a:extLst>
          </p:cNvPr>
          <p:cNvSpPr txBox="1"/>
          <p:nvPr/>
        </p:nvSpPr>
        <p:spPr>
          <a:xfrm>
            <a:off x="685800" y="377647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</a:t>
            </a:r>
          </a:p>
        </p:txBody>
      </p:sp>
      <p:sp>
        <p:nvSpPr>
          <p:cNvPr id="25" name="DIM_4_SYMPTOM">
            <a:extLst>
              <a:ext uri="{FF2B5EF4-FFF2-40B4-BE49-F238E27FC236}">
                <a16:creationId xmlns:a16="http://schemas.microsoft.com/office/drawing/2014/main" id="{1E55DDB4-5471-4059-A76E-1E3931FD26D7}"/>
              </a:ext>
            </a:extLst>
          </p:cNvPr>
          <p:cNvSpPr txBox="1"/>
          <p:nvPr/>
        </p:nvSpPr>
        <p:spPr>
          <a:xfrm>
            <a:off x="297180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售后没人接，口碑传不动</a:t>
            </a:r>
          </a:p>
        </p:txBody>
      </p:sp>
      <p:sp>
        <p:nvSpPr>
          <p:cNvPr id="26" name="DIM_4_READ">
            <a:extLst>
              <a:ext uri="{FF2B5EF4-FFF2-40B4-BE49-F238E27FC236}">
                <a16:creationId xmlns:a16="http://schemas.microsoft.com/office/drawing/2014/main" id="{BF0ACD3F-6E8F-7897-61E8-535224B727D3}"/>
              </a:ext>
            </a:extLst>
          </p:cNvPr>
          <p:cNvSpPr txBox="1"/>
          <p:nvPr/>
        </p:nvSpPr>
        <p:spPr>
          <a:xfrm>
            <a:off x="562356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E84C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服务力弱，复购转介绍断</a:t>
            </a:r>
          </a:p>
        </p:txBody>
      </p:sp>
      <p:sp>
        <p:nvSpPr>
          <p:cNvPr id="27" name="DIM_4_NEXT">
            <a:extLst>
              <a:ext uri="{FF2B5EF4-FFF2-40B4-BE49-F238E27FC236}">
                <a16:creationId xmlns:a16="http://schemas.microsoft.com/office/drawing/2014/main" id="{13F77F47-7F7F-7F3D-0879-57CB8828DA43}"/>
              </a:ext>
            </a:extLst>
          </p:cNvPr>
          <p:cNvSpPr txBox="1"/>
          <p:nvPr/>
        </p:nvSpPr>
        <p:spPr>
          <a:xfrm>
            <a:off x="8275320" y="377647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明确售后责任人，回访沉淀样板</a:t>
            </a:r>
          </a:p>
        </p:txBody>
      </p:sp>
      <p:sp>
        <p:nvSpPr>
          <p:cNvPr id="28" name="DEBRIEF_CUE">
            <a:extLst>
              <a:ext uri="{FF2B5EF4-FFF2-40B4-BE49-F238E27FC236}">
                <a16:creationId xmlns:a16="http://schemas.microsoft.com/office/drawing/2014/main" id="{5E3593CC-71F2-5069-F8CD-3033F35665F4}"/>
              </a:ext>
            </a:extLst>
          </p:cNvPr>
          <p:cNvSpPr txBox="1"/>
          <p:nvPr/>
        </p:nvSpPr>
        <p:spPr>
          <a:xfrm>
            <a:off x="548640" y="45262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先看症状，由讲师逐行揭示解读与下一步；不一次性展开全部。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0A3A152-65AD-F455-6D9C-8821DC7F57F1}"/>
              </a:ext>
            </a:extLst>
          </p:cNvPr>
          <p:cNvSpPr txBox="1"/>
          <p:nvPr/>
        </p:nvSpPr>
        <p:spPr>
          <a:xfrm>
            <a:off x="548640" y="498348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逐行点击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揭示：先让学员只看症状并猜解读，再揭示；可点击区控制在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4-6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个。</a:t>
            </a:r>
          </a:p>
        </p:txBody>
      </p:sp>
    </p:spTree>
    <p:extLst>
      <p:ext uri="{BB962C8B-B14F-4D97-AF65-F5344CB8AC3E}">
        <p14:creationId xmlns:p14="http://schemas.microsoft.com/office/powerpoint/2010/main" val="82617818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2187</Words>
  <Application>Microsoft Office PowerPoint</Application>
  <DocSecurity>0</DocSecurity>
  <PresentationFormat>宽屏</PresentationFormat>
  <Paragraphs>304</Paragraphs>
  <Slides>13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6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9</cp:revision>
  <dcterms:created xsi:type="dcterms:W3CDTF">2026-08-13T12:27:10Z</dcterms:created>
  <dcterms:modified xsi:type="dcterms:W3CDTF">2026-08-18T09:10:41Z</dcterms:modified>
</cp:coreProperties>
</file>