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DC-01 County Trend Three Judgments</a:t>
            </a:r>
          </a:p>
          <a:p>
            <a:r>
              <a:t>[Instructor] 先让学员判断县域机会是减少还是迁移，再逐条揭示。</a:t>
            </a:r>
          </a:p>
          <a:p>
            <a:r>
              <a:t>[Learner] 每人说出一个本地需求场景变化。</a:t>
            </a:r>
          </a:p>
          <a:p>
            <a:r>
              <a:t>[Replace] TITLE, SUBTITLE, J01/J02/J03_LABEL, J01/J02/J03_FROM, J01/J02/J03_TO, TEACHING_CUE.</a:t>
            </a:r>
          </a:p>
          <a:p>
            <a:r>
              <a:t>[Keep] 三条纵向变化链、编号、箭头方向和三种语义色。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DC-02 County Business Territory Map</a:t>
            </a:r>
          </a:p>
          <a:p>
            <a:r>
              <a:t>[Instructor] 示范如何用经营动作而不是销售高低给区域分类。</a:t>
            </a:r>
          </a:p>
          <a:p>
            <a:r>
              <a:t>[Learner] 标出守盘区、做深区、开拓区，并说明证据。</a:t>
            </a:r>
          </a:p>
          <a:p>
            <a:r>
              <a:t>[Replace] COUNTY_NAME, COUNTY_EVIDENCE, TOWN_01..04_LABEL, TOWN_01..04_ACTION, TEACHING_CUE.</a:t>
            </a:r>
          </a:p>
          <a:p>
            <a:r>
              <a:t>[Keep] 县城中心、乡镇空间关系、守盘/做深/开拓语义色。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DC-03 Four-Force Diagnosis</a:t>
            </a:r>
          </a:p>
          <a:p>
            <a:r>
              <a:t>[Instructor] 不先打分。先让学员选症状，再追问哪一力最能解释症状。</a:t>
            </a:r>
          </a:p>
          <a:p>
            <a:r>
              <a:t>[Learner] 选1个主短板、最多1个辅助短板，并写证据。</a:t>
            </a:r>
          </a:p>
          <a:p>
            <a:r>
              <a:t>[Replace] CORE_PROBLEM, BRAND/CHANNEL/SCENE/PRODUCT_QUESTION and _EVIDENCE, TEACHING_CUE.</a:t>
            </a:r>
          </a:p>
          <a:p>
            <a:r>
              <a:t>[Keep] 中心问题与四力环绕关系；禁止四项都标红。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DC-04 Four-Stage Growth Diagnosis</a:t>
            </a:r>
          </a:p>
          <a:p>
            <a:r>
              <a:t>[Instructor] 先展示情境，隐藏标准答案；学员选阶段后再逐级解释。</a:t>
            </a:r>
          </a:p>
          <a:p>
            <a:r>
              <a:t>[Learner] 选择阶段并说出一个已经形成的结果。</a:t>
            </a:r>
          </a:p>
          <a:p>
            <a:r>
              <a:t>[Replace] S1..S4_RESULT, S1..S4_TASK, STAGE_RULE, TEACHING_CUE.</a:t>
            </a:r>
          </a:p>
          <a:p>
            <a:r>
              <a:t>[Keep] 四级阶梯、由浅到深的视觉进阶、阶段名称。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DC-17 Symptom Clustering And Core-Problem Convergence</a:t>
            </a:r>
          </a:p>
          <a:p>
            <a:r>
              <a:t>[Instructor] 先只展示左侧症状墙；让小组归类后，再揭示右侧四类病症。</a:t>
            </a:r>
          </a:p>
          <a:p>
            <a:r>
              <a:t>[Learner] 对症状归类并投票选1个主病症。</a:t>
            </a:r>
          </a:p>
          <a:p>
            <a:r>
              <a:t>[Replace] SYMPTOM_01..08_TEXT, C1..C4_LABEL, C1..C4_DESC, TEACHING_CUE.</a:t>
            </a:r>
          </a:p>
          <a:p>
            <a:r>
              <a:t>[Keep] 左侧零散事实到右侧病症聚类的收敛关系。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[Component] DC-20 Integrated Diagnosis Chain</a:t>
            </a:r>
          </a:p>
          <a:p>
            <a:r>
              <a:t>[Instructor] 逐步推进，禁止学员在没有阶段和病症证据时直接给动作。</a:t>
            </a:r>
          </a:p>
          <a:p>
            <a:r>
              <a:t>[Learner] 完成五步诊断，并用一句话陈述结论。</a:t>
            </a:r>
          </a:p>
          <a:p>
            <a:r>
              <a:t>[Replace] CASE_PROMPT, STEP_1..5_OUTPUT, STEP_1..5_QUESTION, TEACHING_CUE.</a:t>
            </a:r>
          </a:p>
          <a:p>
            <a:r>
              <a:t>[Keep] 五步顺序和左侧诊断脊柱；动作最多3项。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alphaModFix amt="2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图片 1" descr="企业微信截图_ec44598d-13a2-44fb-8073-73b70684fbb2">
            <a:extLst>
              <a:ext uri="{FF2B5EF4-FFF2-40B4-BE49-F238E27FC236}">
                <a16:creationId xmlns:a16="http://schemas.microsoft.com/office/drawing/2014/main" id="{81DEF11C-785E-5D97-C56E-155049365F6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762593" y="268476"/>
            <a:ext cx="1153226" cy="815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17468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6DC3A899-1565-4279-820E-D4E49A899B4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050"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DC-01 · COUNTY TREND THREE JUDGMENTS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153A2CA7-78E2-4A6B-9F02-B23A373EC7D1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县域机会没有消失，但机会来源、位置和购买逻辑都变了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2B61CBA-2991-4CDF-9869-2C37721DC6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把宏观趋势翻译成经销商可以观察、判断和行动的三条经营变化链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BD6DC31A-A82B-456C-A49B-28352602CE2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J01_NUMBER">
            <a:extLst>
              <a:ext uri="{FF2B5EF4-FFF2-40B4-BE49-F238E27FC236}">
                <a16:creationId xmlns:a16="http://schemas.microsoft.com/office/drawing/2014/main" id="{8DB34C77-9B33-4C47-9736-C32A58C54853}"/>
              </a:ext>
            </a:extLst>
          </p:cNvPr>
          <p:cNvSpPr>
            <a:spLocks noGrp="1"/>
          </p:cNvSpPr>
          <p:nvPr/>
        </p:nvSpPr>
        <p:spPr>
          <a:xfrm>
            <a:off x="533400" y="20955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J01_LABEL">
            <a:extLst>
              <a:ext uri="{FF2B5EF4-FFF2-40B4-BE49-F238E27FC236}">
                <a16:creationId xmlns:a16="http://schemas.microsoft.com/office/drawing/2014/main" id="{46CEF953-3BAF-4216-B218-F4129034465D}"/>
              </a:ext>
            </a:extLst>
          </p:cNvPr>
          <p:cNvSpPr>
            <a:spLocks noGrp="1"/>
          </p:cNvSpPr>
          <p:nvPr/>
        </p:nvSpPr>
        <p:spPr>
          <a:xfrm>
            <a:off x="1352550" y="21145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机会来源变了</a:t>
            </a:r>
          </a:p>
        </p:txBody>
      </p:sp>
      <p:sp>
        <p:nvSpPr>
          <p:cNvPr id="9" name="J01_FROM">
            <a:extLst>
              <a:ext uri="{FF2B5EF4-FFF2-40B4-BE49-F238E27FC236}">
                <a16:creationId xmlns:a16="http://schemas.microsoft.com/office/drawing/2014/main" id="{184225CF-794D-48C8-ACE6-A5C747902C08}"/>
              </a:ext>
            </a:extLst>
          </p:cNvPr>
          <p:cNvSpPr>
            <a:spLocks noGrp="1"/>
          </p:cNvSpPr>
          <p:nvPr/>
        </p:nvSpPr>
        <p:spPr>
          <a:xfrm>
            <a:off x="3810000" y="20383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只等新房新建</a:t>
            </a:r>
          </a:p>
        </p:txBody>
      </p:sp>
      <p:sp>
        <p:nvSpPr>
          <p:cNvPr id="10" name="J01_ARROW">
            <a:extLst>
              <a:ext uri="{FF2B5EF4-FFF2-40B4-BE49-F238E27FC236}">
                <a16:creationId xmlns:a16="http://schemas.microsoft.com/office/drawing/2014/main" id="{D6509F61-2914-45BA-BCB1-40444D7631A9}"/>
              </a:ext>
            </a:extLst>
          </p:cNvPr>
          <p:cNvSpPr>
            <a:spLocks noGrp="1"/>
          </p:cNvSpPr>
          <p:nvPr/>
        </p:nvSpPr>
        <p:spPr>
          <a:xfrm>
            <a:off x="6724650" y="2133600"/>
            <a:ext cx="1066800" cy="361950"/>
          </a:xfrm>
          <a:prstGeom prst="rightArrow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11" name="J01_TO_SURFACE">
            <a:extLst>
              <a:ext uri="{FF2B5EF4-FFF2-40B4-BE49-F238E27FC236}">
                <a16:creationId xmlns:a16="http://schemas.microsoft.com/office/drawing/2014/main" id="{CBB658FB-269F-46D0-80D2-DB4C8BC974DD}"/>
              </a:ext>
            </a:extLst>
          </p:cNvPr>
          <p:cNvSpPr>
            <a:spLocks noGrp="1"/>
          </p:cNvSpPr>
          <p:nvPr/>
        </p:nvSpPr>
        <p:spPr>
          <a:xfrm>
            <a:off x="8020050" y="20193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7F7F8"/>
          </a:solidFill>
          <a:ln w="14288">
            <a:solidFill>
              <a:srgbClr val="B22600"/>
            </a:solidFill>
            <a:prstDash val="solid"/>
          </a:ln>
        </p:spPr>
      </p:sp>
      <p:sp>
        <p:nvSpPr>
          <p:cNvPr id="12" name="J01_TO">
            <a:extLst>
              <a:ext uri="{FF2B5EF4-FFF2-40B4-BE49-F238E27FC236}">
                <a16:creationId xmlns:a16="http://schemas.microsoft.com/office/drawing/2014/main" id="{F3D14615-927C-45BC-B09F-CC27811BFD1F}"/>
              </a:ext>
            </a:extLst>
          </p:cNvPr>
          <p:cNvSpPr>
            <a:spLocks noGrp="1"/>
          </p:cNvSpPr>
          <p:nvPr/>
        </p:nvSpPr>
        <p:spPr>
          <a:xfrm>
            <a:off x="8172450" y="21240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新建 + 翻修 + 维修 + 更新</a:t>
            </a:r>
          </a:p>
        </p:txBody>
      </p:sp>
      <p:sp>
        <p:nvSpPr>
          <p:cNvPr id="13" name="J02_NUMBER">
            <a:extLst>
              <a:ext uri="{FF2B5EF4-FFF2-40B4-BE49-F238E27FC236}">
                <a16:creationId xmlns:a16="http://schemas.microsoft.com/office/drawing/2014/main" id="{348DA8DF-6A44-478D-A237-895FED395D86}"/>
              </a:ext>
            </a:extLst>
          </p:cNvPr>
          <p:cNvSpPr>
            <a:spLocks noGrp="1"/>
          </p:cNvSpPr>
          <p:nvPr/>
        </p:nvSpPr>
        <p:spPr>
          <a:xfrm>
            <a:off x="533400" y="33909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J02_LABEL">
            <a:extLst>
              <a:ext uri="{FF2B5EF4-FFF2-40B4-BE49-F238E27FC236}">
                <a16:creationId xmlns:a16="http://schemas.microsoft.com/office/drawing/2014/main" id="{B0B969D8-36D6-4B22-952F-5034E8666BAD}"/>
              </a:ext>
            </a:extLst>
          </p:cNvPr>
          <p:cNvSpPr>
            <a:spLocks noGrp="1"/>
          </p:cNvSpPr>
          <p:nvPr/>
        </p:nvSpPr>
        <p:spPr>
          <a:xfrm>
            <a:off x="1352550" y="34099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机会位置变了</a:t>
            </a:r>
          </a:p>
        </p:txBody>
      </p:sp>
      <p:sp>
        <p:nvSpPr>
          <p:cNvPr id="15" name="J02_FROM">
            <a:extLst>
              <a:ext uri="{FF2B5EF4-FFF2-40B4-BE49-F238E27FC236}">
                <a16:creationId xmlns:a16="http://schemas.microsoft.com/office/drawing/2014/main" id="{D06E2F57-162B-4FDF-B228-74D11F8257F4}"/>
              </a:ext>
            </a:extLst>
          </p:cNvPr>
          <p:cNvSpPr>
            <a:spLocks noGrp="1"/>
          </p:cNvSpPr>
          <p:nvPr/>
        </p:nvSpPr>
        <p:spPr>
          <a:xfrm>
            <a:off x="3810000" y="33337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只盯县城门店</a:t>
            </a:r>
          </a:p>
        </p:txBody>
      </p:sp>
      <p:sp>
        <p:nvSpPr>
          <p:cNvPr id="16" name="J02_ARROW">
            <a:extLst>
              <a:ext uri="{FF2B5EF4-FFF2-40B4-BE49-F238E27FC236}">
                <a16:creationId xmlns:a16="http://schemas.microsoft.com/office/drawing/2014/main" id="{E31BA782-9A19-418B-B8B7-3C853731F226}"/>
              </a:ext>
            </a:extLst>
          </p:cNvPr>
          <p:cNvSpPr>
            <a:spLocks noGrp="1"/>
          </p:cNvSpPr>
          <p:nvPr/>
        </p:nvSpPr>
        <p:spPr>
          <a:xfrm>
            <a:off x="6724650" y="3429000"/>
            <a:ext cx="1066800" cy="361950"/>
          </a:xfrm>
          <a:prstGeom prst="rightArrow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17" name="J02_TO_SURFACE">
            <a:extLst>
              <a:ext uri="{FF2B5EF4-FFF2-40B4-BE49-F238E27FC236}">
                <a16:creationId xmlns:a16="http://schemas.microsoft.com/office/drawing/2014/main" id="{1E1EBA9A-2EDB-4355-9ECE-E249B6BF7D43}"/>
              </a:ext>
            </a:extLst>
          </p:cNvPr>
          <p:cNvSpPr>
            <a:spLocks noGrp="1"/>
          </p:cNvSpPr>
          <p:nvPr/>
        </p:nvSpPr>
        <p:spPr>
          <a:xfrm>
            <a:off x="8020050" y="33147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7F7F8"/>
          </a:solidFill>
          <a:ln w="14288">
            <a:solidFill>
              <a:srgbClr val="B22600"/>
            </a:solidFill>
            <a:prstDash val="solid"/>
          </a:ln>
        </p:spPr>
      </p:sp>
      <p:sp>
        <p:nvSpPr>
          <p:cNvPr id="18" name="J02_TO">
            <a:extLst>
              <a:ext uri="{FF2B5EF4-FFF2-40B4-BE49-F238E27FC236}">
                <a16:creationId xmlns:a16="http://schemas.microsoft.com/office/drawing/2014/main" id="{E8E3C8E5-B537-4173-9ECD-4E709F1B2167}"/>
              </a:ext>
            </a:extLst>
          </p:cNvPr>
          <p:cNvSpPr>
            <a:spLocks noGrp="1"/>
          </p:cNvSpPr>
          <p:nvPr/>
        </p:nvSpPr>
        <p:spPr>
          <a:xfrm>
            <a:off x="8172450" y="34194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县城经营中心 + 重点乡镇需求触点</a:t>
            </a:r>
          </a:p>
        </p:txBody>
      </p:sp>
      <p:sp>
        <p:nvSpPr>
          <p:cNvPr id="19" name="J03_NUMBER">
            <a:extLst>
              <a:ext uri="{FF2B5EF4-FFF2-40B4-BE49-F238E27FC236}">
                <a16:creationId xmlns:a16="http://schemas.microsoft.com/office/drawing/2014/main" id="{3FAF351A-76BC-49AD-A1B2-8CE7C5073567}"/>
              </a:ext>
            </a:extLst>
          </p:cNvPr>
          <p:cNvSpPr>
            <a:spLocks noGrp="1"/>
          </p:cNvSpPr>
          <p:nvPr/>
        </p:nvSpPr>
        <p:spPr>
          <a:xfrm>
            <a:off x="533400" y="4686300"/>
            <a:ext cx="6096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20" name="J03_LABEL">
            <a:extLst>
              <a:ext uri="{FF2B5EF4-FFF2-40B4-BE49-F238E27FC236}">
                <a16:creationId xmlns:a16="http://schemas.microsoft.com/office/drawing/2014/main" id="{C0FDA0D9-0C3A-40BF-8055-76E0C7011050}"/>
              </a:ext>
            </a:extLst>
          </p:cNvPr>
          <p:cNvSpPr>
            <a:spLocks noGrp="1"/>
          </p:cNvSpPr>
          <p:nvPr/>
        </p:nvSpPr>
        <p:spPr>
          <a:xfrm>
            <a:off x="1352550" y="4705350"/>
            <a:ext cx="2190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购买逻辑变了</a:t>
            </a:r>
          </a:p>
        </p:txBody>
      </p:sp>
      <p:sp>
        <p:nvSpPr>
          <p:cNvPr id="21" name="J03_FROM">
            <a:extLst>
              <a:ext uri="{FF2B5EF4-FFF2-40B4-BE49-F238E27FC236}">
                <a16:creationId xmlns:a16="http://schemas.microsoft.com/office/drawing/2014/main" id="{A15819D4-F01B-4DF7-A69F-3D4A9ADDA2B8}"/>
              </a:ext>
            </a:extLst>
          </p:cNvPr>
          <p:cNvSpPr>
            <a:spLocks noGrp="1"/>
          </p:cNvSpPr>
          <p:nvPr/>
        </p:nvSpPr>
        <p:spPr>
          <a:xfrm>
            <a:off x="3810000" y="4629150"/>
            <a:ext cx="2762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产品与价格</a:t>
            </a:r>
          </a:p>
        </p:txBody>
      </p:sp>
      <p:sp>
        <p:nvSpPr>
          <p:cNvPr id="22" name="J03_ARROW">
            <a:extLst>
              <a:ext uri="{FF2B5EF4-FFF2-40B4-BE49-F238E27FC236}">
                <a16:creationId xmlns:a16="http://schemas.microsoft.com/office/drawing/2014/main" id="{A5FDEBE8-FB0A-4371-A995-65961A8FE8DA}"/>
              </a:ext>
            </a:extLst>
          </p:cNvPr>
          <p:cNvSpPr>
            <a:spLocks noGrp="1"/>
          </p:cNvSpPr>
          <p:nvPr/>
        </p:nvSpPr>
        <p:spPr>
          <a:xfrm>
            <a:off x="6724650" y="4724400"/>
            <a:ext cx="1066800" cy="361950"/>
          </a:xfrm>
          <a:prstGeom prst="rightArrow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23" name="J03_TO_SURFACE">
            <a:extLst>
              <a:ext uri="{FF2B5EF4-FFF2-40B4-BE49-F238E27FC236}">
                <a16:creationId xmlns:a16="http://schemas.microsoft.com/office/drawing/2014/main" id="{A60BA2DD-F7E3-4999-B8F2-DA8EC4632080}"/>
              </a:ext>
            </a:extLst>
          </p:cNvPr>
          <p:cNvSpPr>
            <a:spLocks noGrp="1"/>
          </p:cNvSpPr>
          <p:nvPr/>
        </p:nvSpPr>
        <p:spPr>
          <a:xfrm>
            <a:off x="8020050" y="4610100"/>
            <a:ext cx="3333750" cy="590550"/>
          </a:xfrm>
          <a:prstGeom prst="roundRect">
            <a:avLst>
              <a:gd name="adj" fmla="val 12903"/>
            </a:avLst>
          </a:prstGeom>
          <a:solidFill>
            <a:srgbClr val="F7F7F8"/>
          </a:solidFill>
          <a:ln w="14288">
            <a:solidFill>
              <a:srgbClr val="B22600"/>
            </a:solidFill>
            <a:prstDash val="solid"/>
          </a:ln>
        </p:spPr>
      </p:sp>
      <p:sp>
        <p:nvSpPr>
          <p:cNvPr id="24" name="J03_TO">
            <a:extLst>
              <a:ext uri="{FF2B5EF4-FFF2-40B4-BE49-F238E27FC236}">
                <a16:creationId xmlns:a16="http://schemas.microsoft.com/office/drawing/2014/main" id="{ADBD459D-66CB-4E01-AE5D-A1A803814D88}"/>
              </a:ext>
            </a:extLst>
          </p:cNvPr>
          <p:cNvSpPr>
            <a:spLocks noGrp="1"/>
          </p:cNvSpPr>
          <p:nvPr/>
        </p:nvSpPr>
        <p:spPr>
          <a:xfrm>
            <a:off x="8172450" y="4714875"/>
            <a:ext cx="3028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829"/>
          </a:bodyPr>
          <a:lstStyle/>
          <a:p>
            <a:pPr algn="ctr">
              <a:def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品牌 + 熟人推荐 + 施工与售后确定性</a:t>
            </a:r>
          </a:p>
        </p:txBody>
      </p:sp>
      <p:sp>
        <p:nvSpPr>
          <p:cNvPr id="25" name="TEACHING_CUE">
            <a:extLst>
              <a:ext uri="{FF2B5EF4-FFF2-40B4-BE49-F238E27FC236}">
                <a16:creationId xmlns:a16="http://schemas.microsoft.com/office/drawing/2014/main" id="{E1EFE987-8404-48B5-9F5C-5766F6BAE40D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讲师动作：先问“机会哪里变了”，收集答案后逐条揭示三条判断。</a:t>
            </a:r>
          </a:p>
        </p:txBody>
      </p:sp>
      <p:sp>
        <p:nvSpPr>
          <p:cNvPr id="26" name="PAGE_NUMBER">
            <a:extLst>
              <a:ext uri="{FF2B5EF4-FFF2-40B4-BE49-F238E27FC236}">
                <a16:creationId xmlns:a16="http://schemas.microsoft.com/office/drawing/2014/main" id="{EE5A4A45-F944-4D1C-B0A6-6E5A090FBF12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22948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1834B4A0-FC1E-4FCE-BFEC-11411A08C426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942"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DC-02 · COUNTY BUSINESS TERRITORY MAP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84BEAC0-C28F-442E-95F8-E7B78369A70F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增长空间不是一张名单，而是一张有经营动作的县域版图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B1E2B74-D6E7-4EFD-918F-9AFFF4DF75B1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按守盘、做深、开拓三类动作标注县城和乡镇，避免只用销售高低给区域上色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CB02E9BE-766C-48BD-886F-35E21F2F542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COUNTY_CENTER">
            <a:extLst>
              <a:ext uri="{FF2B5EF4-FFF2-40B4-BE49-F238E27FC236}">
                <a16:creationId xmlns:a16="http://schemas.microsoft.com/office/drawing/2014/main" id="{F20FC3FA-8B08-47BF-91E8-EA13B578D926}"/>
              </a:ext>
            </a:extLst>
          </p:cNvPr>
          <p:cNvSpPr>
            <a:spLocks noGrp="1"/>
          </p:cNvSpPr>
          <p:nvPr/>
        </p:nvSpPr>
        <p:spPr>
          <a:xfrm>
            <a:off x="4762500" y="2781300"/>
            <a:ext cx="2190750" cy="2190750"/>
          </a:xfrm>
          <a:prstGeom prst="ellipse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8" name="COUNTY_NAME">
            <a:extLst>
              <a:ext uri="{FF2B5EF4-FFF2-40B4-BE49-F238E27FC236}">
                <a16:creationId xmlns:a16="http://schemas.microsoft.com/office/drawing/2014/main" id="{00226CA5-6E44-4DD0-889E-45A1F5E497BE}"/>
              </a:ext>
            </a:extLst>
          </p:cNvPr>
          <p:cNvSpPr>
            <a:spLocks noGrp="1"/>
          </p:cNvSpPr>
          <p:nvPr/>
        </p:nvSpPr>
        <p:spPr>
          <a:xfrm>
            <a:off x="5048250" y="3371850"/>
            <a:ext cx="1619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县城大本营</a:t>
            </a:r>
          </a:p>
        </p:txBody>
      </p:sp>
      <p:sp>
        <p:nvSpPr>
          <p:cNvPr id="9" name="COUNTY_EVIDENCE">
            <a:extLst>
              <a:ext uri="{FF2B5EF4-FFF2-40B4-BE49-F238E27FC236}">
                <a16:creationId xmlns:a16="http://schemas.microsoft.com/office/drawing/2014/main" id="{ABD351DC-6101-47ED-802F-546E5B447BF7}"/>
              </a:ext>
            </a:extLst>
          </p:cNvPr>
          <p:cNvSpPr>
            <a:spLocks noGrp="1"/>
          </p:cNvSpPr>
          <p:nvPr/>
        </p:nvSpPr>
        <p:spPr>
          <a:xfrm>
            <a:off x="5067300" y="3943350"/>
            <a:ext cx="1581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核心门店｜配送｜服务</a:t>
            </a:r>
          </a:p>
        </p:txBody>
      </p:sp>
      <p:sp>
        <p:nvSpPr>
          <p:cNvPr id="10" name="TOWN_01_LINK">
            <a:extLst>
              <a:ext uri="{FF2B5EF4-FFF2-40B4-BE49-F238E27FC236}">
                <a16:creationId xmlns:a16="http://schemas.microsoft.com/office/drawing/2014/main" id="{C9EE6FD8-575E-4AB1-B39F-8FE4321354FD}"/>
              </a:ext>
            </a:extLst>
          </p:cNvPr>
          <p:cNvSpPr>
            <a:spLocks noGrp="1"/>
          </p:cNvSpPr>
          <p:nvPr/>
        </p:nvSpPr>
        <p:spPr>
          <a:xfrm>
            <a:off x="3543300" y="2609850"/>
            <a:ext cx="1333500" cy="377952"/>
          </a:xfrm>
          <a:prstGeom prst="line">
            <a:avLst/>
          </a:prstGeom>
          <a:noFill/>
          <a:ln w="19050">
            <a:solidFill>
              <a:srgbClr val="B22600"/>
            </a:solidFill>
            <a:prstDash val="solid"/>
          </a:ln>
        </p:spPr>
      </p:sp>
      <p:sp>
        <p:nvSpPr>
          <p:cNvPr id="11" name="TOWN_01_NODE">
            <a:extLst>
              <a:ext uri="{FF2B5EF4-FFF2-40B4-BE49-F238E27FC236}">
                <a16:creationId xmlns:a16="http://schemas.microsoft.com/office/drawing/2014/main" id="{F289FF18-E060-4086-A667-1889811D0506}"/>
              </a:ext>
            </a:extLst>
          </p:cNvPr>
          <p:cNvSpPr>
            <a:spLocks noGrp="1"/>
          </p:cNvSpPr>
          <p:nvPr/>
        </p:nvSpPr>
        <p:spPr>
          <a:xfrm>
            <a:off x="1847850" y="2152650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12" name="TOWN_01_LABEL">
            <a:extLst>
              <a:ext uri="{FF2B5EF4-FFF2-40B4-BE49-F238E27FC236}">
                <a16:creationId xmlns:a16="http://schemas.microsoft.com/office/drawing/2014/main" id="{445EDD39-97E7-444F-B6CE-24F0EBD7BDBF}"/>
              </a:ext>
            </a:extLst>
          </p:cNvPr>
          <p:cNvSpPr>
            <a:spLocks noGrp="1"/>
          </p:cNvSpPr>
          <p:nvPr/>
        </p:nvSpPr>
        <p:spPr>
          <a:xfrm>
            <a:off x="2019300" y="23145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中心镇A</a:t>
            </a:r>
          </a:p>
        </p:txBody>
      </p:sp>
      <p:sp>
        <p:nvSpPr>
          <p:cNvPr id="13" name="TOWN_01_ACTION">
            <a:extLst>
              <a:ext uri="{FF2B5EF4-FFF2-40B4-BE49-F238E27FC236}">
                <a16:creationId xmlns:a16="http://schemas.microsoft.com/office/drawing/2014/main" id="{9F25BA7F-57F4-4495-9223-3814E374F94F}"/>
              </a:ext>
            </a:extLst>
          </p:cNvPr>
          <p:cNvSpPr>
            <a:spLocks noGrp="1"/>
          </p:cNvSpPr>
          <p:nvPr/>
        </p:nvSpPr>
        <p:spPr>
          <a:xfrm>
            <a:off x="2076450" y="26574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14" name="TOWN_02_LINK">
            <a:extLst>
              <a:ext uri="{FF2B5EF4-FFF2-40B4-BE49-F238E27FC236}">
                <a16:creationId xmlns:a16="http://schemas.microsoft.com/office/drawing/2014/main" id="{A3B4B54B-9445-4B3A-8999-2EE065EC85C3}"/>
              </a:ext>
            </a:extLst>
          </p:cNvPr>
          <p:cNvSpPr>
            <a:spLocks noGrp="1"/>
          </p:cNvSpPr>
          <p:nvPr/>
        </p:nvSpPr>
        <p:spPr>
          <a:xfrm>
            <a:off x="3448050" y="3333750"/>
            <a:ext cx="1333500" cy="396240"/>
          </a:xfrm>
          <a:prstGeom prst="line">
            <a:avLst/>
          </a:prstGeom>
          <a:noFill/>
          <a:ln w="19050">
            <a:solidFill>
              <a:srgbClr val="505046"/>
            </a:solidFill>
            <a:prstDash val="solid"/>
          </a:ln>
        </p:spPr>
      </p:sp>
      <p:sp>
        <p:nvSpPr>
          <p:cNvPr id="15" name="TOWN_02_NODE">
            <a:extLst>
              <a:ext uri="{FF2B5EF4-FFF2-40B4-BE49-F238E27FC236}">
                <a16:creationId xmlns:a16="http://schemas.microsoft.com/office/drawing/2014/main" id="{10CEF9E2-99C6-4519-967A-034F461E8FDE}"/>
              </a:ext>
            </a:extLst>
          </p:cNvPr>
          <p:cNvSpPr>
            <a:spLocks noGrp="1"/>
          </p:cNvSpPr>
          <p:nvPr/>
        </p:nvSpPr>
        <p:spPr>
          <a:xfrm>
            <a:off x="1752600" y="4572000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505046"/>
            </a:solidFill>
            <a:prstDash val="solid"/>
          </a:ln>
        </p:spPr>
      </p:sp>
      <p:sp>
        <p:nvSpPr>
          <p:cNvPr id="16" name="TOWN_02_LABEL">
            <a:extLst>
              <a:ext uri="{FF2B5EF4-FFF2-40B4-BE49-F238E27FC236}">
                <a16:creationId xmlns:a16="http://schemas.microsoft.com/office/drawing/2014/main" id="{6924B289-C96E-4ECB-A847-886A462EEB1E}"/>
              </a:ext>
            </a:extLst>
          </p:cNvPr>
          <p:cNvSpPr>
            <a:spLocks noGrp="1"/>
          </p:cNvSpPr>
          <p:nvPr/>
        </p:nvSpPr>
        <p:spPr>
          <a:xfrm>
            <a:off x="1924050" y="473392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乡镇B</a:t>
            </a:r>
          </a:p>
        </p:txBody>
      </p:sp>
      <p:sp>
        <p:nvSpPr>
          <p:cNvPr id="17" name="TOWN_02_ACTION">
            <a:extLst>
              <a:ext uri="{FF2B5EF4-FFF2-40B4-BE49-F238E27FC236}">
                <a16:creationId xmlns:a16="http://schemas.microsoft.com/office/drawing/2014/main" id="{DF87962D-5931-4B54-BEA5-ECE512977F0C}"/>
              </a:ext>
            </a:extLst>
          </p:cNvPr>
          <p:cNvSpPr>
            <a:spLocks noGrp="1"/>
          </p:cNvSpPr>
          <p:nvPr/>
        </p:nvSpPr>
        <p:spPr>
          <a:xfrm>
            <a:off x="1981200" y="50768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18" name="TOWN_03_LINK">
            <a:extLst>
              <a:ext uri="{FF2B5EF4-FFF2-40B4-BE49-F238E27FC236}">
                <a16:creationId xmlns:a16="http://schemas.microsoft.com/office/drawing/2014/main" id="{29D6AA3F-0943-40C7-8A5C-DDD49CCECF26}"/>
              </a:ext>
            </a:extLst>
          </p:cNvPr>
          <p:cNvSpPr>
            <a:spLocks noGrp="1"/>
          </p:cNvSpPr>
          <p:nvPr/>
        </p:nvSpPr>
        <p:spPr>
          <a:xfrm>
            <a:off x="6953250" y="2505075"/>
            <a:ext cx="1314450" cy="411480"/>
          </a:xfrm>
          <a:prstGeom prst="line">
            <a:avLst/>
          </a:prstGeom>
          <a:noFill/>
          <a:ln w="19050">
            <a:solidFill>
              <a:srgbClr val="B22600"/>
            </a:solidFill>
            <a:prstDash val="solid"/>
          </a:ln>
        </p:spPr>
      </p:sp>
      <p:sp>
        <p:nvSpPr>
          <p:cNvPr id="19" name="TOWN_03_NODE">
            <a:extLst>
              <a:ext uri="{FF2B5EF4-FFF2-40B4-BE49-F238E27FC236}">
                <a16:creationId xmlns:a16="http://schemas.microsoft.com/office/drawing/2014/main" id="{8D88CF59-0127-42AD-AF35-213EF3B782EC}"/>
              </a:ext>
            </a:extLst>
          </p:cNvPr>
          <p:cNvSpPr>
            <a:spLocks noGrp="1"/>
          </p:cNvSpPr>
          <p:nvPr/>
        </p:nvSpPr>
        <p:spPr>
          <a:xfrm>
            <a:off x="8267700" y="2047875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20" name="TOWN_03_LABEL">
            <a:extLst>
              <a:ext uri="{FF2B5EF4-FFF2-40B4-BE49-F238E27FC236}">
                <a16:creationId xmlns:a16="http://schemas.microsoft.com/office/drawing/2014/main" id="{358D8641-03B7-45BD-BA23-30741A833839}"/>
              </a:ext>
            </a:extLst>
          </p:cNvPr>
          <p:cNvSpPr>
            <a:spLocks noGrp="1"/>
          </p:cNvSpPr>
          <p:nvPr/>
        </p:nvSpPr>
        <p:spPr>
          <a:xfrm>
            <a:off x="8439150" y="2209800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乡镇C</a:t>
            </a:r>
          </a:p>
        </p:txBody>
      </p:sp>
      <p:sp>
        <p:nvSpPr>
          <p:cNvPr id="21" name="TOWN_03_ACTION">
            <a:extLst>
              <a:ext uri="{FF2B5EF4-FFF2-40B4-BE49-F238E27FC236}">
                <a16:creationId xmlns:a16="http://schemas.microsoft.com/office/drawing/2014/main" id="{6FCE488C-4A75-4293-A0A7-2E4E442ABB9D}"/>
              </a:ext>
            </a:extLst>
          </p:cNvPr>
          <p:cNvSpPr>
            <a:spLocks noGrp="1"/>
          </p:cNvSpPr>
          <p:nvPr/>
        </p:nvSpPr>
        <p:spPr>
          <a:xfrm>
            <a:off x="8496300" y="25527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2" name="TOWN_04_LINK">
            <a:extLst>
              <a:ext uri="{FF2B5EF4-FFF2-40B4-BE49-F238E27FC236}">
                <a16:creationId xmlns:a16="http://schemas.microsoft.com/office/drawing/2014/main" id="{8B768CDA-E014-45A1-9160-7B5CE17E48C8}"/>
              </a:ext>
            </a:extLst>
          </p:cNvPr>
          <p:cNvSpPr>
            <a:spLocks noGrp="1"/>
          </p:cNvSpPr>
          <p:nvPr/>
        </p:nvSpPr>
        <p:spPr>
          <a:xfrm>
            <a:off x="6953250" y="3333750"/>
            <a:ext cx="1571625" cy="377952"/>
          </a:xfrm>
          <a:prstGeom prst="line">
            <a:avLst/>
          </a:prstGeom>
          <a:noFill/>
          <a:ln w="19050">
            <a:solidFill>
              <a:srgbClr val="6F6F6A"/>
            </a:solidFill>
            <a:prstDash val="solid"/>
          </a:ln>
        </p:spPr>
      </p:sp>
      <p:sp>
        <p:nvSpPr>
          <p:cNvPr id="23" name="TOWN_04_NODE">
            <a:extLst>
              <a:ext uri="{FF2B5EF4-FFF2-40B4-BE49-F238E27FC236}">
                <a16:creationId xmlns:a16="http://schemas.microsoft.com/office/drawing/2014/main" id="{1DECEBDE-08A0-45FA-B904-497A691047DF}"/>
              </a:ext>
            </a:extLst>
          </p:cNvPr>
          <p:cNvSpPr>
            <a:spLocks noGrp="1"/>
          </p:cNvSpPr>
          <p:nvPr/>
        </p:nvSpPr>
        <p:spPr>
          <a:xfrm>
            <a:off x="8524875" y="4514850"/>
            <a:ext cx="1695450" cy="914400"/>
          </a:xfrm>
          <a:prstGeom prst="ellipse">
            <a:avLst/>
          </a:prstGeom>
          <a:solidFill>
            <a:srgbClr val="F7F7F8"/>
          </a:solidFill>
          <a:ln w="19050">
            <a:solidFill>
              <a:srgbClr val="6F6F6A"/>
            </a:solidFill>
            <a:prstDash val="solid"/>
          </a:ln>
        </p:spPr>
      </p:sp>
      <p:sp>
        <p:nvSpPr>
          <p:cNvPr id="24" name="TOWN_04_LABEL">
            <a:extLst>
              <a:ext uri="{FF2B5EF4-FFF2-40B4-BE49-F238E27FC236}">
                <a16:creationId xmlns:a16="http://schemas.microsoft.com/office/drawing/2014/main" id="{0DF52C39-AB7B-4F87-90EE-EA0282C6846C}"/>
              </a:ext>
            </a:extLst>
          </p:cNvPr>
          <p:cNvSpPr>
            <a:spLocks noGrp="1"/>
          </p:cNvSpPr>
          <p:nvPr/>
        </p:nvSpPr>
        <p:spPr>
          <a:xfrm>
            <a:off x="8696325" y="4676775"/>
            <a:ext cx="13525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乡镇D</a:t>
            </a:r>
          </a:p>
        </p:txBody>
      </p:sp>
      <p:sp>
        <p:nvSpPr>
          <p:cNvPr id="25" name="TOWN_04_ACTION">
            <a:extLst>
              <a:ext uri="{FF2B5EF4-FFF2-40B4-BE49-F238E27FC236}">
                <a16:creationId xmlns:a16="http://schemas.microsoft.com/office/drawing/2014/main" id="{2EAF9D99-1B7B-47A8-A826-D280429C19D2}"/>
              </a:ext>
            </a:extLst>
          </p:cNvPr>
          <p:cNvSpPr>
            <a:spLocks noGrp="1"/>
          </p:cNvSpPr>
          <p:nvPr/>
        </p:nvSpPr>
        <p:spPr>
          <a:xfrm>
            <a:off x="8753475" y="50196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125" b="1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待验证</a:t>
            </a:r>
          </a:p>
        </p:txBody>
      </p:sp>
      <p:sp>
        <p:nvSpPr>
          <p:cNvPr id="26" name="LEGEND_KEEP">
            <a:extLst>
              <a:ext uri="{FF2B5EF4-FFF2-40B4-BE49-F238E27FC236}">
                <a16:creationId xmlns:a16="http://schemas.microsoft.com/office/drawing/2014/main" id="{4E615121-DD8C-4704-89E4-8664EE6395F9}"/>
              </a:ext>
            </a:extLst>
          </p:cNvPr>
          <p:cNvSpPr>
            <a:spLocks noGrp="1"/>
          </p:cNvSpPr>
          <p:nvPr/>
        </p:nvSpPr>
        <p:spPr>
          <a:xfrm>
            <a:off x="4333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守盘</a:t>
            </a:r>
          </a:p>
        </p:txBody>
      </p:sp>
      <p:sp>
        <p:nvSpPr>
          <p:cNvPr id="27" name="LEGEND_DEEPEN">
            <a:extLst>
              <a:ext uri="{FF2B5EF4-FFF2-40B4-BE49-F238E27FC236}">
                <a16:creationId xmlns:a16="http://schemas.microsoft.com/office/drawing/2014/main" id="{5075CC6B-4CCA-4B6A-A134-7F2B7F04FD69}"/>
              </a:ext>
            </a:extLst>
          </p:cNvPr>
          <p:cNvSpPr>
            <a:spLocks noGrp="1"/>
          </p:cNvSpPr>
          <p:nvPr/>
        </p:nvSpPr>
        <p:spPr>
          <a:xfrm>
            <a:off x="52863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做深</a:t>
            </a:r>
          </a:p>
        </p:txBody>
      </p:sp>
      <p:sp>
        <p:nvSpPr>
          <p:cNvPr id="28" name="LEGEND_EXPAND">
            <a:extLst>
              <a:ext uri="{FF2B5EF4-FFF2-40B4-BE49-F238E27FC236}">
                <a16:creationId xmlns:a16="http://schemas.microsoft.com/office/drawing/2014/main" id="{03F0608D-C72B-4604-BF3D-FD68B19EEF35}"/>
              </a:ext>
            </a:extLst>
          </p:cNvPr>
          <p:cNvSpPr>
            <a:spLocks noGrp="1"/>
          </p:cNvSpPr>
          <p:nvPr/>
        </p:nvSpPr>
        <p:spPr>
          <a:xfrm>
            <a:off x="6238875" y="5476875"/>
            <a:ext cx="762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开拓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865C13A-C158-4426-A8FE-AD3B178675E7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学员产出：标出1个守盘乡镇、1个做深乡镇和1个开拓乡镇，并写出证据。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43EEE192-B173-4CE4-B093-CFA7969F5D3C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24298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FFC46C4-65D3-4744-8C5E-F24946E415F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DC-03 · FOUR-FORCE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174E65-E07B-4595-8C06-0A9CBD7243AC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四力不是四个概念，而是四个可以现场回答的经营问题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981555-FCC6-4B21-88B1-7054E6B875C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先选最突出症状，再用品牌力、渠道力、场景力、产品力寻找主短板与证据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04ACF05B-DCCE-46DC-9C30-1A97130F56C6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DIAGNOSIS_CORE">
            <a:extLst>
              <a:ext uri="{FF2B5EF4-FFF2-40B4-BE49-F238E27FC236}">
                <a16:creationId xmlns:a16="http://schemas.microsoft.com/office/drawing/2014/main" id="{4EDF7D7A-CE22-4A89-8A7B-97511E278AE1}"/>
              </a:ext>
            </a:extLst>
          </p:cNvPr>
          <p:cNvSpPr>
            <a:spLocks noGrp="1"/>
          </p:cNvSpPr>
          <p:nvPr/>
        </p:nvSpPr>
        <p:spPr>
          <a:xfrm>
            <a:off x="4876800" y="2857500"/>
            <a:ext cx="2095500" cy="20955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8" name="CORE_PROBLEM">
            <a:extLst>
              <a:ext uri="{FF2B5EF4-FFF2-40B4-BE49-F238E27FC236}">
                <a16:creationId xmlns:a16="http://schemas.microsoft.com/office/drawing/2014/main" id="{156D94E6-C945-4C87-AF7F-A3CA6BE819E3}"/>
              </a:ext>
            </a:extLst>
          </p:cNvPr>
          <p:cNvSpPr>
            <a:spLocks noGrp="1"/>
          </p:cNvSpPr>
          <p:nvPr/>
        </p:nvSpPr>
        <p:spPr>
          <a:xfrm>
            <a:off x="5219700" y="3390900"/>
            <a:ext cx="14097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当前最卡的</a:t>
            </a:r>
          </a:p>
          <a:p>
            <a:pPr algn="ctr">
              <a:def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经营问题</a:t>
            </a:r>
          </a:p>
        </p:txBody>
      </p:sp>
      <p:sp>
        <p:nvSpPr>
          <p:cNvPr id="9" name="BRAND_LINK">
            <a:extLst>
              <a:ext uri="{FF2B5EF4-FFF2-40B4-BE49-F238E27FC236}">
                <a16:creationId xmlns:a16="http://schemas.microsoft.com/office/drawing/2014/main" id="{B767A619-B52F-478E-87B2-8128B847E0B9}"/>
              </a:ext>
            </a:extLst>
          </p:cNvPr>
          <p:cNvSpPr>
            <a:spLocks noGrp="1"/>
          </p:cNvSpPr>
          <p:nvPr/>
        </p:nvSpPr>
        <p:spPr>
          <a:xfrm>
            <a:off x="4152900" y="2676525"/>
            <a:ext cx="723900" cy="523875"/>
          </a:xfrm>
          <a:prstGeom prst="line">
            <a:avLst/>
          </a:prstGeom>
          <a:noFill/>
          <a:ln w="19050">
            <a:solidFill>
              <a:srgbClr val="B22600"/>
            </a:solidFill>
            <a:prstDash val="solid"/>
          </a:ln>
        </p:spPr>
      </p:sp>
      <p:sp>
        <p:nvSpPr>
          <p:cNvPr id="10" name="BRAND_SURFACE">
            <a:extLst>
              <a:ext uri="{FF2B5EF4-FFF2-40B4-BE49-F238E27FC236}">
                <a16:creationId xmlns:a16="http://schemas.microsoft.com/office/drawing/2014/main" id="{40B0A206-C8D4-4384-B657-0DA99894B4E9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11" name="BRAND_LABEL">
            <a:extLst>
              <a:ext uri="{FF2B5EF4-FFF2-40B4-BE49-F238E27FC236}">
                <a16:creationId xmlns:a16="http://schemas.microsoft.com/office/drawing/2014/main" id="{00F88D87-FA43-4B81-9B8D-BC7AB02BDD31}"/>
              </a:ext>
            </a:extLst>
          </p:cNvPr>
          <p:cNvSpPr>
            <a:spLocks noGrp="1"/>
          </p:cNvSpPr>
          <p:nvPr/>
        </p:nvSpPr>
        <p:spPr>
          <a:xfrm>
            <a:off x="12954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品牌力</a:t>
            </a:r>
          </a:p>
        </p:txBody>
      </p:sp>
      <p:sp>
        <p:nvSpPr>
          <p:cNvPr id="12" name="BRAND_QUESTION">
            <a:extLst>
              <a:ext uri="{FF2B5EF4-FFF2-40B4-BE49-F238E27FC236}">
                <a16:creationId xmlns:a16="http://schemas.microsoft.com/office/drawing/2014/main" id="{24F23C98-C2D6-48A1-8D71-073C74EA5496}"/>
              </a:ext>
            </a:extLst>
          </p:cNvPr>
          <p:cNvSpPr>
            <a:spLocks noGrp="1"/>
          </p:cNvSpPr>
          <p:nvPr/>
        </p:nvSpPr>
        <p:spPr>
          <a:xfrm>
            <a:off x="12954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当地客户为什么相信你？</a:t>
            </a:r>
          </a:p>
        </p:txBody>
      </p:sp>
      <p:sp>
        <p:nvSpPr>
          <p:cNvPr id="13" name="BRAND_EVIDENCE">
            <a:extLst>
              <a:ext uri="{FF2B5EF4-FFF2-40B4-BE49-F238E27FC236}">
                <a16:creationId xmlns:a16="http://schemas.microsoft.com/office/drawing/2014/main" id="{7D226B41-9501-4D1F-BF9A-BEA1BB3A75F1}"/>
              </a:ext>
            </a:extLst>
          </p:cNvPr>
          <p:cNvSpPr>
            <a:spLocks noGrp="1"/>
          </p:cNvSpPr>
          <p:nvPr/>
        </p:nvSpPr>
        <p:spPr>
          <a:xfrm>
            <a:off x="12954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本地认知｜样板｜口碑</a:t>
            </a:r>
          </a:p>
        </p:txBody>
      </p:sp>
      <p:sp>
        <p:nvSpPr>
          <p:cNvPr id="14" name="CHANNEL_LINK">
            <a:extLst>
              <a:ext uri="{FF2B5EF4-FFF2-40B4-BE49-F238E27FC236}">
                <a16:creationId xmlns:a16="http://schemas.microsoft.com/office/drawing/2014/main" id="{869203AC-831F-471F-91CA-BF31BDAA04C1}"/>
              </a:ext>
            </a:extLst>
          </p:cNvPr>
          <p:cNvSpPr>
            <a:spLocks noGrp="1"/>
          </p:cNvSpPr>
          <p:nvPr/>
        </p:nvSpPr>
        <p:spPr>
          <a:xfrm>
            <a:off x="6972300" y="2676525"/>
            <a:ext cx="1143000" cy="523875"/>
          </a:xfrm>
          <a:prstGeom prst="line">
            <a:avLst/>
          </a:prstGeom>
          <a:noFill/>
          <a:ln w="19050">
            <a:solidFill>
              <a:srgbClr val="505046"/>
            </a:solidFill>
            <a:prstDash val="solid"/>
          </a:ln>
        </p:spPr>
      </p:sp>
      <p:sp>
        <p:nvSpPr>
          <p:cNvPr id="15" name="CHANNEL_SURFACE">
            <a:extLst>
              <a:ext uri="{FF2B5EF4-FFF2-40B4-BE49-F238E27FC236}">
                <a16:creationId xmlns:a16="http://schemas.microsoft.com/office/drawing/2014/main" id="{435B9E77-8E0D-40D1-90BC-9094D9911990}"/>
              </a:ext>
            </a:extLst>
          </p:cNvPr>
          <p:cNvSpPr>
            <a:spLocks noGrp="1"/>
          </p:cNvSpPr>
          <p:nvPr/>
        </p:nvSpPr>
        <p:spPr>
          <a:xfrm>
            <a:off x="8115300" y="21526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505046"/>
            </a:solidFill>
            <a:prstDash val="solid"/>
          </a:ln>
        </p:spPr>
      </p:sp>
      <p:sp>
        <p:nvSpPr>
          <p:cNvPr id="16" name="CHANNEL_LABEL">
            <a:extLst>
              <a:ext uri="{FF2B5EF4-FFF2-40B4-BE49-F238E27FC236}">
                <a16:creationId xmlns:a16="http://schemas.microsoft.com/office/drawing/2014/main" id="{C8A89BFA-4BAC-4419-8685-662A606315CB}"/>
              </a:ext>
            </a:extLst>
          </p:cNvPr>
          <p:cNvSpPr>
            <a:spLocks noGrp="1"/>
          </p:cNvSpPr>
          <p:nvPr/>
        </p:nvSpPr>
        <p:spPr>
          <a:xfrm>
            <a:off x="8305800" y="22955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渠道力</a:t>
            </a:r>
          </a:p>
        </p:txBody>
      </p:sp>
      <p:sp>
        <p:nvSpPr>
          <p:cNvPr id="17" name="CHANNEL_QUESTION">
            <a:extLst>
              <a:ext uri="{FF2B5EF4-FFF2-40B4-BE49-F238E27FC236}">
                <a16:creationId xmlns:a16="http://schemas.microsoft.com/office/drawing/2014/main" id="{5D9F9F16-98A5-4534-A6CE-A2481A825C96}"/>
              </a:ext>
            </a:extLst>
          </p:cNvPr>
          <p:cNvSpPr>
            <a:spLocks noGrp="1"/>
          </p:cNvSpPr>
          <p:nvPr/>
        </p:nvSpPr>
        <p:spPr>
          <a:xfrm>
            <a:off x="8305800" y="26384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当地有没有人持续卖、持续推？</a:t>
            </a:r>
          </a:p>
        </p:txBody>
      </p:sp>
      <p:sp>
        <p:nvSpPr>
          <p:cNvPr id="18" name="CHANNEL_EVIDENCE">
            <a:extLst>
              <a:ext uri="{FF2B5EF4-FFF2-40B4-BE49-F238E27FC236}">
                <a16:creationId xmlns:a16="http://schemas.microsoft.com/office/drawing/2014/main" id="{24104CD1-8DF7-46B6-B48D-1EB9BCCEB074}"/>
              </a:ext>
            </a:extLst>
          </p:cNvPr>
          <p:cNvSpPr>
            <a:spLocks noGrp="1"/>
          </p:cNvSpPr>
          <p:nvPr/>
        </p:nvSpPr>
        <p:spPr>
          <a:xfrm>
            <a:off x="8305800" y="29908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核心网点｜工人｜关键人</a:t>
            </a:r>
          </a:p>
        </p:txBody>
      </p:sp>
      <p:sp>
        <p:nvSpPr>
          <p:cNvPr id="19" name="SCENE_LINK">
            <a:extLst>
              <a:ext uri="{FF2B5EF4-FFF2-40B4-BE49-F238E27FC236}">
                <a16:creationId xmlns:a16="http://schemas.microsoft.com/office/drawing/2014/main" id="{E3812C07-AC96-4D44-B5A8-41337B1F5878}"/>
              </a:ext>
            </a:extLst>
          </p:cNvPr>
          <p:cNvSpPr>
            <a:spLocks noGrp="1"/>
          </p:cNvSpPr>
          <p:nvPr/>
        </p:nvSpPr>
        <p:spPr>
          <a:xfrm>
            <a:off x="4152900" y="4476750"/>
            <a:ext cx="723900" cy="523875"/>
          </a:xfrm>
          <a:prstGeom prst="line">
            <a:avLst/>
          </a:prstGeom>
          <a:noFill/>
          <a:ln w="19050">
            <a:solidFill>
              <a:srgbClr val="B22600"/>
            </a:solidFill>
            <a:prstDash val="solid"/>
          </a:ln>
        </p:spPr>
      </p:sp>
      <p:sp>
        <p:nvSpPr>
          <p:cNvPr id="20" name="SCENE_SURFACE">
            <a:extLst>
              <a:ext uri="{FF2B5EF4-FFF2-40B4-BE49-F238E27FC236}">
                <a16:creationId xmlns:a16="http://schemas.microsoft.com/office/drawing/2014/main" id="{C2395F50-F185-4D08-93DA-F702639B6DC3}"/>
              </a:ext>
            </a:extLst>
          </p:cNvPr>
          <p:cNvSpPr>
            <a:spLocks noGrp="1"/>
          </p:cNvSpPr>
          <p:nvPr/>
        </p:nvSpPr>
        <p:spPr>
          <a:xfrm>
            <a:off x="11049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21" name="SCENE_LABEL">
            <a:extLst>
              <a:ext uri="{FF2B5EF4-FFF2-40B4-BE49-F238E27FC236}">
                <a16:creationId xmlns:a16="http://schemas.microsoft.com/office/drawing/2014/main" id="{E3533932-C006-40A8-9E62-8E18828978D1}"/>
              </a:ext>
            </a:extLst>
          </p:cNvPr>
          <p:cNvSpPr>
            <a:spLocks noGrp="1"/>
          </p:cNvSpPr>
          <p:nvPr/>
        </p:nvSpPr>
        <p:spPr>
          <a:xfrm>
            <a:off x="12954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场景力</a:t>
            </a:r>
          </a:p>
        </p:txBody>
      </p:sp>
      <p:sp>
        <p:nvSpPr>
          <p:cNvPr id="22" name="SCENE_QUESTION">
            <a:extLst>
              <a:ext uri="{FF2B5EF4-FFF2-40B4-BE49-F238E27FC236}">
                <a16:creationId xmlns:a16="http://schemas.microsoft.com/office/drawing/2014/main" id="{AF84A24B-3E37-41C9-832E-072F6D2CD257}"/>
              </a:ext>
            </a:extLst>
          </p:cNvPr>
          <p:cNvSpPr>
            <a:spLocks noGrp="1"/>
          </p:cNvSpPr>
          <p:nvPr/>
        </p:nvSpPr>
        <p:spPr>
          <a:xfrm>
            <a:off x="12954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能不能持续找到真实项目？</a:t>
            </a:r>
          </a:p>
        </p:txBody>
      </p:sp>
      <p:sp>
        <p:nvSpPr>
          <p:cNvPr id="23" name="SCENE_EVIDENCE">
            <a:extLst>
              <a:ext uri="{FF2B5EF4-FFF2-40B4-BE49-F238E27FC236}">
                <a16:creationId xmlns:a16="http://schemas.microsoft.com/office/drawing/2014/main" id="{742863A3-607C-426F-8A6A-34E907E4F79B}"/>
              </a:ext>
            </a:extLst>
          </p:cNvPr>
          <p:cNvSpPr>
            <a:spLocks noGrp="1"/>
          </p:cNvSpPr>
          <p:nvPr/>
        </p:nvSpPr>
        <p:spPr>
          <a:xfrm>
            <a:off x="12954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线索｜节点｜转化</a:t>
            </a:r>
          </a:p>
        </p:txBody>
      </p:sp>
      <p:sp>
        <p:nvSpPr>
          <p:cNvPr id="24" name="PRODUCT_LINK">
            <a:extLst>
              <a:ext uri="{FF2B5EF4-FFF2-40B4-BE49-F238E27FC236}">
                <a16:creationId xmlns:a16="http://schemas.microsoft.com/office/drawing/2014/main" id="{7E89A4B1-D239-4EDA-A50C-733CC008129C}"/>
              </a:ext>
            </a:extLst>
          </p:cNvPr>
          <p:cNvSpPr>
            <a:spLocks noGrp="1"/>
          </p:cNvSpPr>
          <p:nvPr/>
        </p:nvSpPr>
        <p:spPr>
          <a:xfrm>
            <a:off x="6972300" y="4476750"/>
            <a:ext cx="1143000" cy="523875"/>
          </a:xfrm>
          <a:prstGeom prst="line">
            <a:avLst/>
          </a:prstGeom>
          <a:noFill/>
          <a:ln w="19050">
            <a:solidFill>
              <a:srgbClr val="B22600"/>
            </a:solidFill>
            <a:prstDash val="solid"/>
          </a:ln>
        </p:spPr>
      </p:sp>
      <p:sp>
        <p:nvSpPr>
          <p:cNvPr id="25" name="PRODUCT_SURFACE">
            <a:extLst>
              <a:ext uri="{FF2B5EF4-FFF2-40B4-BE49-F238E27FC236}">
                <a16:creationId xmlns:a16="http://schemas.microsoft.com/office/drawing/2014/main" id="{657347C3-132A-4654-BC89-24367335A8B5}"/>
              </a:ext>
            </a:extLst>
          </p:cNvPr>
          <p:cNvSpPr>
            <a:spLocks noGrp="1"/>
          </p:cNvSpPr>
          <p:nvPr/>
        </p:nvSpPr>
        <p:spPr>
          <a:xfrm>
            <a:off x="8115300" y="4476750"/>
            <a:ext cx="3048000" cy="1143000"/>
          </a:xfrm>
          <a:prstGeom prst="roundRect">
            <a:avLst>
              <a:gd name="adj" fmla="val 6667"/>
            </a:avLst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26" name="PRODUCT_LABEL">
            <a:extLst>
              <a:ext uri="{FF2B5EF4-FFF2-40B4-BE49-F238E27FC236}">
                <a16:creationId xmlns:a16="http://schemas.microsoft.com/office/drawing/2014/main" id="{BC94698D-B6BE-4902-8DF9-CBE9F7CD4EE3}"/>
              </a:ext>
            </a:extLst>
          </p:cNvPr>
          <p:cNvSpPr>
            <a:spLocks noGrp="1"/>
          </p:cNvSpPr>
          <p:nvPr/>
        </p:nvSpPr>
        <p:spPr>
          <a:xfrm>
            <a:off x="8305800" y="4619625"/>
            <a:ext cx="876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909"/>
          </a:bodyPr>
          <a:lstStyle/>
          <a:p>
            <a:pPr algn="l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产品力</a:t>
            </a:r>
          </a:p>
        </p:txBody>
      </p:sp>
      <p:sp>
        <p:nvSpPr>
          <p:cNvPr id="27" name="PRODUCT_QUESTION">
            <a:extLst>
              <a:ext uri="{FF2B5EF4-FFF2-40B4-BE49-F238E27FC236}">
                <a16:creationId xmlns:a16="http://schemas.microsoft.com/office/drawing/2014/main" id="{A64C96B1-A9A4-4677-B76E-30FB51732F0A}"/>
              </a:ext>
            </a:extLst>
          </p:cNvPr>
          <p:cNvSpPr>
            <a:spLocks noGrp="1"/>
          </p:cNvSpPr>
          <p:nvPr/>
        </p:nvSpPr>
        <p:spPr>
          <a:xfrm>
            <a:off x="8305800" y="4962525"/>
            <a:ext cx="2647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产品能否切入、动销并扩品？</a:t>
            </a:r>
          </a:p>
        </p:txBody>
      </p:sp>
      <p:sp>
        <p:nvSpPr>
          <p:cNvPr id="28" name="PRODUCT_EVIDENCE">
            <a:extLst>
              <a:ext uri="{FF2B5EF4-FFF2-40B4-BE49-F238E27FC236}">
                <a16:creationId xmlns:a16="http://schemas.microsoft.com/office/drawing/2014/main" id="{AFC18B0B-29CD-4A98-B4E6-E2A4A9BD1338}"/>
              </a:ext>
            </a:extLst>
          </p:cNvPr>
          <p:cNvSpPr>
            <a:spLocks noGrp="1"/>
          </p:cNvSpPr>
          <p:nvPr/>
        </p:nvSpPr>
        <p:spPr>
          <a:xfrm>
            <a:off x="8305800" y="5314950"/>
            <a:ext cx="2647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首单｜复购｜组合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8D938446-8400-4DF0-A382-AA3D6780C0D2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判断规则：只能选1个主短板、最多1个辅助短板，并各写出一条证据。</a:t>
            </a:r>
          </a:p>
        </p:txBody>
      </p:sp>
      <p:sp>
        <p:nvSpPr>
          <p:cNvPr id="30" name="PAGE_NUMBER">
            <a:extLst>
              <a:ext uri="{FF2B5EF4-FFF2-40B4-BE49-F238E27FC236}">
                <a16:creationId xmlns:a16="http://schemas.microsoft.com/office/drawing/2014/main" id="{CAC01B4F-05E4-4BD5-A44F-8715BACE234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3819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B339CA92-25D8-4CC8-BDDD-B040465472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381"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DC-04 · FOUR-STAGE GROWTH DIAGNOSIS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015E4D5-A524-41E6-B76F-43845D31DDC8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阶段不按开发了几年判断，而是看市场已经形成了什么结果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AC61086-CA39-4AB3-B09C-98DBC03DB483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每一级只回答两件事：已经形成什么经营结果，下一步必须完成什么通关任务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7CE5B6D3-DE5C-4726-896E-90CA9E61601D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S1_BLOCK">
            <a:extLst>
              <a:ext uri="{FF2B5EF4-FFF2-40B4-BE49-F238E27FC236}">
                <a16:creationId xmlns:a16="http://schemas.microsoft.com/office/drawing/2014/main" id="{0CC200C0-2479-4589-8C5C-F7AB51108B35}"/>
              </a:ext>
            </a:extLst>
          </p:cNvPr>
          <p:cNvSpPr>
            <a:spLocks noGrp="1"/>
          </p:cNvSpPr>
          <p:nvPr/>
        </p:nvSpPr>
        <p:spPr>
          <a:xfrm>
            <a:off x="838200" y="4000500"/>
            <a:ext cx="2381250" cy="1905000"/>
          </a:xfrm>
          <a:prstGeom prst="rect">
            <a:avLst/>
          </a:prstGeom>
          <a:solidFill>
            <a:srgbClr val="F7F7F8"/>
          </a:solidFill>
          <a:ln w="0">
            <a:noFill/>
            <a:prstDash val="solid"/>
          </a:ln>
        </p:spPr>
      </p:sp>
      <p:sp>
        <p:nvSpPr>
          <p:cNvPr id="8" name="S1_NUMBER">
            <a:extLst>
              <a:ext uri="{FF2B5EF4-FFF2-40B4-BE49-F238E27FC236}">
                <a16:creationId xmlns:a16="http://schemas.microsoft.com/office/drawing/2014/main" id="{C42F2D47-C6A3-49FF-B0BE-ACBCB8FD030B}"/>
              </a:ext>
            </a:extLst>
          </p:cNvPr>
          <p:cNvSpPr>
            <a:spLocks noGrp="1"/>
          </p:cNvSpPr>
          <p:nvPr/>
        </p:nvSpPr>
        <p:spPr>
          <a:xfrm>
            <a:off x="1047750" y="41910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1_LABEL">
            <a:extLst>
              <a:ext uri="{FF2B5EF4-FFF2-40B4-BE49-F238E27FC236}">
                <a16:creationId xmlns:a16="http://schemas.microsoft.com/office/drawing/2014/main" id="{6826E5DF-73FF-4359-A0BD-5612FD970C28}"/>
              </a:ext>
            </a:extLst>
          </p:cNvPr>
          <p:cNvSpPr>
            <a:spLocks noGrp="1"/>
          </p:cNvSpPr>
          <p:nvPr/>
        </p:nvSpPr>
        <p:spPr>
          <a:xfrm>
            <a:off x="1047750" y="45720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进得去</a:t>
            </a:r>
          </a:p>
        </p:txBody>
      </p:sp>
      <p:sp>
        <p:nvSpPr>
          <p:cNvPr id="10" name="S1_RESULT">
            <a:extLst>
              <a:ext uri="{FF2B5EF4-FFF2-40B4-BE49-F238E27FC236}">
                <a16:creationId xmlns:a16="http://schemas.microsoft.com/office/drawing/2014/main" id="{7F11A11A-7548-44DA-B7A4-99E6443749EB}"/>
              </a:ext>
            </a:extLst>
          </p:cNvPr>
          <p:cNvSpPr>
            <a:spLocks noGrp="1"/>
          </p:cNvSpPr>
          <p:nvPr/>
        </p:nvSpPr>
        <p:spPr>
          <a:xfrm>
            <a:off x="1047750" y="4972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发生第一批真实业务</a:t>
            </a:r>
          </a:p>
        </p:txBody>
      </p:sp>
      <p:sp>
        <p:nvSpPr>
          <p:cNvPr id="11" name="S1_TASK">
            <a:extLst>
              <a:ext uri="{FF2B5EF4-FFF2-40B4-BE49-F238E27FC236}">
                <a16:creationId xmlns:a16="http://schemas.microsoft.com/office/drawing/2014/main" id="{11891CEB-2EF2-4A22-A0C1-AAE739958585}"/>
              </a:ext>
            </a:extLst>
          </p:cNvPr>
          <p:cNvSpPr>
            <a:spLocks noGrp="1"/>
          </p:cNvSpPr>
          <p:nvPr/>
        </p:nvSpPr>
        <p:spPr>
          <a:xfrm>
            <a:off x="1047750" y="5429250"/>
            <a:ext cx="19621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下一关：找到入口，完成破零</a:t>
            </a:r>
          </a:p>
        </p:txBody>
      </p:sp>
      <p:sp>
        <p:nvSpPr>
          <p:cNvPr id="12" name="S2_BLOCK">
            <a:extLst>
              <a:ext uri="{FF2B5EF4-FFF2-40B4-BE49-F238E27FC236}">
                <a16:creationId xmlns:a16="http://schemas.microsoft.com/office/drawing/2014/main" id="{D442830E-21CC-497A-B8C9-AE6008778072}"/>
              </a:ext>
            </a:extLst>
          </p:cNvPr>
          <p:cNvSpPr>
            <a:spLocks noGrp="1"/>
          </p:cNvSpPr>
          <p:nvPr/>
        </p:nvSpPr>
        <p:spPr>
          <a:xfrm>
            <a:off x="3219450" y="3333750"/>
            <a:ext cx="2381250" cy="2571750"/>
          </a:xfrm>
          <a:prstGeom prst="rect">
            <a:avLst/>
          </a:prstGeom>
          <a:solidFill>
            <a:srgbClr val="F7F7F8"/>
          </a:solidFill>
          <a:ln w="0">
            <a:noFill/>
            <a:prstDash val="solid"/>
          </a:ln>
        </p:spPr>
      </p:sp>
      <p:sp>
        <p:nvSpPr>
          <p:cNvPr id="13" name="S2_NUMBER">
            <a:extLst>
              <a:ext uri="{FF2B5EF4-FFF2-40B4-BE49-F238E27FC236}">
                <a16:creationId xmlns:a16="http://schemas.microsoft.com/office/drawing/2014/main" id="{2E2BBD6C-68D8-4A0E-B668-69E86A71FF48}"/>
              </a:ext>
            </a:extLst>
          </p:cNvPr>
          <p:cNvSpPr>
            <a:spLocks noGrp="1"/>
          </p:cNvSpPr>
          <p:nvPr/>
        </p:nvSpPr>
        <p:spPr>
          <a:xfrm>
            <a:off x="3429000" y="35242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S2_LABEL">
            <a:extLst>
              <a:ext uri="{FF2B5EF4-FFF2-40B4-BE49-F238E27FC236}">
                <a16:creationId xmlns:a16="http://schemas.microsoft.com/office/drawing/2014/main" id="{679E81D6-96D7-407B-A975-A8CD08D4A9D5}"/>
              </a:ext>
            </a:extLst>
          </p:cNvPr>
          <p:cNvSpPr>
            <a:spLocks noGrp="1"/>
          </p:cNvSpPr>
          <p:nvPr/>
        </p:nvSpPr>
        <p:spPr>
          <a:xfrm>
            <a:off x="3429000" y="390525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站得住</a:t>
            </a:r>
          </a:p>
        </p:txBody>
      </p:sp>
      <p:sp>
        <p:nvSpPr>
          <p:cNvPr id="15" name="S2_RESULT">
            <a:extLst>
              <a:ext uri="{FF2B5EF4-FFF2-40B4-BE49-F238E27FC236}">
                <a16:creationId xmlns:a16="http://schemas.microsoft.com/office/drawing/2014/main" id="{C85427F5-E885-4784-8324-F9C175B51F21}"/>
              </a:ext>
            </a:extLst>
          </p:cNvPr>
          <p:cNvSpPr>
            <a:spLocks noGrp="1"/>
          </p:cNvSpPr>
          <p:nvPr/>
        </p:nvSpPr>
        <p:spPr>
          <a:xfrm>
            <a:off x="3429000" y="430530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网点、线索和产品开始重复</a:t>
            </a:r>
          </a:p>
        </p:txBody>
      </p:sp>
      <p:sp>
        <p:nvSpPr>
          <p:cNvPr id="16" name="S2_TASK">
            <a:extLst>
              <a:ext uri="{FF2B5EF4-FFF2-40B4-BE49-F238E27FC236}">
                <a16:creationId xmlns:a16="http://schemas.microsoft.com/office/drawing/2014/main" id="{8A1D2ADB-A9A6-4641-9706-A2E78C937BF8}"/>
              </a:ext>
            </a:extLst>
          </p:cNvPr>
          <p:cNvSpPr>
            <a:spLocks noGrp="1"/>
          </p:cNvSpPr>
          <p:nvPr/>
        </p:nvSpPr>
        <p:spPr>
          <a:xfrm>
            <a:off x="3429000" y="4762500"/>
            <a:ext cx="19621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下一关：把一次成交变成稳定基础</a:t>
            </a:r>
          </a:p>
        </p:txBody>
      </p:sp>
      <p:sp>
        <p:nvSpPr>
          <p:cNvPr id="17" name="S3_BLOCK">
            <a:extLst>
              <a:ext uri="{FF2B5EF4-FFF2-40B4-BE49-F238E27FC236}">
                <a16:creationId xmlns:a16="http://schemas.microsoft.com/office/drawing/2014/main" id="{71D57944-2CB7-4753-85DA-DBA84083FBC2}"/>
              </a:ext>
            </a:extLst>
          </p:cNvPr>
          <p:cNvSpPr>
            <a:spLocks noGrp="1"/>
          </p:cNvSpPr>
          <p:nvPr/>
        </p:nvSpPr>
        <p:spPr>
          <a:xfrm>
            <a:off x="5600700" y="2667000"/>
            <a:ext cx="2381250" cy="3238500"/>
          </a:xfrm>
          <a:prstGeom prst="rect">
            <a:avLst/>
          </a:prstGeom>
          <a:solidFill>
            <a:srgbClr val="505046"/>
          </a:solidFill>
          <a:ln w="0">
            <a:noFill/>
            <a:prstDash val="solid"/>
          </a:ln>
        </p:spPr>
      </p:sp>
      <p:sp>
        <p:nvSpPr>
          <p:cNvPr id="18" name="S3_NUMBER">
            <a:extLst>
              <a:ext uri="{FF2B5EF4-FFF2-40B4-BE49-F238E27FC236}">
                <a16:creationId xmlns:a16="http://schemas.microsoft.com/office/drawing/2014/main" id="{404A2C83-862F-4BA2-830E-F11AE7575C4E}"/>
              </a:ext>
            </a:extLst>
          </p:cNvPr>
          <p:cNvSpPr>
            <a:spLocks noGrp="1"/>
          </p:cNvSpPr>
          <p:nvPr/>
        </p:nvSpPr>
        <p:spPr>
          <a:xfrm>
            <a:off x="5810250" y="285750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9" name="S3_LABEL">
            <a:extLst>
              <a:ext uri="{FF2B5EF4-FFF2-40B4-BE49-F238E27FC236}">
                <a16:creationId xmlns:a16="http://schemas.microsoft.com/office/drawing/2014/main" id="{26EDCA7E-FC7D-41FC-B987-6E5B69E78669}"/>
              </a:ext>
            </a:extLst>
          </p:cNvPr>
          <p:cNvSpPr>
            <a:spLocks noGrp="1"/>
          </p:cNvSpPr>
          <p:nvPr/>
        </p:nvSpPr>
        <p:spPr>
          <a:xfrm>
            <a:off x="5810250" y="3238500"/>
            <a:ext cx="1962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卖得动</a:t>
            </a:r>
          </a:p>
        </p:txBody>
      </p:sp>
      <p:sp>
        <p:nvSpPr>
          <p:cNvPr id="20" name="S3_RESULT">
            <a:extLst>
              <a:ext uri="{FF2B5EF4-FFF2-40B4-BE49-F238E27FC236}">
                <a16:creationId xmlns:a16="http://schemas.microsoft.com/office/drawing/2014/main" id="{68E3C6B4-236D-48EC-BA3E-6412DA09C6D5}"/>
              </a:ext>
            </a:extLst>
          </p:cNvPr>
          <p:cNvSpPr>
            <a:spLocks noGrp="1"/>
          </p:cNvSpPr>
          <p:nvPr/>
        </p:nvSpPr>
        <p:spPr>
          <a:xfrm>
            <a:off x="5810250" y="36385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客户、项目和销量持续增加</a:t>
            </a:r>
          </a:p>
        </p:txBody>
      </p:sp>
      <p:sp>
        <p:nvSpPr>
          <p:cNvPr id="21" name="S3_TASK">
            <a:extLst>
              <a:ext uri="{FF2B5EF4-FFF2-40B4-BE49-F238E27FC236}">
                <a16:creationId xmlns:a16="http://schemas.microsoft.com/office/drawing/2014/main" id="{A1262302-D77E-4133-97FD-6D80D5AA7417}"/>
              </a:ext>
            </a:extLst>
          </p:cNvPr>
          <p:cNvSpPr>
            <a:spLocks noGrp="1"/>
          </p:cNvSpPr>
          <p:nvPr/>
        </p:nvSpPr>
        <p:spPr>
          <a:xfrm>
            <a:off x="5810250" y="4095750"/>
            <a:ext cx="196215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下一关：提高有效网点与转化效率</a:t>
            </a:r>
          </a:p>
        </p:txBody>
      </p:sp>
      <p:sp>
        <p:nvSpPr>
          <p:cNvPr id="22" name="S4_BLOCK">
            <a:extLst>
              <a:ext uri="{FF2B5EF4-FFF2-40B4-BE49-F238E27FC236}">
                <a16:creationId xmlns:a16="http://schemas.microsoft.com/office/drawing/2014/main" id="{970AB39D-EF02-4440-BC3E-1F453A2AC621}"/>
              </a:ext>
            </a:extLst>
          </p:cNvPr>
          <p:cNvSpPr>
            <a:spLocks noGrp="1"/>
          </p:cNvSpPr>
          <p:nvPr/>
        </p:nvSpPr>
        <p:spPr>
          <a:xfrm>
            <a:off x="7981950" y="2000250"/>
            <a:ext cx="3333750" cy="3905250"/>
          </a:xfrm>
          <a:prstGeom prst="rect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23" name="S4_NUMBER">
            <a:extLst>
              <a:ext uri="{FF2B5EF4-FFF2-40B4-BE49-F238E27FC236}">
                <a16:creationId xmlns:a16="http://schemas.microsoft.com/office/drawing/2014/main" id="{DD0FAAA6-DD49-4ED2-BE19-377337284EA4}"/>
              </a:ext>
            </a:extLst>
          </p:cNvPr>
          <p:cNvSpPr>
            <a:spLocks noGrp="1"/>
          </p:cNvSpPr>
          <p:nvPr/>
        </p:nvSpPr>
        <p:spPr>
          <a:xfrm>
            <a:off x="8191500" y="2190750"/>
            <a:ext cx="5143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4" name="S4_LABEL">
            <a:extLst>
              <a:ext uri="{FF2B5EF4-FFF2-40B4-BE49-F238E27FC236}">
                <a16:creationId xmlns:a16="http://schemas.microsoft.com/office/drawing/2014/main" id="{ECEF836E-8D91-41B5-9684-8266ED34EFAA}"/>
              </a:ext>
            </a:extLst>
          </p:cNvPr>
          <p:cNvSpPr>
            <a:spLocks noGrp="1"/>
          </p:cNvSpPr>
          <p:nvPr/>
        </p:nvSpPr>
        <p:spPr>
          <a:xfrm>
            <a:off x="8191500" y="2571750"/>
            <a:ext cx="2914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做得深</a:t>
            </a:r>
          </a:p>
        </p:txBody>
      </p:sp>
      <p:sp>
        <p:nvSpPr>
          <p:cNvPr id="25" name="S4_RESULT">
            <a:extLst>
              <a:ext uri="{FF2B5EF4-FFF2-40B4-BE49-F238E27FC236}">
                <a16:creationId xmlns:a16="http://schemas.microsoft.com/office/drawing/2014/main" id="{D9E2C376-C085-46D6-8A07-22B109C268AA}"/>
              </a:ext>
            </a:extLst>
          </p:cNvPr>
          <p:cNvSpPr>
            <a:spLocks noGrp="1"/>
          </p:cNvSpPr>
          <p:nvPr/>
        </p:nvSpPr>
        <p:spPr>
          <a:xfrm>
            <a:off x="8191500" y="2971800"/>
            <a:ext cx="29146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单点、单客和单项目价值提高</a:t>
            </a:r>
          </a:p>
        </p:txBody>
      </p:sp>
      <p:sp>
        <p:nvSpPr>
          <p:cNvPr id="26" name="S4_TASK">
            <a:extLst>
              <a:ext uri="{FF2B5EF4-FFF2-40B4-BE49-F238E27FC236}">
                <a16:creationId xmlns:a16="http://schemas.microsoft.com/office/drawing/2014/main" id="{ED4627A6-F825-47D8-BA32-62E46C4A84E8}"/>
              </a:ext>
            </a:extLst>
          </p:cNvPr>
          <p:cNvSpPr>
            <a:spLocks noGrp="1"/>
          </p:cNvSpPr>
          <p:nvPr/>
        </p:nvSpPr>
        <p:spPr>
          <a:xfrm>
            <a:off x="8191500" y="3429000"/>
            <a:ext cx="2914650" cy="2381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下一关：组合扩品，沉淀并复制方法</a:t>
            </a:r>
          </a:p>
        </p:txBody>
      </p:sp>
      <p:sp>
        <p:nvSpPr>
          <p:cNvPr id="27" name="STAGE_RULE">
            <a:extLst>
              <a:ext uri="{FF2B5EF4-FFF2-40B4-BE49-F238E27FC236}">
                <a16:creationId xmlns:a16="http://schemas.microsoft.com/office/drawing/2014/main" id="{1D4E1AF0-EC74-4EAC-AC79-B1F60C72A5AE}"/>
              </a:ext>
            </a:extLst>
          </p:cNvPr>
          <p:cNvSpPr>
            <a:spLocks noGrp="1"/>
          </p:cNvSpPr>
          <p:nvPr/>
        </p:nvSpPr>
        <p:spPr>
          <a:xfrm>
            <a:off x="838200" y="1895475"/>
            <a:ext cx="6286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先说证据，再选阶段；阶段决定下一步任务，不是给乡镇打分。</a:t>
            </a:r>
          </a:p>
        </p:txBody>
      </p:sp>
      <p:sp>
        <p:nvSpPr>
          <p:cNvPr id="28" name="TEACHING_CUE">
            <a:extLst>
              <a:ext uri="{FF2B5EF4-FFF2-40B4-BE49-F238E27FC236}">
                <a16:creationId xmlns:a16="http://schemas.microsoft.com/office/drawing/2014/main" id="{2DB1E978-80B2-47BD-832B-E67D68C2F0DF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课堂动作：给出一个乡镇情境，学员先举牌选阶段，再说出支撑判断的事实。</a:t>
            </a:r>
          </a:p>
        </p:txBody>
      </p:sp>
      <p:sp>
        <p:nvSpPr>
          <p:cNvPr id="29" name="PAGE_NUMBER">
            <a:extLst>
              <a:ext uri="{FF2B5EF4-FFF2-40B4-BE49-F238E27FC236}">
                <a16:creationId xmlns:a16="http://schemas.microsoft.com/office/drawing/2014/main" id="{0884160C-C642-4EF0-A1D2-4E58AD8F5BF1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92461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FB45F5DD-6DF3-42AB-8B60-3EF0E556EAE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DC-17 · SYMPTOM CLUSTERING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4D74369-284E-4DB6-B9FE-326ED39917B0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问题很多时，先把零散现象聚成四类病症，再找真正的主问题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2301BA9C-77DE-4ACD-A7EA-4268BCBD5175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症状写事实，病症做归纳；不要把“继续铺货、继续活动”当成未经诊断的默认答案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D1DE82DE-35D1-410A-B376-330771657352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SYMPTOM_01">
            <a:extLst>
              <a:ext uri="{FF2B5EF4-FFF2-40B4-BE49-F238E27FC236}">
                <a16:creationId xmlns:a16="http://schemas.microsoft.com/office/drawing/2014/main" id="{236107BA-0123-4633-A1D8-33DFA55338A2}"/>
              </a:ext>
            </a:extLst>
          </p:cNvPr>
          <p:cNvSpPr>
            <a:spLocks noGrp="1"/>
          </p:cNvSpPr>
          <p:nvPr/>
        </p:nvSpPr>
        <p:spPr>
          <a:xfrm rot="-240000">
            <a:off x="666750" y="2057400"/>
            <a:ext cx="1600200" cy="628650"/>
          </a:xfrm>
          <a:prstGeom prst="rect">
            <a:avLst/>
          </a:prstGeom>
          <a:solidFill>
            <a:srgbClr val="F7F7F8"/>
          </a:solidFill>
          <a:ln w="9525">
            <a:solidFill>
              <a:srgbClr val="B2260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SYMPTOM_01_TEXT">
            <a:extLst>
              <a:ext uri="{FF2B5EF4-FFF2-40B4-BE49-F238E27FC236}">
                <a16:creationId xmlns:a16="http://schemas.microsoft.com/office/drawing/2014/main" id="{7DE256CA-D539-410A-85B8-D75A5631005A}"/>
              </a:ext>
            </a:extLst>
          </p:cNvPr>
          <p:cNvSpPr>
            <a:spLocks noGrp="1"/>
          </p:cNvSpPr>
          <p:nvPr/>
        </p:nvSpPr>
        <p:spPr>
          <a:xfrm rot="-240000">
            <a:off x="752475" y="2171700"/>
            <a:ext cx="142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活动很多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市场一停就安静</a:t>
            </a:r>
          </a:p>
        </p:txBody>
      </p:sp>
      <p:sp>
        <p:nvSpPr>
          <p:cNvPr id="9" name="SYMPTOM_02">
            <a:extLst>
              <a:ext uri="{FF2B5EF4-FFF2-40B4-BE49-F238E27FC236}">
                <a16:creationId xmlns:a16="http://schemas.microsoft.com/office/drawing/2014/main" id="{4E2A0B50-ACFD-4D8E-8EDE-37F22D9A51D1}"/>
              </a:ext>
            </a:extLst>
          </p:cNvPr>
          <p:cNvSpPr>
            <a:spLocks noGrp="1"/>
          </p:cNvSpPr>
          <p:nvPr/>
        </p:nvSpPr>
        <p:spPr>
          <a:xfrm rot="180000">
            <a:off x="2428875" y="1885950"/>
            <a:ext cx="1504950" cy="704850"/>
          </a:xfrm>
          <a:prstGeom prst="rect">
            <a:avLst/>
          </a:prstGeom>
          <a:solidFill>
            <a:srgbClr val="F7F7F8"/>
          </a:solidFill>
          <a:ln w="9525">
            <a:solidFill>
              <a:srgbClr val="B2260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SYMPTOM_02_TEXT">
            <a:extLst>
              <a:ext uri="{FF2B5EF4-FFF2-40B4-BE49-F238E27FC236}">
                <a16:creationId xmlns:a16="http://schemas.microsoft.com/office/drawing/2014/main" id="{9C84BC26-9C2F-4023-BE93-64037011C712}"/>
              </a:ext>
            </a:extLst>
          </p:cNvPr>
          <p:cNvSpPr>
            <a:spLocks noGrp="1"/>
          </p:cNvSpPr>
          <p:nvPr/>
        </p:nvSpPr>
        <p:spPr>
          <a:xfrm rot="180000">
            <a:off x="2514600" y="2000250"/>
            <a:ext cx="1333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有曝光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没有购买入口</a:t>
            </a:r>
          </a:p>
        </p:txBody>
      </p:sp>
      <p:sp>
        <p:nvSpPr>
          <p:cNvPr id="11" name="SYMPTOM_03">
            <a:extLst>
              <a:ext uri="{FF2B5EF4-FFF2-40B4-BE49-F238E27FC236}">
                <a16:creationId xmlns:a16="http://schemas.microsoft.com/office/drawing/2014/main" id="{5CAFD797-6866-457A-9A8B-8426989938A2}"/>
              </a:ext>
            </a:extLst>
          </p:cNvPr>
          <p:cNvSpPr>
            <a:spLocks noGrp="1"/>
          </p:cNvSpPr>
          <p:nvPr/>
        </p:nvSpPr>
        <p:spPr>
          <a:xfrm rot="120000">
            <a:off x="866775" y="2886075"/>
            <a:ext cx="1638300" cy="666750"/>
          </a:xfrm>
          <a:prstGeom prst="rect">
            <a:avLst/>
          </a:prstGeom>
          <a:solidFill>
            <a:srgbClr val="F7F7F8"/>
          </a:solidFill>
          <a:ln w="9525">
            <a:solidFill>
              <a:srgbClr val="B2260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SYMPTOM_03_TEXT">
            <a:extLst>
              <a:ext uri="{FF2B5EF4-FFF2-40B4-BE49-F238E27FC236}">
                <a16:creationId xmlns:a16="http://schemas.microsoft.com/office/drawing/2014/main" id="{F6222EA3-98DE-4D46-A1EF-1A7146379519}"/>
              </a:ext>
            </a:extLst>
          </p:cNvPr>
          <p:cNvSpPr>
            <a:spLocks noGrp="1"/>
          </p:cNvSpPr>
          <p:nvPr/>
        </p:nvSpPr>
        <p:spPr>
          <a:xfrm rot="120000">
            <a:off x="952500" y="3000375"/>
            <a:ext cx="14668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首批进货后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很少补货</a:t>
            </a:r>
          </a:p>
        </p:txBody>
      </p:sp>
      <p:sp>
        <p:nvSpPr>
          <p:cNvPr id="13" name="SYMPTOM_04">
            <a:extLst>
              <a:ext uri="{FF2B5EF4-FFF2-40B4-BE49-F238E27FC236}">
                <a16:creationId xmlns:a16="http://schemas.microsoft.com/office/drawing/2014/main" id="{95669166-597D-4E3A-996D-63CFC6143F09}"/>
              </a:ext>
            </a:extLst>
          </p:cNvPr>
          <p:cNvSpPr>
            <a:spLocks noGrp="1"/>
          </p:cNvSpPr>
          <p:nvPr/>
        </p:nvSpPr>
        <p:spPr>
          <a:xfrm rot="-180000">
            <a:off x="2686050" y="2781300"/>
            <a:ext cx="1619250" cy="685800"/>
          </a:xfrm>
          <a:prstGeom prst="rect">
            <a:avLst/>
          </a:prstGeom>
          <a:solidFill>
            <a:srgbClr val="F7F7F8"/>
          </a:solidFill>
          <a:ln w="9525">
            <a:solidFill>
              <a:srgbClr val="B2260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SYMPTOM_04_TEXT">
            <a:extLst>
              <a:ext uri="{FF2B5EF4-FFF2-40B4-BE49-F238E27FC236}">
                <a16:creationId xmlns:a16="http://schemas.microsoft.com/office/drawing/2014/main" id="{ABD6CE9C-26CD-4B1E-8581-45FEAA662CE7}"/>
              </a:ext>
            </a:extLst>
          </p:cNvPr>
          <p:cNvSpPr>
            <a:spLocks noGrp="1"/>
          </p:cNvSpPr>
          <p:nvPr/>
        </p:nvSpPr>
        <p:spPr>
          <a:xfrm rot="-180000">
            <a:off x="2771775" y="2895600"/>
            <a:ext cx="1447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项目做完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没有新线索</a:t>
            </a:r>
          </a:p>
        </p:txBody>
      </p:sp>
      <p:sp>
        <p:nvSpPr>
          <p:cNvPr id="15" name="SYMPTOM_05">
            <a:extLst>
              <a:ext uri="{FF2B5EF4-FFF2-40B4-BE49-F238E27FC236}">
                <a16:creationId xmlns:a16="http://schemas.microsoft.com/office/drawing/2014/main" id="{AACDF1F3-847E-42E0-801A-7DEB303F62A2}"/>
              </a:ext>
            </a:extLst>
          </p:cNvPr>
          <p:cNvSpPr>
            <a:spLocks noGrp="1"/>
          </p:cNvSpPr>
          <p:nvPr/>
        </p:nvSpPr>
        <p:spPr>
          <a:xfrm rot="-120000">
            <a:off x="695325" y="3800475"/>
            <a:ext cx="1619250" cy="704850"/>
          </a:xfrm>
          <a:prstGeom prst="rect">
            <a:avLst/>
          </a:prstGeom>
          <a:solidFill>
            <a:srgbClr val="F7F7F8"/>
          </a:solidFill>
          <a:ln w="9525">
            <a:solidFill>
              <a:srgbClr val="B2260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SYMPTOM_05_TEXT">
            <a:extLst>
              <a:ext uri="{FF2B5EF4-FFF2-40B4-BE49-F238E27FC236}">
                <a16:creationId xmlns:a16="http://schemas.microsoft.com/office/drawing/2014/main" id="{D28A1884-4B9E-4FE4-AE5A-46D3A1DDB9DD}"/>
              </a:ext>
            </a:extLst>
          </p:cNvPr>
          <p:cNvSpPr>
            <a:spLocks noGrp="1"/>
          </p:cNvSpPr>
          <p:nvPr/>
        </p:nvSpPr>
        <p:spPr>
          <a:xfrm rot="-120000">
            <a:off x="781050" y="3914775"/>
            <a:ext cx="1447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网点不少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真正卖货的很少</a:t>
            </a:r>
          </a:p>
        </p:txBody>
      </p:sp>
      <p:sp>
        <p:nvSpPr>
          <p:cNvPr id="17" name="SYMPTOM_06">
            <a:extLst>
              <a:ext uri="{FF2B5EF4-FFF2-40B4-BE49-F238E27FC236}">
                <a16:creationId xmlns:a16="http://schemas.microsoft.com/office/drawing/2014/main" id="{83B34019-E26B-4591-AD05-A6D0A0D32878}"/>
              </a:ext>
            </a:extLst>
          </p:cNvPr>
          <p:cNvSpPr>
            <a:spLocks noGrp="1"/>
          </p:cNvSpPr>
          <p:nvPr/>
        </p:nvSpPr>
        <p:spPr>
          <a:xfrm rot="180000">
            <a:off x="2533650" y="3743325"/>
            <a:ext cx="1762125" cy="685800"/>
          </a:xfrm>
          <a:prstGeom prst="rect">
            <a:avLst/>
          </a:prstGeom>
          <a:solidFill>
            <a:srgbClr val="F7F7F8"/>
          </a:solidFill>
          <a:ln w="9525">
            <a:solidFill>
              <a:srgbClr val="B2260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SYMPTOM_06_TEXT">
            <a:extLst>
              <a:ext uri="{FF2B5EF4-FFF2-40B4-BE49-F238E27FC236}">
                <a16:creationId xmlns:a16="http://schemas.microsoft.com/office/drawing/2014/main" id="{5E710C74-14B7-4DEE-81E0-4B12F29F8BB5}"/>
              </a:ext>
            </a:extLst>
          </p:cNvPr>
          <p:cNvSpPr>
            <a:spLocks noGrp="1"/>
          </p:cNvSpPr>
          <p:nvPr/>
        </p:nvSpPr>
        <p:spPr>
          <a:xfrm rot="180000">
            <a:off x="2619375" y="3857625"/>
            <a:ext cx="159067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业务员天天跑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仍以送货收款为主</a:t>
            </a:r>
          </a:p>
        </p:txBody>
      </p:sp>
      <p:sp>
        <p:nvSpPr>
          <p:cNvPr id="19" name="SYMPTOM_07">
            <a:extLst>
              <a:ext uri="{FF2B5EF4-FFF2-40B4-BE49-F238E27FC236}">
                <a16:creationId xmlns:a16="http://schemas.microsoft.com/office/drawing/2014/main" id="{A3E816CC-80E9-45F3-8384-EEE0AE83D9C5}"/>
              </a:ext>
            </a:extLst>
          </p:cNvPr>
          <p:cNvSpPr>
            <a:spLocks noGrp="1"/>
          </p:cNvSpPr>
          <p:nvPr/>
        </p:nvSpPr>
        <p:spPr>
          <a:xfrm rot="120000">
            <a:off x="1019175" y="4733925"/>
            <a:ext cx="1619250" cy="666750"/>
          </a:xfrm>
          <a:prstGeom prst="rect">
            <a:avLst/>
          </a:prstGeom>
          <a:solidFill>
            <a:srgbClr val="F7F7F8"/>
          </a:solidFill>
          <a:ln w="9525">
            <a:solidFill>
              <a:srgbClr val="B2260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SYMPTOM_07_TEXT">
            <a:extLst>
              <a:ext uri="{FF2B5EF4-FFF2-40B4-BE49-F238E27FC236}">
                <a16:creationId xmlns:a16="http://schemas.microsoft.com/office/drawing/2014/main" id="{375F6752-2277-4CD7-A37A-DC0E0B70CF8C}"/>
              </a:ext>
            </a:extLst>
          </p:cNvPr>
          <p:cNvSpPr>
            <a:spLocks noGrp="1"/>
          </p:cNvSpPr>
          <p:nvPr/>
        </p:nvSpPr>
        <p:spPr>
          <a:xfrm rot="120000">
            <a:off x="1104900" y="4848225"/>
            <a:ext cx="14478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销量稳定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单点产出不再增长</a:t>
            </a:r>
          </a:p>
        </p:txBody>
      </p:sp>
      <p:sp>
        <p:nvSpPr>
          <p:cNvPr id="21" name="SYMPTOM_08">
            <a:extLst>
              <a:ext uri="{FF2B5EF4-FFF2-40B4-BE49-F238E27FC236}">
                <a16:creationId xmlns:a16="http://schemas.microsoft.com/office/drawing/2014/main" id="{0356F3CD-0E1B-47B5-93BB-093A9A16FF61}"/>
              </a:ext>
            </a:extLst>
          </p:cNvPr>
          <p:cNvSpPr>
            <a:spLocks noGrp="1"/>
          </p:cNvSpPr>
          <p:nvPr/>
        </p:nvSpPr>
        <p:spPr>
          <a:xfrm rot="-180000">
            <a:off x="2828925" y="4629150"/>
            <a:ext cx="1600200" cy="723900"/>
          </a:xfrm>
          <a:prstGeom prst="rect">
            <a:avLst/>
          </a:prstGeom>
          <a:solidFill>
            <a:srgbClr val="F7F7F8"/>
          </a:solidFill>
          <a:ln w="9525">
            <a:solidFill>
              <a:srgbClr val="B2260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2" name="SYMPTOM_08_TEXT">
            <a:extLst>
              <a:ext uri="{FF2B5EF4-FFF2-40B4-BE49-F238E27FC236}">
                <a16:creationId xmlns:a16="http://schemas.microsoft.com/office/drawing/2014/main" id="{64100E53-911E-4A9D-84F6-040FBE2B621F}"/>
              </a:ext>
            </a:extLst>
          </p:cNvPr>
          <p:cNvSpPr>
            <a:spLocks noGrp="1"/>
          </p:cNvSpPr>
          <p:nvPr/>
        </p:nvSpPr>
        <p:spPr>
          <a:xfrm rot="-180000">
            <a:off x="2914650" y="4743450"/>
            <a:ext cx="1428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长期依赖</a:t>
            </a:r>
          </a:p>
          <a:p>
            <a:pPr algn="ctr">
              <a:def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少数单品和熟人</a:t>
            </a:r>
          </a:p>
        </p:txBody>
      </p:sp>
      <p:sp>
        <p:nvSpPr>
          <p:cNvPr id="23" name="CONVERGE_ARROW">
            <a:extLst>
              <a:ext uri="{FF2B5EF4-FFF2-40B4-BE49-F238E27FC236}">
                <a16:creationId xmlns:a16="http://schemas.microsoft.com/office/drawing/2014/main" id="{1D33780E-034F-430A-B80C-22D7B282D124}"/>
              </a:ext>
            </a:extLst>
          </p:cNvPr>
          <p:cNvSpPr>
            <a:spLocks noGrp="1"/>
          </p:cNvSpPr>
          <p:nvPr/>
        </p:nvSpPr>
        <p:spPr>
          <a:xfrm>
            <a:off x="4695825" y="3343275"/>
            <a:ext cx="914400" cy="476250"/>
          </a:xfrm>
          <a:prstGeom prst="rightArrow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24" name="C1_CLUSTER">
            <a:extLst>
              <a:ext uri="{FF2B5EF4-FFF2-40B4-BE49-F238E27FC236}">
                <a16:creationId xmlns:a16="http://schemas.microsoft.com/office/drawing/2014/main" id="{86F3D1BC-3F9D-4CF5-90B2-89B72B1F9368}"/>
              </a:ext>
            </a:extLst>
          </p:cNvPr>
          <p:cNvSpPr>
            <a:spLocks noGrp="1"/>
          </p:cNvSpPr>
          <p:nvPr/>
        </p:nvSpPr>
        <p:spPr>
          <a:xfrm>
            <a:off x="60007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25" name="C1_LABEL">
            <a:extLst>
              <a:ext uri="{FF2B5EF4-FFF2-40B4-BE49-F238E27FC236}">
                <a16:creationId xmlns:a16="http://schemas.microsoft.com/office/drawing/2014/main" id="{CF5C6B6B-EBFC-4F3C-8F59-0D019E270F2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市场空转症</a:t>
            </a:r>
          </a:p>
        </p:txBody>
      </p:sp>
      <p:sp>
        <p:nvSpPr>
          <p:cNvPr id="26" name="C1_DESC">
            <a:extLst>
              <a:ext uri="{FF2B5EF4-FFF2-40B4-BE49-F238E27FC236}">
                <a16:creationId xmlns:a16="http://schemas.microsoft.com/office/drawing/2014/main" id="{BE675C0E-E728-4A09-836B-DABD880AB319}"/>
              </a:ext>
            </a:extLst>
          </p:cNvPr>
          <p:cNvSpPr>
            <a:spLocks noGrp="1"/>
          </p:cNvSpPr>
          <p:nvPr/>
        </p:nvSpPr>
        <p:spPr>
          <a:xfrm>
            <a:off x="61722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有动作，没入口</a:t>
            </a:r>
          </a:p>
        </p:txBody>
      </p:sp>
      <p:sp>
        <p:nvSpPr>
          <p:cNvPr id="27" name="C2_CLUSTER">
            <a:extLst>
              <a:ext uri="{FF2B5EF4-FFF2-40B4-BE49-F238E27FC236}">
                <a16:creationId xmlns:a16="http://schemas.microsoft.com/office/drawing/2014/main" id="{C0E70DE0-4FDA-4428-AE79-833B239B06B3}"/>
              </a:ext>
            </a:extLst>
          </p:cNvPr>
          <p:cNvSpPr>
            <a:spLocks noGrp="1"/>
          </p:cNvSpPr>
          <p:nvPr/>
        </p:nvSpPr>
        <p:spPr>
          <a:xfrm>
            <a:off x="8705850" y="200025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505046"/>
            </a:solidFill>
            <a:prstDash val="solid"/>
          </a:ln>
        </p:spPr>
      </p:sp>
      <p:sp>
        <p:nvSpPr>
          <p:cNvPr id="28" name="C2_LABEL">
            <a:extLst>
              <a:ext uri="{FF2B5EF4-FFF2-40B4-BE49-F238E27FC236}">
                <a16:creationId xmlns:a16="http://schemas.microsoft.com/office/drawing/2014/main" id="{ED24C0D1-93C7-44FE-B16E-D26E633E9A18}"/>
              </a:ext>
            </a:extLst>
          </p:cNvPr>
          <p:cNvSpPr>
            <a:spLocks noGrp="1"/>
          </p:cNvSpPr>
          <p:nvPr/>
        </p:nvSpPr>
        <p:spPr>
          <a:xfrm>
            <a:off x="8877300" y="228600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首单依赖症</a:t>
            </a:r>
          </a:p>
        </p:txBody>
      </p:sp>
      <p:sp>
        <p:nvSpPr>
          <p:cNvPr id="29" name="C2_DESC">
            <a:extLst>
              <a:ext uri="{FF2B5EF4-FFF2-40B4-BE49-F238E27FC236}">
                <a16:creationId xmlns:a16="http://schemas.microsoft.com/office/drawing/2014/main" id="{B3F3BA6B-53D5-4002-AB10-BD0A20D07836}"/>
              </a:ext>
            </a:extLst>
          </p:cNvPr>
          <p:cNvSpPr>
            <a:spLocks noGrp="1"/>
          </p:cNvSpPr>
          <p:nvPr/>
        </p:nvSpPr>
        <p:spPr>
          <a:xfrm>
            <a:off x="8877300" y="278130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有首单，没复购</a:t>
            </a:r>
          </a:p>
        </p:txBody>
      </p:sp>
      <p:sp>
        <p:nvSpPr>
          <p:cNvPr id="30" name="C3_CLUSTER">
            <a:extLst>
              <a:ext uri="{FF2B5EF4-FFF2-40B4-BE49-F238E27FC236}">
                <a16:creationId xmlns:a16="http://schemas.microsoft.com/office/drawing/2014/main" id="{90B98366-EF37-439A-8D17-9E69A0CF5F2E}"/>
              </a:ext>
            </a:extLst>
          </p:cNvPr>
          <p:cNvSpPr>
            <a:spLocks noGrp="1"/>
          </p:cNvSpPr>
          <p:nvPr/>
        </p:nvSpPr>
        <p:spPr>
          <a:xfrm>
            <a:off x="60007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31" name="C3_LABEL">
            <a:extLst>
              <a:ext uri="{FF2B5EF4-FFF2-40B4-BE49-F238E27FC236}">
                <a16:creationId xmlns:a16="http://schemas.microsoft.com/office/drawing/2014/main" id="{4700807F-1BB2-47A7-9528-8DE9E5B0560A}"/>
              </a:ext>
            </a:extLst>
          </p:cNvPr>
          <p:cNvSpPr>
            <a:spLocks noGrp="1"/>
          </p:cNvSpPr>
          <p:nvPr/>
        </p:nvSpPr>
        <p:spPr>
          <a:xfrm>
            <a:off x="61722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网点低效症</a:t>
            </a:r>
          </a:p>
        </p:txBody>
      </p:sp>
      <p:sp>
        <p:nvSpPr>
          <p:cNvPr id="32" name="C3_DESC">
            <a:extLst>
              <a:ext uri="{FF2B5EF4-FFF2-40B4-BE49-F238E27FC236}">
                <a16:creationId xmlns:a16="http://schemas.microsoft.com/office/drawing/2014/main" id="{6639D601-14F0-4DD8-B0ED-E75448FE51AD}"/>
              </a:ext>
            </a:extLst>
          </p:cNvPr>
          <p:cNvSpPr>
            <a:spLocks noGrp="1"/>
          </p:cNvSpPr>
          <p:nvPr/>
        </p:nvSpPr>
        <p:spPr>
          <a:xfrm>
            <a:off x="61722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有网点，没增量</a:t>
            </a:r>
          </a:p>
        </p:txBody>
      </p:sp>
      <p:sp>
        <p:nvSpPr>
          <p:cNvPr id="33" name="C4_CLUSTER">
            <a:extLst>
              <a:ext uri="{FF2B5EF4-FFF2-40B4-BE49-F238E27FC236}">
                <a16:creationId xmlns:a16="http://schemas.microsoft.com/office/drawing/2014/main" id="{F8EE678C-EC13-49ED-9590-21A3D5BD40BF}"/>
              </a:ext>
            </a:extLst>
          </p:cNvPr>
          <p:cNvSpPr>
            <a:spLocks noGrp="1"/>
          </p:cNvSpPr>
          <p:nvPr/>
        </p:nvSpPr>
        <p:spPr>
          <a:xfrm>
            <a:off x="8705850" y="3848100"/>
            <a:ext cx="2343150" cy="1352550"/>
          </a:xfrm>
          <a:prstGeom prst="roundRect">
            <a:avLst>
              <a:gd name="adj" fmla="val 5634"/>
            </a:avLst>
          </a:prstGeom>
          <a:solidFill>
            <a:srgbClr val="F7F7F8"/>
          </a:solidFill>
          <a:ln w="19050">
            <a:solidFill>
              <a:srgbClr val="B22600"/>
            </a:solidFill>
            <a:prstDash val="solid"/>
          </a:ln>
        </p:spPr>
      </p:sp>
      <p:sp>
        <p:nvSpPr>
          <p:cNvPr id="34" name="C4_LABEL">
            <a:extLst>
              <a:ext uri="{FF2B5EF4-FFF2-40B4-BE49-F238E27FC236}">
                <a16:creationId xmlns:a16="http://schemas.microsoft.com/office/drawing/2014/main" id="{AF8CE514-2A7A-45C2-88A5-FDF4FC9438B6}"/>
              </a:ext>
            </a:extLst>
          </p:cNvPr>
          <p:cNvSpPr>
            <a:spLocks noGrp="1"/>
          </p:cNvSpPr>
          <p:nvPr/>
        </p:nvSpPr>
        <p:spPr>
          <a:xfrm>
            <a:off x="8877300" y="4133850"/>
            <a:ext cx="2000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老路依赖症</a:t>
            </a:r>
          </a:p>
        </p:txBody>
      </p:sp>
      <p:sp>
        <p:nvSpPr>
          <p:cNvPr id="35" name="C4_DESC">
            <a:extLst>
              <a:ext uri="{FF2B5EF4-FFF2-40B4-BE49-F238E27FC236}">
                <a16:creationId xmlns:a16="http://schemas.microsoft.com/office/drawing/2014/main" id="{3D63F975-A552-4FFB-9359-6905BE3D742C}"/>
              </a:ext>
            </a:extLst>
          </p:cNvPr>
          <p:cNvSpPr>
            <a:spLocks noGrp="1"/>
          </p:cNvSpPr>
          <p:nvPr/>
        </p:nvSpPr>
        <p:spPr>
          <a:xfrm>
            <a:off x="8877300" y="4629150"/>
            <a:ext cx="2000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def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有销量，没突破</a:t>
            </a:r>
          </a:p>
        </p:txBody>
      </p:sp>
      <p:sp>
        <p:nvSpPr>
          <p:cNvPr id="36" name="TEACHING_CUE">
            <a:extLst>
              <a:ext uri="{FF2B5EF4-FFF2-40B4-BE49-F238E27FC236}">
                <a16:creationId xmlns:a16="http://schemas.microsoft.com/office/drawing/2014/main" id="{80B5F507-5834-422C-98EF-1A7FB86FD9AE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课堂动作：先把症状便签归类，再投票选出影响最大的1个主病症。</a:t>
            </a:r>
          </a:p>
        </p:txBody>
      </p:sp>
      <p:sp>
        <p:nvSpPr>
          <p:cNvPr id="37" name="PAGE_NUMBER">
            <a:extLst>
              <a:ext uri="{FF2B5EF4-FFF2-40B4-BE49-F238E27FC236}">
                <a16:creationId xmlns:a16="http://schemas.microsoft.com/office/drawing/2014/main" id="{4C24D9BC-D7BF-47C3-B68C-51CCAA4AFC3B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2917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ONENT_ID">
            <a:extLst>
              <a:ext uri="{FF2B5EF4-FFF2-40B4-BE49-F238E27FC236}">
                <a16:creationId xmlns:a16="http://schemas.microsoft.com/office/drawing/2014/main" id="{406F3525-0FD2-4CF1-A4D3-C1DF83B7D9C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2476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458"/>
          </a:bodyPr>
          <a:lstStyle/>
          <a:p>
            <a:pPr algn="l">
              <a:def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DC-20 · INTEGRATED DIAGNOSIS CHAIN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7E19D81-A60E-45BC-88EF-BC2CE4070FFB}"/>
              </a:ext>
            </a:extLst>
          </p:cNvPr>
          <p:cNvSpPr>
            <a:spLocks noGrp="1"/>
          </p:cNvSpPr>
          <p:nvPr/>
        </p:nvSpPr>
        <p:spPr>
          <a:xfrm>
            <a:off x="514350" y="628650"/>
            <a:ext cx="1000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综合诊断必须走完五步，不能从病症直接跳到促销动作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1B367540-AAAE-4837-8FCA-C972935BD88D}"/>
              </a:ext>
            </a:extLst>
          </p:cNvPr>
          <p:cNvSpPr>
            <a:spLocks noGrp="1"/>
          </p:cNvSpPr>
          <p:nvPr/>
        </p:nvSpPr>
        <p:spPr>
          <a:xfrm>
            <a:off x="533400" y="1190625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先确认经营结果，再确定阶段任务；然后识别病症、锁定四力短板，最后只选2—3项优先动作</a:t>
            </a:r>
          </a:p>
        </p:txBody>
      </p:sp>
      <p:sp>
        <p:nvSpPr>
          <p:cNvPr id="6" name="HEADER_RULE">
            <a:extLst>
              <a:ext uri="{FF2B5EF4-FFF2-40B4-BE49-F238E27FC236}">
                <a16:creationId xmlns:a16="http://schemas.microsoft.com/office/drawing/2014/main" id="{ABC45785-B4B5-4BCA-8EAE-3ABEF960AE10}"/>
              </a:ext>
            </a:extLst>
          </p:cNvPr>
          <p:cNvSpPr>
            <a:spLocks noGrp="1"/>
          </p:cNvSpPr>
          <p:nvPr/>
        </p:nvSpPr>
        <p:spPr>
          <a:xfrm>
            <a:off x="514350" y="1628775"/>
            <a:ext cx="11191875" cy="0"/>
          </a:xfrm>
          <a:prstGeom prst="line">
            <a:avLst/>
          </a:prstGeom>
          <a:noFill/>
          <a:ln w="9525">
            <a:solidFill>
              <a:srgbClr val="F7F7F8"/>
            </a:solidFill>
            <a:prstDash val="solid"/>
          </a:ln>
        </p:spPr>
      </p:sp>
      <p:sp>
        <p:nvSpPr>
          <p:cNvPr id="7" name="DIAGNOSIS_SPINE">
            <a:extLst>
              <a:ext uri="{FF2B5EF4-FFF2-40B4-BE49-F238E27FC236}">
                <a16:creationId xmlns:a16="http://schemas.microsoft.com/office/drawing/2014/main" id="{794CD394-276C-49E8-88E4-D185C473138C}"/>
              </a:ext>
            </a:extLst>
          </p:cNvPr>
          <p:cNvSpPr>
            <a:spLocks noGrp="1"/>
          </p:cNvSpPr>
          <p:nvPr/>
        </p:nvSpPr>
        <p:spPr>
          <a:xfrm>
            <a:off x="3048000" y="2124075"/>
            <a:ext cx="0" cy="3676650"/>
          </a:xfrm>
          <a:prstGeom prst="line">
            <a:avLst/>
          </a:prstGeom>
          <a:noFill/>
          <a:ln w="38100">
            <a:solidFill>
              <a:srgbClr val="B22600"/>
            </a:solidFill>
            <a:prstDash val="solid"/>
          </a:ln>
        </p:spPr>
      </p:sp>
      <p:sp>
        <p:nvSpPr>
          <p:cNvPr id="8" name="STEP_1_DOT">
            <a:extLst>
              <a:ext uri="{FF2B5EF4-FFF2-40B4-BE49-F238E27FC236}">
                <a16:creationId xmlns:a16="http://schemas.microsoft.com/office/drawing/2014/main" id="{ED55369F-4A6B-4817-AB57-81CB7B98798F}"/>
              </a:ext>
            </a:extLst>
          </p:cNvPr>
          <p:cNvSpPr>
            <a:spLocks noGrp="1"/>
          </p:cNvSpPr>
          <p:nvPr/>
        </p:nvSpPr>
        <p:spPr>
          <a:xfrm>
            <a:off x="2800350" y="2095500"/>
            <a:ext cx="495300" cy="495300"/>
          </a:xfrm>
          <a:prstGeom prst="ellipse">
            <a:avLst/>
          </a:prstGeom>
          <a:solidFill>
            <a:srgbClr val="505046"/>
          </a:solidFill>
          <a:ln w="0">
            <a:noFill/>
            <a:prstDash val="solid"/>
          </a:ln>
        </p:spPr>
      </p:sp>
      <p:sp>
        <p:nvSpPr>
          <p:cNvPr id="9" name="STEP_1_NUMBER">
            <a:extLst>
              <a:ext uri="{FF2B5EF4-FFF2-40B4-BE49-F238E27FC236}">
                <a16:creationId xmlns:a16="http://schemas.microsoft.com/office/drawing/2014/main" id="{DCD5586A-D942-43F8-A4D6-AE81284E2BE5}"/>
              </a:ext>
            </a:extLst>
          </p:cNvPr>
          <p:cNvSpPr>
            <a:spLocks noGrp="1"/>
          </p:cNvSpPr>
          <p:nvPr/>
        </p:nvSpPr>
        <p:spPr>
          <a:xfrm>
            <a:off x="2924175" y="2190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" name="STEP_1_LABEL">
            <a:extLst>
              <a:ext uri="{FF2B5EF4-FFF2-40B4-BE49-F238E27FC236}">
                <a16:creationId xmlns:a16="http://schemas.microsoft.com/office/drawing/2014/main" id="{29C47432-7B74-4232-86DA-601E0B0E3484}"/>
              </a:ext>
            </a:extLst>
          </p:cNvPr>
          <p:cNvSpPr>
            <a:spLocks noGrp="1"/>
          </p:cNvSpPr>
          <p:nvPr/>
        </p:nvSpPr>
        <p:spPr>
          <a:xfrm>
            <a:off x="666750" y="2095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11" name="STEP_1_QUESTION">
            <a:extLst>
              <a:ext uri="{FF2B5EF4-FFF2-40B4-BE49-F238E27FC236}">
                <a16:creationId xmlns:a16="http://schemas.microsoft.com/office/drawing/2014/main" id="{C7326DED-C623-464B-A965-19859DD21AF5}"/>
              </a:ext>
            </a:extLst>
          </p:cNvPr>
          <p:cNvSpPr>
            <a:spLocks noGrp="1"/>
          </p:cNvSpPr>
          <p:nvPr/>
        </p:nvSpPr>
        <p:spPr>
          <a:xfrm>
            <a:off x="3619500" y="2047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已经形成什么结果？</a:t>
            </a:r>
          </a:p>
        </p:txBody>
      </p:sp>
      <p:sp>
        <p:nvSpPr>
          <p:cNvPr id="12" name="STEP_1_OUTPUT_SURFACE">
            <a:extLst>
              <a:ext uri="{FF2B5EF4-FFF2-40B4-BE49-F238E27FC236}">
                <a16:creationId xmlns:a16="http://schemas.microsoft.com/office/drawing/2014/main" id="{8042AA74-67BC-4751-BFA7-CDC3C236BA4E}"/>
              </a:ext>
            </a:extLst>
          </p:cNvPr>
          <p:cNvSpPr>
            <a:spLocks noGrp="1"/>
          </p:cNvSpPr>
          <p:nvPr/>
        </p:nvSpPr>
        <p:spPr>
          <a:xfrm>
            <a:off x="7524750" y="2028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505046"/>
            </a:solidFill>
            <a:prstDash val="solid"/>
          </a:ln>
        </p:spPr>
      </p:sp>
      <p:sp>
        <p:nvSpPr>
          <p:cNvPr id="13" name="STEP_1_OUTPUT">
            <a:extLst>
              <a:ext uri="{FF2B5EF4-FFF2-40B4-BE49-F238E27FC236}">
                <a16:creationId xmlns:a16="http://schemas.microsoft.com/office/drawing/2014/main" id="{5F0F91D4-D2A8-4387-B430-4E471B793639}"/>
              </a:ext>
            </a:extLst>
          </p:cNvPr>
          <p:cNvSpPr>
            <a:spLocks noGrp="1"/>
          </p:cNvSpPr>
          <p:nvPr/>
        </p:nvSpPr>
        <p:spPr>
          <a:xfrm>
            <a:off x="7715250" y="2143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505046"/>
                </a:solidFill>
                <a:latin typeface="Microsoft YaHei"/>
                <a:ea typeface="Microsoft YaHei"/>
                <a:cs typeface="Microsoft YaHei"/>
              </a:rPr>
              <a:t>当前阶段：站得住</a:t>
            </a:r>
          </a:p>
        </p:txBody>
      </p:sp>
      <p:sp>
        <p:nvSpPr>
          <p:cNvPr id="14" name="STEP_2_DOT">
            <a:extLst>
              <a:ext uri="{FF2B5EF4-FFF2-40B4-BE49-F238E27FC236}">
                <a16:creationId xmlns:a16="http://schemas.microsoft.com/office/drawing/2014/main" id="{1BEFCA22-C0CC-4B06-89C6-A71588021BAC}"/>
              </a:ext>
            </a:extLst>
          </p:cNvPr>
          <p:cNvSpPr>
            <a:spLocks noGrp="1"/>
          </p:cNvSpPr>
          <p:nvPr/>
        </p:nvSpPr>
        <p:spPr>
          <a:xfrm>
            <a:off x="2800350" y="2857500"/>
            <a:ext cx="495300" cy="495300"/>
          </a:xfrm>
          <a:prstGeom prst="ellipse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15" name="STEP_2_NUMBER">
            <a:extLst>
              <a:ext uri="{FF2B5EF4-FFF2-40B4-BE49-F238E27FC236}">
                <a16:creationId xmlns:a16="http://schemas.microsoft.com/office/drawing/2014/main" id="{0C395E19-1AC0-4E9E-9C9D-EC9F78EA0582}"/>
              </a:ext>
            </a:extLst>
          </p:cNvPr>
          <p:cNvSpPr>
            <a:spLocks noGrp="1"/>
          </p:cNvSpPr>
          <p:nvPr/>
        </p:nvSpPr>
        <p:spPr>
          <a:xfrm>
            <a:off x="2924175" y="2952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STEP_2_LABEL">
            <a:extLst>
              <a:ext uri="{FF2B5EF4-FFF2-40B4-BE49-F238E27FC236}">
                <a16:creationId xmlns:a16="http://schemas.microsoft.com/office/drawing/2014/main" id="{6426F3DB-16C1-42DB-A9F0-4ADC3915EC1F}"/>
              </a:ext>
            </a:extLst>
          </p:cNvPr>
          <p:cNvSpPr>
            <a:spLocks noGrp="1"/>
          </p:cNvSpPr>
          <p:nvPr/>
        </p:nvSpPr>
        <p:spPr>
          <a:xfrm>
            <a:off x="666750" y="2857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7" name="STEP_2_QUESTION">
            <a:extLst>
              <a:ext uri="{FF2B5EF4-FFF2-40B4-BE49-F238E27FC236}">
                <a16:creationId xmlns:a16="http://schemas.microsoft.com/office/drawing/2014/main" id="{6E1A889E-3BCA-4329-935E-08418A620240}"/>
              </a:ext>
            </a:extLst>
          </p:cNvPr>
          <p:cNvSpPr>
            <a:spLocks noGrp="1"/>
          </p:cNvSpPr>
          <p:nvPr/>
        </p:nvSpPr>
        <p:spPr>
          <a:xfrm>
            <a:off x="3619500" y="2809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下一关必须完成什么？</a:t>
            </a:r>
          </a:p>
        </p:txBody>
      </p:sp>
      <p:sp>
        <p:nvSpPr>
          <p:cNvPr id="18" name="STEP_2_OUTPUT_SURFACE">
            <a:extLst>
              <a:ext uri="{FF2B5EF4-FFF2-40B4-BE49-F238E27FC236}">
                <a16:creationId xmlns:a16="http://schemas.microsoft.com/office/drawing/2014/main" id="{7A99844D-3C2F-42FC-9FF8-55DDFB98197D}"/>
              </a:ext>
            </a:extLst>
          </p:cNvPr>
          <p:cNvSpPr>
            <a:spLocks noGrp="1"/>
          </p:cNvSpPr>
          <p:nvPr/>
        </p:nvSpPr>
        <p:spPr>
          <a:xfrm>
            <a:off x="7524750" y="2790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B22600"/>
            </a:solidFill>
            <a:prstDash val="solid"/>
          </a:ln>
        </p:spPr>
      </p:sp>
      <p:sp>
        <p:nvSpPr>
          <p:cNvPr id="19" name="STEP_2_OUTPUT">
            <a:extLst>
              <a:ext uri="{FF2B5EF4-FFF2-40B4-BE49-F238E27FC236}">
                <a16:creationId xmlns:a16="http://schemas.microsoft.com/office/drawing/2014/main" id="{FA789ADD-978A-4EC2-AB76-82A734070944}"/>
              </a:ext>
            </a:extLst>
          </p:cNvPr>
          <p:cNvSpPr>
            <a:spLocks noGrp="1"/>
          </p:cNvSpPr>
          <p:nvPr/>
        </p:nvSpPr>
        <p:spPr>
          <a:xfrm>
            <a:off x="7715250" y="2905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让网点、线索和产品重复</a:t>
            </a:r>
          </a:p>
        </p:txBody>
      </p:sp>
      <p:sp>
        <p:nvSpPr>
          <p:cNvPr id="20" name="STEP_3_DOT">
            <a:extLst>
              <a:ext uri="{FF2B5EF4-FFF2-40B4-BE49-F238E27FC236}">
                <a16:creationId xmlns:a16="http://schemas.microsoft.com/office/drawing/2014/main" id="{4F81240A-793C-40D0-B07F-30A480841D84}"/>
              </a:ext>
            </a:extLst>
          </p:cNvPr>
          <p:cNvSpPr>
            <a:spLocks noGrp="1"/>
          </p:cNvSpPr>
          <p:nvPr/>
        </p:nvSpPr>
        <p:spPr>
          <a:xfrm>
            <a:off x="2800350" y="3619500"/>
            <a:ext cx="495300" cy="495300"/>
          </a:xfrm>
          <a:prstGeom prst="ellipse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21" name="STEP_3_NUMBER">
            <a:extLst>
              <a:ext uri="{FF2B5EF4-FFF2-40B4-BE49-F238E27FC236}">
                <a16:creationId xmlns:a16="http://schemas.microsoft.com/office/drawing/2014/main" id="{C2A6D2D2-5002-4573-9D22-D258ECBF94DA}"/>
              </a:ext>
            </a:extLst>
          </p:cNvPr>
          <p:cNvSpPr>
            <a:spLocks noGrp="1"/>
          </p:cNvSpPr>
          <p:nvPr/>
        </p:nvSpPr>
        <p:spPr>
          <a:xfrm>
            <a:off x="2924175" y="3714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2" name="STEP_3_LABEL">
            <a:extLst>
              <a:ext uri="{FF2B5EF4-FFF2-40B4-BE49-F238E27FC236}">
                <a16:creationId xmlns:a16="http://schemas.microsoft.com/office/drawing/2014/main" id="{DA58EDCD-1675-43A4-8E5E-8D8CD9768C3A}"/>
              </a:ext>
            </a:extLst>
          </p:cNvPr>
          <p:cNvSpPr>
            <a:spLocks noGrp="1"/>
          </p:cNvSpPr>
          <p:nvPr/>
        </p:nvSpPr>
        <p:spPr>
          <a:xfrm>
            <a:off x="666750" y="3619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病症</a:t>
            </a:r>
          </a:p>
        </p:txBody>
      </p:sp>
      <p:sp>
        <p:nvSpPr>
          <p:cNvPr id="23" name="STEP_3_QUESTION">
            <a:extLst>
              <a:ext uri="{FF2B5EF4-FFF2-40B4-BE49-F238E27FC236}">
                <a16:creationId xmlns:a16="http://schemas.microsoft.com/office/drawing/2014/main" id="{B736A411-6933-4569-95F7-1C9863011DE3}"/>
              </a:ext>
            </a:extLst>
          </p:cNvPr>
          <p:cNvSpPr>
            <a:spLocks noGrp="1"/>
          </p:cNvSpPr>
          <p:nvPr/>
        </p:nvSpPr>
        <p:spPr>
          <a:xfrm>
            <a:off x="3619500" y="3571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投入与结果哪里不匹配？</a:t>
            </a:r>
          </a:p>
        </p:txBody>
      </p:sp>
      <p:sp>
        <p:nvSpPr>
          <p:cNvPr id="24" name="STEP_3_OUTPUT_SURFACE">
            <a:extLst>
              <a:ext uri="{FF2B5EF4-FFF2-40B4-BE49-F238E27FC236}">
                <a16:creationId xmlns:a16="http://schemas.microsoft.com/office/drawing/2014/main" id="{7313737C-9491-47CD-B1E7-69621995364B}"/>
              </a:ext>
            </a:extLst>
          </p:cNvPr>
          <p:cNvSpPr>
            <a:spLocks noGrp="1"/>
          </p:cNvSpPr>
          <p:nvPr/>
        </p:nvSpPr>
        <p:spPr>
          <a:xfrm>
            <a:off x="7524750" y="3552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B22600"/>
            </a:solidFill>
            <a:prstDash val="solid"/>
          </a:ln>
        </p:spPr>
      </p:sp>
      <p:sp>
        <p:nvSpPr>
          <p:cNvPr id="25" name="STEP_3_OUTPUT">
            <a:extLst>
              <a:ext uri="{FF2B5EF4-FFF2-40B4-BE49-F238E27FC236}">
                <a16:creationId xmlns:a16="http://schemas.microsoft.com/office/drawing/2014/main" id="{8F98B9D2-8880-4445-AD78-FDEB3DFCFF93}"/>
              </a:ext>
            </a:extLst>
          </p:cNvPr>
          <p:cNvSpPr>
            <a:spLocks noGrp="1"/>
          </p:cNvSpPr>
          <p:nvPr/>
        </p:nvSpPr>
        <p:spPr>
          <a:xfrm>
            <a:off x="7715250" y="3667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主病症：首单依赖</a:t>
            </a:r>
          </a:p>
        </p:txBody>
      </p:sp>
      <p:sp>
        <p:nvSpPr>
          <p:cNvPr id="26" name="STEP_4_DOT">
            <a:extLst>
              <a:ext uri="{FF2B5EF4-FFF2-40B4-BE49-F238E27FC236}">
                <a16:creationId xmlns:a16="http://schemas.microsoft.com/office/drawing/2014/main" id="{A573DEE1-9024-4BBB-9BA1-91E3CB650908}"/>
              </a:ext>
            </a:extLst>
          </p:cNvPr>
          <p:cNvSpPr>
            <a:spLocks noGrp="1"/>
          </p:cNvSpPr>
          <p:nvPr/>
        </p:nvSpPr>
        <p:spPr>
          <a:xfrm>
            <a:off x="2800350" y="4381500"/>
            <a:ext cx="495300" cy="495300"/>
          </a:xfrm>
          <a:prstGeom prst="ellipse">
            <a:avLst/>
          </a:prstGeom>
          <a:solidFill>
            <a:srgbClr val="B22600"/>
          </a:solidFill>
          <a:ln w="0">
            <a:noFill/>
            <a:prstDash val="solid"/>
          </a:ln>
        </p:spPr>
      </p:sp>
      <p:sp>
        <p:nvSpPr>
          <p:cNvPr id="27" name="STEP_4_NUMBER">
            <a:extLst>
              <a:ext uri="{FF2B5EF4-FFF2-40B4-BE49-F238E27FC236}">
                <a16:creationId xmlns:a16="http://schemas.microsoft.com/office/drawing/2014/main" id="{53FAA616-C888-4C38-B67B-E402E21584EE}"/>
              </a:ext>
            </a:extLst>
          </p:cNvPr>
          <p:cNvSpPr>
            <a:spLocks noGrp="1"/>
          </p:cNvSpPr>
          <p:nvPr/>
        </p:nvSpPr>
        <p:spPr>
          <a:xfrm>
            <a:off x="2924175" y="4476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8" name="STEP_4_LABEL">
            <a:extLst>
              <a:ext uri="{FF2B5EF4-FFF2-40B4-BE49-F238E27FC236}">
                <a16:creationId xmlns:a16="http://schemas.microsoft.com/office/drawing/2014/main" id="{A83AA673-2482-432F-9E4E-EEE1AAB7BC83}"/>
              </a:ext>
            </a:extLst>
          </p:cNvPr>
          <p:cNvSpPr>
            <a:spLocks noGrp="1"/>
          </p:cNvSpPr>
          <p:nvPr/>
        </p:nvSpPr>
        <p:spPr>
          <a:xfrm>
            <a:off x="666750" y="4381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四力短板</a:t>
            </a:r>
          </a:p>
        </p:txBody>
      </p:sp>
      <p:sp>
        <p:nvSpPr>
          <p:cNvPr id="29" name="STEP_4_QUESTION">
            <a:extLst>
              <a:ext uri="{FF2B5EF4-FFF2-40B4-BE49-F238E27FC236}">
                <a16:creationId xmlns:a16="http://schemas.microsoft.com/office/drawing/2014/main" id="{3CE317E3-6A4C-4FDF-8E72-6CB4A15495DA}"/>
              </a:ext>
            </a:extLst>
          </p:cNvPr>
          <p:cNvSpPr>
            <a:spLocks noGrp="1"/>
          </p:cNvSpPr>
          <p:nvPr/>
        </p:nvSpPr>
        <p:spPr>
          <a:xfrm>
            <a:off x="3619500" y="4333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哪一力最能解释病症？</a:t>
            </a:r>
          </a:p>
        </p:txBody>
      </p:sp>
      <p:sp>
        <p:nvSpPr>
          <p:cNvPr id="30" name="STEP_4_OUTPUT_SURFACE">
            <a:extLst>
              <a:ext uri="{FF2B5EF4-FFF2-40B4-BE49-F238E27FC236}">
                <a16:creationId xmlns:a16="http://schemas.microsoft.com/office/drawing/2014/main" id="{FDEF4397-8E2E-4CDD-917A-6FA2D1669F7F}"/>
              </a:ext>
            </a:extLst>
          </p:cNvPr>
          <p:cNvSpPr>
            <a:spLocks noGrp="1"/>
          </p:cNvSpPr>
          <p:nvPr/>
        </p:nvSpPr>
        <p:spPr>
          <a:xfrm>
            <a:off x="7524750" y="4314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B22600"/>
            </a:solidFill>
            <a:prstDash val="solid"/>
          </a:ln>
        </p:spPr>
      </p:sp>
      <p:sp>
        <p:nvSpPr>
          <p:cNvPr id="31" name="STEP_4_OUTPUT">
            <a:extLst>
              <a:ext uri="{FF2B5EF4-FFF2-40B4-BE49-F238E27FC236}">
                <a16:creationId xmlns:a16="http://schemas.microsoft.com/office/drawing/2014/main" id="{377542C7-CC1D-439C-AA5E-568ECDD6891A}"/>
              </a:ext>
            </a:extLst>
          </p:cNvPr>
          <p:cNvSpPr>
            <a:spLocks noGrp="1"/>
          </p:cNvSpPr>
          <p:nvPr/>
        </p:nvSpPr>
        <p:spPr>
          <a:xfrm>
            <a:off x="7715250" y="4429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主短板：渠道力</a:t>
            </a:r>
          </a:p>
        </p:txBody>
      </p:sp>
      <p:sp>
        <p:nvSpPr>
          <p:cNvPr id="32" name="STEP_5_DOT">
            <a:extLst>
              <a:ext uri="{FF2B5EF4-FFF2-40B4-BE49-F238E27FC236}">
                <a16:creationId xmlns:a16="http://schemas.microsoft.com/office/drawing/2014/main" id="{70766968-8112-4316-84EA-CEDDB44F031D}"/>
              </a:ext>
            </a:extLst>
          </p:cNvPr>
          <p:cNvSpPr>
            <a:spLocks noGrp="1"/>
          </p:cNvSpPr>
          <p:nvPr/>
        </p:nvSpPr>
        <p:spPr>
          <a:xfrm>
            <a:off x="2800350" y="5143500"/>
            <a:ext cx="495300" cy="495300"/>
          </a:xfrm>
          <a:prstGeom prst="ellipse">
            <a:avLst/>
          </a:prstGeom>
          <a:solidFill>
            <a:srgbClr val="191919"/>
          </a:solidFill>
          <a:ln w="0">
            <a:noFill/>
            <a:prstDash val="solid"/>
          </a:ln>
        </p:spPr>
      </p:sp>
      <p:sp>
        <p:nvSpPr>
          <p:cNvPr id="33" name="STEP_5_NUMBER">
            <a:extLst>
              <a:ext uri="{FF2B5EF4-FFF2-40B4-BE49-F238E27FC236}">
                <a16:creationId xmlns:a16="http://schemas.microsoft.com/office/drawing/2014/main" id="{AE1767D9-FF43-4E83-A1D3-F189725BDCA8}"/>
              </a:ext>
            </a:extLst>
          </p:cNvPr>
          <p:cNvSpPr>
            <a:spLocks noGrp="1"/>
          </p:cNvSpPr>
          <p:nvPr/>
        </p:nvSpPr>
        <p:spPr>
          <a:xfrm>
            <a:off x="2924175" y="5238750"/>
            <a:ext cx="247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STEP_5_LABEL">
            <a:extLst>
              <a:ext uri="{FF2B5EF4-FFF2-40B4-BE49-F238E27FC236}">
                <a16:creationId xmlns:a16="http://schemas.microsoft.com/office/drawing/2014/main" id="{5B62859E-F32C-415C-85A8-033FBB60E7A6}"/>
              </a:ext>
            </a:extLst>
          </p:cNvPr>
          <p:cNvSpPr>
            <a:spLocks noGrp="1"/>
          </p:cNvSpPr>
          <p:nvPr/>
        </p:nvSpPr>
        <p:spPr>
          <a:xfrm>
            <a:off x="666750" y="51435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优先动作</a:t>
            </a:r>
          </a:p>
        </p:txBody>
      </p:sp>
      <p:sp>
        <p:nvSpPr>
          <p:cNvPr id="35" name="STEP_5_QUESTION">
            <a:extLst>
              <a:ext uri="{FF2B5EF4-FFF2-40B4-BE49-F238E27FC236}">
                <a16:creationId xmlns:a16="http://schemas.microsoft.com/office/drawing/2014/main" id="{96405759-A2EE-472B-9AC6-85A4C2C8D911}"/>
              </a:ext>
            </a:extLst>
          </p:cNvPr>
          <p:cNvSpPr>
            <a:spLocks noGrp="1"/>
          </p:cNvSpPr>
          <p:nvPr/>
        </p:nvSpPr>
        <p:spPr>
          <a:xfrm>
            <a:off x="3619500" y="5095875"/>
            <a:ext cx="3476625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现在最先做哪2—3件事？</a:t>
            </a:r>
          </a:p>
        </p:txBody>
      </p:sp>
      <p:sp>
        <p:nvSpPr>
          <p:cNvPr id="36" name="STEP_5_OUTPUT_SURFACE">
            <a:extLst>
              <a:ext uri="{FF2B5EF4-FFF2-40B4-BE49-F238E27FC236}">
                <a16:creationId xmlns:a16="http://schemas.microsoft.com/office/drawing/2014/main" id="{6D882ECA-662D-436D-8D08-E46DF5A3D359}"/>
              </a:ext>
            </a:extLst>
          </p:cNvPr>
          <p:cNvSpPr>
            <a:spLocks noGrp="1"/>
          </p:cNvSpPr>
          <p:nvPr/>
        </p:nvSpPr>
        <p:spPr>
          <a:xfrm>
            <a:off x="7524750" y="5076825"/>
            <a:ext cx="3714750" cy="552450"/>
          </a:xfrm>
          <a:prstGeom prst="roundRect">
            <a:avLst>
              <a:gd name="adj" fmla="val 13793"/>
            </a:avLst>
          </a:prstGeom>
          <a:solidFill>
            <a:srgbClr val="F7F7F8"/>
          </a:solidFill>
          <a:ln w="14288">
            <a:solidFill>
              <a:srgbClr val="191919"/>
            </a:solidFill>
            <a:prstDash val="solid"/>
          </a:ln>
        </p:spPr>
      </p:sp>
      <p:sp>
        <p:nvSpPr>
          <p:cNvPr id="37" name="STEP_5_OUTPUT">
            <a:extLst>
              <a:ext uri="{FF2B5EF4-FFF2-40B4-BE49-F238E27FC236}">
                <a16:creationId xmlns:a16="http://schemas.microsoft.com/office/drawing/2014/main" id="{4028430D-0280-4652-BBC5-186D432CC7F9}"/>
              </a:ext>
            </a:extLst>
          </p:cNvPr>
          <p:cNvSpPr>
            <a:spLocks noGrp="1"/>
          </p:cNvSpPr>
          <p:nvPr/>
        </p:nvSpPr>
        <p:spPr>
          <a:xfrm>
            <a:off x="7715250" y="5191125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91919"/>
                </a:solidFill>
                <a:latin typeface="Microsoft YaHei"/>
                <a:ea typeface="Microsoft YaHei"/>
                <a:cs typeface="Microsoft YaHei"/>
              </a:rPr>
              <a:t>核心网点 + 补货复盘 + 项目线索</a:t>
            </a:r>
          </a:p>
        </p:txBody>
      </p:sp>
      <p:sp>
        <p:nvSpPr>
          <p:cNvPr id="38" name="CASE_PROMPT">
            <a:extLst>
              <a:ext uri="{FF2B5EF4-FFF2-40B4-BE49-F238E27FC236}">
                <a16:creationId xmlns:a16="http://schemas.microsoft.com/office/drawing/2014/main" id="{5D2CDFAB-14E6-45F4-B90A-0E70BFA86ADD}"/>
              </a:ext>
            </a:extLst>
          </p:cNvPr>
          <p:cNvSpPr>
            <a:spLocks noGrp="1"/>
          </p:cNvSpPr>
          <p:nvPr/>
        </p:nvSpPr>
        <p:spPr>
          <a:xfrm>
            <a:off x="666750" y="1714500"/>
            <a:ext cx="102870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12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综合情境案例：某乡镇完成首批铺货，但两个月补货很少；业务员持续跑店，仍主要靠老板推动。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B5763167-D64A-437C-A069-8743E06EAAF8}"/>
              </a:ext>
            </a:extLst>
          </p:cNvPr>
          <p:cNvSpPr>
            <a:spLocks noGrp="1"/>
          </p:cNvSpPr>
          <p:nvPr/>
        </p:nvSpPr>
        <p:spPr>
          <a:xfrm>
            <a:off x="514350" y="6410325"/>
            <a:ext cx="9810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def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F6F6A"/>
                </a:solidFill>
                <a:latin typeface="Microsoft YaHei"/>
                <a:ea typeface="Microsoft YaHei"/>
                <a:cs typeface="Microsoft YaHei"/>
              </a:rPr>
              <a:t>学员产出：用一句话说清“阶段—任务—病症—短板—动作”，并说明证据。</a:t>
            </a:r>
          </a:p>
        </p:txBody>
      </p:sp>
      <p:sp>
        <p:nvSpPr>
          <p:cNvPr id="40" name="PAGE_NUMBER">
            <a:extLst>
              <a:ext uri="{FF2B5EF4-FFF2-40B4-BE49-F238E27FC236}">
                <a16:creationId xmlns:a16="http://schemas.microsoft.com/office/drawing/2014/main" id="{F748C6DE-D55D-4DEC-B951-52DF0D6303F4}"/>
              </a:ext>
            </a:extLst>
          </p:cNvPr>
          <p:cNvSpPr>
            <a:spLocks noGrp="1"/>
          </p:cNvSpPr>
          <p:nvPr/>
        </p:nvSpPr>
        <p:spPr>
          <a:xfrm>
            <a:off x="11049000" y="6391275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def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2260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8931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8D97873-1814-2820-21C8-C16459AB8C5F}"/>
              </a:ext>
            </a:extLst>
          </p:cNvPr>
          <p:cNvSpPr txBox="1"/>
          <p:nvPr/>
        </p:nvSpPr>
        <p:spPr>
          <a:xfrm>
            <a:off x="548640" y="384048"/>
            <a:ext cx="10607040" cy="8255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未来 </a:t>
            </a:r>
            <a:r>
              <a:rPr lang="en-US" altLang="zh-CN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30 </a:t>
            </a:r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天：谁、对谁、做什么、怎么验收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FD0B50DC-89BD-B712-2D74-34FB9D9D87A0}"/>
              </a:ext>
            </a:extLst>
          </p:cNvPr>
          <p:cNvSpPr txBox="1"/>
          <p:nvPr/>
        </p:nvSpPr>
        <p:spPr>
          <a:xfrm>
            <a:off x="548640" y="987552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每项行动都要能检查</a:t>
            </a:r>
          </a:p>
        </p:txBody>
      </p:sp>
      <p:sp>
        <p:nvSpPr>
          <p:cNvPr id="4" name="COL_OBJECT">
            <a:extLst>
              <a:ext uri="{FF2B5EF4-FFF2-40B4-BE49-F238E27FC236}">
                <a16:creationId xmlns:a16="http://schemas.microsoft.com/office/drawing/2014/main" id="{83B3AA92-49F6-BA39-4B2D-AB10FD477E09}"/>
              </a:ext>
            </a:extLst>
          </p:cNvPr>
          <p:cNvSpPr txBox="1"/>
          <p:nvPr/>
        </p:nvSpPr>
        <p:spPr>
          <a:xfrm>
            <a:off x="731520" y="1463040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对象</a:t>
            </a:r>
          </a:p>
        </p:txBody>
      </p:sp>
      <p:sp>
        <p:nvSpPr>
          <p:cNvPr id="5" name="COL_ACTION">
            <a:extLst>
              <a:ext uri="{FF2B5EF4-FFF2-40B4-BE49-F238E27FC236}">
                <a16:creationId xmlns:a16="http://schemas.microsoft.com/office/drawing/2014/main" id="{701EFBC3-E701-A1A0-EE55-03A76C47D22A}"/>
              </a:ext>
            </a:extLst>
          </p:cNvPr>
          <p:cNvSpPr txBox="1"/>
          <p:nvPr/>
        </p:nvSpPr>
        <p:spPr>
          <a:xfrm>
            <a:off x="2606040" y="1463040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动作</a:t>
            </a:r>
          </a:p>
        </p:txBody>
      </p:sp>
      <p:sp>
        <p:nvSpPr>
          <p:cNvPr id="6" name="COL_OWNER">
            <a:extLst>
              <a:ext uri="{FF2B5EF4-FFF2-40B4-BE49-F238E27FC236}">
                <a16:creationId xmlns:a16="http://schemas.microsoft.com/office/drawing/2014/main" id="{96185530-8BEE-7E0B-6C83-6D64F613C653}"/>
              </a:ext>
            </a:extLst>
          </p:cNvPr>
          <p:cNvSpPr txBox="1"/>
          <p:nvPr/>
        </p:nvSpPr>
        <p:spPr>
          <a:xfrm>
            <a:off x="658368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责任人</a:t>
            </a:r>
          </a:p>
        </p:txBody>
      </p:sp>
      <p:sp>
        <p:nvSpPr>
          <p:cNvPr id="7" name="COL_DATE">
            <a:extLst>
              <a:ext uri="{FF2B5EF4-FFF2-40B4-BE49-F238E27FC236}">
                <a16:creationId xmlns:a16="http://schemas.microsoft.com/office/drawing/2014/main" id="{307A33D4-CF80-CF50-EA8A-BB37A5303229}"/>
              </a:ext>
            </a:extLst>
          </p:cNvPr>
          <p:cNvSpPr txBox="1"/>
          <p:nvPr/>
        </p:nvSpPr>
        <p:spPr>
          <a:xfrm>
            <a:off x="8229600" y="1463040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节点</a:t>
            </a:r>
          </a:p>
        </p:txBody>
      </p:sp>
      <p:sp>
        <p:nvSpPr>
          <p:cNvPr id="8" name="COL_METRIC">
            <a:extLst>
              <a:ext uri="{FF2B5EF4-FFF2-40B4-BE49-F238E27FC236}">
                <a16:creationId xmlns:a16="http://schemas.microsoft.com/office/drawing/2014/main" id="{8A46E780-5ABD-BEA3-BE8B-950DF52B954C}"/>
              </a:ext>
            </a:extLst>
          </p:cNvPr>
          <p:cNvSpPr txBox="1"/>
          <p:nvPr/>
        </p:nvSpPr>
        <p:spPr>
          <a:xfrm>
            <a:off x="9921240" y="1463040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指标</a:t>
            </a:r>
          </a:p>
        </p:txBody>
      </p:sp>
      <p:sp>
        <p:nvSpPr>
          <p:cNvPr id="9" name="ROW_BAND_1">
            <a:extLst>
              <a:ext uri="{FF2B5EF4-FFF2-40B4-BE49-F238E27FC236}">
                <a16:creationId xmlns:a16="http://schemas.microsoft.com/office/drawing/2014/main" id="{2E9F722F-0AD7-C93C-D78D-319BC4DBC193}"/>
              </a:ext>
            </a:extLst>
          </p:cNvPr>
          <p:cNvSpPr/>
          <p:nvPr/>
        </p:nvSpPr>
        <p:spPr>
          <a:xfrm>
            <a:off x="594360" y="1965960"/>
            <a:ext cx="11155680" cy="8229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ACT_01_OBJECT">
            <a:extLst>
              <a:ext uri="{FF2B5EF4-FFF2-40B4-BE49-F238E27FC236}">
                <a16:creationId xmlns:a16="http://schemas.microsoft.com/office/drawing/2014/main" id="{23049707-75D2-6904-74C7-8B534D4649FA}"/>
              </a:ext>
            </a:extLst>
          </p:cNvPr>
          <p:cNvSpPr txBox="1"/>
          <p:nvPr/>
        </p:nvSpPr>
        <p:spPr>
          <a:xfrm>
            <a:off x="731520" y="216712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1" name="ACT_01_ACTION">
            <a:extLst>
              <a:ext uri="{FF2B5EF4-FFF2-40B4-BE49-F238E27FC236}">
                <a16:creationId xmlns:a16="http://schemas.microsoft.com/office/drawing/2014/main" id="{B0DD80EF-B808-545A-70A5-D558A4390E39}"/>
              </a:ext>
            </a:extLst>
          </p:cNvPr>
          <p:cNvSpPr txBox="1"/>
          <p:nvPr/>
        </p:nvSpPr>
        <p:spPr>
          <a:xfrm>
            <a:off x="2606040" y="216712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2" name="ACT_01_OWNER">
            <a:extLst>
              <a:ext uri="{FF2B5EF4-FFF2-40B4-BE49-F238E27FC236}">
                <a16:creationId xmlns:a16="http://schemas.microsoft.com/office/drawing/2014/main" id="{7BB6BC82-0D29-C4DD-5848-F241776B9402}"/>
              </a:ext>
            </a:extLst>
          </p:cNvPr>
          <p:cNvSpPr txBox="1"/>
          <p:nvPr/>
        </p:nvSpPr>
        <p:spPr>
          <a:xfrm>
            <a:off x="658368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3" name="ACT_01_DATE">
            <a:extLst>
              <a:ext uri="{FF2B5EF4-FFF2-40B4-BE49-F238E27FC236}">
                <a16:creationId xmlns:a16="http://schemas.microsoft.com/office/drawing/2014/main" id="{F8DBB096-DB44-C664-2A40-DF8D09F9BC94}"/>
              </a:ext>
            </a:extLst>
          </p:cNvPr>
          <p:cNvSpPr txBox="1"/>
          <p:nvPr/>
        </p:nvSpPr>
        <p:spPr>
          <a:xfrm>
            <a:off x="8229600" y="216712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ACT_01_METRIC">
            <a:extLst>
              <a:ext uri="{FF2B5EF4-FFF2-40B4-BE49-F238E27FC236}">
                <a16:creationId xmlns:a16="http://schemas.microsoft.com/office/drawing/2014/main" id="{3895D914-22F0-24E2-1B79-9C48F57E4690}"/>
              </a:ext>
            </a:extLst>
          </p:cNvPr>
          <p:cNvSpPr txBox="1"/>
          <p:nvPr/>
        </p:nvSpPr>
        <p:spPr>
          <a:xfrm>
            <a:off x="9921240" y="216712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ROW_BAND_2">
            <a:extLst>
              <a:ext uri="{FF2B5EF4-FFF2-40B4-BE49-F238E27FC236}">
                <a16:creationId xmlns:a16="http://schemas.microsoft.com/office/drawing/2014/main" id="{A8A49739-37FD-C673-C2CD-31A6A39F2C2C}"/>
              </a:ext>
            </a:extLst>
          </p:cNvPr>
          <p:cNvSpPr/>
          <p:nvPr/>
        </p:nvSpPr>
        <p:spPr>
          <a:xfrm>
            <a:off x="594360" y="2834640"/>
            <a:ext cx="11155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ACT_02_OBJECT">
            <a:extLst>
              <a:ext uri="{FF2B5EF4-FFF2-40B4-BE49-F238E27FC236}">
                <a16:creationId xmlns:a16="http://schemas.microsoft.com/office/drawing/2014/main" id="{8E6614A7-B3FC-976A-E99B-52E80219C6AC}"/>
              </a:ext>
            </a:extLst>
          </p:cNvPr>
          <p:cNvSpPr txBox="1"/>
          <p:nvPr/>
        </p:nvSpPr>
        <p:spPr>
          <a:xfrm>
            <a:off x="731520" y="303580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7" name="ACT_02_ACTION">
            <a:extLst>
              <a:ext uri="{FF2B5EF4-FFF2-40B4-BE49-F238E27FC236}">
                <a16:creationId xmlns:a16="http://schemas.microsoft.com/office/drawing/2014/main" id="{7919B6F1-6E34-D4DC-773D-299B298078B7}"/>
              </a:ext>
            </a:extLst>
          </p:cNvPr>
          <p:cNvSpPr txBox="1"/>
          <p:nvPr/>
        </p:nvSpPr>
        <p:spPr>
          <a:xfrm>
            <a:off x="2606040" y="303580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8" name="ACT_02_OWNER">
            <a:extLst>
              <a:ext uri="{FF2B5EF4-FFF2-40B4-BE49-F238E27FC236}">
                <a16:creationId xmlns:a16="http://schemas.microsoft.com/office/drawing/2014/main" id="{955BE149-8750-C4C9-C3E3-1869F2079AAF}"/>
              </a:ext>
            </a:extLst>
          </p:cNvPr>
          <p:cNvSpPr txBox="1"/>
          <p:nvPr/>
        </p:nvSpPr>
        <p:spPr>
          <a:xfrm>
            <a:off x="658368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ACT_02_DATE">
            <a:extLst>
              <a:ext uri="{FF2B5EF4-FFF2-40B4-BE49-F238E27FC236}">
                <a16:creationId xmlns:a16="http://schemas.microsoft.com/office/drawing/2014/main" id="{4CF664D0-9DD8-2345-0803-62F8E661444E}"/>
              </a:ext>
            </a:extLst>
          </p:cNvPr>
          <p:cNvSpPr txBox="1"/>
          <p:nvPr/>
        </p:nvSpPr>
        <p:spPr>
          <a:xfrm>
            <a:off x="8229600" y="303580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0" name="ACT_02_METRIC">
            <a:extLst>
              <a:ext uri="{FF2B5EF4-FFF2-40B4-BE49-F238E27FC236}">
                <a16:creationId xmlns:a16="http://schemas.microsoft.com/office/drawing/2014/main" id="{DE7D4B0C-725D-41C9-7072-A980A42C9258}"/>
              </a:ext>
            </a:extLst>
          </p:cNvPr>
          <p:cNvSpPr txBox="1"/>
          <p:nvPr/>
        </p:nvSpPr>
        <p:spPr>
          <a:xfrm>
            <a:off x="9921240" y="303580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1" name="ROW_BAND_3">
            <a:extLst>
              <a:ext uri="{FF2B5EF4-FFF2-40B4-BE49-F238E27FC236}">
                <a16:creationId xmlns:a16="http://schemas.microsoft.com/office/drawing/2014/main" id="{5AB1DE9A-ACF2-CAF1-C9B5-A10BCD12F88E}"/>
              </a:ext>
            </a:extLst>
          </p:cNvPr>
          <p:cNvSpPr/>
          <p:nvPr/>
        </p:nvSpPr>
        <p:spPr>
          <a:xfrm>
            <a:off x="594360" y="3703320"/>
            <a:ext cx="11155680" cy="8229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ACT_03_OBJECT">
            <a:extLst>
              <a:ext uri="{FF2B5EF4-FFF2-40B4-BE49-F238E27FC236}">
                <a16:creationId xmlns:a16="http://schemas.microsoft.com/office/drawing/2014/main" id="{C0739392-A6A3-7C2A-B977-006B43CA94B5}"/>
              </a:ext>
            </a:extLst>
          </p:cNvPr>
          <p:cNvSpPr txBox="1"/>
          <p:nvPr/>
        </p:nvSpPr>
        <p:spPr>
          <a:xfrm>
            <a:off x="731520" y="390448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ACT_03_ACTION">
            <a:extLst>
              <a:ext uri="{FF2B5EF4-FFF2-40B4-BE49-F238E27FC236}">
                <a16:creationId xmlns:a16="http://schemas.microsoft.com/office/drawing/2014/main" id="{19E4104F-62EB-BC13-756C-21A7D3BCCD65}"/>
              </a:ext>
            </a:extLst>
          </p:cNvPr>
          <p:cNvSpPr txBox="1"/>
          <p:nvPr/>
        </p:nvSpPr>
        <p:spPr>
          <a:xfrm>
            <a:off x="2606040" y="390448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" name="ACT_03_OWNER">
            <a:extLst>
              <a:ext uri="{FF2B5EF4-FFF2-40B4-BE49-F238E27FC236}">
                <a16:creationId xmlns:a16="http://schemas.microsoft.com/office/drawing/2014/main" id="{0518CA2B-93CE-A458-FF90-898AABA98595}"/>
              </a:ext>
            </a:extLst>
          </p:cNvPr>
          <p:cNvSpPr txBox="1"/>
          <p:nvPr/>
        </p:nvSpPr>
        <p:spPr>
          <a:xfrm>
            <a:off x="658368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5" name="ACT_03_DATE">
            <a:extLst>
              <a:ext uri="{FF2B5EF4-FFF2-40B4-BE49-F238E27FC236}">
                <a16:creationId xmlns:a16="http://schemas.microsoft.com/office/drawing/2014/main" id="{680635C2-C852-4268-9158-476B1365D8A7}"/>
              </a:ext>
            </a:extLst>
          </p:cNvPr>
          <p:cNvSpPr txBox="1"/>
          <p:nvPr/>
        </p:nvSpPr>
        <p:spPr>
          <a:xfrm>
            <a:off x="8229600" y="390448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6" name="ACT_03_METRIC">
            <a:extLst>
              <a:ext uri="{FF2B5EF4-FFF2-40B4-BE49-F238E27FC236}">
                <a16:creationId xmlns:a16="http://schemas.microsoft.com/office/drawing/2014/main" id="{E870A316-96BC-DA7A-6CFC-0307EB96123F}"/>
              </a:ext>
            </a:extLst>
          </p:cNvPr>
          <p:cNvSpPr txBox="1"/>
          <p:nvPr/>
        </p:nvSpPr>
        <p:spPr>
          <a:xfrm>
            <a:off x="9921240" y="390448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ROW_BAND_4">
            <a:extLst>
              <a:ext uri="{FF2B5EF4-FFF2-40B4-BE49-F238E27FC236}">
                <a16:creationId xmlns:a16="http://schemas.microsoft.com/office/drawing/2014/main" id="{9ABC7208-5992-CD0E-6BF1-AFA849EAC77A}"/>
              </a:ext>
            </a:extLst>
          </p:cNvPr>
          <p:cNvSpPr/>
          <p:nvPr/>
        </p:nvSpPr>
        <p:spPr>
          <a:xfrm>
            <a:off x="594360" y="4572000"/>
            <a:ext cx="111556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ACT_04_OBJECT">
            <a:extLst>
              <a:ext uri="{FF2B5EF4-FFF2-40B4-BE49-F238E27FC236}">
                <a16:creationId xmlns:a16="http://schemas.microsoft.com/office/drawing/2014/main" id="{C6C1D7FE-C4EE-81F2-02D2-B37629AC0CA0}"/>
              </a:ext>
            </a:extLst>
          </p:cNvPr>
          <p:cNvSpPr txBox="1"/>
          <p:nvPr/>
        </p:nvSpPr>
        <p:spPr>
          <a:xfrm>
            <a:off x="731520" y="4773168"/>
            <a:ext cx="17373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9" name="ACT_04_ACTION">
            <a:extLst>
              <a:ext uri="{FF2B5EF4-FFF2-40B4-BE49-F238E27FC236}">
                <a16:creationId xmlns:a16="http://schemas.microsoft.com/office/drawing/2014/main" id="{53A36BB2-06CD-751C-12CC-413C419861FE}"/>
              </a:ext>
            </a:extLst>
          </p:cNvPr>
          <p:cNvSpPr txBox="1"/>
          <p:nvPr/>
        </p:nvSpPr>
        <p:spPr>
          <a:xfrm>
            <a:off x="2606040" y="4773168"/>
            <a:ext cx="3840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0" name="ACT_04_OWNER">
            <a:extLst>
              <a:ext uri="{FF2B5EF4-FFF2-40B4-BE49-F238E27FC236}">
                <a16:creationId xmlns:a16="http://schemas.microsoft.com/office/drawing/2014/main" id="{D2D885C9-1138-7797-4175-D9EA483C33EA}"/>
              </a:ext>
            </a:extLst>
          </p:cNvPr>
          <p:cNvSpPr txBox="1"/>
          <p:nvPr/>
        </p:nvSpPr>
        <p:spPr>
          <a:xfrm>
            <a:off x="658368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ACT_04_DATE">
            <a:extLst>
              <a:ext uri="{FF2B5EF4-FFF2-40B4-BE49-F238E27FC236}">
                <a16:creationId xmlns:a16="http://schemas.microsoft.com/office/drawing/2014/main" id="{E3486880-9BF6-E87F-77B7-272834862148}"/>
              </a:ext>
            </a:extLst>
          </p:cNvPr>
          <p:cNvSpPr txBox="1"/>
          <p:nvPr/>
        </p:nvSpPr>
        <p:spPr>
          <a:xfrm>
            <a:off x="8229600" y="4773168"/>
            <a:ext cx="15544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2" name="ACT_04_METRIC">
            <a:extLst>
              <a:ext uri="{FF2B5EF4-FFF2-40B4-BE49-F238E27FC236}">
                <a16:creationId xmlns:a16="http://schemas.microsoft.com/office/drawing/2014/main" id="{AA140A7B-5EE9-39E5-79FE-F57D3DFF28EC}"/>
              </a:ext>
            </a:extLst>
          </p:cNvPr>
          <p:cNvSpPr txBox="1"/>
          <p:nvPr/>
        </p:nvSpPr>
        <p:spPr>
          <a:xfrm>
            <a:off x="9921240" y="4773168"/>
            <a:ext cx="20116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3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3" name="TEACHING_CUE">
            <a:extLst>
              <a:ext uri="{FF2B5EF4-FFF2-40B4-BE49-F238E27FC236}">
                <a16:creationId xmlns:a16="http://schemas.microsoft.com/office/drawing/2014/main" id="{D197A33E-186C-9514-EB8B-6044E8C02DB0}"/>
              </a:ext>
            </a:extLst>
          </p:cNvPr>
          <p:cNvSpPr txBox="1"/>
          <p:nvPr/>
        </p:nvSpPr>
        <p:spPr>
          <a:xfrm>
            <a:off x="548640" y="580644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行动必须连接前面诊断出的短板或机会；最多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项，选最重要的。</a:t>
            </a:r>
          </a:p>
        </p:txBody>
      </p:sp>
    </p:spTree>
    <p:extLst>
      <p:ext uri="{BB962C8B-B14F-4D97-AF65-F5344CB8AC3E}">
        <p14:creationId xmlns:p14="http://schemas.microsoft.com/office/powerpoint/2010/main" val="6520204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2B4CD45-9413-140C-6E54-A612BEDFAD3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渠道增长卡在哪：覆盖、活跃，还是单店产出？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8540BC9-D356-9D3D-1FD9-F90DA4805716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2CB47E7C-E2D1-33A5-D7E6-3C874AB0000F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2B34EE29-2A52-BD47-178B-4F6B3651D15C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CEC918B-6D4C-35F7-9BC7-1A42D26C2F58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网点铺够了吗？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F205A6D-82FD-BFE1-A449-0ADF3E21EBF2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11CF328E-A325-614B-76A3-BBE96E27C1C3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28FBAEB3-BAB6-2F46-4D67-FEC9DE35C1A9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1700F865-CA7E-A91F-9075-691FE62909A8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2EDAD1D4-16FA-3CCA-7C0F-A78ACC424195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铺了，动销了吗？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5CE25A41-1FC9-84AB-614C-1327F1D7E803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｜ 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4E5FFA9A-487A-23C7-8EDE-34B4A6D904F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C5C4B1E0-975F-B6CF-C735-1E06BCFEFDF9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D6086B7A-8EF1-75BE-F62E-1CCD1ACE35F5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149446F-1555-3C00-B6D5-5A9ECE094789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单店卖得够吗？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4327F205-F649-CD3D-9C9E-9D5CE798799C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单店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944E7E92-4CA7-FA8A-CDAF-DC82532CFD77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A83C6291-D2E9-3192-ACFA-48A8570C0EF1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D1FB3717-3834-6744-AF3F-72730F2336B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POOL_TITLE">
            <a:extLst>
              <a:ext uri="{FF2B5EF4-FFF2-40B4-BE49-F238E27FC236}">
                <a16:creationId xmlns:a16="http://schemas.microsoft.com/office/drawing/2014/main" id="{79757373-5D87-C86D-15D7-B127F74AA623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重点网点池</a:t>
            </a:r>
          </a:p>
        </p:txBody>
      </p:sp>
      <p:sp>
        <p:nvSpPr>
          <p:cNvPr id="22" name="POOL_TEXT">
            <a:extLst>
              <a:ext uri="{FF2B5EF4-FFF2-40B4-BE49-F238E27FC236}">
                <a16:creationId xmlns:a16="http://schemas.microsoft.com/office/drawing/2014/main" id="{5F7505BF-E2B7-1B78-46B2-BBF238174989}"/>
              </a:ext>
            </a:extLst>
          </p:cNvPr>
          <p:cNvSpPr txBox="1"/>
          <p:nvPr/>
        </p:nvSpPr>
        <p:spPr>
          <a:xfrm>
            <a:off x="2834640" y="5394960"/>
            <a:ext cx="8778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圈定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个重点网点：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4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TEACHING_CUE">
            <a:extLst>
              <a:ext uri="{FF2B5EF4-FFF2-40B4-BE49-F238E27FC236}">
                <a16:creationId xmlns:a16="http://schemas.microsoft.com/office/drawing/2014/main" id="{E0D39E11-AA9E-1E34-B985-6856B0AAB740}"/>
              </a:ext>
            </a:extLst>
          </p:cNvPr>
          <p:cNvSpPr txBox="1"/>
          <p:nvPr/>
        </p:nvSpPr>
        <p:spPr>
          <a:xfrm>
            <a:off x="548640" y="612648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根据数据只突出一个主杠杆，其余作为约束项；指标口径必须一致，口径不一致会产生伪诊断。</a:t>
            </a:r>
          </a:p>
        </p:txBody>
      </p:sp>
    </p:spTree>
    <p:extLst>
      <p:ext uri="{BB962C8B-B14F-4D97-AF65-F5344CB8AC3E}">
        <p14:creationId xmlns:p14="http://schemas.microsoft.com/office/powerpoint/2010/main" val="218063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CBC54E2-9E63-8162-495E-35E6515F33B8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8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国家资源是不是离开县域了？</a:t>
            </a:r>
          </a:p>
        </p:txBody>
      </p:sp>
      <p:sp>
        <p:nvSpPr>
          <p:cNvPr id="3" name="ASK_PROMPT">
            <a:extLst>
              <a:ext uri="{FF2B5EF4-FFF2-40B4-BE49-F238E27FC236}">
                <a16:creationId xmlns:a16="http://schemas.microsoft.com/office/drawing/2014/main" id="{48762A02-FA42-56BB-CE51-1EBBF0035643}"/>
              </a:ext>
            </a:extLst>
          </p:cNvPr>
          <p:cNvSpPr txBox="1"/>
          <p:nvPr/>
        </p:nvSpPr>
        <p:spPr>
          <a:xfrm>
            <a:off x="548640" y="15544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先表态：国家资源离开县域了吗？</a:t>
            </a:r>
          </a:p>
        </p:txBody>
      </p:sp>
      <p:sp>
        <p:nvSpPr>
          <p:cNvPr id="4" name="OPT_BAND_1">
            <a:extLst>
              <a:ext uri="{FF2B5EF4-FFF2-40B4-BE49-F238E27FC236}">
                <a16:creationId xmlns:a16="http://schemas.microsoft.com/office/drawing/2014/main" id="{8DF92F48-4AB2-897E-70C5-DBBD2B435AFC}"/>
              </a:ext>
            </a:extLst>
          </p:cNvPr>
          <p:cNvSpPr/>
          <p:nvPr/>
        </p:nvSpPr>
        <p:spPr>
          <a:xfrm>
            <a:off x="548640" y="214884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OPT_1_TEXT">
            <a:extLst>
              <a:ext uri="{FF2B5EF4-FFF2-40B4-BE49-F238E27FC236}">
                <a16:creationId xmlns:a16="http://schemas.microsoft.com/office/drawing/2014/main" id="{E051D4F4-C95F-411B-09B1-2CC24C18104D}"/>
              </a:ext>
            </a:extLst>
          </p:cNvPr>
          <p:cNvSpPr txBox="1"/>
          <p:nvPr/>
        </p:nvSpPr>
        <p:spPr>
          <a:xfrm>
            <a:off x="822960" y="224028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离开了，资源都在大城市</a:t>
            </a:r>
          </a:p>
        </p:txBody>
      </p:sp>
      <p:sp>
        <p:nvSpPr>
          <p:cNvPr id="6" name="OPT_BAND_2">
            <a:extLst>
              <a:ext uri="{FF2B5EF4-FFF2-40B4-BE49-F238E27FC236}">
                <a16:creationId xmlns:a16="http://schemas.microsoft.com/office/drawing/2014/main" id="{D6EBE1B6-3014-E2C5-6A91-DECAA312CE11}"/>
              </a:ext>
            </a:extLst>
          </p:cNvPr>
          <p:cNvSpPr/>
          <p:nvPr/>
        </p:nvSpPr>
        <p:spPr>
          <a:xfrm>
            <a:off x="548640" y="2880360"/>
            <a:ext cx="107899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OPT_2_TEXT">
            <a:extLst>
              <a:ext uri="{FF2B5EF4-FFF2-40B4-BE49-F238E27FC236}">
                <a16:creationId xmlns:a16="http://schemas.microsoft.com/office/drawing/2014/main" id="{6E51E0B5-18EA-2EAA-2453-03A77C6492D9}"/>
              </a:ext>
            </a:extLst>
          </p:cNvPr>
          <p:cNvSpPr txBox="1"/>
          <p:nvPr/>
        </p:nvSpPr>
        <p:spPr>
          <a:xfrm>
            <a:off x="822960" y="297180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没离开，但和政策无关</a:t>
            </a:r>
          </a:p>
        </p:txBody>
      </p:sp>
      <p:sp>
        <p:nvSpPr>
          <p:cNvPr id="8" name="OPT_BAND_3">
            <a:extLst>
              <a:ext uri="{FF2B5EF4-FFF2-40B4-BE49-F238E27FC236}">
                <a16:creationId xmlns:a16="http://schemas.microsoft.com/office/drawing/2014/main" id="{84ED1604-B9E3-1406-5907-DD91D4E9383C}"/>
              </a:ext>
            </a:extLst>
          </p:cNvPr>
          <p:cNvSpPr/>
          <p:nvPr/>
        </p:nvSpPr>
        <p:spPr>
          <a:xfrm>
            <a:off x="548640" y="3611880"/>
            <a:ext cx="10789920" cy="566928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OPT_3_TEXT">
            <a:extLst>
              <a:ext uri="{FF2B5EF4-FFF2-40B4-BE49-F238E27FC236}">
                <a16:creationId xmlns:a16="http://schemas.microsoft.com/office/drawing/2014/main" id="{6AC1E4E6-8E1D-C303-D605-18775B001804}"/>
              </a:ext>
            </a:extLst>
          </p:cNvPr>
          <p:cNvSpPr txBox="1"/>
          <p:nvPr/>
        </p:nvSpPr>
        <p:spPr>
          <a:xfrm>
            <a:off x="822960" y="3703320"/>
            <a:ext cx="102412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没离开，政策会带来真实场景</a:t>
            </a:r>
          </a:p>
        </p:txBody>
      </p:sp>
      <p:sp>
        <p:nvSpPr>
          <p:cNvPr id="10" name="REVEAL_BAND">
            <a:extLst>
              <a:ext uri="{FF2B5EF4-FFF2-40B4-BE49-F238E27FC236}">
                <a16:creationId xmlns:a16="http://schemas.microsoft.com/office/drawing/2014/main" id="{70C4870A-E77E-AB3C-63BE-E805A22B8F6E}"/>
              </a:ext>
            </a:extLst>
          </p:cNvPr>
          <p:cNvSpPr/>
          <p:nvPr/>
        </p:nvSpPr>
        <p:spPr>
          <a:xfrm>
            <a:off x="548640" y="4526280"/>
            <a:ext cx="11064240" cy="146304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REVEAL_TITLE">
            <a:extLst>
              <a:ext uri="{FF2B5EF4-FFF2-40B4-BE49-F238E27FC236}">
                <a16:creationId xmlns:a16="http://schemas.microsoft.com/office/drawing/2014/main" id="{DA45E95A-6755-09BA-9CAC-042B84BC0009}"/>
              </a:ext>
            </a:extLst>
          </p:cNvPr>
          <p:cNvSpPr txBox="1"/>
          <p:nvPr/>
        </p:nvSpPr>
        <p:spPr>
          <a:xfrm>
            <a:off x="777240" y="470916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国家资源没有离开县域</a:t>
            </a:r>
          </a:p>
        </p:txBody>
      </p:sp>
      <p:sp>
        <p:nvSpPr>
          <p:cNvPr id="12" name="REVEAL_TEXT">
            <a:extLst>
              <a:ext uri="{FF2B5EF4-FFF2-40B4-BE49-F238E27FC236}">
                <a16:creationId xmlns:a16="http://schemas.microsoft.com/office/drawing/2014/main" id="{B3FC26CC-DC3B-89D8-12F9-E8BB6C393E1C}"/>
              </a:ext>
            </a:extLst>
          </p:cNvPr>
          <p:cNvSpPr txBox="1"/>
          <p:nvPr/>
        </p:nvSpPr>
        <p:spPr>
          <a:xfrm>
            <a:off x="777240" y="5212080"/>
            <a:ext cx="10058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政策方向会翻译成真实场景：县城更新、中心镇集聚、乡村建设、绿色建材下乡。不要只问政策有没有补贴，更要问政策会让哪些地方发生建设、哪些房子需要改善。</a:t>
            </a:r>
          </a:p>
        </p:txBody>
      </p:sp>
      <p:sp>
        <p:nvSpPr>
          <p:cNvPr id="13" name="TEACHING_CUE">
            <a:extLst>
              <a:ext uri="{FF2B5EF4-FFF2-40B4-BE49-F238E27FC236}">
                <a16:creationId xmlns:a16="http://schemas.microsoft.com/office/drawing/2014/main" id="{82F0EA86-9312-827D-7FAE-CEC56B018354}"/>
              </a:ext>
            </a:extLst>
          </p:cNvPr>
          <p:cNvSpPr txBox="1"/>
          <p:nvPr/>
        </p:nvSpPr>
        <p:spPr>
          <a:xfrm>
            <a:off x="548640" y="6217920"/>
            <a:ext cx="110642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先让学员表态（举手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分组），再揭示；本页不提前讲答案。</a:t>
            </a:r>
          </a:p>
        </p:txBody>
      </p:sp>
    </p:spTree>
    <p:extLst>
      <p:ext uri="{BB962C8B-B14F-4D97-AF65-F5344CB8AC3E}">
        <p14:creationId xmlns:p14="http://schemas.microsoft.com/office/powerpoint/2010/main" val="3075325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3791F-A759-464A-AAA9-9A49798F3BDD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资源有限，先投哪个乡镇？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E451F756-0A7D-69C0-C525-584CC5B535C2}"/>
              </a:ext>
            </a:extLst>
          </p:cNvPr>
          <p:cNvSpPr txBox="1"/>
          <p:nvPr/>
        </p:nvSpPr>
        <p:spPr>
          <a:xfrm>
            <a:off x="548640" y="96012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按「经营价值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攻坚难度」两阶段排序：先看价值，再加难度，最后下注</a:t>
            </a:r>
          </a:p>
        </p:txBody>
      </p:sp>
      <p:sp>
        <p:nvSpPr>
          <p:cNvPr id="4" name="CAN_TITLE">
            <a:extLst>
              <a:ext uri="{FF2B5EF4-FFF2-40B4-BE49-F238E27FC236}">
                <a16:creationId xmlns:a16="http://schemas.microsoft.com/office/drawing/2014/main" id="{151DC87A-1E68-CB1A-40B3-0D66749257DC}"/>
              </a:ext>
            </a:extLst>
          </p:cNvPr>
          <p:cNvSpPr txBox="1"/>
          <p:nvPr/>
        </p:nvSpPr>
        <p:spPr>
          <a:xfrm>
            <a:off x="548640" y="1463040"/>
            <a:ext cx="4572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候选证据卡（先按经营价值排序）</a:t>
            </a:r>
          </a:p>
        </p:txBody>
      </p:sp>
      <p:sp>
        <p:nvSpPr>
          <p:cNvPr id="5" name="CAN_BAND_1">
            <a:extLst>
              <a:ext uri="{FF2B5EF4-FFF2-40B4-BE49-F238E27FC236}">
                <a16:creationId xmlns:a16="http://schemas.microsoft.com/office/drawing/2014/main" id="{F401AAAB-7B58-4FFE-B351-D2B4ABFE90F9}"/>
              </a:ext>
            </a:extLst>
          </p:cNvPr>
          <p:cNvSpPr/>
          <p:nvPr/>
        </p:nvSpPr>
        <p:spPr>
          <a:xfrm>
            <a:off x="548640" y="19202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CAN_1_NAME">
            <a:extLst>
              <a:ext uri="{FF2B5EF4-FFF2-40B4-BE49-F238E27FC236}">
                <a16:creationId xmlns:a16="http://schemas.microsoft.com/office/drawing/2014/main" id="{ED1C3FDA-4564-7895-30D8-7068ED20F4FC}"/>
              </a:ext>
            </a:extLst>
          </p:cNvPr>
          <p:cNvSpPr txBox="1"/>
          <p:nvPr/>
        </p:nvSpPr>
        <p:spPr>
          <a:xfrm>
            <a:off x="731520" y="19202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中心镇</a:t>
            </a:r>
          </a:p>
        </p:txBody>
      </p:sp>
      <p:sp>
        <p:nvSpPr>
          <p:cNvPr id="7" name="CAN_1_EVIDENCE">
            <a:extLst>
              <a:ext uri="{FF2B5EF4-FFF2-40B4-BE49-F238E27FC236}">
                <a16:creationId xmlns:a16="http://schemas.microsoft.com/office/drawing/2014/main" id="{A28A0FDF-D904-56DF-FCD6-FEC3636209D8}"/>
              </a:ext>
            </a:extLst>
          </p:cNvPr>
          <p:cNvSpPr txBox="1"/>
          <p:nvPr/>
        </p:nvSpPr>
        <p:spPr>
          <a:xfrm>
            <a:off x="731520" y="21945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人口与商业集聚，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家活跃网点，有项目线索</a:t>
            </a:r>
          </a:p>
        </p:txBody>
      </p:sp>
      <p:sp>
        <p:nvSpPr>
          <p:cNvPr id="8" name="CAN_BAND_2">
            <a:extLst>
              <a:ext uri="{FF2B5EF4-FFF2-40B4-BE49-F238E27FC236}">
                <a16:creationId xmlns:a16="http://schemas.microsoft.com/office/drawing/2014/main" id="{F61BD6D6-0074-53D5-2AC3-4C332A354CFD}"/>
              </a:ext>
            </a:extLst>
          </p:cNvPr>
          <p:cNvSpPr/>
          <p:nvPr/>
        </p:nvSpPr>
        <p:spPr>
          <a:xfrm>
            <a:off x="548640" y="2606040"/>
            <a:ext cx="393192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AN_2_NAME">
            <a:extLst>
              <a:ext uri="{FF2B5EF4-FFF2-40B4-BE49-F238E27FC236}">
                <a16:creationId xmlns:a16="http://schemas.microsoft.com/office/drawing/2014/main" id="{3712C16E-5CB7-9681-41D8-10E5124F15E1}"/>
              </a:ext>
            </a:extLst>
          </p:cNvPr>
          <p:cNvSpPr txBox="1"/>
          <p:nvPr/>
        </p:nvSpPr>
        <p:spPr>
          <a:xfrm>
            <a:off x="731520" y="26060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0" name="CAN_2_EVIDENCE">
            <a:extLst>
              <a:ext uri="{FF2B5EF4-FFF2-40B4-BE49-F238E27FC236}">
                <a16:creationId xmlns:a16="http://schemas.microsoft.com/office/drawing/2014/main" id="{64BE933B-4CD2-2B29-DB16-9CBF5DDE7E90}"/>
              </a:ext>
            </a:extLst>
          </p:cNvPr>
          <p:cNvSpPr txBox="1"/>
          <p:nvPr/>
        </p:nvSpPr>
        <p:spPr>
          <a:xfrm>
            <a:off x="731520" y="28803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自建房多，无网点，老板有熟人关系</a:t>
            </a:r>
          </a:p>
        </p:txBody>
      </p:sp>
      <p:sp>
        <p:nvSpPr>
          <p:cNvPr id="11" name="CAN_BAND_3">
            <a:extLst>
              <a:ext uri="{FF2B5EF4-FFF2-40B4-BE49-F238E27FC236}">
                <a16:creationId xmlns:a16="http://schemas.microsoft.com/office/drawing/2014/main" id="{E9B95C12-E444-1035-AEC6-9BBB5146B23D}"/>
              </a:ext>
            </a:extLst>
          </p:cNvPr>
          <p:cNvSpPr/>
          <p:nvPr/>
        </p:nvSpPr>
        <p:spPr>
          <a:xfrm>
            <a:off x="548640" y="3291840"/>
            <a:ext cx="3931920" cy="5486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AN_3_NAME">
            <a:extLst>
              <a:ext uri="{FF2B5EF4-FFF2-40B4-BE49-F238E27FC236}">
                <a16:creationId xmlns:a16="http://schemas.microsoft.com/office/drawing/2014/main" id="{80CBC99B-6011-59B8-3156-F144B2AAE6CC}"/>
              </a:ext>
            </a:extLst>
          </p:cNvPr>
          <p:cNvSpPr txBox="1"/>
          <p:nvPr/>
        </p:nvSpPr>
        <p:spPr>
          <a:xfrm>
            <a:off x="731520" y="329184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候选 </a:t>
            </a:r>
            <a:r>
              <a:rPr lang="en-US" altLang="zh-CN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 · </a:t>
            </a:r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乡镇</a:t>
            </a:r>
          </a:p>
        </p:txBody>
      </p:sp>
      <p:sp>
        <p:nvSpPr>
          <p:cNvPr id="13" name="CAN_3_EVIDENCE">
            <a:extLst>
              <a:ext uri="{FF2B5EF4-FFF2-40B4-BE49-F238E27FC236}">
                <a16:creationId xmlns:a16="http://schemas.microsoft.com/office/drawing/2014/main" id="{B57CD9E0-5029-344B-1296-5AD48D3E98AD}"/>
              </a:ext>
            </a:extLst>
          </p:cNvPr>
          <p:cNvSpPr txBox="1"/>
          <p:nvPr/>
        </p:nvSpPr>
        <p:spPr>
          <a:xfrm>
            <a:off x="731520" y="3566160"/>
            <a:ext cx="3566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项目零散、依赖客情，配送半径外</a:t>
            </a:r>
          </a:p>
        </p:txBody>
      </p:sp>
      <p:sp>
        <p:nvSpPr>
          <p:cNvPr id="14" name="MATRIX_TITLE">
            <a:extLst>
              <a:ext uri="{FF2B5EF4-FFF2-40B4-BE49-F238E27FC236}">
                <a16:creationId xmlns:a16="http://schemas.microsoft.com/office/drawing/2014/main" id="{4D21C050-1713-EB68-5111-245BE03C9703}"/>
              </a:ext>
            </a:extLst>
          </p:cNvPr>
          <p:cNvSpPr txBox="1"/>
          <p:nvPr/>
        </p:nvSpPr>
        <p:spPr>
          <a:xfrm>
            <a:off x="4754880" y="1463040"/>
            <a:ext cx="5486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经营价值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攻坚难度</a:t>
            </a:r>
          </a:p>
        </p:txBody>
      </p:sp>
      <p:sp>
        <p:nvSpPr>
          <p:cNvPr id="15" name="QUAD_Q1">
            <a:extLst>
              <a:ext uri="{FF2B5EF4-FFF2-40B4-BE49-F238E27FC236}">
                <a16:creationId xmlns:a16="http://schemas.microsoft.com/office/drawing/2014/main" id="{602981BB-1F89-C441-673A-5AAE3DAE6AA8}"/>
              </a:ext>
            </a:extLst>
          </p:cNvPr>
          <p:cNvSpPr/>
          <p:nvPr/>
        </p:nvSpPr>
        <p:spPr>
          <a:xfrm>
            <a:off x="4754880" y="19202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QUAD_Q1_LABEL">
            <a:extLst>
              <a:ext uri="{FF2B5EF4-FFF2-40B4-BE49-F238E27FC236}">
                <a16:creationId xmlns:a16="http://schemas.microsoft.com/office/drawing/2014/main" id="{87254A10-BD0A-68A3-C8B5-D7D395F43E61}"/>
              </a:ext>
            </a:extLst>
          </p:cNvPr>
          <p:cNvSpPr txBox="1"/>
          <p:nvPr/>
        </p:nvSpPr>
        <p:spPr>
          <a:xfrm>
            <a:off x="489204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优先拿下</a:t>
            </a:r>
          </a:p>
        </p:txBody>
      </p:sp>
      <p:sp>
        <p:nvSpPr>
          <p:cNvPr id="17" name="QUAD_Q1_HINT">
            <a:extLst>
              <a:ext uri="{FF2B5EF4-FFF2-40B4-BE49-F238E27FC236}">
                <a16:creationId xmlns:a16="http://schemas.microsoft.com/office/drawing/2014/main" id="{2F6CCBB1-EF56-727E-ABC6-724FAB85C5F2}"/>
              </a:ext>
            </a:extLst>
          </p:cNvPr>
          <p:cNvSpPr txBox="1"/>
          <p:nvPr/>
        </p:nvSpPr>
        <p:spPr>
          <a:xfrm>
            <a:off x="489204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18" name="QUAD_Q1_FILL">
            <a:extLst>
              <a:ext uri="{FF2B5EF4-FFF2-40B4-BE49-F238E27FC236}">
                <a16:creationId xmlns:a16="http://schemas.microsoft.com/office/drawing/2014/main" id="{E9812A0C-1BE2-112C-48E1-AE2F521A21AA}"/>
              </a:ext>
            </a:extLst>
          </p:cNvPr>
          <p:cNvSpPr txBox="1"/>
          <p:nvPr/>
        </p:nvSpPr>
        <p:spPr>
          <a:xfrm>
            <a:off x="489204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9" name="QUAD_Q2">
            <a:extLst>
              <a:ext uri="{FF2B5EF4-FFF2-40B4-BE49-F238E27FC236}">
                <a16:creationId xmlns:a16="http://schemas.microsoft.com/office/drawing/2014/main" id="{CCC8B029-1EBB-B5AD-544C-30FEC4FE67E4}"/>
              </a:ext>
            </a:extLst>
          </p:cNvPr>
          <p:cNvSpPr/>
          <p:nvPr/>
        </p:nvSpPr>
        <p:spPr>
          <a:xfrm>
            <a:off x="8138160" y="1920240"/>
            <a:ext cx="3200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QUAD_Q2_LABEL">
            <a:extLst>
              <a:ext uri="{FF2B5EF4-FFF2-40B4-BE49-F238E27FC236}">
                <a16:creationId xmlns:a16="http://schemas.microsoft.com/office/drawing/2014/main" id="{8BF87F57-4E11-B744-B51A-4D57B64179AC}"/>
              </a:ext>
            </a:extLst>
          </p:cNvPr>
          <p:cNvSpPr txBox="1"/>
          <p:nvPr/>
        </p:nvSpPr>
        <p:spPr>
          <a:xfrm>
            <a:off x="8275320" y="20116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重点攻坚</a:t>
            </a:r>
          </a:p>
        </p:txBody>
      </p:sp>
      <p:sp>
        <p:nvSpPr>
          <p:cNvPr id="21" name="QUAD_Q2_HINT">
            <a:extLst>
              <a:ext uri="{FF2B5EF4-FFF2-40B4-BE49-F238E27FC236}">
                <a16:creationId xmlns:a16="http://schemas.microsoft.com/office/drawing/2014/main" id="{33D26DE7-9EE8-E762-07CB-9D78F6FC23A6}"/>
              </a:ext>
            </a:extLst>
          </p:cNvPr>
          <p:cNvSpPr txBox="1"/>
          <p:nvPr/>
        </p:nvSpPr>
        <p:spPr>
          <a:xfrm>
            <a:off x="8275320" y="23774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价值高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22" name="QUAD_Q2_FILL">
            <a:extLst>
              <a:ext uri="{FF2B5EF4-FFF2-40B4-BE49-F238E27FC236}">
                <a16:creationId xmlns:a16="http://schemas.microsoft.com/office/drawing/2014/main" id="{B751B424-BCF7-F39A-29AB-EC7A6A4841A5}"/>
              </a:ext>
            </a:extLst>
          </p:cNvPr>
          <p:cNvSpPr txBox="1"/>
          <p:nvPr/>
        </p:nvSpPr>
        <p:spPr>
          <a:xfrm>
            <a:off x="8275320" y="27432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3" name="QUAD_Q3">
            <a:extLst>
              <a:ext uri="{FF2B5EF4-FFF2-40B4-BE49-F238E27FC236}">
                <a16:creationId xmlns:a16="http://schemas.microsoft.com/office/drawing/2014/main" id="{BCF02BF2-F431-89E8-E237-70550008A939}"/>
              </a:ext>
            </a:extLst>
          </p:cNvPr>
          <p:cNvSpPr/>
          <p:nvPr/>
        </p:nvSpPr>
        <p:spPr>
          <a:xfrm>
            <a:off x="4754880" y="3291840"/>
            <a:ext cx="3200400" cy="128016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QUAD_Q3_LABEL">
            <a:extLst>
              <a:ext uri="{FF2B5EF4-FFF2-40B4-BE49-F238E27FC236}">
                <a16:creationId xmlns:a16="http://schemas.microsoft.com/office/drawing/2014/main" id="{AFB5AE1D-43AD-004C-8B6D-4A58C46683DC}"/>
              </a:ext>
            </a:extLst>
          </p:cNvPr>
          <p:cNvSpPr txBox="1"/>
          <p:nvPr/>
        </p:nvSpPr>
        <p:spPr>
          <a:xfrm>
            <a:off x="489204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观察验证</a:t>
            </a:r>
          </a:p>
        </p:txBody>
      </p:sp>
      <p:sp>
        <p:nvSpPr>
          <p:cNvPr id="25" name="QUAD_Q3_HINT">
            <a:extLst>
              <a:ext uri="{FF2B5EF4-FFF2-40B4-BE49-F238E27FC236}">
                <a16:creationId xmlns:a16="http://schemas.microsoft.com/office/drawing/2014/main" id="{1E8D4B5B-951F-429C-AE51-33F64ED0BAE0}"/>
              </a:ext>
            </a:extLst>
          </p:cNvPr>
          <p:cNvSpPr txBox="1"/>
          <p:nvPr/>
        </p:nvSpPr>
        <p:spPr>
          <a:xfrm>
            <a:off x="489204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难度低</a:t>
            </a:r>
          </a:p>
        </p:txBody>
      </p:sp>
      <p:sp>
        <p:nvSpPr>
          <p:cNvPr id="26" name="QUAD_Q3_FILL">
            <a:extLst>
              <a:ext uri="{FF2B5EF4-FFF2-40B4-BE49-F238E27FC236}">
                <a16:creationId xmlns:a16="http://schemas.microsoft.com/office/drawing/2014/main" id="{25653AA1-AD51-E037-8607-C85034A24C94}"/>
              </a:ext>
            </a:extLst>
          </p:cNvPr>
          <p:cNvSpPr txBox="1"/>
          <p:nvPr/>
        </p:nvSpPr>
        <p:spPr>
          <a:xfrm>
            <a:off x="489204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7" name="QUAD_Q4">
            <a:extLst>
              <a:ext uri="{FF2B5EF4-FFF2-40B4-BE49-F238E27FC236}">
                <a16:creationId xmlns:a16="http://schemas.microsoft.com/office/drawing/2014/main" id="{CC6F5EC0-751C-88AF-8E6C-253BDCB98CBD}"/>
              </a:ext>
            </a:extLst>
          </p:cNvPr>
          <p:cNvSpPr/>
          <p:nvPr/>
        </p:nvSpPr>
        <p:spPr>
          <a:xfrm>
            <a:off x="8138160" y="3291840"/>
            <a:ext cx="32004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QUAD_Q4_LABEL">
            <a:extLst>
              <a:ext uri="{FF2B5EF4-FFF2-40B4-BE49-F238E27FC236}">
                <a16:creationId xmlns:a16="http://schemas.microsoft.com/office/drawing/2014/main" id="{DC112707-C82B-252A-34B3-1F95C8CE9EED}"/>
              </a:ext>
            </a:extLst>
          </p:cNvPr>
          <p:cNvSpPr txBox="1"/>
          <p:nvPr/>
        </p:nvSpPr>
        <p:spPr>
          <a:xfrm>
            <a:off x="8275320" y="338328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暂缓投入</a:t>
            </a:r>
          </a:p>
        </p:txBody>
      </p:sp>
      <p:sp>
        <p:nvSpPr>
          <p:cNvPr id="29" name="QUAD_Q4_HINT">
            <a:extLst>
              <a:ext uri="{FF2B5EF4-FFF2-40B4-BE49-F238E27FC236}">
                <a16:creationId xmlns:a16="http://schemas.microsoft.com/office/drawing/2014/main" id="{289539D4-1019-4E57-45EF-C4195335465B}"/>
              </a:ext>
            </a:extLst>
          </p:cNvPr>
          <p:cNvSpPr txBox="1"/>
          <p:nvPr/>
        </p:nvSpPr>
        <p:spPr>
          <a:xfrm>
            <a:off x="8275320" y="374904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价值低 </a:t>
            </a:r>
            <a:r>
              <a:rPr lang="en-US" altLang="zh-CN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1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难度高</a:t>
            </a:r>
          </a:p>
        </p:txBody>
      </p:sp>
      <p:sp>
        <p:nvSpPr>
          <p:cNvPr id="30" name="QUAD_Q4_FILL">
            <a:extLst>
              <a:ext uri="{FF2B5EF4-FFF2-40B4-BE49-F238E27FC236}">
                <a16:creationId xmlns:a16="http://schemas.microsoft.com/office/drawing/2014/main" id="{FF931194-BD25-44DA-92FE-E5ABCC67ED1F}"/>
              </a:ext>
            </a:extLst>
          </p:cNvPr>
          <p:cNvSpPr txBox="1"/>
          <p:nvPr/>
        </p:nvSpPr>
        <p:spPr>
          <a:xfrm>
            <a:off x="8275320" y="4114800"/>
            <a:ext cx="292608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endParaRPr lang="zh-CN" altLang="en-US" sz="1200">
              <a:solidFill>
                <a:srgbClr val="50504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31" name="BET_BAND">
            <a:extLst>
              <a:ext uri="{FF2B5EF4-FFF2-40B4-BE49-F238E27FC236}">
                <a16:creationId xmlns:a16="http://schemas.microsoft.com/office/drawing/2014/main" id="{D013884A-E625-04CF-3742-0E43FACB85BB}"/>
              </a:ext>
            </a:extLst>
          </p:cNvPr>
          <p:cNvSpPr/>
          <p:nvPr/>
        </p:nvSpPr>
        <p:spPr>
          <a:xfrm>
            <a:off x="548640" y="489204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BET_TITLE">
            <a:extLst>
              <a:ext uri="{FF2B5EF4-FFF2-40B4-BE49-F238E27FC236}">
                <a16:creationId xmlns:a16="http://schemas.microsoft.com/office/drawing/2014/main" id="{72019D6E-EA05-300E-E175-8C8E2DA90B81}"/>
              </a:ext>
            </a:extLst>
          </p:cNvPr>
          <p:cNvSpPr txBox="1"/>
          <p:nvPr/>
        </p:nvSpPr>
        <p:spPr>
          <a:xfrm>
            <a:off x="777240" y="5029200"/>
            <a:ext cx="18288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资源下注</a:t>
            </a:r>
          </a:p>
        </p:txBody>
      </p:sp>
      <p:sp>
        <p:nvSpPr>
          <p:cNvPr id="33" name="BET_1_LABEL">
            <a:extLst>
              <a:ext uri="{FF2B5EF4-FFF2-40B4-BE49-F238E27FC236}">
                <a16:creationId xmlns:a16="http://schemas.microsoft.com/office/drawing/2014/main" id="{786E9C03-D23A-EC23-1787-13C5BE70457D}"/>
              </a:ext>
            </a:extLst>
          </p:cNvPr>
          <p:cNvSpPr txBox="1"/>
          <p:nvPr/>
        </p:nvSpPr>
        <p:spPr>
          <a:xfrm>
            <a:off x="27432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首战</a:t>
            </a:r>
          </a:p>
        </p:txBody>
      </p:sp>
      <p:sp>
        <p:nvSpPr>
          <p:cNvPr id="34" name="BET_1_TARGET">
            <a:extLst>
              <a:ext uri="{FF2B5EF4-FFF2-40B4-BE49-F238E27FC236}">
                <a16:creationId xmlns:a16="http://schemas.microsoft.com/office/drawing/2014/main" id="{DDAD1189-109D-3637-A9B4-E26A3933BC62}"/>
              </a:ext>
            </a:extLst>
          </p:cNvPr>
          <p:cNvSpPr txBox="1"/>
          <p:nvPr/>
        </p:nvSpPr>
        <p:spPr>
          <a:xfrm>
            <a:off x="27432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5" name="BET_2_LABEL">
            <a:extLst>
              <a:ext uri="{FF2B5EF4-FFF2-40B4-BE49-F238E27FC236}">
                <a16:creationId xmlns:a16="http://schemas.microsoft.com/office/drawing/2014/main" id="{BFFD6B03-C8A5-93A0-5FB9-7FCD27928AA6}"/>
              </a:ext>
            </a:extLst>
          </p:cNvPr>
          <p:cNvSpPr txBox="1"/>
          <p:nvPr/>
        </p:nvSpPr>
        <p:spPr>
          <a:xfrm>
            <a:off x="54864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候补</a:t>
            </a:r>
          </a:p>
        </p:txBody>
      </p:sp>
      <p:sp>
        <p:nvSpPr>
          <p:cNvPr id="36" name="BET_2_TARGET">
            <a:extLst>
              <a:ext uri="{FF2B5EF4-FFF2-40B4-BE49-F238E27FC236}">
                <a16:creationId xmlns:a16="http://schemas.microsoft.com/office/drawing/2014/main" id="{20C6796D-60B7-787B-4CF3-64AD15D0A9A1}"/>
              </a:ext>
            </a:extLst>
          </p:cNvPr>
          <p:cNvSpPr txBox="1"/>
          <p:nvPr/>
        </p:nvSpPr>
        <p:spPr>
          <a:xfrm>
            <a:off x="54864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7" name="BET_3_LABEL">
            <a:extLst>
              <a:ext uri="{FF2B5EF4-FFF2-40B4-BE49-F238E27FC236}">
                <a16:creationId xmlns:a16="http://schemas.microsoft.com/office/drawing/2014/main" id="{B2810A25-749D-D4E8-04A4-9B4DADE29AB6}"/>
              </a:ext>
            </a:extLst>
          </p:cNvPr>
          <p:cNvSpPr txBox="1"/>
          <p:nvPr/>
        </p:nvSpPr>
        <p:spPr>
          <a:xfrm>
            <a:off x="8229600" y="5029200"/>
            <a:ext cx="1645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暂缓</a:t>
            </a:r>
          </a:p>
        </p:txBody>
      </p:sp>
      <p:sp>
        <p:nvSpPr>
          <p:cNvPr id="38" name="BET_3_TARGET">
            <a:extLst>
              <a:ext uri="{FF2B5EF4-FFF2-40B4-BE49-F238E27FC236}">
                <a16:creationId xmlns:a16="http://schemas.microsoft.com/office/drawing/2014/main" id="{BF29331E-D7FA-AD22-9850-32330DB686D1}"/>
              </a:ext>
            </a:extLst>
          </p:cNvPr>
          <p:cNvSpPr txBox="1"/>
          <p:nvPr/>
        </p:nvSpPr>
        <p:spPr>
          <a:xfrm>
            <a:off x="8229600" y="5440680"/>
            <a:ext cx="23774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（选 </a:t>
            </a:r>
            <a:r>
              <a:rPr lang="en-US" altLang="zh-CN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 </a:t>
            </a:r>
            <a:r>
              <a:rPr lang="zh-CN" altLang="en-US" sz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个）</a:t>
            </a:r>
          </a:p>
        </p:txBody>
      </p:sp>
      <p:sp>
        <p:nvSpPr>
          <p:cNvPr id="39" name="TEACHING_CUE">
            <a:extLst>
              <a:ext uri="{FF2B5EF4-FFF2-40B4-BE49-F238E27FC236}">
                <a16:creationId xmlns:a16="http://schemas.microsoft.com/office/drawing/2014/main" id="{8C34CACC-2A17-882E-E2E3-05E617781765}"/>
              </a:ext>
            </a:extLst>
          </p:cNvPr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先按经营价值排序，再加实施难度；用「高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中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证据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+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待验证字段」，不打精确分数。</a:t>
            </a:r>
          </a:p>
        </p:txBody>
      </p:sp>
    </p:spTree>
    <p:extLst>
      <p:ext uri="{BB962C8B-B14F-4D97-AF65-F5344CB8AC3E}">
        <p14:creationId xmlns:p14="http://schemas.microsoft.com/office/powerpoint/2010/main" val="15180051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3233FEB-5B3F-7EDC-FEF0-59E330411D99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产品增长卡在哪：铺得更广、卖得更动，还是核心品项产出？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914DCF3-D917-3A0C-FC85-06723E57DA52}"/>
              </a:ext>
            </a:extLst>
          </p:cNvPr>
          <p:cNvSpPr txBox="1"/>
          <p:nvPr/>
        </p:nvSpPr>
        <p:spPr>
          <a:xfrm>
            <a:off x="548640" y="987552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产品增长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=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铺货网点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动销回转 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  <a:r>
              <a:rPr lang="en-US" altLang="zh-CN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——</a:t>
            </a:r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先判断卡在哪个杠杆</a:t>
            </a:r>
          </a:p>
        </p:txBody>
      </p:sp>
      <p:sp>
        <p:nvSpPr>
          <p:cNvPr id="4" name="LEVER_BAND_1">
            <a:extLst>
              <a:ext uri="{FF2B5EF4-FFF2-40B4-BE49-F238E27FC236}">
                <a16:creationId xmlns:a16="http://schemas.microsoft.com/office/drawing/2014/main" id="{FEDEE5C4-7BC9-9CC7-B327-C8FEF12B8919}"/>
              </a:ext>
            </a:extLst>
          </p:cNvPr>
          <p:cNvSpPr/>
          <p:nvPr/>
        </p:nvSpPr>
        <p:spPr>
          <a:xfrm>
            <a:off x="548640" y="1600200"/>
            <a:ext cx="3474720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L1_NAME">
            <a:extLst>
              <a:ext uri="{FF2B5EF4-FFF2-40B4-BE49-F238E27FC236}">
                <a16:creationId xmlns:a16="http://schemas.microsoft.com/office/drawing/2014/main" id="{05AC0F55-E458-C52F-786F-087C6EB21846}"/>
              </a:ext>
            </a:extLst>
          </p:cNvPr>
          <p:cNvSpPr txBox="1"/>
          <p:nvPr/>
        </p:nvSpPr>
        <p:spPr>
          <a:xfrm>
            <a:off x="77724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杠杆一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</a:p>
        </p:txBody>
      </p:sp>
      <p:sp>
        <p:nvSpPr>
          <p:cNvPr id="6" name="L1_QUESTION">
            <a:extLst>
              <a:ext uri="{FF2B5EF4-FFF2-40B4-BE49-F238E27FC236}">
                <a16:creationId xmlns:a16="http://schemas.microsoft.com/office/drawing/2014/main" id="{750BBAC5-6861-6C70-5AC5-A748A54B9D42}"/>
              </a:ext>
            </a:extLst>
          </p:cNvPr>
          <p:cNvSpPr txBox="1"/>
          <p:nvPr/>
        </p:nvSpPr>
        <p:spPr>
          <a:xfrm>
            <a:off x="77724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铺得广吗？</a:t>
            </a:r>
          </a:p>
        </p:txBody>
      </p:sp>
      <p:sp>
        <p:nvSpPr>
          <p:cNvPr id="7" name="L1_VALUE">
            <a:extLst>
              <a:ext uri="{FF2B5EF4-FFF2-40B4-BE49-F238E27FC236}">
                <a16:creationId xmlns:a16="http://schemas.microsoft.com/office/drawing/2014/main" id="{8E8A664A-A2AA-6F94-49EA-F8F0841A504B}"/>
              </a:ext>
            </a:extLst>
          </p:cNvPr>
          <p:cNvSpPr txBox="1"/>
          <p:nvPr/>
        </p:nvSpPr>
        <p:spPr>
          <a:xfrm>
            <a:off x="77724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目标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个网点 ｜ 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8" name="MULT_1">
            <a:extLst>
              <a:ext uri="{FF2B5EF4-FFF2-40B4-BE49-F238E27FC236}">
                <a16:creationId xmlns:a16="http://schemas.microsoft.com/office/drawing/2014/main" id="{E244A3C0-CEC7-45B1-4AFF-E3B4ED6360FF}"/>
              </a:ext>
            </a:extLst>
          </p:cNvPr>
          <p:cNvSpPr txBox="1"/>
          <p:nvPr/>
        </p:nvSpPr>
        <p:spPr>
          <a:xfrm>
            <a:off x="404164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9" name="LEVER_BAND_2">
            <a:extLst>
              <a:ext uri="{FF2B5EF4-FFF2-40B4-BE49-F238E27FC236}">
                <a16:creationId xmlns:a16="http://schemas.microsoft.com/office/drawing/2014/main" id="{D32A23FB-72AF-8AFB-83F9-AEA45C987028}"/>
              </a:ext>
            </a:extLst>
          </p:cNvPr>
          <p:cNvSpPr/>
          <p:nvPr/>
        </p:nvSpPr>
        <p:spPr>
          <a:xfrm>
            <a:off x="4297680" y="1600200"/>
            <a:ext cx="34747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L2_NAME">
            <a:extLst>
              <a:ext uri="{FF2B5EF4-FFF2-40B4-BE49-F238E27FC236}">
                <a16:creationId xmlns:a16="http://schemas.microsoft.com/office/drawing/2014/main" id="{E2036FE0-5401-8A45-26B7-BA892BBFBC7C}"/>
              </a:ext>
            </a:extLst>
          </p:cNvPr>
          <p:cNvSpPr txBox="1"/>
          <p:nvPr/>
        </p:nvSpPr>
        <p:spPr>
          <a:xfrm>
            <a:off x="452628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杠杆二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动销</a:t>
            </a:r>
          </a:p>
        </p:txBody>
      </p:sp>
      <p:sp>
        <p:nvSpPr>
          <p:cNvPr id="11" name="L2_QUESTION">
            <a:extLst>
              <a:ext uri="{FF2B5EF4-FFF2-40B4-BE49-F238E27FC236}">
                <a16:creationId xmlns:a16="http://schemas.microsoft.com/office/drawing/2014/main" id="{33F524A9-C071-4F99-0750-20F59B6F198E}"/>
              </a:ext>
            </a:extLst>
          </p:cNvPr>
          <p:cNvSpPr txBox="1"/>
          <p:nvPr/>
        </p:nvSpPr>
        <p:spPr>
          <a:xfrm>
            <a:off x="452628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铺了，回转了吗？</a:t>
            </a:r>
          </a:p>
        </p:txBody>
      </p:sp>
      <p:sp>
        <p:nvSpPr>
          <p:cNvPr id="12" name="L2_VALUE">
            <a:extLst>
              <a:ext uri="{FF2B5EF4-FFF2-40B4-BE49-F238E27FC236}">
                <a16:creationId xmlns:a16="http://schemas.microsoft.com/office/drawing/2014/main" id="{A823C6AE-CA59-5623-702A-0D0E62A79D9C}"/>
              </a:ext>
            </a:extLst>
          </p:cNvPr>
          <p:cNvSpPr txBox="1"/>
          <p:nvPr/>
        </p:nvSpPr>
        <p:spPr>
          <a:xfrm>
            <a:off x="452628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铺货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｜ 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</a:t>
            </a:r>
          </a:p>
        </p:txBody>
      </p:sp>
      <p:sp>
        <p:nvSpPr>
          <p:cNvPr id="13" name="MULT_2">
            <a:extLst>
              <a:ext uri="{FF2B5EF4-FFF2-40B4-BE49-F238E27FC236}">
                <a16:creationId xmlns:a16="http://schemas.microsoft.com/office/drawing/2014/main" id="{E59B378A-A4F3-32EF-5D87-2C7860BB8672}"/>
              </a:ext>
            </a:extLst>
          </p:cNvPr>
          <p:cNvSpPr txBox="1"/>
          <p:nvPr/>
        </p:nvSpPr>
        <p:spPr>
          <a:xfrm>
            <a:off x="7790688" y="2377440"/>
            <a:ext cx="2743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20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x</a:t>
            </a:r>
            <a:endParaRPr lang="zh-CN" altLang="en-US" sz="2000" b="1">
              <a:solidFill>
                <a:srgbClr val="B226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4" name="LEVER_BAND_3">
            <a:extLst>
              <a:ext uri="{FF2B5EF4-FFF2-40B4-BE49-F238E27FC236}">
                <a16:creationId xmlns:a16="http://schemas.microsoft.com/office/drawing/2014/main" id="{D1A5C50C-29E0-38EC-3F61-B9116115DBCA}"/>
              </a:ext>
            </a:extLst>
          </p:cNvPr>
          <p:cNvSpPr/>
          <p:nvPr/>
        </p:nvSpPr>
        <p:spPr>
          <a:xfrm>
            <a:off x="8046720" y="1600200"/>
            <a:ext cx="3474719" cy="214884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L3_NAME">
            <a:extLst>
              <a:ext uri="{FF2B5EF4-FFF2-40B4-BE49-F238E27FC236}">
                <a16:creationId xmlns:a16="http://schemas.microsoft.com/office/drawing/2014/main" id="{6E579A35-6578-EA7C-31D4-2B8083AFCB39}"/>
              </a:ext>
            </a:extLst>
          </p:cNvPr>
          <p:cNvSpPr txBox="1"/>
          <p:nvPr/>
        </p:nvSpPr>
        <p:spPr>
          <a:xfrm>
            <a:off x="8275320" y="178308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杠杆三 </a:t>
            </a:r>
            <a:r>
              <a:rPr lang="en-US" altLang="zh-CN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· </a:t>
            </a:r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核心品项产出</a:t>
            </a:r>
          </a:p>
        </p:txBody>
      </p:sp>
      <p:sp>
        <p:nvSpPr>
          <p:cNvPr id="16" name="L3_QUESTION">
            <a:extLst>
              <a:ext uri="{FF2B5EF4-FFF2-40B4-BE49-F238E27FC236}">
                <a16:creationId xmlns:a16="http://schemas.microsoft.com/office/drawing/2014/main" id="{1D041BAD-D1D0-B507-A9FE-56EA7655F466}"/>
              </a:ext>
            </a:extLst>
          </p:cNvPr>
          <p:cNvSpPr txBox="1"/>
          <p:nvPr/>
        </p:nvSpPr>
        <p:spPr>
          <a:xfrm>
            <a:off x="8275320" y="228600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品项卖得动吗？</a:t>
            </a:r>
          </a:p>
        </p:txBody>
      </p:sp>
      <p:sp>
        <p:nvSpPr>
          <p:cNvPr id="17" name="L3_VALUE">
            <a:extLst>
              <a:ext uri="{FF2B5EF4-FFF2-40B4-BE49-F238E27FC236}">
                <a16:creationId xmlns:a16="http://schemas.microsoft.com/office/drawing/2014/main" id="{A2E973F4-4FD7-C5F0-6F4C-4E1FCC965ADD}"/>
              </a:ext>
            </a:extLst>
          </p:cNvPr>
          <p:cNvSpPr txBox="1"/>
          <p:nvPr/>
        </p:nvSpPr>
        <p:spPr>
          <a:xfrm>
            <a:off x="8275320" y="2880360"/>
            <a:ext cx="30175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回转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×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单品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元</a:t>
            </a:r>
          </a:p>
        </p:txBody>
      </p:sp>
      <p:sp>
        <p:nvSpPr>
          <p:cNvPr id="18" name="CORE_BAND">
            <a:extLst>
              <a:ext uri="{FF2B5EF4-FFF2-40B4-BE49-F238E27FC236}">
                <a16:creationId xmlns:a16="http://schemas.microsoft.com/office/drawing/2014/main" id="{F42265E0-5BF6-A670-52D2-57B9D0E8E288}"/>
              </a:ext>
            </a:extLst>
          </p:cNvPr>
          <p:cNvSpPr/>
          <p:nvPr/>
        </p:nvSpPr>
        <p:spPr>
          <a:xfrm>
            <a:off x="548640" y="4023360"/>
            <a:ext cx="11064240" cy="1143000"/>
          </a:xfrm>
          <a:prstGeom prst="rect">
            <a:avLst/>
          </a:prstGeom>
          <a:solidFill>
            <a:srgbClr val="505046"/>
          </a:solidFill>
          <a:ln w="9525">
            <a:solidFill>
              <a:srgbClr val="50504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CORE_TITLE">
            <a:extLst>
              <a:ext uri="{FF2B5EF4-FFF2-40B4-BE49-F238E27FC236}">
                <a16:creationId xmlns:a16="http://schemas.microsoft.com/office/drawing/2014/main" id="{88FA4898-8BB5-1A3B-AD7F-BC7424E8992E}"/>
              </a:ext>
            </a:extLst>
          </p:cNvPr>
          <p:cNvSpPr txBox="1"/>
          <p:nvPr/>
        </p:nvSpPr>
        <p:spPr>
          <a:xfrm>
            <a:off x="777240" y="4187952"/>
            <a:ext cx="23774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主矛盾判断</a:t>
            </a:r>
          </a:p>
        </p:txBody>
      </p:sp>
      <p:sp>
        <p:nvSpPr>
          <p:cNvPr id="20" name="CORE_FINDING">
            <a:extLst>
              <a:ext uri="{FF2B5EF4-FFF2-40B4-BE49-F238E27FC236}">
                <a16:creationId xmlns:a16="http://schemas.microsoft.com/office/drawing/2014/main" id="{54550F49-ECFE-13D3-F09B-CBC5F1117AA0}"/>
              </a:ext>
            </a:extLst>
          </p:cNvPr>
          <p:cNvSpPr txBox="1"/>
          <p:nvPr/>
        </p:nvSpPr>
        <p:spPr>
          <a:xfrm>
            <a:off x="3291840" y="4224528"/>
            <a:ext cx="81381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当前最卡：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杠杆（依据：</a:t>
            </a:r>
            <a:r>
              <a:rPr lang="en-US" altLang="zh-CN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5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p:sp>
        <p:nvSpPr>
          <p:cNvPr id="21" name="SKU_TITLE">
            <a:extLst>
              <a:ext uri="{FF2B5EF4-FFF2-40B4-BE49-F238E27FC236}">
                <a16:creationId xmlns:a16="http://schemas.microsoft.com/office/drawing/2014/main" id="{38F04CB4-60C4-B623-D175-F63997849F5B}"/>
              </a:ext>
            </a:extLst>
          </p:cNvPr>
          <p:cNvSpPr txBox="1"/>
          <p:nvPr/>
        </p:nvSpPr>
        <p:spPr>
          <a:xfrm>
            <a:off x="548640" y="539496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核心品项策略</a:t>
            </a:r>
          </a:p>
        </p:txBody>
      </p:sp>
      <p:sp>
        <p:nvSpPr>
          <p:cNvPr id="22" name="SKU_BAND_1">
            <a:extLst>
              <a:ext uri="{FF2B5EF4-FFF2-40B4-BE49-F238E27FC236}">
                <a16:creationId xmlns:a16="http://schemas.microsoft.com/office/drawing/2014/main" id="{BABB55BF-8E45-4362-EC7F-04A0558CD713}"/>
              </a:ext>
            </a:extLst>
          </p:cNvPr>
          <p:cNvSpPr/>
          <p:nvPr/>
        </p:nvSpPr>
        <p:spPr>
          <a:xfrm>
            <a:off x="5486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SKU_1_LABEL">
            <a:extLst>
              <a:ext uri="{FF2B5EF4-FFF2-40B4-BE49-F238E27FC236}">
                <a16:creationId xmlns:a16="http://schemas.microsoft.com/office/drawing/2014/main" id="{9C2271AB-D720-355C-DBF5-BC865266B3F3}"/>
              </a:ext>
            </a:extLst>
          </p:cNvPr>
          <p:cNvSpPr txBox="1"/>
          <p:nvPr/>
        </p:nvSpPr>
        <p:spPr>
          <a:xfrm>
            <a:off x="6858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守</a:t>
            </a:r>
          </a:p>
        </p:txBody>
      </p:sp>
      <p:sp>
        <p:nvSpPr>
          <p:cNvPr id="24" name="SKU_1_TEXT">
            <a:extLst>
              <a:ext uri="{FF2B5EF4-FFF2-40B4-BE49-F238E27FC236}">
                <a16:creationId xmlns:a16="http://schemas.microsoft.com/office/drawing/2014/main" id="{E1D7ADB7-68AA-0B96-D23D-60E6A01B703A}"/>
              </a:ext>
            </a:extLst>
          </p:cNvPr>
          <p:cNvSpPr txBox="1"/>
          <p:nvPr/>
        </p:nvSpPr>
        <p:spPr>
          <a:xfrm>
            <a:off x="6858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爆品做深：保覆盖、追复购</a:t>
            </a:r>
          </a:p>
        </p:txBody>
      </p:sp>
      <p:sp>
        <p:nvSpPr>
          <p:cNvPr id="25" name="SKU_BAND_2">
            <a:extLst>
              <a:ext uri="{FF2B5EF4-FFF2-40B4-BE49-F238E27FC236}">
                <a16:creationId xmlns:a16="http://schemas.microsoft.com/office/drawing/2014/main" id="{90DC4061-6732-C0D0-BD74-173CDAFBAA1B}"/>
              </a:ext>
            </a:extLst>
          </p:cNvPr>
          <p:cNvSpPr/>
          <p:nvPr/>
        </p:nvSpPr>
        <p:spPr>
          <a:xfrm>
            <a:off x="3291840" y="539496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SKU_2_LABEL">
            <a:extLst>
              <a:ext uri="{FF2B5EF4-FFF2-40B4-BE49-F238E27FC236}">
                <a16:creationId xmlns:a16="http://schemas.microsoft.com/office/drawing/2014/main" id="{D5919042-9605-5FA2-ED02-3D33838816DB}"/>
              </a:ext>
            </a:extLst>
          </p:cNvPr>
          <p:cNvSpPr txBox="1"/>
          <p:nvPr/>
        </p:nvSpPr>
        <p:spPr>
          <a:xfrm>
            <a:off x="34290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扩</a:t>
            </a:r>
          </a:p>
        </p:txBody>
      </p:sp>
      <p:sp>
        <p:nvSpPr>
          <p:cNvPr id="27" name="SKU_2_TEXT">
            <a:extLst>
              <a:ext uri="{FF2B5EF4-FFF2-40B4-BE49-F238E27FC236}">
                <a16:creationId xmlns:a16="http://schemas.microsoft.com/office/drawing/2014/main" id="{0142CF99-C39B-1B1A-E4B7-16218236D99F}"/>
              </a:ext>
            </a:extLst>
          </p:cNvPr>
          <p:cNvSpPr txBox="1"/>
          <p:nvPr/>
        </p:nvSpPr>
        <p:spPr>
          <a:xfrm>
            <a:off x="34290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潜力品项铺开到匹配网点</a:t>
            </a:r>
          </a:p>
        </p:txBody>
      </p:sp>
      <p:sp>
        <p:nvSpPr>
          <p:cNvPr id="28" name="SKU_BAND_3">
            <a:extLst>
              <a:ext uri="{FF2B5EF4-FFF2-40B4-BE49-F238E27FC236}">
                <a16:creationId xmlns:a16="http://schemas.microsoft.com/office/drawing/2014/main" id="{9280703C-1259-BFB8-E7A1-C2213B16BBD9}"/>
              </a:ext>
            </a:extLst>
          </p:cNvPr>
          <p:cNvSpPr/>
          <p:nvPr/>
        </p:nvSpPr>
        <p:spPr>
          <a:xfrm>
            <a:off x="6035040" y="5394960"/>
            <a:ext cx="2468880" cy="91440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SKU_3_LABEL">
            <a:extLst>
              <a:ext uri="{FF2B5EF4-FFF2-40B4-BE49-F238E27FC236}">
                <a16:creationId xmlns:a16="http://schemas.microsoft.com/office/drawing/2014/main" id="{DC01EA15-4709-96D5-2B1E-81D7AA6BFD94}"/>
              </a:ext>
            </a:extLst>
          </p:cNvPr>
          <p:cNvSpPr txBox="1"/>
          <p:nvPr/>
        </p:nvSpPr>
        <p:spPr>
          <a:xfrm>
            <a:off x="61722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育</a:t>
            </a:r>
          </a:p>
        </p:txBody>
      </p:sp>
      <p:sp>
        <p:nvSpPr>
          <p:cNvPr id="30" name="SKU_3_TEXT">
            <a:extLst>
              <a:ext uri="{FF2B5EF4-FFF2-40B4-BE49-F238E27FC236}">
                <a16:creationId xmlns:a16="http://schemas.microsoft.com/office/drawing/2014/main" id="{A61A1836-475F-5557-EB7C-3D75470FA52D}"/>
              </a:ext>
            </a:extLst>
          </p:cNvPr>
          <p:cNvSpPr txBox="1"/>
          <p:nvPr/>
        </p:nvSpPr>
        <p:spPr>
          <a:xfrm>
            <a:off x="61722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孵化新品项：小批量验证</a:t>
            </a:r>
          </a:p>
        </p:txBody>
      </p:sp>
      <p:sp>
        <p:nvSpPr>
          <p:cNvPr id="31" name="SKU_BAND_4">
            <a:extLst>
              <a:ext uri="{FF2B5EF4-FFF2-40B4-BE49-F238E27FC236}">
                <a16:creationId xmlns:a16="http://schemas.microsoft.com/office/drawing/2014/main" id="{6A83717F-4A4D-BAC9-62B5-C545C7E8EB5A}"/>
              </a:ext>
            </a:extLst>
          </p:cNvPr>
          <p:cNvSpPr/>
          <p:nvPr/>
        </p:nvSpPr>
        <p:spPr>
          <a:xfrm>
            <a:off x="8778240" y="5394960"/>
            <a:ext cx="24688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SKU_4_LABEL">
            <a:extLst>
              <a:ext uri="{FF2B5EF4-FFF2-40B4-BE49-F238E27FC236}">
                <a16:creationId xmlns:a16="http://schemas.microsoft.com/office/drawing/2014/main" id="{5A7F105B-61E0-65DF-0BE8-49C8A65A57B3}"/>
              </a:ext>
            </a:extLst>
          </p:cNvPr>
          <p:cNvSpPr txBox="1"/>
          <p:nvPr/>
        </p:nvSpPr>
        <p:spPr>
          <a:xfrm>
            <a:off x="8915400" y="5440680"/>
            <a:ext cx="9144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淘汰</a:t>
            </a:r>
          </a:p>
        </p:txBody>
      </p:sp>
      <p:sp>
        <p:nvSpPr>
          <p:cNvPr id="33" name="SKU_4_TEXT">
            <a:extLst>
              <a:ext uri="{FF2B5EF4-FFF2-40B4-BE49-F238E27FC236}">
                <a16:creationId xmlns:a16="http://schemas.microsoft.com/office/drawing/2014/main" id="{2770535A-2758-2C64-F43D-8DD51D09CBBF}"/>
              </a:ext>
            </a:extLst>
          </p:cNvPr>
          <p:cNvSpPr txBox="1"/>
          <p:nvPr/>
        </p:nvSpPr>
        <p:spPr>
          <a:xfrm>
            <a:off x="8915400" y="5806440"/>
            <a:ext cx="219456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1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低效品项退出或换品</a:t>
            </a:r>
          </a:p>
        </p:txBody>
      </p:sp>
      <p:sp>
        <p:nvSpPr>
          <p:cNvPr id="34" name="TEACHING_CUE">
            <a:extLst>
              <a:ext uri="{FF2B5EF4-FFF2-40B4-BE49-F238E27FC236}">
                <a16:creationId xmlns:a16="http://schemas.microsoft.com/office/drawing/2014/main" id="{44FE768B-F44F-362A-09BB-79B9C6E7897C}"/>
              </a:ext>
            </a:extLst>
          </p:cNvPr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一次销量≠爆品：检查覆盖、回转与复购；缺数据用低置信度代理并标注缺失。</a:t>
            </a:r>
          </a:p>
        </p:txBody>
      </p:sp>
    </p:spTree>
    <p:extLst>
      <p:ext uri="{BB962C8B-B14F-4D97-AF65-F5344CB8AC3E}">
        <p14:creationId xmlns:p14="http://schemas.microsoft.com/office/powerpoint/2010/main" val="3332818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C9C48DE-3B72-13E3-A3FD-D1ACA3E18004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如果你是这位经销商，你会先怎么做？</a:t>
            </a:r>
          </a:p>
        </p:txBody>
      </p:sp>
      <p:sp>
        <p:nvSpPr>
          <p:cNvPr id="3" name="SCENARIO_BAND">
            <a:extLst>
              <a:ext uri="{FF2B5EF4-FFF2-40B4-BE49-F238E27FC236}">
                <a16:creationId xmlns:a16="http://schemas.microsoft.com/office/drawing/2014/main" id="{66847BD6-1832-5631-2A4F-8BB802A90B03}"/>
              </a:ext>
            </a:extLst>
          </p:cNvPr>
          <p:cNvSpPr/>
          <p:nvPr/>
        </p:nvSpPr>
        <p:spPr>
          <a:xfrm>
            <a:off x="548640" y="1143000"/>
            <a:ext cx="11064240" cy="14173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SCENARIO_TITLE">
            <a:extLst>
              <a:ext uri="{FF2B5EF4-FFF2-40B4-BE49-F238E27FC236}">
                <a16:creationId xmlns:a16="http://schemas.microsoft.com/office/drawing/2014/main" id="{99016AF5-FD60-3394-9DDC-B3790F813EFB}"/>
              </a:ext>
            </a:extLst>
          </p:cNvPr>
          <p:cNvSpPr txBox="1"/>
          <p:nvPr/>
        </p:nvSpPr>
        <p:spPr>
          <a:xfrm>
            <a:off x="777240" y="1280160"/>
            <a:ext cx="36576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情景（匿名综合案例）</a:t>
            </a:r>
          </a:p>
        </p:txBody>
      </p:sp>
      <p:sp>
        <p:nvSpPr>
          <p:cNvPr id="5" name="SCENARIO_TEXT">
            <a:extLst>
              <a:ext uri="{FF2B5EF4-FFF2-40B4-BE49-F238E27FC236}">
                <a16:creationId xmlns:a16="http://schemas.microsoft.com/office/drawing/2014/main" id="{22C2228F-0C31-17A4-3CFF-D7F53A20673C}"/>
              </a:ext>
            </a:extLst>
          </p:cNvPr>
          <p:cNvSpPr txBox="1"/>
          <p:nvPr/>
        </p:nvSpPr>
        <p:spPr>
          <a:xfrm>
            <a:off x="777240" y="1691640"/>
            <a:ext cx="1060704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某县经销商：县城新房交付减少，已在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个乡镇铺过货但动销一般；手上有 </a:t>
            </a:r>
            <a:r>
              <a:rPr lang="en-US" altLang="zh-CN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 </a:t>
            </a:r>
            <a:r>
              <a:rPr lang="zh-CN" altLang="en-US" sz="13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个业务员，资金有限。刚听说邻县中心镇有一个大型安置房项目正在启动。</a:t>
            </a:r>
          </a:p>
        </p:txBody>
      </p:sp>
      <p:sp>
        <p:nvSpPr>
          <p:cNvPr id="6" name="CHOICE_TITLE">
            <a:extLst>
              <a:ext uri="{FF2B5EF4-FFF2-40B4-BE49-F238E27FC236}">
                <a16:creationId xmlns:a16="http://schemas.microsoft.com/office/drawing/2014/main" id="{139D36BB-CF5C-23B7-63E6-AC44DCCFFEA0}"/>
              </a:ext>
            </a:extLst>
          </p:cNvPr>
          <p:cNvSpPr txBox="1"/>
          <p:nvPr/>
        </p:nvSpPr>
        <p:spPr>
          <a:xfrm>
            <a:off x="548640" y="2788920"/>
            <a:ext cx="731520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6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你会先怎么做？</a:t>
            </a:r>
          </a:p>
        </p:txBody>
      </p:sp>
      <p:sp>
        <p:nvSpPr>
          <p:cNvPr id="7" name="CHOICE_BAND_1">
            <a:extLst>
              <a:ext uri="{FF2B5EF4-FFF2-40B4-BE49-F238E27FC236}">
                <a16:creationId xmlns:a16="http://schemas.microsoft.com/office/drawing/2014/main" id="{BBFC4A4E-9086-F238-69A2-DA5852D8DF3A}"/>
              </a:ext>
            </a:extLst>
          </p:cNvPr>
          <p:cNvSpPr/>
          <p:nvPr/>
        </p:nvSpPr>
        <p:spPr>
          <a:xfrm>
            <a:off x="548640" y="33375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CHOICE_1_TEXT">
            <a:extLst>
              <a:ext uri="{FF2B5EF4-FFF2-40B4-BE49-F238E27FC236}">
                <a16:creationId xmlns:a16="http://schemas.microsoft.com/office/drawing/2014/main" id="{519F2A7A-CAE7-1405-19F2-088D4352D8DC}"/>
              </a:ext>
            </a:extLst>
          </p:cNvPr>
          <p:cNvSpPr txBox="1"/>
          <p:nvPr/>
        </p:nvSpPr>
        <p:spPr>
          <a:xfrm>
            <a:off x="868680" y="333756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先打邻县中心镇安置房项目，找关系进项目</a:t>
            </a:r>
          </a:p>
        </p:txBody>
      </p:sp>
      <p:sp>
        <p:nvSpPr>
          <p:cNvPr id="9" name="CHOICE_BAND_2">
            <a:extLst>
              <a:ext uri="{FF2B5EF4-FFF2-40B4-BE49-F238E27FC236}">
                <a16:creationId xmlns:a16="http://schemas.microsoft.com/office/drawing/2014/main" id="{E9BAAACE-97F5-E22A-71CA-3FFFE6F4A502}"/>
              </a:ext>
            </a:extLst>
          </p:cNvPr>
          <p:cNvSpPr/>
          <p:nvPr/>
        </p:nvSpPr>
        <p:spPr>
          <a:xfrm>
            <a:off x="548640" y="393192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CHOICE_2_TEXT">
            <a:extLst>
              <a:ext uri="{FF2B5EF4-FFF2-40B4-BE49-F238E27FC236}">
                <a16:creationId xmlns:a16="http://schemas.microsoft.com/office/drawing/2014/main" id="{63124779-893F-56F7-4DFA-EC6464EECA45}"/>
              </a:ext>
            </a:extLst>
          </p:cNvPr>
          <p:cNvSpPr txBox="1"/>
          <p:nvPr/>
        </p:nvSpPr>
        <p:spPr>
          <a:xfrm>
            <a:off x="868680" y="393192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先激活已有 </a:t>
            </a:r>
            <a:r>
              <a:rPr lang="en-US" altLang="zh-CN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3 </a:t>
            </a:r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个乡镇网点，促动销、补货</a:t>
            </a:r>
          </a:p>
        </p:txBody>
      </p:sp>
      <p:sp>
        <p:nvSpPr>
          <p:cNvPr id="11" name="CHOICE_BAND_3">
            <a:extLst>
              <a:ext uri="{FF2B5EF4-FFF2-40B4-BE49-F238E27FC236}">
                <a16:creationId xmlns:a16="http://schemas.microsoft.com/office/drawing/2014/main" id="{BA41100A-3526-FEE6-B14B-7B6A5CCDA214}"/>
              </a:ext>
            </a:extLst>
          </p:cNvPr>
          <p:cNvSpPr/>
          <p:nvPr/>
        </p:nvSpPr>
        <p:spPr>
          <a:xfrm>
            <a:off x="548640" y="452628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CHOICE_3_TEXT">
            <a:extLst>
              <a:ext uri="{FF2B5EF4-FFF2-40B4-BE49-F238E27FC236}">
                <a16:creationId xmlns:a16="http://schemas.microsoft.com/office/drawing/2014/main" id="{A1018907-D5E9-5AC9-D044-C8DD3A417D1F}"/>
              </a:ext>
            </a:extLst>
          </p:cNvPr>
          <p:cNvSpPr txBox="1"/>
          <p:nvPr/>
        </p:nvSpPr>
        <p:spPr>
          <a:xfrm>
            <a:off x="868680" y="452628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先在县城做品牌展示和服务站，夯实大本营</a:t>
            </a:r>
          </a:p>
        </p:txBody>
      </p:sp>
      <p:sp>
        <p:nvSpPr>
          <p:cNvPr id="13" name="CHOICE_BAND_4">
            <a:extLst>
              <a:ext uri="{FF2B5EF4-FFF2-40B4-BE49-F238E27FC236}">
                <a16:creationId xmlns:a16="http://schemas.microsoft.com/office/drawing/2014/main" id="{DF86394F-7B31-58E2-014C-B573BCD56A69}"/>
              </a:ext>
            </a:extLst>
          </p:cNvPr>
          <p:cNvSpPr/>
          <p:nvPr/>
        </p:nvSpPr>
        <p:spPr>
          <a:xfrm>
            <a:off x="548640" y="512064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CHOICE_4_TEXT">
            <a:extLst>
              <a:ext uri="{FF2B5EF4-FFF2-40B4-BE49-F238E27FC236}">
                <a16:creationId xmlns:a16="http://schemas.microsoft.com/office/drawing/2014/main" id="{8FB12730-7740-E3EC-59DF-6B2241118AFB}"/>
              </a:ext>
            </a:extLst>
          </p:cNvPr>
          <p:cNvSpPr txBox="1"/>
          <p:nvPr/>
        </p:nvSpPr>
        <p:spPr>
          <a:xfrm>
            <a:off x="868680" y="5120640"/>
            <a:ext cx="10424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先加跑乡镇的业务员，增加触达和线索</a:t>
            </a:r>
          </a:p>
        </p:txBody>
      </p:sp>
      <p:sp>
        <p:nvSpPr>
          <p:cNvPr id="15" name="DEBRIEF_CUE">
            <a:extLst>
              <a:ext uri="{FF2B5EF4-FFF2-40B4-BE49-F238E27FC236}">
                <a16:creationId xmlns:a16="http://schemas.microsoft.com/office/drawing/2014/main" id="{7B970C88-B014-1D34-A257-D3066A911C0C}"/>
              </a:ext>
            </a:extLst>
          </p:cNvPr>
          <p:cNvSpPr txBox="1"/>
          <p:nvPr/>
        </p:nvSpPr>
        <p:spPr>
          <a:xfrm>
            <a:off x="548640" y="580644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先选，再讲理由；本页不公布答案。</a:t>
            </a:r>
          </a:p>
        </p:txBody>
      </p:sp>
      <p:sp>
        <p:nvSpPr>
          <p:cNvPr id="16" name="TEACHING_CUE">
            <a:extLst>
              <a:ext uri="{FF2B5EF4-FFF2-40B4-BE49-F238E27FC236}">
                <a16:creationId xmlns:a16="http://schemas.microsoft.com/office/drawing/2014/main" id="{A7D14817-8851-6253-50C6-A6B12570FAB3}"/>
              </a:ext>
            </a:extLst>
          </p:cNvPr>
          <p:cNvSpPr txBox="1"/>
          <p:nvPr/>
        </p:nvSpPr>
        <p:spPr>
          <a:xfrm>
            <a:off x="548640" y="62179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先收集各组的选项与理由，再引导讨论每个选项的成本与可验证依据；选项无对错，避免羞辱。</a:t>
            </a:r>
          </a:p>
        </p:txBody>
      </p:sp>
    </p:spTree>
    <p:extLst>
      <p:ext uri="{BB962C8B-B14F-4D97-AF65-F5344CB8AC3E}">
        <p14:creationId xmlns:p14="http://schemas.microsoft.com/office/powerpoint/2010/main" val="29303082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D348B54-B680-DB9B-C4B6-4784A300A26A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5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先看症状，再给解读：你的乡镇经营卡在哪？</a:t>
            </a: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A0CDBDFC-F762-FC87-4652-9FE9F40C76EF}"/>
              </a:ext>
            </a:extLst>
          </p:cNvPr>
          <p:cNvSpPr txBox="1"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按维度逐行诊断：症状是事实，解读是判断，下一步是动作</a:t>
            </a:r>
          </a:p>
        </p:txBody>
      </p:sp>
      <p:sp>
        <p:nvSpPr>
          <p:cNvPr id="4" name="HDR_1">
            <a:extLst>
              <a:ext uri="{FF2B5EF4-FFF2-40B4-BE49-F238E27FC236}">
                <a16:creationId xmlns:a16="http://schemas.microsoft.com/office/drawing/2014/main" id="{BE52C567-7A51-F0F2-AB3D-35215106491A}"/>
              </a:ext>
            </a:extLst>
          </p:cNvPr>
          <p:cNvSpPr txBox="1"/>
          <p:nvPr/>
        </p:nvSpPr>
        <p:spPr>
          <a:xfrm>
            <a:off x="548640" y="1463040"/>
            <a:ext cx="219456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经营维度</a:t>
            </a:r>
          </a:p>
        </p:txBody>
      </p:sp>
      <p:sp>
        <p:nvSpPr>
          <p:cNvPr id="5" name="HDR_2">
            <a:extLst>
              <a:ext uri="{FF2B5EF4-FFF2-40B4-BE49-F238E27FC236}">
                <a16:creationId xmlns:a16="http://schemas.microsoft.com/office/drawing/2014/main" id="{62847ADC-7C5F-3370-D193-84EAFA0AD2A3}"/>
              </a:ext>
            </a:extLst>
          </p:cNvPr>
          <p:cNvSpPr txBox="1"/>
          <p:nvPr/>
        </p:nvSpPr>
        <p:spPr>
          <a:xfrm>
            <a:off x="283464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可见症状</a:t>
            </a:r>
          </a:p>
        </p:txBody>
      </p:sp>
      <p:sp>
        <p:nvSpPr>
          <p:cNvPr id="6" name="HDR_3">
            <a:extLst>
              <a:ext uri="{FF2B5EF4-FFF2-40B4-BE49-F238E27FC236}">
                <a16:creationId xmlns:a16="http://schemas.microsoft.com/office/drawing/2014/main" id="{4C178E36-50EF-33C0-19B2-41DF2D4E3AA5}"/>
              </a:ext>
            </a:extLst>
          </p:cNvPr>
          <p:cNvSpPr txBox="1"/>
          <p:nvPr/>
        </p:nvSpPr>
        <p:spPr>
          <a:xfrm>
            <a:off x="5486400" y="1463040"/>
            <a:ext cx="25603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解读</a:t>
            </a:r>
          </a:p>
        </p:txBody>
      </p:sp>
      <p:sp>
        <p:nvSpPr>
          <p:cNvPr id="7" name="HDR_4">
            <a:extLst>
              <a:ext uri="{FF2B5EF4-FFF2-40B4-BE49-F238E27FC236}">
                <a16:creationId xmlns:a16="http://schemas.microsoft.com/office/drawing/2014/main" id="{6E15FE9A-5A22-C4D4-75D9-0F93A90F99EB}"/>
              </a:ext>
            </a:extLst>
          </p:cNvPr>
          <p:cNvSpPr txBox="1"/>
          <p:nvPr/>
        </p:nvSpPr>
        <p:spPr>
          <a:xfrm>
            <a:off x="8138160" y="1463040"/>
            <a:ext cx="34747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下一步</a:t>
            </a:r>
          </a:p>
        </p:txBody>
      </p:sp>
      <p:sp>
        <p:nvSpPr>
          <p:cNvPr id="8" name="ROW_BAND_1">
            <a:extLst>
              <a:ext uri="{FF2B5EF4-FFF2-40B4-BE49-F238E27FC236}">
                <a16:creationId xmlns:a16="http://schemas.microsoft.com/office/drawing/2014/main" id="{7C186B51-50DB-7BD4-0425-68B30FC00298}"/>
              </a:ext>
            </a:extLst>
          </p:cNvPr>
          <p:cNvSpPr/>
          <p:nvPr/>
        </p:nvSpPr>
        <p:spPr>
          <a:xfrm>
            <a:off x="548640" y="192024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DIM_1_NAME">
            <a:extLst>
              <a:ext uri="{FF2B5EF4-FFF2-40B4-BE49-F238E27FC236}">
                <a16:creationId xmlns:a16="http://schemas.microsoft.com/office/drawing/2014/main" id="{9F34780E-5F06-32CC-1145-C4468720E266}"/>
              </a:ext>
            </a:extLst>
          </p:cNvPr>
          <p:cNvSpPr txBox="1"/>
          <p:nvPr/>
        </p:nvSpPr>
        <p:spPr>
          <a:xfrm>
            <a:off x="685800" y="199339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覆盖</a:t>
            </a:r>
          </a:p>
        </p:txBody>
      </p:sp>
      <p:sp>
        <p:nvSpPr>
          <p:cNvPr id="10" name="DIM_1_SYMPTOM">
            <a:extLst>
              <a:ext uri="{FF2B5EF4-FFF2-40B4-BE49-F238E27FC236}">
                <a16:creationId xmlns:a16="http://schemas.microsoft.com/office/drawing/2014/main" id="{96438923-3B34-EEE7-6698-E088990D3979}"/>
              </a:ext>
            </a:extLst>
          </p:cNvPr>
          <p:cNvSpPr txBox="1"/>
          <p:nvPr/>
        </p:nvSpPr>
        <p:spPr>
          <a:xfrm>
            <a:off x="297180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网点铺了，但不动销</a:t>
            </a:r>
          </a:p>
        </p:txBody>
      </p:sp>
      <p:sp>
        <p:nvSpPr>
          <p:cNvPr id="11" name="DIM_1_READ">
            <a:extLst>
              <a:ext uri="{FF2B5EF4-FFF2-40B4-BE49-F238E27FC236}">
                <a16:creationId xmlns:a16="http://schemas.microsoft.com/office/drawing/2014/main" id="{03A3FF9F-A980-AD0F-15CD-EBAD4E176935}"/>
              </a:ext>
            </a:extLst>
          </p:cNvPr>
          <p:cNvSpPr txBox="1"/>
          <p:nvPr/>
        </p:nvSpPr>
        <p:spPr>
          <a:xfrm>
            <a:off x="5623560" y="199339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渠道力偏弱</a:t>
            </a:r>
          </a:p>
        </p:txBody>
      </p:sp>
      <p:sp>
        <p:nvSpPr>
          <p:cNvPr id="12" name="DIM_1_NEXT">
            <a:extLst>
              <a:ext uri="{FF2B5EF4-FFF2-40B4-BE49-F238E27FC236}">
                <a16:creationId xmlns:a16="http://schemas.microsoft.com/office/drawing/2014/main" id="{86A6E245-2D19-96C7-D7BF-E37220EE1841}"/>
              </a:ext>
            </a:extLst>
          </p:cNvPr>
          <p:cNvSpPr txBox="1"/>
          <p:nvPr/>
        </p:nvSpPr>
        <p:spPr>
          <a:xfrm>
            <a:off x="8275320" y="199339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按核心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普通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低效分类，集中激活</a:t>
            </a:r>
          </a:p>
        </p:txBody>
      </p:sp>
      <p:sp>
        <p:nvSpPr>
          <p:cNvPr id="13" name="ROW_BAND_2">
            <a:extLst>
              <a:ext uri="{FF2B5EF4-FFF2-40B4-BE49-F238E27FC236}">
                <a16:creationId xmlns:a16="http://schemas.microsoft.com/office/drawing/2014/main" id="{55943540-F103-5EFD-0155-13E5A587367B}"/>
              </a:ext>
            </a:extLst>
          </p:cNvPr>
          <p:cNvSpPr/>
          <p:nvPr/>
        </p:nvSpPr>
        <p:spPr>
          <a:xfrm>
            <a:off x="548640" y="251460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DIM_2_NAME">
            <a:extLst>
              <a:ext uri="{FF2B5EF4-FFF2-40B4-BE49-F238E27FC236}">
                <a16:creationId xmlns:a16="http://schemas.microsoft.com/office/drawing/2014/main" id="{9A101BCD-4D62-9E6F-6D45-2F4D3A0A337D}"/>
              </a:ext>
            </a:extLst>
          </p:cNvPr>
          <p:cNvSpPr txBox="1"/>
          <p:nvPr/>
        </p:nvSpPr>
        <p:spPr>
          <a:xfrm>
            <a:off x="685800" y="258775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活跃</a:t>
            </a:r>
          </a:p>
        </p:txBody>
      </p:sp>
      <p:sp>
        <p:nvSpPr>
          <p:cNvPr id="15" name="DIM_2_SYMPTOM">
            <a:extLst>
              <a:ext uri="{FF2B5EF4-FFF2-40B4-BE49-F238E27FC236}">
                <a16:creationId xmlns:a16="http://schemas.microsoft.com/office/drawing/2014/main" id="{F6AF167C-568F-B747-D47B-7A914351C73B}"/>
              </a:ext>
            </a:extLst>
          </p:cNvPr>
          <p:cNvSpPr txBox="1"/>
          <p:nvPr/>
        </p:nvSpPr>
        <p:spPr>
          <a:xfrm>
            <a:off x="297180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补货不稳定，靠促销撑</a:t>
            </a:r>
          </a:p>
        </p:txBody>
      </p:sp>
      <p:sp>
        <p:nvSpPr>
          <p:cNvPr id="16" name="DIM_2_READ">
            <a:extLst>
              <a:ext uri="{FF2B5EF4-FFF2-40B4-BE49-F238E27FC236}">
                <a16:creationId xmlns:a16="http://schemas.microsoft.com/office/drawing/2014/main" id="{C1398A27-6A25-020F-53CB-91DE7CF0DFCB}"/>
              </a:ext>
            </a:extLst>
          </p:cNvPr>
          <p:cNvSpPr txBox="1"/>
          <p:nvPr/>
        </p:nvSpPr>
        <p:spPr>
          <a:xfrm>
            <a:off x="5623560" y="258775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拜访缺任务，动销未形成</a:t>
            </a:r>
          </a:p>
        </p:txBody>
      </p:sp>
      <p:sp>
        <p:nvSpPr>
          <p:cNvPr id="17" name="DIM_2_NEXT">
            <a:extLst>
              <a:ext uri="{FF2B5EF4-FFF2-40B4-BE49-F238E27FC236}">
                <a16:creationId xmlns:a16="http://schemas.microsoft.com/office/drawing/2014/main" id="{D5EFB405-A445-5EB2-A799-899C4670B41C}"/>
              </a:ext>
            </a:extLst>
          </p:cNvPr>
          <p:cNvSpPr txBox="1"/>
          <p:nvPr/>
        </p:nvSpPr>
        <p:spPr>
          <a:xfrm>
            <a:off x="8275320" y="258775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固定路线，每次拜访带项目提问</a:t>
            </a:r>
          </a:p>
        </p:txBody>
      </p:sp>
      <p:sp>
        <p:nvSpPr>
          <p:cNvPr id="18" name="ROW_BAND_3">
            <a:extLst>
              <a:ext uri="{FF2B5EF4-FFF2-40B4-BE49-F238E27FC236}">
                <a16:creationId xmlns:a16="http://schemas.microsoft.com/office/drawing/2014/main" id="{63F862FA-64FB-A96E-7486-C6AD81B05089}"/>
              </a:ext>
            </a:extLst>
          </p:cNvPr>
          <p:cNvSpPr/>
          <p:nvPr/>
        </p:nvSpPr>
        <p:spPr>
          <a:xfrm>
            <a:off x="548640" y="3108960"/>
            <a:ext cx="1106424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IM_3_NAME">
            <a:extLst>
              <a:ext uri="{FF2B5EF4-FFF2-40B4-BE49-F238E27FC236}">
                <a16:creationId xmlns:a16="http://schemas.microsoft.com/office/drawing/2014/main" id="{BDF8D63D-3A10-D5EA-5188-F515DFD282B6}"/>
              </a:ext>
            </a:extLst>
          </p:cNvPr>
          <p:cNvSpPr txBox="1"/>
          <p:nvPr/>
        </p:nvSpPr>
        <p:spPr>
          <a:xfrm>
            <a:off x="685800" y="318211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品项</a:t>
            </a:r>
          </a:p>
        </p:txBody>
      </p:sp>
      <p:sp>
        <p:nvSpPr>
          <p:cNvPr id="20" name="DIM_3_SYMPTOM">
            <a:extLst>
              <a:ext uri="{FF2B5EF4-FFF2-40B4-BE49-F238E27FC236}">
                <a16:creationId xmlns:a16="http://schemas.microsoft.com/office/drawing/2014/main" id="{7A1E9BA9-2E5B-7849-95E9-91833DDBA39E}"/>
              </a:ext>
            </a:extLst>
          </p:cNvPr>
          <p:cNvSpPr txBox="1"/>
          <p:nvPr/>
        </p:nvSpPr>
        <p:spPr>
          <a:xfrm>
            <a:off x="297180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没有主推品项</a:t>
            </a:r>
          </a:p>
        </p:txBody>
      </p:sp>
      <p:sp>
        <p:nvSpPr>
          <p:cNvPr id="21" name="DIM_3_READ">
            <a:extLst>
              <a:ext uri="{FF2B5EF4-FFF2-40B4-BE49-F238E27FC236}">
                <a16:creationId xmlns:a16="http://schemas.microsoft.com/office/drawing/2014/main" id="{6F6EA3BF-9CA5-4DFE-FED2-5518487C6214}"/>
              </a:ext>
            </a:extLst>
          </p:cNvPr>
          <p:cNvSpPr txBox="1"/>
          <p:nvPr/>
        </p:nvSpPr>
        <p:spPr>
          <a:xfrm>
            <a:off x="5623560" y="318211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产品力弱，上量无抓手</a:t>
            </a:r>
          </a:p>
        </p:txBody>
      </p:sp>
      <p:sp>
        <p:nvSpPr>
          <p:cNvPr id="22" name="DIM_3_NEXT">
            <a:extLst>
              <a:ext uri="{FF2B5EF4-FFF2-40B4-BE49-F238E27FC236}">
                <a16:creationId xmlns:a16="http://schemas.microsoft.com/office/drawing/2014/main" id="{4EB2A178-812F-6C01-E644-8BE9DCD98B61}"/>
              </a:ext>
            </a:extLst>
          </p:cNvPr>
          <p:cNvSpPr txBox="1"/>
          <p:nvPr/>
        </p:nvSpPr>
        <p:spPr>
          <a:xfrm>
            <a:off x="8275320" y="318211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选 </a:t>
            </a:r>
            <a:r>
              <a:rPr lang="en-US" altLang="zh-CN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1-2 </a:t>
            </a:r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款主推，配套陈列与话术</a:t>
            </a:r>
          </a:p>
        </p:txBody>
      </p:sp>
      <p:sp>
        <p:nvSpPr>
          <p:cNvPr id="23" name="ROW_BAND_4">
            <a:extLst>
              <a:ext uri="{FF2B5EF4-FFF2-40B4-BE49-F238E27FC236}">
                <a16:creationId xmlns:a16="http://schemas.microsoft.com/office/drawing/2014/main" id="{DF6ACB09-3F0C-E5FD-A8CF-66F1DA8B82FF}"/>
              </a:ext>
            </a:extLst>
          </p:cNvPr>
          <p:cNvSpPr/>
          <p:nvPr/>
        </p:nvSpPr>
        <p:spPr>
          <a:xfrm>
            <a:off x="548640" y="3703320"/>
            <a:ext cx="11064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DIM_4_NAME">
            <a:extLst>
              <a:ext uri="{FF2B5EF4-FFF2-40B4-BE49-F238E27FC236}">
                <a16:creationId xmlns:a16="http://schemas.microsoft.com/office/drawing/2014/main" id="{BBD963CA-428E-B658-21CE-B98339442A57}"/>
              </a:ext>
            </a:extLst>
          </p:cNvPr>
          <p:cNvSpPr txBox="1"/>
          <p:nvPr/>
        </p:nvSpPr>
        <p:spPr>
          <a:xfrm>
            <a:off x="685800" y="3776472"/>
            <a:ext cx="192024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</a:t>
            </a:r>
          </a:p>
        </p:txBody>
      </p:sp>
      <p:sp>
        <p:nvSpPr>
          <p:cNvPr id="25" name="DIM_4_SYMPTOM">
            <a:extLst>
              <a:ext uri="{FF2B5EF4-FFF2-40B4-BE49-F238E27FC236}">
                <a16:creationId xmlns:a16="http://schemas.microsoft.com/office/drawing/2014/main" id="{1E55DDB4-5471-4059-A76E-1E3931FD26D7}"/>
              </a:ext>
            </a:extLst>
          </p:cNvPr>
          <p:cNvSpPr txBox="1"/>
          <p:nvPr/>
        </p:nvSpPr>
        <p:spPr>
          <a:xfrm>
            <a:off x="297180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售后没人接，口碑传不动</a:t>
            </a:r>
          </a:p>
        </p:txBody>
      </p:sp>
      <p:sp>
        <p:nvSpPr>
          <p:cNvPr id="26" name="DIM_4_READ">
            <a:extLst>
              <a:ext uri="{FF2B5EF4-FFF2-40B4-BE49-F238E27FC236}">
                <a16:creationId xmlns:a16="http://schemas.microsoft.com/office/drawing/2014/main" id="{BF0ACD3F-6E8F-7897-61E8-535224B727D3}"/>
              </a:ext>
            </a:extLst>
          </p:cNvPr>
          <p:cNvSpPr txBox="1"/>
          <p:nvPr/>
        </p:nvSpPr>
        <p:spPr>
          <a:xfrm>
            <a:off x="5623560" y="3776472"/>
            <a:ext cx="22860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服务力弱，复购转介绍断</a:t>
            </a:r>
          </a:p>
        </p:txBody>
      </p:sp>
      <p:sp>
        <p:nvSpPr>
          <p:cNvPr id="27" name="DIM_4_NEXT">
            <a:extLst>
              <a:ext uri="{FF2B5EF4-FFF2-40B4-BE49-F238E27FC236}">
                <a16:creationId xmlns:a16="http://schemas.microsoft.com/office/drawing/2014/main" id="{13F77F47-7F7F-7F3D-0879-57CB8828DA43}"/>
              </a:ext>
            </a:extLst>
          </p:cNvPr>
          <p:cNvSpPr txBox="1"/>
          <p:nvPr/>
        </p:nvSpPr>
        <p:spPr>
          <a:xfrm>
            <a:off x="8275320" y="3776472"/>
            <a:ext cx="320040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明确售后责任人，回访沉淀样板</a:t>
            </a:r>
          </a:p>
        </p:txBody>
      </p:sp>
      <p:sp>
        <p:nvSpPr>
          <p:cNvPr id="28" name="DEBRIEF_CUE">
            <a:extLst>
              <a:ext uri="{FF2B5EF4-FFF2-40B4-BE49-F238E27FC236}">
                <a16:creationId xmlns:a16="http://schemas.microsoft.com/office/drawing/2014/main" id="{5E3593CC-71F2-5069-F8CD-3033F35665F4}"/>
              </a:ext>
            </a:extLst>
          </p:cNvPr>
          <p:cNvSpPr txBox="1"/>
          <p:nvPr/>
        </p:nvSpPr>
        <p:spPr>
          <a:xfrm>
            <a:off x="548640" y="4526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先看症状，由讲师逐行揭示解读与下一步；不一次性展开全部。</a:t>
            </a:r>
          </a:p>
        </p:txBody>
      </p:sp>
      <p:sp>
        <p:nvSpPr>
          <p:cNvPr id="29" name="TEACHING_CUE">
            <a:extLst>
              <a:ext uri="{FF2B5EF4-FFF2-40B4-BE49-F238E27FC236}">
                <a16:creationId xmlns:a16="http://schemas.microsoft.com/office/drawing/2014/main" id="{70A3A152-65AD-F455-6D9C-8821DC7F57F1}"/>
              </a:ext>
            </a:extLst>
          </p:cNvPr>
          <p:cNvSpPr txBox="1"/>
          <p:nvPr/>
        </p:nvSpPr>
        <p:spPr>
          <a:xfrm>
            <a:off x="548640" y="498348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逐行点击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揭示：先让学员只看症状并猜解读，再揭示；可点击区控制在 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4-6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个。</a:t>
            </a:r>
          </a:p>
        </p:txBody>
      </p:sp>
    </p:spTree>
    <p:extLst>
      <p:ext uri="{BB962C8B-B14F-4D97-AF65-F5344CB8AC3E}">
        <p14:creationId xmlns:p14="http://schemas.microsoft.com/office/powerpoint/2010/main" val="826178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90E70C-BC50-D6B0-4451-BC91FBCAC01B}"/>
              </a:ext>
            </a:extLst>
          </p:cNvPr>
          <p:cNvSpPr txBox="1"/>
          <p:nvPr/>
        </p:nvSpPr>
        <p:spPr>
          <a:xfrm>
            <a:off x="548640" y="384048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2600" b="1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把课堂判断摆上桌：下一场仗打哪？</a:t>
            </a:r>
          </a:p>
        </p:txBody>
      </p:sp>
      <p:sp>
        <p:nvSpPr>
          <p:cNvPr id="3" name="VOTE_PROMPT">
            <a:extLst>
              <a:ext uri="{FF2B5EF4-FFF2-40B4-BE49-F238E27FC236}">
                <a16:creationId xmlns:a16="http://schemas.microsoft.com/office/drawing/2014/main" id="{3E3C530E-670F-CA35-1A21-DDCB9828E218}"/>
              </a:ext>
            </a:extLst>
          </p:cNvPr>
          <p:cNvSpPr txBox="1"/>
          <p:nvPr/>
        </p:nvSpPr>
        <p:spPr>
          <a:xfrm>
            <a:off x="548640" y="109728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5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每人一票，选一个主攻方向，并准备一条理由</a:t>
            </a:r>
          </a:p>
        </p:txBody>
      </p:sp>
      <p:sp>
        <p:nvSpPr>
          <p:cNvPr id="4" name="CHOICE_BAND_1">
            <a:extLst>
              <a:ext uri="{FF2B5EF4-FFF2-40B4-BE49-F238E27FC236}">
                <a16:creationId xmlns:a16="http://schemas.microsoft.com/office/drawing/2014/main" id="{796BE12F-8ABE-90BD-EB45-9EDCB844BD21}"/>
              </a:ext>
            </a:extLst>
          </p:cNvPr>
          <p:cNvSpPr/>
          <p:nvPr/>
        </p:nvSpPr>
        <p:spPr>
          <a:xfrm>
            <a:off x="548640" y="1691640"/>
            <a:ext cx="868680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CHOICE_1_TEXT">
            <a:extLst>
              <a:ext uri="{FF2B5EF4-FFF2-40B4-BE49-F238E27FC236}">
                <a16:creationId xmlns:a16="http://schemas.microsoft.com/office/drawing/2014/main" id="{E6C5E98F-756F-AEC3-119C-FC3A23A65B5C}"/>
              </a:ext>
            </a:extLst>
          </p:cNvPr>
          <p:cNvSpPr txBox="1"/>
          <p:nvPr/>
        </p:nvSpPr>
        <p:spPr>
          <a:xfrm>
            <a:off x="822960" y="169164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攻项目：县城安置房、翻修与维修项目</a:t>
            </a:r>
          </a:p>
        </p:txBody>
      </p:sp>
      <p:sp>
        <p:nvSpPr>
          <p:cNvPr id="6" name="VOTE_BOX_1">
            <a:extLst>
              <a:ext uri="{FF2B5EF4-FFF2-40B4-BE49-F238E27FC236}">
                <a16:creationId xmlns:a16="http://schemas.microsoft.com/office/drawing/2014/main" id="{F6CCACDE-5FE3-E11E-DDF5-447EFF703623}"/>
              </a:ext>
            </a:extLst>
          </p:cNvPr>
          <p:cNvSpPr/>
          <p:nvPr/>
        </p:nvSpPr>
        <p:spPr>
          <a:xfrm>
            <a:off x="9372600" y="169164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VOTE_1">
            <a:extLst>
              <a:ext uri="{FF2B5EF4-FFF2-40B4-BE49-F238E27FC236}">
                <a16:creationId xmlns:a16="http://schemas.microsoft.com/office/drawing/2014/main" id="{64126B27-A665-6209-E97C-FAB29655429E}"/>
              </a:ext>
            </a:extLst>
          </p:cNvPr>
          <p:cNvSpPr txBox="1"/>
          <p:nvPr/>
        </p:nvSpPr>
        <p:spPr>
          <a:xfrm>
            <a:off x="9509760" y="169164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8" name="CHOICE_BAND_2">
            <a:extLst>
              <a:ext uri="{FF2B5EF4-FFF2-40B4-BE49-F238E27FC236}">
                <a16:creationId xmlns:a16="http://schemas.microsoft.com/office/drawing/2014/main" id="{F91439FC-53EB-9BDC-354B-568118E25FD3}"/>
              </a:ext>
            </a:extLst>
          </p:cNvPr>
          <p:cNvSpPr/>
          <p:nvPr/>
        </p:nvSpPr>
        <p:spPr>
          <a:xfrm>
            <a:off x="548640" y="2286000"/>
            <a:ext cx="8686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CHOICE_2_TEXT">
            <a:extLst>
              <a:ext uri="{FF2B5EF4-FFF2-40B4-BE49-F238E27FC236}">
                <a16:creationId xmlns:a16="http://schemas.microsoft.com/office/drawing/2014/main" id="{1591448B-FE89-0198-6322-225F9651CD5F}"/>
              </a:ext>
            </a:extLst>
          </p:cNvPr>
          <p:cNvSpPr txBox="1"/>
          <p:nvPr/>
        </p:nvSpPr>
        <p:spPr>
          <a:xfrm>
            <a:off x="822960" y="228600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攻渠道：中心镇核心网点激活与补货</a:t>
            </a:r>
          </a:p>
        </p:txBody>
      </p:sp>
      <p:sp>
        <p:nvSpPr>
          <p:cNvPr id="10" name="VOTE_BOX_2">
            <a:extLst>
              <a:ext uri="{FF2B5EF4-FFF2-40B4-BE49-F238E27FC236}">
                <a16:creationId xmlns:a16="http://schemas.microsoft.com/office/drawing/2014/main" id="{C52F5C0A-DEA7-50B1-7CDB-6C73776F55DE}"/>
              </a:ext>
            </a:extLst>
          </p:cNvPr>
          <p:cNvSpPr/>
          <p:nvPr/>
        </p:nvSpPr>
        <p:spPr>
          <a:xfrm>
            <a:off x="9372600" y="228600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VOTE_2">
            <a:extLst>
              <a:ext uri="{FF2B5EF4-FFF2-40B4-BE49-F238E27FC236}">
                <a16:creationId xmlns:a16="http://schemas.microsoft.com/office/drawing/2014/main" id="{C4037AE1-4276-571E-9747-B1F3047399A9}"/>
              </a:ext>
            </a:extLst>
          </p:cNvPr>
          <p:cNvSpPr txBox="1"/>
          <p:nvPr/>
        </p:nvSpPr>
        <p:spPr>
          <a:xfrm>
            <a:off x="9509760" y="228600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12" name="CHOICE_BAND_3">
            <a:extLst>
              <a:ext uri="{FF2B5EF4-FFF2-40B4-BE49-F238E27FC236}">
                <a16:creationId xmlns:a16="http://schemas.microsoft.com/office/drawing/2014/main" id="{C86E395B-56EB-5293-435E-BFDB49BD0F4B}"/>
              </a:ext>
            </a:extLst>
          </p:cNvPr>
          <p:cNvSpPr/>
          <p:nvPr/>
        </p:nvSpPr>
        <p:spPr>
          <a:xfrm>
            <a:off x="548640" y="2880360"/>
            <a:ext cx="8686800" cy="502920"/>
          </a:xfrm>
          <a:prstGeom prst="rect">
            <a:avLst/>
          </a:prstGeom>
          <a:solidFill>
            <a:srgbClr val="F7F7F8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CHOICE_3_TEXT">
            <a:extLst>
              <a:ext uri="{FF2B5EF4-FFF2-40B4-BE49-F238E27FC236}">
                <a16:creationId xmlns:a16="http://schemas.microsoft.com/office/drawing/2014/main" id="{CD8F2984-D0B1-4E8A-3A60-E520B3BD7FC8}"/>
              </a:ext>
            </a:extLst>
          </p:cNvPr>
          <p:cNvSpPr txBox="1"/>
          <p:nvPr/>
        </p:nvSpPr>
        <p:spPr>
          <a:xfrm>
            <a:off x="822960" y="288036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攻产品：主推品项铺开与动销</a:t>
            </a:r>
          </a:p>
        </p:txBody>
      </p:sp>
      <p:sp>
        <p:nvSpPr>
          <p:cNvPr id="14" name="VOTE_BOX_3">
            <a:extLst>
              <a:ext uri="{FF2B5EF4-FFF2-40B4-BE49-F238E27FC236}">
                <a16:creationId xmlns:a16="http://schemas.microsoft.com/office/drawing/2014/main" id="{4EBDDA66-1AB1-45A8-BD0E-103D9310632C}"/>
              </a:ext>
            </a:extLst>
          </p:cNvPr>
          <p:cNvSpPr/>
          <p:nvPr/>
        </p:nvSpPr>
        <p:spPr>
          <a:xfrm>
            <a:off x="9372600" y="288036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VOTE_3">
            <a:extLst>
              <a:ext uri="{FF2B5EF4-FFF2-40B4-BE49-F238E27FC236}">
                <a16:creationId xmlns:a16="http://schemas.microsoft.com/office/drawing/2014/main" id="{BAA9054B-7103-AE35-6D7A-9C8FE8670C87}"/>
              </a:ext>
            </a:extLst>
          </p:cNvPr>
          <p:cNvSpPr txBox="1"/>
          <p:nvPr/>
        </p:nvSpPr>
        <p:spPr>
          <a:xfrm>
            <a:off x="9509760" y="288036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16" name="CHOICE_BAND_4">
            <a:extLst>
              <a:ext uri="{FF2B5EF4-FFF2-40B4-BE49-F238E27FC236}">
                <a16:creationId xmlns:a16="http://schemas.microsoft.com/office/drawing/2014/main" id="{61208555-AAA2-B972-924F-2AEA24B66741}"/>
              </a:ext>
            </a:extLst>
          </p:cNvPr>
          <p:cNvSpPr/>
          <p:nvPr/>
        </p:nvSpPr>
        <p:spPr>
          <a:xfrm>
            <a:off x="548640" y="3474720"/>
            <a:ext cx="8686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CHOICE_4_TEXT">
            <a:extLst>
              <a:ext uri="{FF2B5EF4-FFF2-40B4-BE49-F238E27FC236}">
                <a16:creationId xmlns:a16="http://schemas.microsoft.com/office/drawing/2014/main" id="{9B6CCFF2-FB85-F796-ECED-314603B5718C}"/>
              </a:ext>
            </a:extLst>
          </p:cNvPr>
          <p:cNvSpPr txBox="1"/>
          <p:nvPr/>
        </p:nvSpPr>
        <p:spPr>
          <a:xfrm>
            <a:off x="822960" y="3474720"/>
            <a:ext cx="81381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400">
                <a:solidFill>
                  <a:srgbClr val="50504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攻人脉：工人、包工头与关键人运营</a:t>
            </a:r>
          </a:p>
        </p:txBody>
      </p:sp>
      <p:sp>
        <p:nvSpPr>
          <p:cNvPr id="18" name="VOTE_BOX_4">
            <a:extLst>
              <a:ext uri="{FF2B5EF4-FFF2-40B4-BE49-F238E27FC236}">
                <a16:creationId xmlns:a16="http://schemas.microsoft.com/office/drawing/2014/main" id="{82E22AB2-6D8E-3821-36FB-33C0328E6A91}"/>
              </a:ext>
            </a:extLst>
          </p:cNvPr>
          <p:cNvSpPr/>
          <p:nvPr/>
        </p:nvSpPr>
        <p:spPr>
          <a:xfrm>
            <a:off x="9372600" y="3474720"/>
            <a:ext cx="22402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6F6F6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VOTE_4">
            <a:extLst>
              <a:ext uri="{FF2B5EF4-FFF2-40B4-BE49-F238E27FC236}">
                <a16:creationId xmlns:a16="http://schemas.microsoft.com/office/drawing/2014/main" id="{EFC9BE45-6508-5BFD-ABD9-FD717D44C52E}"/>
              </a:ext>
            </a:extLst>
          </p:cNvPr>
          <p:cNvSpPr txBox="1"/>
          <p:nvPr/>
        </p:nvSpPr>
        <p:spPr>
          <a:xfrm>
            <a:off x="9509760" y="3474720"/>
            <a:ext cx="1965960" cy="384048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ctr"/>
            <a:r>
              <a:rPr lang="en-US" altLang="zh-CN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____</a:t>
            </a:r>
            <a:r>
              <a:rPr lang="zh-CN" altLang="en-US" sz="1400" b="1">
                <a:solidFill>
                  <a:srgbClr val="B226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票</a:t>
            </a:r>
          </a:p>
        </p:txBody>
      </p:sp>
      <p:sp>
        <p:nvSpPr>
          <p:cNvPr id="20" name="METHOD_CUE">
            <a:extLst>
              <a:ext uri="{FF2B5EF4-FFF2-40B4-BE49-F238E27FC236}">
                <a16:creationId xmlns:a16="http://schemas.microsoft.com/office/drawing/2014/main" id="{BA019673-F137-3BDD-09B0-497689C9B4C7}"/>
              </a:ext>
            </a:extLst>
          </p:cNvPr>
          <p:cNvSpPr txBox="1"/>
          <p:nvPr/>
        </p:nvSpPr>
        <p:spPr>
          <a:xfrm>
            <a:off x="548640" y="425196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投票方式：举手或纸票；票数填在右侧。</a:t>
            </a:r>
          </a:p>
        </p:txBody>
      </p:sp>
      <p:sp>
        <p:nvSpPr>
          <p:cNvPr id="21" name="DEBRIEF_CUE">
            <a:extLst>
              <a:ext uri="{FF2B5EF4-FFF2-40B4-BE49-F238E27FC236}">
                <a16:creationId xmlns:a16="http://schemas.microsoft.com/office/drawing/2014/main" id="{5D329E22-5E33-48B9-3689-57569BB1EC1A}"/>
              </a:ext>
            </a:extLst>
          </p:cNvPr>
          <p:cNvSpPr txBox="1"/>
          <p:nvPr/>
        </p:nvSpPr>
        <p:spPr>
          <a:xfrm>
            <a:off x="548640" y="4709160"/>
            <a:ext cx="10789920" cy="369332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zh-CN" altLang="en-US" sz="13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先听少数派理由，再定主战役与备选；票数不替代最终经营判断。</a:t>
            </a:r>
          </a:p>
        </p:txBody>
      </p:sp>
      <p:sp>
        <p:nvSpPr>
          <p:cNvPr id="22" name="TEACHING_CUE">
            <a:extLst>
              <a:ext uri="{FF2B5EF4-FFF2-40B4-BE49-F238E27FC236}">
                <a16:creationId xmlns:a16="http://schemas.microsoft.com/office/drawing/2014/main" id="{11D56D87-0939-4658-A469-1E6605AEB2C5}"/>
              </a:ext>
            </a:extLst>
          </p:cNvPr>
          <p:cNvSpPr txBox="1"/>
          <p:nvPr/>
        </p:nvSpPr>
        <p:spPr>
          <a:xfrm>
            <a:off x="548640" y="5166360"/>
            <a:ext cx="10789920" cy="3657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PPT 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不自动计票：用举手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纸票</a:t>
            </a:r>
            <a:r>
              <a:rPr lang="en-US" altLang="zh-CN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/</a:t>
            </a:r>
            <a:r>
              <a:rPr lang="zh-CN" altLang="en-US" sz="1200">
                <a:solidFill>
                  <a:srgbClr val="6F6F6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表单；记录少数意见；投票后进入方法讲解。</a:t>
            </a:r>
          </a:p>
        </p:txBody>
      </p:sp>
    </p:spTree>
    <p:extLst>
      <p:ext uri="{BB962C8B-B14F-4D97-AF65-F5344CB8AC3E}">
        <p14:creationId xmlns:p14="http://schemas.microsoft.com/office/powerpoint/2010/main" val="214370086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2374</Words>
  <Application>Microsoft Office PowerPoint</Application>
  <DocSecurity>0</DocSecurity>
  <PresentationFormat>宽屏</PresentationFormat>
  <Paragraphs>317</Paragraphs>
  <Slides>14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起轩 王</cp:lastModifiedBy>
  <cp:revision>10</cp:revision>
  <dcterms:created xsi:type="dcterms:W3CDTF">2026-08-13T12:27:10Z</dcterms:created>
  <dcterms:modified xsi:type="dcterms:W3CDTF">2026-08-19T02:57:32Z</dcterms:modified>
</cp:coreProperties>
</file>