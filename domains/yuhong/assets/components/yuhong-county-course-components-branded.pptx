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DC-01 County Trend Three Judgments</a:t>
            </a:r>
          </a:p>
          <a:p>
            <a:r>
              <a:t>[Instructor] 先让学员判断县域机会是减少还是迁移，再逐条揭示。</a:t>
            </a:r>
          </a:p>
          <a:p>
            <a:r>
              <a:t>[Learner] 每人说出一个本地需求场景变化。</a:t>
            </a:r>
          </a:p>
          <a:p>
            <a:r>
              <a:t>[Replace] TITLE, SUBTITLE, J01/J02/J03_LABEL, J01/J02/J03_FROM, J01/J02/J03_TO, TEACHING_CUE.</a:t>
            </a:r>
          </a:p>
          <a:p>
            <a:r>
              <a:t>[Keep] 三条纵向变化链、编号、箭头方向和三种语义色。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DC-02 County Business Territory Map</a:t>
            </a:r>
          </a:p>
          <a:p>
            <a:r>
              <a:t>[Instructor] 示范如何用经营动作而不是销售高低给区域分类。</a:t>
            </a:r>
          </a:p>
          <a:p>
            <a:r>
              <a:t>[Learner] 标出守盘区、做深区、开拓区，并说明证据。</a:t>
            </a:r>
          </a:p>
          <a:p>
            <a:r>
              <a:t>[Replace] COUNTY_NAME, COUNTY_EVIDENCE, TOWN_01..04_LABEL, TOWN_01..04_ACTION, TEACHING_CUE.</a:t>
            </a:r>
          </a:p>
          <a:p>
            <a:r>
              <a:t>[Keep] 县城中心、乡镇空间关系、守盘/做深/开拓语义色。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DC-03 Four-Force Diagnosis</a:t>
            </a:r>
          </a:p>
          <a:p>
            <a:r>
              <a:t>[Instructor] 不先打分。先让学员选症状，再追问哪一力最能解释症状。</a:t>
            </a:r>
          </a:p>
          <a:p>
            <a:r>
              <a:t>[Learner] 选1个主短板、最多1个辅助短板，并写证据。</a:t>
            </a:r>
          </a:p>
          <a:p>
            <a:r>
              <a:t>[Replace] CORE_PROBLEM, BRAND/CHANNEL/SCENE/PRODUCT_QUESTION and _EVIDENCE, TEACHING_CUE.</a:t>
            </a:r>
          </a:p>
          <a:p>
            <a:r>
              <a:t>[Keep] 中心问题与四力环绕关系；禁止四项都标红。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DC-04 Four-Stage Growth Diagnosis</a:t>
            </a:r>
          </a:p>
          <a:p>
            <a:r>
              <a:t>[Instructor] 先展示情境，隐藏标准答案；学员选阶段后再逐级解释。</a:t>
            </a:r>
          </a:p>
          <a:p>
            <a:r>
              <a:t>[Learner] 选择阶段并说出一个已经形成的结果。</a:t>
            </a:r>
          </a:p>
          <a:p>
            <a:r>
              <a:t>[Replace] S1..S4_RESULT, S1..S4_TASK, STAGE_RULE, TEACHING_CUE.</a:t>
            </a:r>
          </a:p>
          <a:p>
            <a:r>
              <a:t>[Keep] 四级阶梯、由浅到深的视觉进阶、阶段名称。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DC-17 Symptom Clustering And Core-Problem Convergence</a:t>
            </a:r>
          </a:p>
          <a:p>
            <a:r>
              <a:t>[Instructor] 先只展示左侧症状墙；让小组归类后，再揭示右侧四类病症。</a:t>
            </a:r>
          </a:p>
          <a:p>
            <a:r>
              <a:t>[Learner] 对症状归类并投票选1个主病症。</a:t>
            </a:r>
          </a:p>
          <a:p>
            <a:r>
              <a:t>[Replace] SYMPTOM_01..08_TEXT, C1..C4_LABEL, C1..C4_DESC, TEACHING_CUE.</a:t>
            </a:r>
          </a:p>
          <a:p>
            <a:r>
              <a:t>[Keep] 左侧零散事实到右侧病症聚类的收敛关系。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DC-20 Integrated Diagnosis Chain</a:t>
            </a:r>
          </a:p>
          <a:p>
            <a:r>
              <a:t>[Instructor] 逐步推进，禁止学员在没有阶段和病症证据时直接给动作。</a:t>
            </a:r>
          </a:p>
          <a:p>
            <a:r>
              <a:t>[Learner] 完成五步诊断，并用一句话陈述结论。</a:t>
            </a:r>
          </a:p>
          <a:p>
            <a:r>
              <a:t>[Replace] CASE_PROMPT, STEP_1..5_OUTPUT, STEP_1..5_QUESTION, TEACHING_CUE.</a:t>
            </a:r>
          </a:p>
          <a:p>
            <a:r>
              <a:t>[Keep] 五步顺序和左侧诊断脊柱；动作最多3项。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图片 1" descr="企业微信截图_ec44598d-13a2-44fb-8073-73b70684fbb2">
            <a:extLst>
              <a:ext uri="{FF2B5EF4-FFF2-40B4-BE49-F238E27FC236}">
                <a16:creationId xmlns:a16="http://schemas.microsoft.com/office/drawing/2014/main" id="{81DEF11C-785E-5D97-C56E-155049365F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62593" y="268476"/>
            <a:ext cx="1153226" cy="81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46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6DC3A899-1565-4279-820E-D4E49A899B4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050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DC-01 · COUNTY TREND THREE JUDGMENTS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3A2CA7-78E2-4A6B-9F02-B23A373EC7D1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县域机会没有消失，但机会来源、位置和购买逻辑都变了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B61CBA-2991-4CDF-9869-2C37721DC6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把宏观趋势翻译成经销商可以观察、判断和行动的三条经营变化链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BD6DC31A-A82B-456C-A49B-28352602CE2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J01_NUMBER">
            <a:extLst>
              <a:ext uri="{FF2B5EF4-FFF2-40B4-BE49-F238E27FC236}">
                <a16:creationId xmlns:a16="http://schemas.microsoft.com/office/drawing/2014/main" id="{8DB34C77-9B33-4C47-9736-C32A58C54853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J01_LABEL">
            <a:extLst>
              <a:ext uri="{FF2B5EF4-FFF2-40B4-BE49-F238E27FC236}">
                <a16:creationId xmlns:a16="http://schemas.microsoft.com/office/drawing/2014/main" id="{46CEF953-3BAF-4216-B218-F4129034465D}"/>
              </a:ext>
            </a:extLst>
          </p:cNvPr>
          <p:cNvSpPr>
            <a:spLocks noGrp="1"/>
          </p:cNvSpPr>
          <p:nvPr/>
        </p:nvSpPr>
        <p:spPr>
          <a:xfrm>
            <a:off x="1352550" y="21145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机会来源变了</a:t>
            </a:r>
          </a:p>
        </p:txBody>
      </p:sp>
      <p:sp>
        <p:nvSpPr>
          <p:cNvPr id="9" name="J01_FROM">
            <a:extLst>
              <a:ext uri="{FF2B5EF4-FFF2-40B4-BE49-F238E27FC236}">
                <a16:creationId xmlns:a16="http://schemas.microsoft.com/office/drawing/2014/main" id="{184225CF-794D-48C8-ACE6-A5C747902C08}"/>
              </a:ext>
            </a:extLst>
          </p:cNvPr>
          <p:cNvSpPr>
            <a:spLocks noGrp="1"/>
          </p:cNvSpPr>
          <p:nvPr/>
        </p:nvSpPr>
        <p:spPr>
          <a:xfrm>
            <a:off x="38100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只等新房新建</a:t>
            </a:r>
          </a:p>
        </p:txBody>
      </p:sp>
      <p:sp>
        <p:nvSpPr>
          <p:cNvPr id="10" name="J01_ARROW">
            <a:extLst>
              <a:ext uri="{FF2B5EF4-FFF2-40B4-BE49-F238E27FC236}">
                <a16:creationId xmlns:a16="http://schemas.microsoft.com/office/drawing/2014/main" id="{D6509F61-2914-45BA-BCB1-40444D7631A9}"/>
              </a:ext>
            </a:extLst>
          </p:cNvPr>
          <p:cNvSpPr>
            <a:spLocks noGrp="1"/>
          </p:cNvSpPr>
          <p:nvPr/>
        </p:nvSpPr>
        <p:spPr>
          <a:xfrm>
            <a:off x="6724650" y="2133600"/>
            <a:ext cx="1066800" cy="3619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1" name="J01_TO_SURFACE">
            <a:extLst>
              <a:ext uri="{FF2B5EF4-FFF2-40B4-BE49-F238E27FC236}">
                <a16:creationId xmlns:a16="http://schemas.microsoft.com/office/drawing/2014/main" id="{CBB658FB-269F-46D0-80D2-DB4C8BC974DD}"/>
              </a:ext>
            </a:extLst>
          </p:cNvPr>
          <p:cNvSpPr>
            <a:spLocks noGrp="1"/>
          </p:cNvSpPr>
          <p:nvPr/>
        </p:nvSpPr>
        <p:spPr>
          <a:xfrm>
            <a:off x="8020050" y="20193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2" name="J01_TO">
            <a:extLst>
              <a:ext uri="{FF2B5EF4-FFF2-40B4-BE49-F238E27FC236}">
                <a16:creationId xmlns:a16="http://schemas.microsoft.com/office/drawing/2014/main" id="{F3D14615-927C-45BC-B09F-CC27811BFD1F}"/>
              </a:ext>
            </a:extLst>
          </p:cNvPr>
          <p:cNvSpPr>
            <a:spLocks noGrp="1"/>
          </p:cNvSpPr>
          <p:nvPr/>
        </p:nvSpPr>
        <p:spPr>
          <a:xfrm>
            <a:off x="8172450" y="21240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新建 + 翻修 + 维修 + 更新</a:t>
            </a:r>
          </a:p>
        </p:txBody>
      </p:sp>
      <p:sp>
        <p:nvSpPr>
          <p:cNvPr id="13" name="J02_NUMBER">
            <a:extLst>
              <a:ext uri="{FF2B5EF4-FFF2-40B4-BE49-F238E27FC236}">
                <a16:creationId xmlns:a16="http://schemas.microsoft.com/office/drawing/2014/main" id="{348DA8DF-6A44-478D-A237-895FED395D86}"/>
              </a:ext>
            </a:extLst>
          </p:cNvPr>
          <p:cNvSpPr>
            <a:spLocks noGrp="1"/>
          </p:cNvSpPr>
          <p:nvPr/>
        </p:nvSpPr>
        <p:spPr>
          <a:xfrm>
            <a:off x="533400" y="33909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J02_LABEL">
            <a:extLst>
              <a:ext uri="{FF2B5EF4-FFF2-40B4-BE49-F238E27FC236}">
                <a16:creationId xmlns:a16="http://schemas.microsoft.com/office/drawing/2014/main" id="{B0B969D8-36D6-4B22-952F-5034E8666BA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机会位置变了</a:t>
            </a:r>
          </a:p>
        </p:txBody>
      </p:sp>
      <p:sp>
        <p:nvSpPr>
          <p:cNvPr id="15" name="J02_FROM">
            <a:extLst>
              <a:ext uri="{FF2B5EF4-FFF2-40B4-BE49-F238E27FC236}">
                <a16:creationId xmlns:a16="http://schemas.microsoft.com/office/drawing/2014/main" id="{D06E2F57-162B-4FDF-B228-74D11F8257F4}"/>
              </a:ext>
            </a:extLst>
          </p:cNvPr>
          <p:cNvSpPr>
            <a:spLocks noGrp="1"/>
          </p:cNvSpPr>
          <p:nvPr/>
        </p:nvSpPr>
        <p:spPr>
          <a:xfrm>
            <a:off x="3810000" y="3333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只盯县城门店</a:t>
            </a:r>
          </a:p>
        </p:txBody>
      </p:sp>
      <p:sp>
        <p:nvSpPr>
          <p:cNvPr id="16" name="J02_ARROW">
            <a:extLst>
              <a:ext uri="{FF2B5EF4-FFF2-40B4-BE49-F238E27FC236}">
                <a16:creationId xmlns:a16="http://schemas.microsoft.com/office/drawing/2014/main" id="{E31BA782-9A19-418B-B8B7-3C853731F226}"/>
              </a:ext>
            </a:extLst>
          </p:cNvPr>
          <p:cNvSpPr>
            <a:spLocks noGrp="1"/>
          </p:cNvSpPr>
          <p:nvPr/>
        </p:nvSpPr>
        <p:spPr>
          <a:xfrm>
            <a:off x="6724650" y="3429000"/>
            <a:ext cx="1066800" cy="361950"/>
          </a:xfrm>
          <a:prstGeom prst="rightArrow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17" name="J02_TO_SURFACE">
            <a:extLst>
              <a:ext uri="{FF2B5EF4-FFF2-40B4-BE49-F238E27FC236}">
                <a16:creationId xmlns:a16="http://schemas.microsoft.com/office/drawing/2014/main" id="{1E1EBA9A-2EDB-4355-9ECE-E249B6BF7D43}"/>
              </a:ext>
            </a:extLst>
          </p:cNvPr>
          <p:cNvSpPr>
            <a:spLocks noGrp="1"/>
          </p:cNvSpPr>
          <p:nvPr/>
        </p:nvSpPr>
        <p:spPr>
          <a:xfrm>
            <a:off x="8020050" y="33147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8" name="J02_TO">
            <a:extLst>
              <a:ext uri="{FF2B5EF4-FFF2-40B4-BE49-F238E27FC236}">
                <a16:creationId xmlns:a16="http://schemas.microsoft.com/office/drawing/2014/main" id="{E8E3C8E5-B537-4173-9ECD-4E709F1B2167}"/>
              </a:ext>
            </a:extLst>
          </p:cNvPr>
          <p:cNvSpPr>
            <a:spLocks noGrp="1"/>
          </p:cNvSpPr>
          <p:nvPr/>
        </p:nvSpPr>
        <p:spPr>
          <a:xfrm>
            <a:off x="8172450" y="34194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县城经营中心 + 重点乡镇需求触点</a:t>
            </a:r>
          </a:p>
        </p:txBody>
      </p:sp>
      <p:sp>
        <p:nvSpPr>
          <p:cNvPr id="19" name="J03_NUMBER">
            <a:extLst>
              <a:ext uri="{FF2B5EF4-FFF2-40B4-BE49-F238E27FC236}">
                <a16:creationId xmlns:a16="http://schemas.microsoft.com/office/drawing/2014/main" id="{3FAF351A-76BC-49AD-A1B2-8CE7C5073567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J03_LABEL">
            <a:extLst>
              <a:ext uri="{FF2B5EF4-FFF2-40B4-BE49-F238E27FC236}">
                <a16:creationId xmlns:a16="http://schemas.microsoft.com/office/drawing/2014/main" id="{C0FDA0D9-0C3A-40BF-8055-76E0C7011050}"/>
              </a:ext>
            </a:extLst>
          </p:cNvPr>
          <p:cNvSpPr>
            <a:spLocks noGrp="1"/>
          </p:cNvSpPr>
          <p:nvPr/>
        </p:nvSpPr>
        <p:spPr>
          <a:xfrm>
            <a:off x="1352550" y="47053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</a:p>
        </p:txBody>
      </p:sp>
      <p:sp>
        <p:nvSpPr>
          <p:cNvPr id="21" name="J03_FROM">
            <a:extLst>
              <a:ext uri="{FF2B5EF4-FFF2-40B4-BE49-F238E27FC236}">
                <a16:creationId xmlns:a16="http://schemas.microsoft.com/office/drawing/2014/main" id="{A15819D4-F01B-4DF7-A69F-3D4A9ADDA2B8}"/>
              </a:ext>
            </a:extLst>
          </p:cNvPr>
          <p:cNvSpPr>
            <a:spLocks noGrp="1"/>
          </p:cNvSpPr>
          <p:nvPr/>
        </p:nvSpPr>
        <p:spPr>
          <a:xfrm>
            <a:off x="3810000" y="4629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产品与价格</a:t>
            </a:r>
          </a:p>
        </p:txBody>
      </p:sp>
      <p:sp>
        <p:nvSpPr>
          <p:cNvPr id="22" name="J03_ARROW">
            <a:extLst>
              <a:ext uri="{FF2B5EF4-FFF2-40B4-BE49-F238E27FC236}">
                <a16:creationId xmlns:a16="http://schemas.microsoft.com/office/drawing/2014/main" id="{A5FDEBE8-FB0A-4371-A995-65961A8FE8DA}"/>
              </a:ext>
            </a:extLst>
          </p:cNvPr>
          <p:cNvSpPr>
            <a:spLocks noGrp="1"/>
          </p:cNvSpPr>
          <p:nvPr/>
        </p:nvSpPr>
        <p:spPr>
          <a:xfrm>
            <a:off x="6724650" y="4724400"/>
            <a:ext cx="1066800" cy="361950"/>
          </a:xfrm>
          <a:prstGeom prst="rightArrow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3" name="J03_TO_SURFACE">
            <a:extLst>
              <a:ext uri="{FF2B5EF4-FFF2-40B4-BE49-F238E27FC236}">
                <a16:creationId xmlns:a16="http://schemas.microsoft.com/office/drawing/2014/main" id="{A60BA2DD-F7E3-4999-B8F2-DA8EC4632080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24" name="J03_TO">
            <a:extLst>
              <a:ext uri="{FF2B5EF4-FFF2-40B4-BE49-F238E27FC236}">
                <a16:creationId xmlns:a16="http://schemas.microsoft.com/office/drawing/2014/main" id="{ADBD459D-66CB-4E01-AE5D-A1A803814D88}"/>
              </a:ext>
            </a:extLst>
          </p:cNvPr>
          <p:cNvSpPr>
            <a:spLocks noGrp="1"/>
          </p:cNvSpPr>
          <p:nvPr/>
        </p:nvSpPr>
        <p:spPr>
          <a:xfrm>
            <a:off x="8172450" y="47148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829"/>
          </a:bodyPr>
          <a:lstStyle/>
          <a:p>
            <a:pPr algn="ctr">
              <a:def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品牌 + 熟人推荐 + 施工与售后确定性</a:t>
            </a:r>
          </a:p>
        </p:txBody>
      </p:sp>
      <p:sp>
        <p:nvSpPr>
          <p:cNvPr id="25" name="TEACHING_CUE">
            <a:extLst>
              <a:ext uri="{FF2B5EF4-FFF2-40B4-BE49-F238E27FC236}">
                <a16:creationId xmlns:a16="http://schemas.microsoft.com/office/drawing/2014/main" id="{E1EFE987-8404-48B5-9F5C-5766F6BAE40D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讲师动作：先问“机会哪里变了”，收集答案后逐条揭示三条判断。</a:t>
            </a:r>
          </a:p>
        </p:txBody>
      </p:sp>
      <p:sp>
        <p:nvSpPr>
          <p:cNvPr id="26" name="PAGE_NUMBER">
            <a:extLst>
              <a:ext uri="{FF2B5EF4-FFF2-40B4-BE49-F238E27FC236}">
                <a16:creationId xmlns:a16="http://schemas.microsoft.com/office/drawing/2014/main" id="{EE5A4A45-F944-4D1C-B0A6-6E5A090FBF12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2948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1834B4A0-FC1E-4FCE-BFEC-11411A08C4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942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DC-02 · COUNTY BUSINESS TERRITORY MAP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84BEAC0-C28F-442E-95F8-E7B78369A70F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增长空间不是一张名单，而是一张有经营动作的县域版图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B1E2B74-D6E7-4EFD-918F-9AFFF4DF75B1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按守盘、做深、开拓三类动作标注县城和乡镇，避免只用销售高低给区域上色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CB02E9BE-766C-48BD-886F-35E21F2F542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COUNTY_CENTER">
            <a:extLst>
              <a:ext uri="{FF2B5EF4-FFF2-40B4-BE49-F238E27FC236}">
                <a16:creationId xmlns:a16="http://schemas.microsoft.com/office/drawing/2014/main" id="{F20FC3FA-8B08-47BF-91E8-EA13B578D926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190750" cy="219075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8" name="COUNTY_NAME">
            <a:extLst>
              <a:ext uri="{FF2B5EF4-FFF2-40B4-BE49-F238E27FC236}">
                <a16:creationId xmlns:a16="http://schemas.microsoft.com/office/drawing/2014/main" id="{00226CA5-6E44-4DD0-889E-45A1F5E497BE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县城大本营</a:t>
            </a:r>
          </a:p>
        </p:txBody>
      </p:sp>
      <p:sp>
        <p:nvSpPr>
          <p:cNvPr id="9" name="COUNTY_EVIDENCE">
            <a:extLst>
              <a:ext uri="{FF2B5EF4-FFF2-40B4-BE49-F238E27FC236}">
                <a16:creationId xmlns:a16="http://schemas.microsoft.com/office/drawing/2014/main" id="{ABD351DC-6101-47ED-802F-546E5B447BF7}"/>
              </a:ext>
            </a:extLst>
          </p:cNvPr>
          <p:cNvSpPr>
            <a:spLocks noGrp="1"/>
          </p:cNvSpPr>
          <p:nvPr/>
        </p:nvSpPr>
        <p:spPr>
          <a:xfrm>
            <a:off x="5067300" y="39433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核心门店｜配送｜服务</a:t>
            </a:r>
          </a:p>
        </p:txBody>
      </p:sp>
      <p:sp>
        <p:nvSpPr>
          <p:cNvPr id="10" name="TOWN_01_LINK">
            <a:extLst>
              <a:ext uri="{FF2B5EF4-FFF2-40B4-BE49-F238E27FC236}">
                <a16:creationId xmlns:a16="http://schemas.microsoft.com/office/drawing/2014/main" id="{C9EE6FD8-575E-4AB1-B39F-8FE4321354FD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333500" cy="377952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11" name="TOWN_01_NODE">
            <a:extLst>
              <a:ext uri="{FF2B5EF4-FFF2-40B4-BE49-F238E27FC236}">
                <a16:creationId xmlns:a16="http://schemas.microsoft.com/office/drawing/2014/main" id="{F289FF18-E060-4086-A667-1889811D0506}"/>
              </a:ext>
            </a:extLst>
          </p:cNvPr>
          <p:cNvSpPr>
            <a:spLocks noGrp="1"/>
          </p:cNvSpPr>
          <p:nvPr/>
        </p:nvSpPr>
        <p:spPr>
          <a:xfrm>
            <a:off x="1847850" y="2152650"/>
            <a:ext cx="1695450" cy="914400"/>
          </a:xfrm>
          <a:prstGeom prst="ellipse">
            <a:avLst/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12" name="TOWN_01_LABEL">
            <a:extLst>
              <a:ext uri="{FF2B5EF4-FFF2-40B4-BE49-F238E27FC236}">
                <a16:creationId xmlns:a16="http://schemas.microsoft.com/office/drawing/2014/main" id="{445EDD39-97E7-444F-B6CE-24F0EBD7BDBF}"/>
              </a:ext>
            </a:extLst>
          </p:cNvPr>
          <p:cNvSpPr>
            <a:spLocks noGrp="1"/>
          </p:cNvSpPr>
          <p:nvPr/>
        </p:nvSpPr>
        <p:spPr>
          <a:xfrm>
            <a:off x="2019300" y="23145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中心镇A</a:t>
            </a:r>
          </a:p>
        </p:txBody>
      </p:sp>
      <p:sp>
        <p:nvSpPr>
          <p:cNvPr id="13" name="TOWN_01_ACTION">
            <a:extLst>
              <a:ext uri="{FF2B5EF4-FFF2-40B4-BE49-F238E27FC236}">
                <a16:creationId xmlns:a16="http://schemas.microsoft.com/office/drawing/2014/main" id="{9F25BA7F-57F4-4495-9223-3814E374F94F}"/>
              </a:ext>
            </a:extLst>
          </p:cNvPr>
          <p:cNvSpPr>
            <a:spLocks noGrp="1"/>
          </p:cNvSpPr>
          <p:nvPr/>
        </p:nvSpPr>
        <p:spPr>
          <a:xfrm>
            <a:off x="2076450" y="2657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14" name="TOWN_02_LINK">
            <a:extLst>
              <a:ext uri="{FF2B5EF4-FFF2-40B4-BE49-F238E27FC236}">
                <a16:creationId xmlns:a16="http://schemas.microsoft.com/office/drawing/2014/main" id="{A3B4B54B-9445-4B3A-8999-2EE065EC85C3}"/>
              </a:ext>
            </a:extLst>
          </p:cNvPr>
          <p:cNvSpPr>
            <a:spLocks noGrp="1"/>
          </p:cNvSpPr>
          <p:nvPr/>
        </p:nvSpPr>
        <p:spPr>
          <a:xfrm>
            <a:off x="3448050" y="3333750"/>
            <a:ext cx="1333500" cy="396240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TOWN_02_NODE">
            <a:extLst>
              <a:ext uri="{FF2B5EF4-FFF2-40B4-BE49-F238E27FC236}">
                <a16:creationId xmlns:a16="http://schemas.microsoft.com/office/drawing/2014/main" id="{10CEF9E2-99C6-4519-967A-034F461E8FDE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1695450" cy="914400"/>
          </a:xfrm>
          <a:prstGeom prst="ellipse">
            <a:avLst/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TOWN_02_LABEL">
            <a:extLst>
              <a:ext uri="{FF2B5EF4-FFF2-40B4-BE49-F238E27FC236}">
                <a16:creationId xmlns:a16="http://schemas.microsoft.com/office/drawing/2014/main" id="{6924B289-C96E-4ECB-A847-886A462EEB1E}"/>
              </a:ext>
            </a:extLst>
          </p:cNvPr>
          <p:cNvSpPr>
            <a:spLocks noGrp="1"/>
          </p:cNvSpPr>
          <p:nvPr/>
        </p:nvSpPr>
        <p:spPr>
          <a:xfrm>
            <a:off x="1924050" y="473392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乡镇B</a:t>
            </a:r>
          </a:p>
        </p:txBody>
      </p:sp>
      <p:sp>
        <p:nvSpPr>
          <p:cNvPr id="17" name="TOWN_02_ACTION">
            <a:extLst>
              <a:ext uri="{FF2B5EF4-FFF2-40B4-BE49-F238E27FC236}">
                <a16:creationId xmlns:a16="http://schemas.microsoft.com/office/drawing/2014/main" id="{DF87962D-5931-4B54-BEA5-ECE512977F0C}"/>
              </a:ext>
            </a:extLst>
          </p:cNvPr>
          <p:cNvSpPr>
            <a:spLocks noGrp="1"/>
          </p:cNvSpPr>
          <p:nvPr/>
        </p:nvSpPr>
        <p:spPr>
          <a:xfrm>
            <a:off x="1981200" y="50768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18" name="TOWN_03_LINK">
            <a:extLst>
              <a:ext uri="{FF2B5EF4-FFF2-40B4-BE49-F238E27FC236}">
                <a16:creationId xmlns:a16="http://schemas.microsoft.com/office/drawing/2014/main" id="{29D6AA3F-0943-40C7-8A5C-DDD49CCECF26}"/>
              </a:ext>
            </a:extLst>
          </p:cNvPr>
          <p:cNvSpPr>
            <a:spLocks noGrp="1"/>
          </p:cNvSpPr>
          <p:nvPr/>
        </p:nvSpPr>
        <p:spPr>
          <a:xfrm>
            <a:off x="6953250" y="2505075"/>
            <a:ext cx="1314450" cy="411480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19" name="TOWN_03_NODE">
            <a:extLst>
              <a:ext uri="{FF2B5EF4-FFF2-40B4-BE49-F238E27FC236}">
                <a16:creationId xmlns:a16="http://schemas.microsoft.com/office/drawing/2014/main" id="{8D88CF59-0127-42AD-AF35-213EF3B782E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1695450" cy="914400"/>
          </a:xfrm>
          <a:prstGeom prst="ellipse">
            <a:avLst/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0" name="TOWN_03_LABEL">
            <a:extLst>
              <a:ext uri="{FF2B5EF4-FFF2-40B4-BE49-F238E27FC236}">
                <a16:creationId xmlns:a16="http://schemas.microsoft.com/office/drawing/2014/main" id="{358D8641-03B7-45BD-BA23-30741A833839}"/>
              </a:ext>
            </a:extLst>
          </p:cNvPr>
          <p:cNvSpPr>
            <a:spLocks noGrp="1"/>
          </p:cNvSpPr>
          <p:nvPr/>
        </p:nvSpPr>
        <p:spPr>
          <a:xfrm>
            <a:off x="8439150" y="2209800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乡镇C</a:t>
            </a:r>
          </a:p>
        </p:txBody>
      </p:sp>
      <p:sp>
        <p:nvSpPr>
          <p:cNvPr id="21" name="TOWN_03_ACTION">
            <a:extLst>
              <a:ext uri="{FF2B5EF4-FFF2-40B4-BE49-F238E27FC236}">
                <a16:creationId xmlns:a16="http://schemas.microsoft.com/office/drawing/2014/main" id="{6FCE488C-4A75-4293-A0A7-2E4E442ABB9D}"/>
              </a:ext>
            </a:extLst>
          </p:cNvPr>
          <p:cNvSpPr>
            <a:spLocks noGrp="1"/>
          </p:cNvSpPr>
          <p:nvPr/>
        </p:nvSpPr>
        <p:spPr>
          <a:xfrm>
            <a:off x="8496300" y="2552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2" name="TOWN_04_LINK">
            <a:extLst>
              <a:ext uri="{FF2B5EF4-FFF2-40B4-BE49-F238E27FC236}">
                <a16:creationId xmlns:a16="http://schemas.microsoft.com/office/drawing/2014/main" id="{8B768CDA-E014-45A1-9160-7B5CE17E48C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1571625" cy="377952"/>
          </a:xfrm>
          <a:prstGeom prst="line">
            <a:avLst/>
          </a:prstGeom>
          <a:noFill/>
          <a:ln w="19050">
            <a:solidFill>
              <a:srgbClr val="5F646B"/>
            </a:solidFill>
            <a:prstDash val="solid"/>
          </a:ln>
        </p:spPr>
      </p:sp>
      <p:sp>
        <p:nvSpPr>
          <p:cNvPr id="23" name="TOWN_04_NODE">
            <a:extLst>
              <a:ext uri="{FF2B5EF4-FFF2-40B4-BE49-F238E27FC236}">
                <a16:creationId xmlns:a16="http://schemas.microsoft.com/office/drawing/2014/main" id="{1DECEBDE-08A0-45FA-B904-497A691047DF}"/>
              </a:ext>
            </a:extLst>
          </p:cNvPr>
          <p:cNvSpPr>
            <a:spLocks noGrp="1"/>
          </p:cNvSpPr>
          <p:nvPr/>
        </p:nvSpPr>
        <p:spPr>
          <a:xfrm>
            <a:off x="8524875" y="4514850"/>
            <a:ext cx="1695450" cy="914400"/>
          </a:xfrm>
          <a:prstGeom prst="ellipse">
            <a:avLst/>
          </a:prstGeom>
          <a:solidFill>
            <a:srgbClr val="F4F5F6"/>
          </a:solidFill>
          <a:ln w="19050">
            <a:solidFill>
              <a:srgbClr val="5F646B"/>
            </a:solidFill>
            <a:prstDash val="solid"/>
          </a:ln>
        </p:spPr>
      </p:sp>
      <p:sp>
        <p:nvSpPr>
          <p:cNvPr id="24" name="TOWN_04_LABEL">
            <a:extLst>
              <a:ext uri="{FF2B5EF4-FFF2-40B4-BE49-F238E27FC236}">
                <a16:creationId xmlns:a16="http://schemas.microsoft.com/office/drawing/2014/main" id="{0DF52C39-AB7B-4F87-90EE-EA0282C6846C}"/>
              </a:ext>
            </a:extLst>
          </p:cNvPr>
          <p:cNvSpPr>
            <a:spLocks noGrp="1"/>
          </p:cNvSpPr>
          <p:nvPr/>
        </p:nvSpPr>
        <p:spPr>
          <a:xfrm>
            <a:off x="8696325" y="46767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乡镇D</a:t>
            </a:r>
          </a:p>
        </p:txBody>
      </p:sp>
      <p:sp>
        <p:nvSpPr>
          <p:cNvPr id="25" name="TOWN_04_ACTION">
            <a:extLst>
              <a:ext uri="{FF2B5EF4-FFF2-40B4-BE49-F238E27FC236}">
                <a16:creationId xmlns:a16="http://schemas.microsoft.com/office/drawing/2014/main" id="{2EAF9D99-1B7B-47A8-A826-D280429C19D2}"/>
              </a:ext>
            </a:extLst>
          </p:cNvPr>
          <p:cNvSpPr>
            <a:spLocks noGrp="1"/>
          </p:cNvSpPr>
          <p:nvPr/>
        </p:nvSpPr>
        <p:spPr>
          <a:xfrm>
            <a:off x="8753475" y="50196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26" name="LEGEND_KEEP">
            <a:extLst>
              <a:ext uri="{FF2B5EF4-FFF2-40B4-BE49-F238E27FC236}">
                <a16:creationId xmlns:a16="http://schemas.microsoft.com/office/drawing/2014/main" id="{4E615121-DD8C-4704-89E4-8664EE6395F9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27" name="LEGEND_DEEPEN">
            <a:extLst>
              <a:ext uri="{FF2B5EF4-FFF2-40B4-BE49-F238E27FC236}">
                <a16:creationId xmlns:a16="http://schemas.microsoft.com/office/drawing/2014/main" id="{5075CC6B-4CCA-4B6A-A134-7F2B7F04FD69}"/>
              </a:ext>
            </a:extLst>
          </p:cNvPr>
          <p:cNvSpPr>
            <a:spLocks noGrp="1"/>
          </p:cNvSpPr>
          <p:nvPr/>
        </p:nvSpPr>
        <p:spPr>
          <a:xfrm>
            <a:off x="52863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28" name="LEGEND_EXPAND">
            <a:extLst>
              <a:ext uri="{FF2B5EF4-FFF2-40B4-BE49-F238E27FC236}">
                <a16:creationId xmlns:a16="http://schemas.microsoft.com/office/drawing/2014/main" id="{03F0608D-C72B-4604-BF3D-FD68B19EEF35}"/>
              </a:ext>
            </a:extLst>
          </p:cNvPr>
          <p:cNvSpPr>
            <a:spLocks noGrp="1"/>
          </p:cNvSpPr>
          <p:nvPr/>
        </p:nvSpPr>
        <p:spPr>
          <a:xfrm>
            <a:off x="6238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865C13A-C158-4426-A8FE-AD3B178675E7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学员产出：标出1个守盘乡镇、1个做深乡镇和1个开拓乡镇，并写出证据。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43EEE192-B173-4CE4-B093-CFA7969F5D3C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242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FFC46C4-65D3-4744-8C5E-F24946E415F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DC-03 · FOUR-FORCE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174E65-E07B-4595-8C06-0A9CBD7243AC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四力不是四个概念，而是四个可以现场回答的经营问题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981555-FCC6-4B21-88B1-7054E6B875C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先选最突出症状，再用品牌力、渠道力、场景力、产品力寻找主短板与证据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04ACF05B-DCCE-46DC-9C30-1A97130F56C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CORE">
            <a:extLst>
              <a:ext uri="{FF2B5EF4-FFF2-40B4-BE49-F238E27FC236}">
                <a16:creationId xmlns:a16="http://schemas.microsoft.com/office/drawing/2014/main" id="{4EDF7D7A-CE22-4A89-8A7B-97511E278AE1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095500" cy="20955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8" name="CORE_PROBLEM">
            <a:extLst>
              <a:ext uri="{FF2B5EF4-FFF2-40B4-BE49-F238E27FC236}">
                <a16:creationId xmlns:a16="http://schemas.microsoft.com/office/drawing/2014/main" id="{156D94E6-C945-4C87-AF7F-A3CA6BE819E3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4097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当前最卡的</a:t>
            </a:r>
          </a:p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经营问题</a:t>
            </a:r>
          </a:p>
        </p:txBody>
      </p:sp>
      <p:sp>
        <p:nvSpPr>
          <p:cNvPr id="9" name="BRAND_LINK">
            <a:extLst>
              <a:ext uri="{FF2B5EF4-FFF2-40B4-BE49-F238E27FC236}">
                <a16:creationId xmlns:a16="http://schemas.microsoft.com/office/drawing/2014/main" id="{B767A619-B52F-478E-87B2-8128B847E0B9}"/>
              </a:ext>
            </a:extLst>
          </p:cNvPr>
          <p:cNvSpPr>
            <a:spLocks noGrp="1"/>
          </p:cNvSpPr>
          <p:nvPr/>
        </p:nvSpPr>
        <p:spPr>
          <a:xfrm>
            <a:off x="4152900" y="2676525"/>
            <a:ext cx="723900" cy="523875"/>
          </a:xfrm>
          <a:prstGeom prst="line">
            <a:avLst/>
          </a:prstGeom>
          <a:noFill/>
          <a:ln w="19050">
            <a:solidFill>
              <a:srgbClr val="D6001C"/>
            </a:solidFill>
            <a:prstDash val="solid"/>
          </a:ln>
        </p:spPr>
      </p:sp>
      <p:sp>
        <p:nvSpPr>
          <p:cNvPr id="10" name="BRAND_SURFACE">
            <a:extLst>
              <a:ext uri="{FF2B5EF4-FFF2-40B4-BE49-F238E27FC236}">
                <a16:creationId xmlns:a16="http://schemas.microsoft.com/office/drawing/2014/main" id="{40B0A206-C8D4-4384-B657-0DA99894B4E9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11" name="BRAND_LABEL">
            <a:extLst>
              <a:ext uri="{FF2B5EF4-FFF2-40B4-BE49-F238E27FC236}">
                <a16:creationId xmlns:a16="http://schemas.microsoft.com/office/drawing/2014/main" id="{00F88D87-FA43-4B81-9B8D-BC7AB02BDD31}"/>
              </a:ext>
            </a:extLst>
          </p:cNvPr>
          <p:cNvSpPr>
            <a:spLocks noGrp="1"/>
          </p:cNvSpPr>
          <p:nvPr/>
        </p:nvSpPr>
        <p:spPr>
          <a:xfrm>
            <a:off x="12954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品牌力</a:t>
            </a:r>
          </a:p>
        </p:txBody>
      </p:sp>
      <p:sp>
        <p:nvSpPr>
          <p:cNvPr id="12" name="BRAND_QUESTION">
            <a:extLst>
              <a:ext uri="{FF2B5EF4-FFF2-40B4-BE49-F238E27FC236}">
                <a16:creationId xmlns:a16="http://schemas.microsoft.com/office/drawing/2014/main" id="{24F23C98-C2D6-48A1-8D71-073C74EA5496}"/>
              </a:ext>
            </a:extLst>
          </p:cNvPr>
          <p:cNvSpPr>
            <a:spLocks noGrp="1"/>
          </p:cNvSpPr>
          <p:nvPr/>
        </p:nvSpPr>
        <p:spPr>
          <a:xfrm>
            <a:off x="12954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当地客户为什么相信你？</a:t>
            </a:r>
          </a:p>
        </p:txBody>
      </p:sp>
      <p:sp>
        <p:nvSpPr>
          <p:cNvPr id="13" name="BRAND_EVIDENCE">
            <a:extLst>
              <a:ext uri="{FF2B5EF4-FFF2-40B4-BE49-F238E27FC236}">
                <a16:creationId xmlns:a16="http://schemas.microsoft.com/office/drawing/2014/main" id="{7D226B41-9501-4D1F-BF9A-BEA1BB3A75F1}"/>
              </a:ext>
            </a:extLst>
          </p:cNvPr>
          <p:cNvSpPr>
            <a:spLocks noGrp="1"/>
          </p:cNvSpPr>
          <p:nvPr/>
        </p:nvSpPr>
        <p:spPr>
          <a:xfrm>
            <a:off x="12954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本地认知｜样板｜口碑</a:t>
            </a:r>
          </a:p>
        </p:txBody>
      </p:sp>
      <p:sp>
        <p:nvSpPr>
          <p:cNvPr id="14" name="CHANNEL_LINK">
            <a:extLst>
              <a:ext uri="{FF2B5EF4-FFF2-40B4-BE49-F238E27FC236}">
                <a16:creationId xmlns:a16="http://schemas.microsoft.com/office/drawing/2014/main" id="{869203AC-831F-471F-91CA-BF31BDAA04C1}"/>
              </a:ext>
            </a:extLst>
          </p:cNvPr>
          <p:cNvSpPr>
            <a:spLocks noGrp="1"/>
          </p:cNvSpPr>
          <p:nvPr/>
        </p:nvSpPr>
        <p:spPr>
          <a:xfrm>
            <a:off x="6972300" y="2676525"/>
            <a:ext cx="1143000" cy="523875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CHANNEL_SURFACE">
            <a:extLst>
              <a:ext uri="{FF2B5EF4-FFF2-40B4-BE49-F238E27FC236}">
                <a16:creationId xmlns:a16="http://schemas.microsoft.com/office/drawing/2014/main" id="{435B9E77-8E0D-40D1-90BC-9094D991199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CHANNEL_LABEL">
            <a:extLst>
              <a:ext uri="{FF2B5EF4-FFF2-40B4-BE49-F238E27FC236}">
                <a16:creationId xmlns:a16="http://schemas.microsoft.com/office/drawing/2014/main" id="{C8A89BFA-4BAC-4419-8685-662A606315CB}"/>
              </a:ext>
            </a:extLst>
          </p:cNvPr>
          <p:cNvSpPr>
            <a:spLocks noGrp="1"/>
          </p:cNvSpPr>
          <p:nvPr/>
        </p:nvSpPr>
        <p:spPr>
          <a:xfrm>
            <a:off x="83058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渠道力</a:t>
            </a:r>
          </a:p>
        </p:txBody>
      </p:sp>
      <p:sp>
        <p:nvSpPr>
          <p:cNvPr id="17" name="CHANNEL_QUESTION">
            <a:extLst>
              <a:ext uri="{FF2B5EF4-FFF2-40B4-BE49-F238E27FC236}">
                <a16:creationId xmlns:a16="http://schemas.microsoft.com/office/drawing/2014/main" id="{5D9F9F16-98A5-4534-A6CE-A2481A825C96}"/>
              </a:ext>
            </a:extLst>
          </p:cNvPr>
          <p:cNvSpPr>
            <a:spLocks noGrp="1"/>
          </p:cNvSpPr>
          <p:nvPr/>
        </p:nvSpPr>
        <p:spPr>
          <a:xfrm>
            <a:off x="83058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当地有没有人持续卖、持续推？</a:t>
            </a:r>
          </a:p>
        </p:txBody>
      </p:sp>
      <p:sp>
        <p:nvSpPr>
          <p:cNvPr id="18" name="CHANNEL_EVIDENCE">
            <a:extLst>
              <a:ext uri="{FF2B5EF4-FFF2-40B4-BE49-F238E27FC236}">
                <a16:creationId xmlns:a16="http://schemas.microsoft.com/office/drawing/2014/main" id="{24104CD1-8DF7-46B6-B48D-1EB9BCCEB074}"/>
              </a:ext>
            </a:extLst>
          </p:cNvPr>
          <p:cNvSpPr>
            <a:spLocks noGrp="1"/>
          </p:cNvSpPr>
          <p:nvPr/>
        </p:nvSpPr>
        <p:spPr>
          <a:xfrm>
            <a:off x="83058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核心网点｜工人｜关键人</a:t>
            </a:r>
          </a:p>
        </p:txBody>
      </p:sp>
      <p:sp>
        <p:nvSpPr>
          <p:cNvPr id="19" name="SCENE_LINK">
            <a:extLst>
              <a:ext uri="{FF2B5EF4-FFF2-40B4-BE49-F238E27FC236}">
                <a16:creationId xmlns:a16="http://schemas.microsoft.com/office/drawing/2014/main" id="{E3812C07-AC96-4D44-B5A8-41337B1F5878}"/>
              </a:ext>
            </a:extLst>
          </p:cNvPr>
          <p:cNvSpPr>
            <a:spLocks noGrp="1"/>
          </p:cNvSpPr>
          <p:nvPr/>
        </p:nvSpPr>
        <p:spPr>
          <a:xfrm>
            <a:off x="4152900" y="4476750"/>
            <a:ext cx="723900" cy="523875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20" name="SCENE_SURFACE">
            <a:extLst>
              <a:ext uri="{FF2B5EF4-FFF2-40B4-BE49-F238E27FC236}">
                <a16:creationId xmlns:a16="http://schemas.microsoft.com/office/drawing/2014/main" id="{C2395F50-F185-4D08-93DA-F702639B6DC3}"/>
              </a:ext>
            </a:extLst>
          </p:cNvPr>
          <p:cNvSpPr>
            <a:spLocks noGrp="1"/>
          </p:cNvSpPr>
          <p:nvPr/>
        </p:nvSpPr>
        <p:spPr>
          <a:xfrm>
            <a:off x="11049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1" name="SCENE_LABEL">
            <a:extLst>
              <a:ext uri="{FF2B5EF4-FFF2-40B4-BE49-F238E27FC236}">
                <a16:creationId xmlns:a16="http://schemas.microsoft.com/office/drawing/2014/main" id="{E3533932-C006-40A8-9E62-8E18828978D1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场景力</a:t>
            </a:r>
          </a:p>
        </p:txBody>
      </p:sp>
      <p:sp>
        <p:nvSpPr>
          <p:cNvPr id="22" name="SCENE_QUESTION">
            <a:extLst>
              <a:ext uri="{FF2B5EF4-FFF2-40B4-BE49-F238E27FC236}">
                <a16:creationId xmlns:a16="http://schemas.microsoft.com/office/drawing/2014/main" id="{AF84A24B-3E37-41C9-832E-072F6D2CD257}"/>
              </a:ext>
            </a:extLst>
          </p:cNvPr>
          <p:cNvSpPr>
            <a:spLocks noGrp="1"/>
          </p:cNvSpPr>
          <p:nvPr/>
        </p:nvSpPr>
        <p:spPr>
          <a:xfrm>
            <a:off x="12954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能不能持续找到真实项目？</a:t>
            </a:r>
          </a:p>
        </p:txBody>
      </p:sp>
      <p:sp>
        <p:nvSpPr>
          <p:cNvPr id="23" name="SCENE_EVIDENCE">
            <a:extLst>
              <a:ext uri="{FF2B5EF4-FFF2-40B4-BE49-F238E27FC236}">
                <a16:creationId xmlns:a16="http://schemas.microsoft.com/office/drawing/2014/main" id="{742863A3-607C-426F-8A6A-34E907E4F79B}"/>
              </a:ext>
            </a:extLst>
          </p:cNvPr>
          <p:cNvSpPr>
            <a:spLocks noGrp="1"/>
          </p:cNvSpPr>
          <p:nvPr/>
        </p:nvSpPr>
        <p:spPr>
          <a:xfrm>
            <a:off x="12954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线索｜节点｜转化</a:t>
            </a:r>
          </a:p>
        </p:txBody>
      </p:sp>
      <p:sp>
        <p:nvSpPr>
          <p:cNvPr id="24" name="PRODUCT_LINK">
            <a:extLst>
              <a:ext uri="{FF2B5EF4-FFF2-40B4-BE49-F238E27FC236}">
                <a16:creationId xmlns:a16="http://schemas.microsoft.com/office/drawing/2014/main" id="{7E89A4B1-D239-4EDA-A50C-733CC008129C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1143000" cy="523875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25" name="PRODUCT_SURFACE">
            <a:extLst>
              <a:ext uri="{FF2B5EF4-FFF2-40B4-BE49-F238E27FC236}">
                <a16:creationId xmlns:a16="http://schemas.microsoft.com/office/drawing/2014/main" id="{657347C3-132A-4654-BC89-24367335A8B5}"/>
              </a:ext>
            </a:extLst>
          </p:cNvPr>
          <p:cNvSpPr>
            <a:spLocks noGrp="1"/>
          </p:cNvSpPr>
          <p:nvPr/>
        </p:nvSpPr>
        <p:spPr>
          <a:xfrm>
            <a:off x="81153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26" name="PRODUCT_LABEL">
            <a:extLst>
              <a:ext uri="{FF2B5EF4-FFF2-40B4-BE49-F238E27FC236}">
                <a16:creationId xmlns:a16="http://schemas.microsoft.com/office/drawing/2014/main" id="{BC94698D-B6BE-4902-8DF9-CBE9F7CD4EE3}"/>
              </a:ext>
            </a:extLst>
          </p:cNvPr>
          <p:cNvSpPr>
            <a:spLocks noGrp="1"/>
          </p:cNvSpPr>
          <p:nvPr/>
        </p:nvSpPr>
        <p:spPr>
          <a:xfrm>
            <a:off x="83058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产品力</a:t>
            </a:r>
          </a:p>
        </p:txBody>
      </p:sp>
      <p:sp>
        <p:nvSpPr>
          <p:cNvPr id="27" name="PRODUCT_QUESTION">
            <a:extLst>
              <a:ext uri="{FF2B5EF4-FFF2-40B4-BE49-F238E27FC236}">
                <a16:creationId xmlns:a16="http://schemas.microsoft.com/office/drawing/2014/main" id="{A64C96B1-A9A4-4677-B76E-30FB51732F0A}"/>
              </a:ext>
            </a:extLst>
          </p:cNvPr>
          <p:cNvSpPr>
            <a:spLocks noGrp="1"/>
          </p:cNvSpPr>
          <p:nvPr/>
        </p:nvSpPr>
        <p:spPr>
          <a:xfrm>
            <a:off x="83058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产品能否切入、动销并扩品？</a:t>
            </a:r>
          </a:p>
        </p:txBody>
      </p:sp>
      <p:sp>
        <p:nvSpPr>
          <p:cNvPr id="28" name="PRODUCT_EVIDENCE">
            <a:extLst>
              <a:ext uri="{FF2B5EF4-FFF2-40B4-BE49-F238E27FC236}">
                <a16:creationId xmlns:a16="http://schemas.microsoft.com/office/drawing/2014/main" id="{AFC18B0B-29CD-4A98-B4E6-E2A4A9BD1338}"/>
              </a:ext>
            </a:extLst>
          </p:cNvPr>
          <p:cNvSpPr>
            <a:spLocks noGrp="1"/>
          </p:cNvSpPr>
          <p:nvPr/>
        </p:nvSpPr>
        <p:spPr>
          <a:xfrm>
            <a:off x="83058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首单｜复购｜组合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8D938446-8400-4DF0-A382-AA3D6780C0D2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判断规则：只能选1个主短板、最多1个辅助短板，并各写出一条证据。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CAC01B4F-05E4-4BD5-A44F-8715BACE234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81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B339CA92-25D8-4CC8-BDDD-B040465472D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8381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DC-04 · FOUR-STAGE GROWTH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015E4D5-A524-41E6-B76F-43845D31DDC8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阶段不按开发了几年判断，而是看市场已经形成了什么结果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C61086-CA39-4AB3-B09C-98DBC03DB4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每一级只回答两件事：已经形成什么经营结果，下一步必须完成什么通关任务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7CE5B6D3-DE5C-4726-896E-90CA9E61601D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1_BLOCK">
            <a:extLst>
              <a:ext uri="{FF2B5EF4-FFF2-40B4-BE49-F238E27FC236}">
                <a16:creationId xmlns:a16="http://schemas.microsoft.com/office/drawing/2014/main" id="{0CC200C0-2479-4589-8C5C-F7AB51108B35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381250" cy="1905000"/>
          </a:xfrm>
          <a:prstGeom prst="rect">
            <a:avLst/>
          </a:prstGeom>
          <a:solidFill>
            <a:srgbClr val="E9ECEF"/>
          </a:solidFill>
          <a:ln w="0">
            <a:noFill/>
            <a:prstDash val="solid"/>
          </a:ln>
        </p:spPr>
      </p:sp>
      <p:sp>
        <p:nvSpPr>
          <p:cNvPr id="8" name="S1_NUMBER">
            <a:extLst>
              <a:ext uri="{FF2B5EF4-FFF2-40B4-BE49-F238E27FC236}">
                <a16:creationId xmlns:a16="http://schemas.microsoft.com/office/drawing/2014/main" id="{C42F2D47-C6A3-49FF-B0BE-ACBCB8FD030B}"/>
              </a:ext>
            </a:extLst>
          </p:cNvPr>
          <p:cNvSpPr>
            <a:spLocks noGrp="1"/>
          </p:cNvSpPr>
          <p:nvPr/>
        </p:nvSpPr>
        <p:spPr>
          <a:xfrm>
            <a:off x="1047750" y="41910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1_LABEL">
            <a:extLst>
              <a:ext uri="{FF2B5EF4-FFF2-40B4-BE49-F238E27FC236}">
                <a16:creationId xmlns:a16="http://schemas.microsoft.com/office/drawing/2014/main" id="{6826E5DF-73FF-4359-A0BD-5612FD970C28}"/>
              </a:ext>
            </a:extLst>
          </p:cNvPr>
          <p:cNvSpPr>
            <a:spLocks noGrp="1"/>
          </p:cNvSpPr>
          <p:nvPr/>
        </p:nvSpPr>
        <p:spPr>
          <a:xfrm>
            <a:off x="1047750" y="45720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进得去</a:t>
            </a:r>
          </a:p>
        </p:txBody>
      </p:sp>
      <p:sp>
        <p:nvSpPr>
          <p:cNvPr id="10" name="S1_RESULT">
            <a:extLst>
              <a:ext uri="{FF2B5EF4-FFF2-40B4-BE49-F238E27FC236}">
                <a16:creationId xmlns:a16="http://schemas.microsoft.com/office/drawing/2014/main" id="{7F11A11A-7548-44DA-B7A4-99E6443749EB}"/>
              </a:ext>
            </a:extLst>
          </p:cNvPr>
          <p:cNvSpPr>
            <a:spLocks noGrp="1"/>
          </p:cNvSpPr>
          <p:nvPr/>
        </p:nvSpPr>
        <p:spPr>
          <a:xfrm>
            <a:off x="1047750" y="4972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发生第一批真实业务</a:t>
            </a:r>
          </a:p>
        </p:txBody>
      </p:sp>
      <p:sp>
        <p:nvSpPr>
          <p:cNvPr id="11" name="S1_TASK">
            <a:extLst>
              <a:ext uri="{FF2B5EF4-FFF2-40B4-BE49-F238E27FC236}">
                <a16:creationId xmlns:a16="http://schemas.microsoft.com/office/drawing/2014/main" id="{11891CEB-2EF2-4A22-A0C1-AAE739958585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1962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下一关：找到入口，完成破零</a:t>
            </a:r>
          </a:p>
        </p:txBody>
      </p:sp>
      <p:sp>
        <p:nvSpPr>
          <p:cNvPr id="12" name="S2_BLOCK">
            <a:extLst>
              <a:ext uri="{FF2B5EF4-FFF2-40B4-BE49-F238E27FC236}">
                <a16:creationId xmlns:a16="http://schemas.microsoft.com/office/drawing/2014/main" id="{D442830E-21CC-497A-B8C9-AE6008778072}"/>
              </a:ext>
            </a:extLst>
          </p:cNvPr>
          <p:cNvSpPr>
            <a:spLocks noGrp="1"/>
          </p:cNvSpPr>
          <p:nvPr/>
        </p:nvSpPr>
        <p:spPr>
          <a:xfrm>
            <a:off x="3219450" y="3333750"/>
            <a:ext cx="2381250" cy="2571750"/>
          </a:xfrm>
          <a:prstGeom prst="rect">
            <a:avLst/>
          </a:prstGeom>
          <a:solidFill>
            <a:srgbClr val="D9DEE3"/>
          </a:solidFill>
          <a:ln w="0">
            <a:noFill/>
            <a:prstDash val="solid"/>
          </a:ln>
        </p:spPr>
      </p:sp>
      <p:sp>
        <p:nvSpPr>
          <p:cNvPr id="13" name="S2_NUMBER">
            <a:extLst>
              <a:ext uri="{FF2B5EF4-FFF2-40B4-BE49-F238E27FC236}">
                <a16:creationId xmlns:a16="http://schemas.microsoft.com/office/drawing/2014/main" id="{2E2BBD6C-68D8-4A0E-B668-69E86A71FF48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S2_LABEL">
            <a:extLst>
              <a:ext uri="{FF2B5EF4-FFF2-40B4-BE49-F238E27FC236}">
                <a16:creationId xmlns:a16="http://schemas.microsoft.com/office/drawing/2014/main" id="{679E81D6-96D7-407B-A975-A8CD08D4A9D5}"/>
              </a:ext>
            </a:extLst>
          </p:cNvPr>
          <p:cNvSpPr>
            <a:spLocks noGrp="1"/>
          </p:cNvSpPr>
          <p:nvPr/>
        </p:nvSpPr>
        <p:spPr>
          <a:xfrm>
            <a:off x="3429000" y="390525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站得住</a:t>
            </a:r>
          </a:p>
        </p:txBody>
      </p:sp>
      <p:sp>
        <p:nvSpPr>
          <p:cNvPr id="15" name="S2_RESULT">
            <a:extLst>
              <a:ext uri="{FF2B5EF4-FFF2-40B4-BE49-F238E27FC236}">
                <a16:creationId xmlns:a16="http://schemas.microsoft.com/office/drawing/2014/main" id="{C85427F5-E885-4784-8324-F9C175B51F21}"/>
              </a:ext>
            </a:extLst>
          </p:cNvPr>
          <p:cNvSpPr>
            <a:spLocks noGrp="1"/>
          </p:cNvSpPr>
          <p:nvPr/>
        </p:nvSpPr>
        <p:spPr>
          <a:xfrm>
            <a:off x="3429000" y="43053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网点、线索和产品开始重复</a:t>
            </a:r>
          </a:p>
        </p:txBody>
      </p:sp>
      <p:sp>
        <p:nvSpPr>
          <p:cNvPr id="16" name="S2_TASK">
            <a:extLst>
              <a:ext uri="{FF2B5EF4-FFF2-40B4-BE49-F238E27FC236}">
                <a16:creationId xmlns:a16="http://schemas.microsoft.com/office/drawing/2014/main" id="{8A1D2ADB-A9A6-4641-9706-A2E78C937BF8}"/>
              </a:ext>
            </a:extLst>
          </p:cNvPr>
          <p:cNvSpPr>
            <a:spLocks noGrp="1"/>
          </p:cNvSpPr>
          <p:nvPr/>
        </p:nvSpPr>
        <p:spPr>
          <a:xfrm>
            <a:off x="3429000" y="4762500"/>
            <a:ext cx="1962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下一关：把一次成交变成稳定基础</a:t>
            </a:r>
          </a:p>
        </p:txBody>
      </p:sp>
      <p:sp>
        <p:nvSpPr>
          <p:cNvPr id="17" name="S3_BLOCK">
            <a:extLst>
              <a:ext uri="{FF2B5EF4-FFF2-40B4-BE49-F238E27FC236}">
                <a16:creationId xmlns:a16="http://schemas.microsoft.com/office/drawing/2014/main" id="{71D57944-2CB7-4753-85DA-DBA84083FBC2}"/>
              </a:ext>
            </a:extLst>
          </p:cNvPr>
          <p:cNvSpPr>
            <a:spLocks noGrp="1"/>
          </p:cNvSpPr>
          <p:nvPr/>
        </p:nvSpPr>
        <p:spPr>
          <a:xfrm>
            <a:off x="5600700" y="2667000"/>
            <a:ext cx="2381250" cy="3238500"/>
          </a:xfrm>
          <a:prstGeom prst="rect">
            <a:avLst/>
          </a:prstGeom>
          <a:solidFill>
            <a:srgbClr val="2D3136"/>
          </a:solidFill>
          <a:ln w="0">
            <a:noFill/>
            <a:prstDash val="solid"/>
          </a:ln>
        </p:spPr>
      </p:sp>
      <p:sp>
        <p:nvSpPr>
          <p:cNvPr id="18" name="S3_NUMBER">
            <a:extLst>
              <a:ext uri="{FF2B5EF4-FFF2-40B4-BE49-F238E27FC236}">
                <a16:creationId xmlns:a16="http://schemas.microsoft.com/office/drawing/2014/main" id="{404A2C83-862F-4BA2-830E-F11AE7575C4E}"/>
              </a:ext>
            </a:extLst>
          </p:cNvPr>
          <p:cNvSpPr>
            <a:spLocks noGrp="1"/>
          </p:cNvSpPr>
          <p:nvPr/>
        </p:nvSpPr>
        <p:spPr>
          <a:xfrm>
            <a:off x="5810250" y="28575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S3_LABEL">
            <a:extLst>
              <a:ext uri="{FF2B5EF4-FFF2-40B4-BE49-F238E27FC236}">
                <a16:creationId xmlns:a16="http://schemas.microsoft.com/office/drawing/2014/main" id="{26EDCA7E-FC7D-41FC-B987-6E5B69E78669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卖得动</a:t>
            </a:r>
          </a:p>
        </p:txBody>
      </p:sp>
      <p:sp>
        <p:nvSpPr>
          <p:cNvPr id="20" name="S3_RESULT">
            <a:extLst>
              <a:ext uri="{FF2B5EF4-FFF2-40B4-BE49-F238E27FC236}">
                <a16:creationId xmlns:a16="http://schemas.microsoft.com/office/drawing/2014/main" id="{68E3C6B4-236D-48EC-BA3E-6412DA09C6D5}"/>
              </a:ext>
            </a:extLst>
          </p:cNvPr>
          <p:cNvSpPr>
            <a:spLocks noGrp="1"/>
          </p:cNvSpPr>
          <p:nvPr/>
        </p:nvSpPr>
        <p:spPr>
          <a:xfrm>
            <a:off x="5810250" y="3638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客户、项目和销量持续增加</a:t>
            </a:r>
          </a:p>
        </p:txBody>
      </p:sp>
      <p:sp>
        <p:nvSpPr>
          <p:cNvPr id="21" name="S3_TASK">
            <a:extLst>
              <a:ext uri="{FF2B5EF4-FFF2-40B4-BE49-F238E27FC236}">
                <a16:creationId xmlns:a16="http://schemas.microsoft.com/office/drawing/2014/main" id="{A1262302-D77E-4133-97FD-6D80D5AA7417}"/>
              </a:ext>
            </a:extLst>
          </p:cNvPr>
          <p:cNvSpPr>
            <a:spLocks noGrp="1"/>
          </p:cNvSpPr>
          <p:nvPr/>
        </p:nvSpPr>
        <p:spPr>
          <a:xfrm>
            <a:off x="5810250" y="4095750"/>
            <a:ext cx="19621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下一关：提高有效网点与转化效率</a:t>
            </a:r>
          </a:p>
        </p:txBody>
      </p:sp>
      <p:sp>
        <p:nvSpPr>
          <p:cNvPr id="22" name="S4_BLOCK">
            <a:extLst>
              <a:ext uri="{FF2B5EF4-FFF2-40B4-BE49-F238E27FC236}">
                <a16:creationId xmlns:a16="http://schemas.microsoft.com/office/drawing/2014/main" id="{970AB39D-EF02-4440-BC3E-1F453A2AC621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33750" cy="3905250"/>
          </a:xfrm>
          <a:prstGeom prst="rect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3" name="S4_NUMBER">
            <a:extLst>
              <a:ext uri="{FF2B5EF4-FFF2-40B4-BE49-F238E27FC236}">
                <a16:creationId xmlns:a16="http://schemas.microsoft.com/office/drawing/2014/main" id="{DD0FAAA6-DD49-4ED2-BE19-377337284EA4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S4_LABEL">
            <a:extLst>
              <a:ext uri="{FF2B5EF4-FFF2-40B4-BE49-F238E27FC236}">
                <a16:creationId xmlns:a16="http://schemas.microsoft.com/office/drawing/2014/main" id="{ECEF836E-8D91-41B5-9684-8266ED34EFAA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做得深</a:t>
            </a:r>
          </a:p>
        </p:txBody>
      </p:sp>
      <p:sp>
        <p:nvSpPr>
          <p:cNvPr id="25" name="S4_RESULT">
            <a:extLst>
              <a:ext uri="{FF2B5EF4-FFF2-40B4-BE49-F238E27FC236}">
                <a16:creationId xmlns:a16="http://schemas.microsoft.com/office/drawing/2014/main" id="{D9E2C376-C085-46D6-8A07-22B109C268AA}"/>
              </a:ext>
            </a:extLst>
          </p:cNvPr>
          <p:cNvSpPr>
            <a:spLocks noGrp="1"/>
          </p:cNvSpPr>
          <p:nvPr/>
        </p:nvSpPr>
        <p:spPr>
          <a:xfrm>
            <a:off x="8191500" y="29718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单点、单客和单项目价值提高</a:t>
            </a:r>
          </a:p>
        </p:txBody>
      </p:sp>
      <p:sp>
        <p:nvSpPr>
          <p:cNvPr id="26" name="S4_TASK">
            <a:extLst>
              <a:ext uri="{FF2B5EF4-FFF2-40B4-BE49-F238E27FC236}">
                <a16:creationId xmlns:a16="http://schemas.microsoft.com/office/drawing/2014/main" id="{ED4627A6-F825-47D8-BA32-62E46C4A84E8}"/>
              </a:ext>
            </a:extLst>
          </p:cNvPr>
          <p:cNvSpPr>
            <a:spLocks noGrp="1"/>
          </p:cNvSpPr>
          <p:nvPr/>
        </p:nvSpPr>
        <p:spPr>
          <a:xfrm>
            <a:off x="8191500" y="3429000"/>
            <a:ext cx="29146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下一关：组合扩品，沉淀并复制方法</a:t>
            </a:r>
          </a:p>
        </p:txBody>
      </p:sp>
      <p:sp>
        <p:nvSpPr>
          <p:cNvPr id="27" name="STAGE_RULE">
            <a:extLst>
              <a:ext uri="{FF2B5EF4-FFF2-40B4-BE49-F238E27FC236}">
                <a16:creationId xmlns:a16="http://schemas.microsoft.com/office/drawing/2014/main" id="{1D4E1AF0-EC74-4EAC-AC79-B1F60C72A5AE}"/>
              </a:ext>
            </a:extLst>
          </p:cNvPr>
          <p:cNvSpPr>
            <a:spLocks noGrp="1"/>
          </p:cNvSpPr>
          <p:nvPr/>
        </p:nvSpPr>
        <p:spPr>
          <a:xfrm>
            <a:off x="838200" y="1895475"/>
            <a:ext cx="628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先说证据，再选阶段；阶段决定下一步任务，不是给乡镇打分。</a:t>
            </a:r>
          </a:p>
        </p:txBody>
      </p:sp>
      <p:sp>
        <p:nvSpPr>
          <p:cNvPr id="28" name="TEACHING_CUE">
            <a:extLst>
              <a:ext uri="{FF2B5EF4-FFF2-40B4-BE49-F238E27FC236}">
                <a16:creationId xmlns:a16="http://schemas.microsoft.com/office/drawing/2014/main" id="{2DB1E978-80B2-47BD-832B-E67D68C2F0DF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课堂动作：给出一个乡镇情境，学员先举牌选阶段，再说出支撑判断的事实。</a:t>
            </a:r>
          </a:p>
        </p:txBody>
      </p:sp>
      <p:sp>
        <p:nvSpPr>
          <p:cNvPr id="29" name="PAGE_NUMBER">
            <a:extLst>
              <a:ext uri="{FF2B5EF4-FFF2-40B4-BE49-F238E27FC236}">
                <a16:creationId xmlns:a16="http://schemas.microsoft.com/office/drawing/2014/main" id="{0884160C-C642-4EF0-A1D2-4E58AD8F5BF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46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FB45F5DD-6DF3-42AB-8B60-3EF0E556EAE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DC-17 · SYMPTOM CLUSTERING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4D74369-284E-4DB6-B9FE-326ED39917B0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问题很多时，先把零散现象聚成四类病症，再找真正的主问题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301BA9C-77DE-4ACD-A7EA-4268BCBD5175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症状写事实，病症做归纳；不要把“继续铺货、继续活动”当成未经诊断的默认答案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D1DE82DE-35D1-410A-B376-33077165735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YMPTOM_01">
            <a:extLst>
              <a:ext uri="{FF2B5EF4-FFF2-40B4-BE49-F238E27FC236}">
                <a16:creationId xmlns:a16="http://schemas.microsoft.com/office/drawing/2014/main" id="{236107BA-0123-4633-A1D8-33DFA55338A2}"/>
              </a:ext>
            </a:extLst>
          </p:cNvPr>
          <p:cNvSpPr>
            <a:spLocks noGrp="1"/>
          </p:cNvSpPr>
          <p:nvPr/>
        </p:nvSpPr>
        <p:spPr>
          <a:xfrm rot="-240000">
            <a:off x="666750" y="2057400"/>
            <a:ext cx="1600200" cy="6286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SYMPTOM_01_TEXT">
            <a:extLst>
              <a:ext uri="{FF2B5EF4-FFF2-40B4-BE49-F238E27FC236}">
                <a16:creationId xmlns:a16="http://schemas.microsoft.com/office/drawing/2014/main" id="{7DE256CA-D539-410A-85B8-D75A5631005A}"/>
              </a:ext>
            </a:extLst>
          </p:cNvPr>
          <p:cNvSpPr>
            <a:spLocks noGrp="1"/>
          </p:cNvSpPr>
          <p:nvPr/>
        </p:nvSpPr>
        <p:spPr>
          <a:xfrm rot="-240000">
            <a:off x="752475" y="21717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活动很多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市场一停就安静</a:t>
            </a:r>
          </a:p>
        </p:txBody>
      </p:sp>
      <p:sp>
        <p:nvSpPr>
          <p:cNvPr id="9" name="SYMPTOM_02">
            <a:extLst>
              <a:ext uri="{FF2B5EF4-FFF2-40B4-BE49-F238E27FC236}">
                <a16:creationId xmlns:a16="http://schemas.microsoft.com/office/drawing/2014/main" id="{4E2A0B50-ACFD-4D8E-8EDE-37F22D9A51D1}"/>
              </a:ext>
            </a:extLst>
          </p:cNvPr>
          <p:cNvSpPr>
            <a:spLocks noGrp="1"/>
          </p:cNvSpPr>
          <p:nvPr/>
        </p:nvSpPr>
        <p:spPr>
          <a:xfrm rot="180000">
            <a:off x="2428875" y="1885950"/>
            <a:ext cx="1504950" cy="70485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SYMPTOM_02_TEXT">
            <a:extLst>
              <a:ext uri="{FF2B5EF4-FFF2-40B4-BE49-F238E27FC236}">
                <a16:creationId xmlns:a16="http://schemas.microsoft.com/office/drawing/2014/main" id="{9C84BC26-9C2F-4023-BE93-64037011C712}"/>
              </a:ext>
            </a:extLst>
          </p:cNvPr>
          <p:cNvSpPr>
            <a:spLocks noGrp="1"/>
          </p:cNvSpPr>
          <p:nvPr/>
        </p:nvSpPr>
        <p:spPr>
          <a:xfrm rot="180000">
            <a:off x="2514600" y="2000250"/>
            <a:ext cx="133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有曝光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没有购买入口</a:t>
            </a:r>
          </a:p>
        </p:txBody>
      </p:sp>
      <p:sp>
        <p:nvSpPr>
          <p:cNvPr id="11" name="SYMPTOM_03">
            <a:extLst>
              <a:ext uri="{FF2B5EF4-FFF2-40B4-BE49-F238E27FC236}">
                <a16:creationId xmlns:a16="http://schemas.microsoft.com/office/drawing/2014/main" id="{5CAFD797-6866-457A-9A8B-8426989938A2}"/>
              </a:ext>
            </a:extLst>
          </p:cNvPr>
          <p:cNvSpPr>
            <a:spLocks noGrp="1"/>
          </p:cNvSpPr>
          <p:nvPr/>
        </p:nvSpPr>
        <p:spPr>
          <a:xfrm rot="120000">
            <a:off x="866775" y="2886075"/>
            <a:ext cx="163830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YMPTOM_03_TEXT">
            <a:extLst>
              <a:ext uri="{FF2B5EF4-FFF2-40B4-BE49-F238E27FC236}">
                <a16:creationId xmlns:a16="http://schemas.microsoft.com/office/drawing/2014/main" id="{F6222EA3-98DE-4D46-A1EF-1A7146379519}"/>
              </a:ext>
            </a:extLst>
          </p:cNvPr>
          <p:cNvSpPr>
            <a:spLocks noGrp="1"/>
          </p:cNvSpPr>
          <p:nvPr/>
        </p:nvSpPr>
        <p:spPr>
          <a:xfrm rot="120000">
            <a:off x="952500" y="3000375"/>
            <a:ext cx="1466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首批进货后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很少补货</a:t>
            </a:r>
          </a:p>
        </p:txBody>
      </p:sp>
      <p:sp>
        <p:nvSpPr>
          <p:cNvPr id="13" name="SYMPTOM_04">
            <a:extLst>
              <a:ext uri="{FF2B5EF4-FFF2-40B4-BE49-F238E27FC236}">
                <a16:creationId xmlns:a16="http://schemas.microsoft.com/office/drawing/2014/main" id="{95669166-597D-4E3A-996D-63CFC6143F09}"/>
              </a:ext>
            </a:extLst>
          </p:cNvPr>
          <p:cNvSpPr>
            <a:spLocks noGrp="1"/>
          </p:cNvSpPr>
          <p:nvPr/>
        </p:nvSpPr>
        <p:spPr>
          <a:xfrm rot="-180000">
            <a:off x="2686050" y="2781300"/>
            <a:ext cx="1619250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YMPTOM_04_TEXT">
            <a:extLst>
              <a:ext uri="{FF2B5EF4-FFF2-40B4-BE49-F238E27FC236}">
                <a16:creationId xmlns:a16="http://schemas.microsoft.com/office/drawing/2014/main" id="{ABD6CE9C-26CD-4B1E-8581-45FEAA662CE7}"/>
              </a:ext>
            </a:extLst>
          </p:cNvPr>
          <p:cNvSpPr>
            <a:spLocks noGrp="1"/>
          </p:cNvSpPr>
          <p:nvPr/>
        </p:nvSpPr>
        <p:spPr>
          <a:xfrm rot="-180000">
            <a:off x="2771775" y="2895600"/>
            <a:ext cx="1447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项目做完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没有新线索</a:t>
            </a:r>
          </a:p>
        </p:txBody>
      </p:sp>
      <p:sp>
        <p:nvSpPr>
          <p:cNvPr id="15" name="SYMPTOM_05">
            <a:extLst>
              <a:ext uri="{FF2B5EF4-FFF2-40B4-BE49-F238E27FC236}">
                <a16:creationId xmlns:a16="http://schemas.microsoft.com/office/drawing/2014/main" id="{AACDF1F3-847E-42E0-801A-7DEB303F62A2}"/>
              </a:ext>
            </a:extLst>
          </p:cNvPr>
          <p:cNvSpPr>
            <a:spLocks noGrp="1"/>
          </p:cNvSpPr>
          <p:nvPr/>
        </p:nvSpPr>
        <p:spPr>
          <a:xfrm rot="-120000">
            <a:off x="695325" y="3800475"/>
            <a:ext cx="1619250" cy="7048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YMPTOM_05_TEXT">
            <a:extLst>
              <a:ext uri="{FF2B5EF4-FFF2-40B4-BE49-F238E27FC236}">
                <a16:creationId xmlns:a16="http://schemas.microsoft.com/office/drawing/2014/main" id="{D28A1884-4B9E-4FE4-AE5A-46D3A1DDB9DD}"/>
              </a:ext>
            </a:extLst>
          </p:cNvPr>
          <p:cNvSpPr>
            <a:spLocks noGrp="1"/>
          </p:cNvSpPr>
          <p:nvPr/>
        </p:nvSpPr>
        <p:spPr>
          <a:xfrm rot="-120000">
            <a:off x="781050" y="3914775"/>
            <a:ext cx="1447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网点不少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真正卖货的很少</a:t>
            </a:r>
          </a:p>
        </p:txBody>
      </p:sp>
      <p:sp>
        <p:nvSpPr>
          <p:cNvPr id="17" name="SYMPTOM_06">
            <a:extLst>
              <a:ext uri="{FF2B5EF4-FFF2-40B4-BE49-F238E27FC236}">
                <a16:creationId xmlns:a16="http://schemas.microsoft.com/office/drawing/2014/main" id="{83B34019-E26B-4591-AD05-A6D0A0D32878}"/>
              </a:ext>
            </a:extLst>
          </p:cNvPr>
          <p:cNvSpPr>
            <a:spLocks noGrp="1"/>
          </p:cNvSpPr>
          <p:nvPr/>
        </p:nvSpPr>
        <p:spPr>
          <a:xfrm rot="180000">
            <a:off x="2533650" y="3743325"/>
            <a:ext cx="1762125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YMPTOM_06_TEXT">
            <a:extLst>
              <a:ext uri="{FF2B5EF4-FFF2-40B4-BE49-F238E27FC236}">
                <a16:creationId xmlns:a16="http://schemas.microsoft.com/office/drawing/2014/main" id="{5E710C74-14B7-4DEE-81E0-4B12F29F8BB5}"/>
              </a:ext>
            </a:extLst>
          </p:cNvPr>
          <p:cNvSpPr>
            <a:spLocks noGrp="1"/>
          </p:cNvSpPr>
          <p:nvPr/>
        </p:nvSpPr>
        <p:spPr>
          <a:xfrm rot="180000">
            <a:off x="2619375" y="3857625"/>
            <a:ext cx="15906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业务员天天跑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仍以送货收款为主</a:t>
            </a:r>
          </a:p>
        </p:txBody>
      </p:sp>
      <p:sp>
        <p:nvSpPr>
          <p:cNvPr id="19" name="SYMPTOM_07">
            <a:extLst>
              <a:ext uri="{FF2B5EF4-FFF2-40B4-BE49-F238E27FC236}">
                <a16:creationId xmlns:a16="http://schemas.microsoft.com/office/drawing/2014/main" id="{A3E816CC-80E9-45F3-8384-EEE0AE83D9C5}"/>
              </a:ext>
            </a:extLst>
          </p:cNvPr>
          <p:cNvSpPr>
            <a:spLocks noGrp="1"/>
          </p:cNvSpPr>
          <p:nvPr/>
        </p:nvSpPr>
        <p:spPr>
          <a:xfrm rot="120000">
            <a:off x="1019175" y="4733925"/>
            <a:ext cx="161925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SYMPTOM_07_TEXT">
            <a:extLst>
              <a:ext uri="{FF2B5EF4-FFF2-40B4-BE49-F238E27FC236}">
                <a16:creationId xmlns:a16="http://schemas.microsoft.com/office/drawing/2014/main" id="{375F6752-2277-4CD7-A37A-DC0E0B70CF8C}"/>
              </a:ext>
            </a:extLst>
          </p:cNvPr>
          <p:cNvSpPr>
            <a:spLocks noGrp="1"/>
          </p:cNvSpPr>
          <p:nvPr/>
        </p:nvSpPr>
        <p:spPr>
          <a:xfrm rot="120000">
            <a:off x="1104900" y="4848225"/>
            <a:ext cx="1447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销量稳定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单点产出不再增长</a:t>
            </a:r>
          </a:p>
        </p:txBody>
      </p:sp>
      <p:sp>
        <p:nvSpPr>
          <p:cNvPr id="21" name="SYMPTOM_08">
            <a:extLst>
              <a:ext uri="{FF2B5EF4-FFF2-40B4-BE49-F238E27FC236}">
                <a16:creationId xmlns:a16="http://schemas.microsoft.com/office/drawing/2014/main" id="{0356F3CD-0E1B-47B5-93BB-093A9A16FF61}"/>
              </a:ext>
            </a:extLst>
          </p:cNvPr>
          <p:cNvSpPr>
            <a:spLocks noGrp="1"/>
          </p:cNvSpPr>
          <p:nvPr/>
        </p:nvSpPr>
        <p:spPr>
          <a:xfrm rot="-180000">
            <a:off x="2828925" y="4629150"/>
            <a:ext cx="1600200" cy="7239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SYMPTOM_08_TEXT">
            <a:extLst>
              <a:ext uri="{FF2B5EF4-FFF2-40B4-BE49-F238E27FC236}">
                <a16:creationId xmlns:a16="http://schemas.microsoft.com/office/drawing/2014/main" id="{64100E53-911E-4A9D-84F6-040FBE2B621F}"/>
              </a:ext>
            </a:extLst>
          </p:cNvPr>
          <p:cNvSpPr>
            <a:spLocks noGrp="1"/>
          </p:cNvSpPr>
          <p:nvPr/>
        </p:nvSpPr>
        <p:spPr>
          <a:xfrm rot="-180000">
            <a:off x="2914650" y="474345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长期依赖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少数单品和熟人</a:t>
            </a:r>
          </a:p>
        </p:txBody>
      </p:sp>
      <p:sp>
        <p:nvSpPr>
          <p:cNvPr id="23" name="CONVERGE_ARROW">
            <a:extLst>
              <a:ext uri="{FF2B5EF4-FFF2-40B4-BE49-F238E27FC236}">
                <a16:creationId xmlns:a16="http://schemas.microsoft.com/office/drawing/2014/main" id="{1D33780E-034F-430A-B80C-22D7B282D124}"/>
              </a:ext>
            </a:extLst>
          </p:cNvPr>
          <p:cNvSpPr>
            <a:spLocks noGrp="1"/>
          </p:cNvSpPr>
          <p:nvPr/>
        </p:nvSpPr>
        <p:spPr>
          <a:xfrm>
            <a:off x="4695825" y="3343275"/>
            <a:ext cx="914400" cy="4762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4" name="C1_CLUSTER">
            <a:extLst>
              <a:ext uri="{FF2B5EF4-FFF2-40B4-BE49-F238E27FC236}">
                <a16:creationId xmlns:a16="http://schemas.microsoft.com/office/drawing/2014/main" id="{86F3D1BC-3F9D-4CF5-90B2-89B72B1F9368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25" name="C1_LABEL">
            <a:extLst>
              <a:ext uri="{FF2B5EF4-FFF2-40B4-BE49-F238E27FC236}">
                <a16:creationId xmlns:a16="http://schemas.microsoft.com/office/drawing/2014/main" id="{CF5C6B6B-EBFC-4F3C-8F59-0D019E270F2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市场空转症</a:t>
            </a:r>
          </a:p>
        </p:txBody>
      </p:sp>
      <p:sp>
        <p:nvSpPr>
          <p:cNvPr id="26" name="C1_DESC">
            <a:extLst>
              <a:ext uri="{FF2B5EF4-FFF2-40B4-BE49-F238E27FC236}">
                <a16:creationId xmlns:a16="http://schemas.microsoft.com/office/drawing/2014/main" id="{BE675C0E-E728-4A09-836B-DABD880AB319}"/>
              </a:ext>
            </a:extLst>
          </p:cNvPr>
          <p:cNvSpPr>
            <a:spLocks noGrp="1"/>
          </p:cNvSpPr>
          <p:nvPr/>
        </p:nvSpPr>
        <p:spPr>
          <a:xfrm>
            <a:off x="61722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有动作，没入口</a:t>
            </a:r>
          </a:p>
        </p:txBody>
      </p:sp>
      <p:sp>
        <p:nvSpPr>
          <p:cNvPr id="27" name="C2_CLUSTER">
            <a:extLst>
              <a:ext uri="{FF2B5EF4-FFF2-40B4-BE49-F238E27FC236}">
                <a16:creationId xmlns:a16="http://schemas.microsoft.com/office/drawing/2014/main" id="{C0E70DE0-4FDA-4428-AE79-833B239B06B3}"/>
              </a:ext>
            </a:extLst>
          </p:cNvPr>
          <p:cNvSpPr>
            <a:spLocks noGrp="1"/>
          </p:cNvSpPr>
          <p:nvPr/>
        </p:nvSpPr>
        <p:spPr>
          <a:xfrm>
            <a:off x="87058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28" name="C2_LABEL">
            <a:extLst>
              <a:ext uri="{FF2B5EF4-FFF2-40B4-BE49-F238E27FC236}">
                <a16:creationId xmlns:a16="http://schemas.microsoft.com/office/drawing/2014/main" id="{ED24C0D1-93C7-44FE-B16E-D26E633E9A18}"/>
              </a:ext>
            </a:extLst>
          </p:cNvPr>
          <p:cNvSpPr>
            <a:spLocks noGrp="1"/>
          </p:cNvSpPr>
          <p:nvPr/>
        </p:nvSpPr>
        <p:spPr>
          <a:xfrm>
            <a:off x="88773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首单依赖症</a:t>
            </a:r>
          </a:p>
        </p:txBody>
      </p:sp>
      <p:sp>
        <p:nvSpPr>
          <p:cNvPr id="29" name="C2_DESC">
            <a:extLst>
              <a:ext uri="{FF2B5EF4-FFF2-40B4-BE49-F238E27FC236}">
                <a16:creationId xmlns:a16="http://schemas.microsoft.com/office/drawing/2014/main" id="{B3F3BA6B-53D5-4002-AB10-BD0A20D07836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有首单，没复购</a:t>
            </a:r>
          </a:p>
        </p:txBody>
      </p:sp>
      <p:sp>
        <p:nvSpPr>
          <p:cNvPr id="30" name="C3_CLUSTER">
            <a:extLst>
              <a:ext uri="{FF2B5EF4-FFF2-40B4-BE49-F238E27FC236}">
                <a16:creationId xmlns:a16="http://schemas.microsoft.com/office/drawing/2014/main" id="{90B98366-EF37-439A-8D17-9E69A0CF5F2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31" name="C3_LABEL">
            <a:extLst>
              <a:ext uri="{FF2B5EF4-FFF2-40B4-BE49-F238E27FC236}">
                <a16:creationId xmlns:a16="http://schemas.microsoft.com/office/drawing/2014/main" id="{4700807F-1BB2-47A7-9528-8DE9E5B0560A}"/>
              </a:ext>
            </a:extLst>
          </p:cNvPr>
          <p:cNvSpPr>
            <a:spLocks noGrp="1"/>
          </p:cNvSpPr>
          <p:nvPr/>
        </p:nvSpPr>
        <p:spPr>
          <a:xfrm>
            <a:off x="61722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网点低效症</a:t>
            </a:r>
          </a:p>
        </p:txBody>
      </p:sp>
      <p:sp>
        <p:nvSpPr>
          <p:cNvPr id="32" name="C3_DESC">
            <a:extLst>
              <a:ext uri="{FF2B5EF4-FFF2-40B4-BE49-F238E27FC236}">
                <a16:creationId xmlns:a16="http://schemas.microsoft.com/office/drawing/2014/main" id="{6639D601-14F0-4DD8-B0ED-E75448FE51AD}"/>
              </a:ext>
            </a:extLst>
          </p:cNvPr>
          <p:cNvSpPr>
            <a:spLocks noGrp="1"/>
          </p:cNvSpPr>
          <p:nvPr/>
        </p:nvSpPr>
        <p:spPr>
          <a:xfrm>
            <a:off x="61722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有网点，没增量</a:t>
            </a:r>
          </a:p>
        </p:txBody>
      </p:sp>
      <p:sp>
        <p:nvSpPr>
          <p:cNvPr id="33" name="C4_CLUSTER">
            <a:extLst>
              <a:ext uri="{FF2B5EF4-FFF2-40B4-BE49-F238E27FC236}">
                <a16:creationId xmlns:a16="http://schemas.microsoft.com/office/drawing/2014/main" id="{F8EE678C-EC13-49ED-9590-21A3D5BD40BF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34" name="C4_LABEL">
            <a:extLst>
              <a:ext uri="{FF2B5EF4-FFF2-40B4-BE49-F238E27FC236}">
                <a16:creationId xmlns:a16="http://schemas.microsoft.com/office/drawing/2014/main" id="{AF8CE514-2A7A-45C2-88A5-FDF4FC9438B6}"/>
              </a:ext>
            </a:extLst>
          </p:cNvPr>
          <p:cNvSpPr>
            <a:spLocks noGrp="1"/>
          </p:cNvSpPr>
          <p:nvPr/>
        </p:nvSpPr>
        <p:spPr>
          <a:xfrm>
            <a:off x="88773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老路依赖症</a:t>
            </a:r>
          </a:p>
        </p:txBody>
      </p:sp>
      <p:sp>
        <p:nvSpPr>
          <p:cNvPr id="35" name="C4_DESC">
            <a:extLst>
              <a:ext uri="{FF2B5EF4-FFF2-40B4-BE49-F238E27FC236}">
                <a16:creationId xmlns:a16="http://schemas.microsoft.com/office/drawing/2014/main" id="{3D63F975-A552-4FFB-9359-6905BE3D742C}"/>
              </a:ext>
            </a:extLst>
          </p:cNvPr>
          <p:cNvSpPr>
            <a:spLocks noGrp="1"/>
          </p:cNvSpPr>
          <p:nvPr/>
        </p:nvSpPr>
        <p:spPr>
          <a:xfrm>
            <a:off x="88773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有销量，没突破</a:t>
            </a:r>
          </a:p>
        </p:txBody>
      </p:sp>
      <p:sp>
        <p:nvSpPr>
          <p:cNvPr id="36" name="TEACHING_CUE">
            <a:extLst>
              <a:ext uri="{FF2B5EF4-FFF2-40B4-BE49-F238E27FC236}">
                <a16:creationId xmlns:a16="http://schemas.microsoft.com/office/drawing/2014/main" id="{80B5F507-5834-422C-98EF-1A7FB86FD9AE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课堂动作：先把症状便签归类，再投票选出影响最大的1个主病症。</a:t>
            </a:r>
          </a:p>
        </p:txBody>
      </p:sp>
      <p:sp>
        <p:nvSpPr>
          <p:cNvPr id="37" name="PAGE_NUMBER">
            <a:extLst>
              <a:ext uri="{FF2B5EF4-FFF2-40B4-BE49-F238E27FC236}">
                <a16:creationId xmlns:a16="http://schemas.microsoft.com/office/drawing/2014/main" id="{4C24D9BC-D7BF-47C3-B68C-51CCAA4AFC3B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917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06F3525-0FD2-4CF1-A4D3-C1DF83B7D9C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458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DC-20 · INTEGRATED DIAGNOSIS CHAIN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7E19D81-A60E-45BC-88EF-BC2CE4070FFB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综合诊断必须走完五步，不能从病症直接跳到促销动作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1B367540-AAAE-4837-8FCA-C972935BD88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先确认经营结果，再确定阶段任务；然后识别病症、锁定四力短板，最后只选2—3项优先动作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ABC45785-B4B5-4BCA-8EAE-3ABEF960AE10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SPINE">
            <a:extLst>
              <a:ext uri="{FF2B5EF4-FFF2-40B4-BE49-F238E27FC236}">
                <a16:creationId xmlns:a16="http://schemas.microsoft.com/office/drawing/2014/main" id="{794CD394-276C-49E8-88E4-D185C473138C}"/>
              </a:ext>
            </a:extLst>
          </p:cNvPr>
          <p:cNvSpPr>
            <a:spLocks noGrp="1"/>
          </p:cNvSpPr>
          <p:nvPr/>
        </p:nvSpPr>
        <p:spPr>
          <a:xfrm>
            <a:off x="3048000" y="2124075"/>
            <a:ext cx="0" cy="3676650"/>
          </a:xfrm>
          <a:prstGeom prst="line">
            <a:avLst/>
          </a:prstGeom>
          <a:noFill/>
          <a:ln w="38100">
            <a:solidFill>
              <a:srgbClr val="D6001C"/>
            </a:solidFill>
            <a:prstDash val="solid"/>
          </a:ln>
        </p:spPr>
      </p:sp>
      <p:sp>
        <p:nvSpPr>
          <p:cNvPr id="8" name="STEP_1_DOT">
            <a:extLst>
              <a:ext uri="{FF2B5EF4-FFF2-40B4-BE49-F238E27FC236}">
                <a16:creationId xmlns:a16="http://schemas.microsoft.com/office/drawing/2014/main" id="{ED55369F-4A6B-4817-AB57-81CB7B98798F}"/>
              </a:ext>
            </a:extLst>
          </p:cNvPr>
          <p:cNvSpPr>
            <a:spLocks noGrp="1"/>
          </p:cNvSpPr>
          <p:nvPr/>
        </p:nvSpPr>
        <p:spPr>
          <a:xfrm>
            <a:off x="2800350" y="2095500"/>
            <a:ext cx="495300" cy="495300"/>
          </a:xfrm>
          <a:prstGeom prst="ellipse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9" name="STEP_1_NUMBER">
            <a:extLst>
              <a:ext uri="{FF2B5EF4-FFF2-40B4-BE49-F238E27FC236}">
                <a16:creationId xmlns:a16="http://schemas.microsoft.com/office/drawing/2014/main" id="{DCD5586A-D942-43F8-A4D6-AE81284E2BE5}"/>
              </a:ext>
            </a:extLst>
          </p:cNvPr>
          <p:cNvSpPr>
            <a:spLocks noGrp="1"/>
          </p:cNvSpPr>
          <p:nvPr/>
        </p:nvSpPr>
        <p:spPr>
          <a:xfrm>
            <a:off x="2924175" y="2190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STEP_1_LABEL">
            <a:extLst>
              <a:ext uri="{FF2B5EF4-FFF2-40B4-BE49-F238E27FC236}">
                <a16:creationId xmlns:a16="http://schemas.microsoft.com/office/drawing/2014/main" id="{29C47432-7B74-4232-86DA-601E0B0E3484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1" name="STEP_1_QUESTION">
            <a:extLst>
              <a:ext uri="{FF2B5EF4-FFF2-40B4-BE49-F238E27FC236}">
                <a16:creationId xmlns:a16="http://schemas.microsoft.com/office/drawing/2014/main" id="{C7326DED-C623-464B-A965-19859DD21AF5}"/>
              </a:ext>
            </a:extLst>
          </p:cNvPr>
          <p:cNvSpPr>
            <a:spLocks noGrp="1"/>
          </p:cNvSpPr>
          <p:nvPr/>
        </p:nvSpPr>
        <p:spPr>
          <a:xfrm>
            <a:off x="3619500" y="2047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已经形成什么结果？</a:t>
            </a:r>
          </a:p>
        </p:txBody>
      </p:sp>
      <p:sp>
        <p:nvSpPr>
          <p:cNvPr id="12" name="STEP_1_OUTPUT_SURFACE">
            <a:extLst>
              <a:ext uri="{FF2B5EF4-FFF2-40B4-BE49-F238E27FC236}">
                <a16:creationId xmlns:a16="http://schemas.microsoft.com/office/drawing/2014/main" id="{8042AA74-67BC-4751-BFA7-CDC3C236BA4E}"/>
              </a:ext>
            </a:extLst>
          </p:cNvPr>
          <p:cNvSpPr>
            <a:spLocks noGrp="1"/>
          </p:cNvSpPr>
          <p:nvPr/>
        </p:nvSpPr>
        <p:spPr>
          <a:xfrm>
            <a:off x="7524750" y="2028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3" name="STEP_1_OUTPUT">
            <a:extLst>
              <a:ext uri="{FF2B5EF4-FFF2-40B4-BE49-F238E27FC236}">
                <a16:creationId xmlns:a16="http://schemas.microsoft.com/office/drawing/2014/main" id="{5F0F91D4-D2A8-4387-B430-4E471B793639}"/>
              </a:ext>
            </a:extLst>
          </p:cNvPr>
          <p:cNvSpPr>
            <a:spLocks noGrp="1"/>
          </p:cNvSpPr>
          <p:nvPr/>
        </p:nvSpPr>
        <p:spPr>
          <a:xfrm>
            <a:off x="7715250" y="2143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当前阶段：站得住</a:t>
            </a:r>
          </a:p>
        </p:txBody>
      </p:sp>
      <p:sp>
        <p:nvSpPr>
          <p:cNvPr id="14" name="STEP_2_DOT">
            <a:extLst>
              <a:ext uri="{FF2B5EF4-FFF2-40B4-BE49-F238E27FC236}">
                <a16:creationId xmlns:a16="http://schemas.microsoft.com/office/drawing/2014/main" id="{1BEFCA22-C0CC-4B06-89C6-A71588021BAC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495300" cy="49530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5" name="STEP_2_NUMBER">
            <a:extLst>
              <a:ext uri="{FF2B5EF4-FFF2-40B4-BE49-F238E27FC236}">
                <a16:creationId xmlns:a16="http://schemas.microsoft.com/office/drawing/2014/main" id="{0C395E19-1AC0-4E9E-9C9D-EC9F78EA0582}"/>
              </a:ext>
            </a:extLst>
          </p:cNvPr>
          <p:cNvSpPr>
            <a:spLocks noGrp="1"/>
          </p:cNvSpPr>
          <p:nvPr/>
        </p:nvSpPr>
        <p:spPr>
          <a:xfrm>
            <a:off x="2924175" y="2952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STEP_2_LABEL">
            <a:extLst>
              <a:ext uri="{FF2B5EF4-FFF2-40B4-BE49-F238E27FC236}">
                <a16:creationId xmlns:a16="http://schemas.microsoft.com/office/drawing/2014/main" id="{6426F3DB-16C1-42DB-A9F0-4ADC3915EC1F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7" name="STEP_2_QUESTION">
            <a:extLst>
              <a:ext uri="{FF2B5EF4-FFF2-40B4-BE49-F238E27FC236}">
                <a16:creationId xmlns:a16="http://schemas.microsoft.com/office/drawing/2014/main" id="{6E1A889E-3BCA-4329-935E-08418A620240}"/>
              </a:ext>
            </a:extLst>
          </p:cNvPr>
          <p:cNvSpPr>
            <a:spLocks noGrp="1"/>
          </p:cNvSpPr>
          <p:nvPr/>
        </p:nvSpPr>
        <p:spPr>
          <a:xfrm>
            <a:off x="3619500" y="2809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下一关必须完成什么？</a:t>
            </a:r>
          </a:p>
        </p:txBody>
      </p:sp>
      <p:sp>
        <p:nvSpPr>
          <p:cNvPr id="18" name="STEP_2_OUTPUT_SURFACE">
            <a:extLst>
              <a:ext uri="{FF2B5EF4-FFF2-40B4-BE49-F238E27FC236}">
                <a16:creationId xmlns:a16="http://schemas.microsoft.com/office/drawing/2014/main" id="{7A99844D-3C2F-42FC-9FF8-55DDFB98197D}"/>
              </a:ext>
            </a:extLst>
          </p:cNvPr>
          <p:cNvSpPr>
            <a:spLocks noGrp="1"/>
          </p:cNvSpPr>
          <p:nvPr/>
        </p:nvSpPr>
        <p:spPr>
          <a:xfrm>
            <a:off x="7524750" y="2790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9" name="STEP_2_OUTPUT">
            <a:extLst>
              <a:ext uri="{FF2B5EF4-FFF2-40B4-BE49-F238E27FC236}">
                <a16:creationId xmlns:a16="http://schemas.microsoft.com/office/drawing/2014/main" id="{FA789ADD-978A-4EC2-AB76-82A734070944}"/>
              </a:ext>
            </a:extLst>
          </p:cNvPr>
          <p:cNvSpPr>
            <a:spLocks noGrp="1"/>
          </p:cNvSpPr>
          <p:nvPr/>
        </p:nvSpPr>
        <p:spPr>
          <a:xfrm>
            <a:off x="7715250" y="2905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让网点、线索和产品重复</a:t>
            </a:r>
          </a:p>
        </p:txBody>
      </p:sp>
      <p:sp>
        <p:nvSpPr>
          <p:cNvPr id="20" name="STEP_3_DOT">
            <a:extLst>
              <a:ext uri="{FF2B5EF4-FFF2-40B4-BE49-F238E27FC236}">
                <a16:creationId xmlns:a16="http://schemas.microsoft.com/office/drawing/2014/main" id="{4F81240A-793C-40D0-B07F-30A480841D84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495300" cy="495300"/>
          </a:xfrm>
          <a:prstGeom prst="ellipse">
            <a:avLst/>
          </a:prstGeom>
          <a:solidFill>
            <a:srgbClr val="B87700"/>
          </a:solidFill>
          <a:ln w="0">
            <a:noFill/>
            <a:prstDash val="solid"/>
          </a:ln>
        </p:spPr>
      </p:sp>
      <p:sp>
        <p:nvSpPr>
          <p:cNvPr id="21" name="STEP_3_NUMBER">
            <a:extLst>
              <a:ext uri="{FF2B5EF4-FFF2-40B4-BE49-F238E27FC236}">
                <a16:creationId xmlns:a16="http://schemas.microsoft.com/office/drawing/2014/main" id="{C2A6D2D2-5002-4573-9D22-D258ECBF94DA}"/>
              </a:ext>
            </a:extLst>
          </p:cNvPr>
          <p:cNvSpPr>
            <a:spLocks noGrp="1"/>
          </p:cNvSpPr>
          <p:nvPr/>
        </p:nvSpPr>
        <p:spPr>
          <a:xfrm>
            <a:off x="2924175" y="3714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STEP_3_LABEL">
            <a:extLst>
              <a:ext uri="{FF2B5EF4-FFF2-40B4-BE49-F238E27FC236}">
                <a16:creationId xmlns:a16="http://schemas.microsoft.com/office/drawing/2014/main" id="{DA58EDCD-1675-43A4-8E5E-8D8CD9768C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病症</a:t>
            </a:r>
          </a:p>
        </p:txBody>
      </p:sp>
      <p:sp>
        <p:nvSpPr>
          <p:cNvPr id="23" name="STEP_3_QUESTION">
            <a:extLst>
              <a:ext uri="{FF2B5EF4-FFF2-40B4-BE49-F238E27FC236}">
                <a16:creationId xmlns:a16="http://schemas.microsoft.com/office/drawing/2014/main" id="{B736A411-6933-4569-95F7-1C9863011DE3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投入与结果哪里不匹配？</a:t>
            </a:r>
          </a:p>
        </p:txBody>
      </p:sp>
      <p:sp>
        <p:nvSpPr>
          <p:cNvPr id="24" name="STEP_3_OUTPUT_SURFACE">
            <a:extLst>
              <a:ext uri="{FF2B5EF4-FFF2-40B4-BE49-F238E27FC236}">
                <a16:creationId xmlns:a16="http://schemas.microsoft.com/office/drawing/2014/main" id="{7313737C-9491-47CD-B1E7-69621995364B}"/>
              </a:ext>
            </a:extLst>
          </p:cNvPr>
          <p:cNvSpPr>
            <a:spLocks noGrp="1"/>
          </p:cNvSpPr>
          <p:nvPr/>
        </p:nvSpPr>
        <p:spPr>
          <a:xfrm>
            <a:off x="7524750" y="3552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4DC"/>
          </a:solidFill>
          <a:ln w="14288">
            <a:solidFill>
              <a:srgbClr val="B87700"/>
            </a:solidFill>
            <a:prstDash val="solid"/>
          </a:ln>
        </p:spPr>
      </p:sp>
      <p:sp>
        <p:nvSpPr>
          <p:cNvPr id="25" name="STEP_3_OUTPUT">
            <a:extLst>
              <a:ext uri="{FF2B5EF4-FFF2-40B4-BE49-F238E27FC236}">
                <a16:creationId xmlns:a16="http://schemas.microsoft.com/office/drawing/2014/main" id="{8F98B9D2-8880-4445-AD78-FDEB3DFCFF93}"/>
              </a:ext>
            </a:extLst>
          </p:cNvPr>
          <p:cNvSpPr>
            <a:spLocks noGrp="1"/>
          </p:cNvSpPr>
          <p:nvPr/>
        </p:nvSpPr>
        <p:spPr>
          <a:xfrm>
            <a:off x="7715250" y="3667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主病症：首单依赖</a:t>
            </a:r>
          </a:p>
        </p:txBody>
      </p:sp>
      <p:sp>
        <p:nvSpPr>
          <p:cNvPr id="26" name="STEP_4_DOT">
            <a:extLst>
              <a:ext uri="{FF2B5EF4-FFF2-40B4-BE49-F238E27FC236}">
                <a16:creationId xmlns:a16="http://schemas.microsoft.com/office/drawing/2014/main" id="{A573DEE1-9024-4BBB-9BA1-91E3CB650908}"/>
              </a:ext>
            </a:extLst>
          </p:cNvPr>
          <p:cNvSpPr>
            <a:spLocks noGrp="1"/>
          </p:cNvSpPr>
          <p:nvPr/>
        </p:nvSpPr>
        <p:spPr>
          <a:xfrm>
            <a:off x="2800350" y="4381500"/>
            <a:ext cx="495300" cy="495300"/>
          </a:xfrm>
          <a:prstGeom prst="ellipse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7" name="STEP_4_NUMBER">
            <a:extLst>
              <a:ext uri="{FF2B5EF4-FFF2-40B4-BE49-F238E27FC236}">
                <a16:creationId xmlns:a16="http://schemas.microsoft.com/office/drawing/2014/main" id="{53FAA616-C888-4C38-B67B-E402E21584EE}"/>
              </a:ext>
            </a:extLst>
          </p:cNvPr>
          <p:cNvSpPr>
            <a:spLocks noGrp="1"/>
          </p:cNvSpPr>
          <p:nvPr/>
        </p:nvSpPr>
        <p:spPr>
          <a:xfrm>
            <a:off x="2924175" y="4476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STEP_4_LABEL">
            <a:extLst>
              <a:ext uri="{FF2B5EF4-FFF2-40B4-BE49-F238E27FC236}">
                <a16:creationId xmlns:a16="http://schemas.microsoft.com/office/drawing/2014/main" id="{A83AA673-2482-432F-9E4E-EEE1AAB7BC83}"/>
              </a:ext>
            </a:extLst>
          </p:cNvPr>
          <p:cNvSpPr>
            <a:spLocks noGrp="1"/>
          </p:cNvSpPr>
          <p:nvPr/>
        </p:nvSpPr>
        <p:spPr>
          <a:xfrm>
            <a:off x="666750" y="4381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四力短板</a:t>
            </a:r>
          </a:p>
        </p:txBody>
      </p:sp>
      <p:sp>
        <p:nvSpPr>
          <p:cNvPr id="29" name="STEP_4_QUESTION">
            <a:extLst>
              <a:ext uri="{FF2B5EF4-FFF2-40B4-BE49-F238E27FC236}">
                <a16:creationId xmlns:a16="http://schemas.microsoft.com/office/drawing/2014/main" id="{3CE317E3-6A4C-4FDF-8E72-6CB4A15495DA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哪一力最能解释病症？</a:t>
            </a:r>
          </a:p>
        </p:txBody>
      </p:sp>
      <p:sp>
        <p:nvSpPr>
          <p:cNvPr id="30" name="STEP_4_OUTPUT_SURFACE">
            <a:extLst>
              <a:ext uri="{FF2B5EF4-FFF2-40B4-BE49-F238E27FC236}">
                <a16:creationId xmlns:a16="http://schemas.microsoft.com/office/drawing/2014/main" id="{FDEF4397-8E2E-4CDD-917A-6FA2D1669F7F}"/>
              </a:ext>
            </a:extLst>
          </p:cNvPr>
          <p:cNvSpPr>
            <a:spLocks noGrp="1"/>
          </p:cNvSpPr>
          <p:nvPr/>
        </p:nvSpPr>
        <p:spPr>
          <a:xfrm>
            <a:off x="7524750" y="4314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31" name="STEP_4_OUTPUT">
            <a:extLst>
              <a:ext uri="{FF2B5EF4-FFF2-40B4-BE49-F238E27FC236}">
                <a16:creationId xmlns:a16="http://schemas.microsoft.com/office/drawing/2014/main" id="{377542C7-CC1D-439C-AA5E-568ECDD6891A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主短板：渠道力</a:t>
            </a:r>
          </a:p>
        </p:txBody>
      </p:sp>
      <p:sp>
        <p:nvSpPr>
          <p:cNvPr id="32" name="STEP_5_DOT">
            <a:extLst>
              <a:ext uri="{FF2B5EF4-FFF2-40B4-BE49-F238E27FC236}">
                <a16:creationId xmlns:a16="http://schemas.microsoft.com/office/drawing/2014/main" id="{70766968-8112-4316-84EA-CEDDB44F031D}"/>
              </a:ext>
            </a:extLst>
          </p:cNvPr>
          <p:cNvSpPr>
            <a:spLocks noGrp="1"/>
          </p:cNvSpPr>
          <p:nvPr/>
        </p:nvSpPr>
        <p:spPr>
          <a:xfrm>
            <a:off x="2800350" y="5143500"/>
            <a:ext cx="495300" cy="4953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33" name="STEP_5_NUMBER">
            <a:extLst>
              <a:ext uri="{FF2B5EF4-FFF2-40B4-BE49-F238E27FC236}">
                <a16:creationId xmlns:a16="http://schemas.microsoft.com/office/drawing/2014/main" id="{AE1767D9-FF43-4E83-A1D3-F189725BDCA8}"/>
              </a:ext>
            </a:extLst>
          </p:cNvPr>
          <p:cNvSpPr>
            <a:spLocks noGrp="1"/>
          </p:cNvSpPr>
          <p:nvPr/>
        </p:nvSpPr>
        <p:spPr>
          <a:xfrm>
            <a:off x="2924175" y="5238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STEP_5_LABEL">
            <a:extLst>
              <a:ext uri="{FF2B5EF4-FFF2-40B4-BE49-F238E27FC236}">
                <a16:creationId xmlns:a16="http://schemas.microsoft.com/office/drawing/2014/main" id="{5B62859E-F32C-415C-85A8-033FBB60E7A6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优先动作</a:t>
            </a:r>
          </a:p>
        </p:txBody>
      </p:sp>
      <p:sp>
        <p:nvSpPr>
          <p:cNvPr id="35" name="STEP_5_QUESTION">
            <a:extLst>
              <a:ext uri="{FF2B5EF4-FFF2-40B4-BE49-F238E27FC236}">
                <a16:creationId xmlns:a16="http://schemas.microsoft.com/office/drawing/2014/main" id="{96405759-A2EE-472B-9AC6-85A4C2C8D911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现在最先做哪2—3件事？</a:t>
            </a:r>
          </a:p>
        </p:txBody>
      </p:sp>
      <p:sp>
        <p:nvSpPr>
          <p:cNvPr id="36" name="STEP_5_OUTPUT_SURFACE">
            <a:extLst>
              <a:ext uri="{FF2B5EF4-FFF2-40B4-BE49-F238E27FC236}">
                <a16:creationId xmlns:a16="http://schemas.microsoft.com/office/drawing/2014/main" id="{6D882ECA-662D-436D-8D08-E46DF5A3D359}"/>
              </a:ext>
            </a:extLst>
          </p:cNvPr>
          <p:cNvSpPr>
            <a:spLocks noGrp="1"/>
          </p:cNvSpPr>
          <p:nvPr/>
        </p:nvSpPr>
        <p:spPr>
          <a:xfrm>
            <a:off x="7524750" y="5076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4F5F6"/>
          </a:solidFill>
          <a:ln w="14288">
            <a:solidFill>
              <a:srgbClr val="191919"/>
            </a:solidFill>
            <a:prstDash val="solid"/>
          </a:ln>
        </p:spPr>
      </p:sp>
      <p:sp>
        <p:nvSpPr>
          <p:cNvPr id="37" name="STEP_5_OUTPUT">
            <a:extLst>
              <a:ext uri="{FF2B5EF4-FFF2-40B4-BE49-F238E27FC236}">
                <a16:creationId xmlns:a16="http://schemas.microsoft.com/office/drawing/2014/main" id="{4028430D-0280-4652-BBC5-186D432CC7F9}"/>
              </a:ext>
            </a:extLst>
          </p:cNvPr>
          <p:cNvSpPr>
            <a:spLocks noGrp="1"/>
          </p:cNvSpPr>
          <p:nvPr/>
        </p:nvSpPr>
        <p:spPr>
          <a:xfrm>
            <a:off x="7715250" y="5191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核心网点 + 补货复盘 + 项目线索</a:t>
            </a:r>
          </a:p>
        </p:txBody>
      </p:sp>
      <p:sp>
        <p:nvSpPr>
          <p:cNvPr id="38" name="CASE_PROMPT">
            <a:extLst>
              <a:ext uri="{FF2B5EF4-FFF2-40B4-BE49-F238E27FC236}">
                <a16:creationId xmlns:a16="http://schemas.microsoft.com/office/drawing/2014/main" id="{5D2CDFAB-14E6-45F4-B90A-0E70BFA86ADD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综合情境案例：某乡镇完成首批铺货，但两个月补货很少；业务员持续跑店，仍主要靠老板推动。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B5763167-D64A-437C-A069-8743E06EAAF8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学员产出：用一句话说清“阶段—任务—病症—短板—动作”，并说明证据。</a:t>
            </a:r>
          </a:p>
        </p:txBody>
      </p:sp>
      <p:sp>
        <p:nvSpPr>
          <p:cNvPr id="40" name="PAGE_NUMBER">
            <a:extLst>
              <a:ext uri="{FF2B5EF4-FFF2-40B4-BE49-F238E27FC236}">
                <a16:creationId xmlns:a16="http://schemas.microsoft.com/office/drawing/2014/main" id="{F748C6DE-D55D-4DEC-B951-52DF0D6303F4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9319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733</Words>
  <Application>Microsoft Office PowerPoint</Application>
  <DocSecurity>0</DocSecurity>
  <PresentationFormat>宽屏</PresentationFormat>
  <Paragraphs>161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起轩 王</cp:lastModifiedBy>
  <cp:revision>1</cp:revision>
  <dcterms:created xsi:type="dcterms:W3CDTF">2026-08-13T12:27:10Z</dcterms:created>
  <dcterms:modified xsi:type="dcterms:W3CDTF">2026-08-13T15:04:06Z</dcterms:modified>
</cp:coreProperties>
</file>