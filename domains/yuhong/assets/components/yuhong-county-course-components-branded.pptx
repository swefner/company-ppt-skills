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E84C22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E84C22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E84C22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E84C22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E84C22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505046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E84C22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6F6F6A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6F6F6A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B22600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505046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E84C22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E84C22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F7F7F8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F7F7F8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50504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7F7F8"/>
          </a:solidFill>
          <a:ln w="9525">
            <a:solidFill>
              <a:srgbClr val="E84C2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E84C22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B22600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505046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505046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E84C22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E84C22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E84C22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E84C22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E84C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233FEB-5B3F-7EDC-FEF0-59E330411D99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产品增长卡在哪：铺得更广、卖得更动，还是核心品项产出？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914DCF3-D917-3A0C-FC85-06723E57DA52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铺货网点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动销回转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FEDEE5C4-7BC9-9CC7-B327-C8FEF12B8919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05AC0F55-E458-C52F-786F-087C6EB21846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50BBAC5-6861-6C70-5AC5-A748A54B9D42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铺得广吗？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E8A664A-A2AA-6F94-49EA-F8F0841A504B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个网点 ｜ 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E244A3C0-CEC7-45B1-4AFF-E3B4ED6360FF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D32A23FB-72AF-8AFB-83F9-AEA45C987028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E2036FE0-5401-8A45-26B7-BA892BBFBC7C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33F524A9-C071-4F99-0750-20F59B6F198E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铺了，回转了吗？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A823C6AE-CA59-5623-702A-0D0E62A79D9C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｜ 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E59B378A-A4F3-32EF-5D87-2C7860BB867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D1A5C50C-29E0-38EC-3F61-B9116115DBCA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6E579A35-6578-EA7C-31D4-2B8083AFCB39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D041BAD-D1D0-B507-A9FE-56EA7655F466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品项卖得动吗？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A2E973F4-4FD7-C5F0-6F4C-4E1FCC965ADD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单品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F42265E0-5BF6-A670-52D2-57B9D0E8E288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88FA4898-8BB5-1A3B-AD7F-BC7424E8992E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54550F49-ECFE-13D3-F09B-CBC5F1117AA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SKU_TITLE">
            <a:extLst>
              <a:ext uri="{FF2B5EF4-FFF2-40B4-BE49-F238E27FC236}">
                <a16:creationId xmlns:a16="http://schemas.microsoft.com/office/drawing/2014/main" id="{38F04CB4-60C4-B623-D175-F63997849F5B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核心品项策略</a:t>
            </a:r>
          </a:p>
        </p:txBody>
      </p:sp>
      <p:sp>
        <p:nvSpPr>
          <p:cNvPr id="22" name="SKU_BAND_1">
            <a:extLst>
              <a:ext uri="{FF2B5EF4-FFF2-40B4-BE49-F238E27FC236}">
                <a16:creationId xmlns:a16="http://schemas.microsoft.com/office/drawing/2014/main" id="{BABB55BF-8E45-4362-EC7F-04A0558CD713}"/>
              </a:ext>
            </a:extLst>
          </p:cNvPr>
          <p:cNvSpPr/>
          <p:nvPr/>
        </p:nvSpPr>
        <p:spPr>
          <a:xfrm>
            <a:off x="5486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SKU_1_LABEL">
            <a:extLst>
              <a:ext uri="{FF2B5EF4-FFF2-40B4-BE49-F238E27FC236}">
                <a16:creationId xmlns:a16="http://schemas.microsoft.com/office/drawing/2014/main" id="{9C2271AB-D720-355C-DBF5-BC865266B3F3}"/>
              </a:ext>
            </a:extLst>
          </p:cNvPr>
          <p:cNvSpPr txBox="1"/>
          <p:nvPr/>
        </p:nvSpPr>
        <p:spPr>
          <a:xfrm>
            <a:off x="6858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守</a:t>
            </a:r>
          </a:p>
        </p:txBody>
      </p:sp>
      <p:sp>
        <p:nvSpPr>
          <p:cNvPr id="24" name="SKU_1_TEXT">
            <a:extLst>
              <a:ext uri="{FF2B5EF4-FFF2-40B4-BE49-F238E27FC236}">
                <a16:creationId xmlns:a16="http://schemas.microsoft.com/office/drawing/2014/main" id="{E1D7ADB7-68AA-0B96-D23D-60E6A01B703A}"/>
              </a:ext>
            </a:extLst>
          </p:cNvPr>
          <p:cNvSpPr txBox="1"/>
          <p:nvPr/>
        </p:nvSpPr>
        <p:spPr>
          <a:xfrm>
            <a:off x="6858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爆品做深：保覆盖、追复购</a:t>
            </a:r>
          </a:p>
        </p:txBody>
      </p:sp>
      <p:sp>
        <p:nvSpPr>
          <p:cNvPr id="25" name="SKU_BAND_2">
            <a:extLst>
              <a:ext uri="{FF2B5EF4-FFF2-40B4-BE49-F238E27FC236}">
                <a16:creationId xmlns:a16="http://schemas.microsoft.com/office/drawing/2014/main" id="{90DC4061-6732-C0D0-BD74-173CDAFBAA1B}"/>
              </a:ext>
            </a:extLst>
          </p:cNvPr>
          <p:cNvSpPr/>
          <p:nvPr/>
        </p:nvSpPr>
        <p:spPr>
          <a:xfrm>
            <a:off x="32918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SKU_2_LABEL">
            <a:extLst>
              <a:ext uri="{FF2B5EF4-FFF2-40B4-BE49-F238E27FC236}">
                <a16:creationId xmlns:a16="http://schemas.microsoft.com/office/drawing/2014/main" id="{D5919042-9605-5FA2-ED02-3D33838816DB}"/>
              </a:ext>
            </a:extLst>
          </p:cNvPr>
          <p:cNvSpPr txBox="1"/>
          <p:nvPr/>
        </p:nvSpPr>
        <p:spPr>
          <a:xfrm>
            <a:off x="34290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</a:t>
            </a:r>
          </a:p>
        </p:txBody>
      </p:sp>
      <p:sp>
        <p:nvSpPr>
          <p:cNvPr id="27" name="SKU_2_TEXT">
            <a:extLst>
              <a:ext uri="{FF2B5EF4-FFF2-40B4-BE49-F238E27FC236}">
                <a16:creationId xmlns:a16="http://schemas.microsoft.com/office/drawing/2014/main" id="{0142CF99-C39B-1B1A-E4B7-16218236D99F}"/>
              </a:ext>
            </a:extLst>
          </p:cNvPr>
          <p:cNvSpPr txBox="1"/>
          <p:nvPr/>
        </p:nvSpPr>
        <p:spPr>
          <a:xfrm>
            <a:off x="34290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潜力品项铺开到匹配网点</a:t>
            </a:r>
          </a:p>
        </p:txBody>
      </p:sp>
      <p:sp>
        <p:nvSpPr>
          <p:cNvPr id="28" name="SKU_BAND_3">
            <a:extLst>
              <a:ext uri="{FF2B5EF4-FFF2-40B4-BE49-F238E27FC236}">
                <a16:creationId xmlns:a16="http://schemas.microsoft.com/office/drawing/2014/main" id="{9280703C-1259-BFB8-E7A1-C2213B16BBD9}"/>
              </a:ext>
            </a:extLst>
          </p:cNvPr>
          <p:cNvSpPr/>
          <p:nvPr/>
        </p:nvSpPr>
        <p:spPr>
          <a:xfrm>
            <a:off x="60350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SKU_3_LABEL">
            <a:extLst>
              <a:ext uri="{FF2B5EF4-FFF2-40B4-BE49-F238E27FC236}">
                <a16:creationId xmlns:a16="http://schemas.microsoft.com/office/drawing/2014/main" id="{DC01EA15-4709-96D5-2B1E-81D7AA6BFD94}"/>
              </a:ext>
            </a:extLst>
          </p:cNvPr>
          <p:cNvSpPr txBox="1"/>
          <p:nvPr/>
        </p:nvSpPr>
        <p:spPr>
          <a:xfrm>
            <a:off x="61722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育</a:t>
            </a:r>
          </a:p>
        </p:txBody>
      </p:sp>
      <p:sp>
        <p:nvSpPr>
          <p:cNvPr id="30" name="SKU_3_TEXT">
            <a:extLst>
              <a:ext uri="{FF2B5EF4-FFF2-40B4-BE49-F238E27FC236}">
                <a16:creationId xmlns:a16="http://schemas.microsoft.com/office/drawing/2014/main" id="{A61A1836-475F-5557-EB7C-3D75470FA52D}"/>
              </a:ext>
            </a:extLst>
          </p:cNvPr>
          <p:cNvSpPr txBox="1"/>
          <p:nvPr/>
        </p:nvSpPr>
        <p:spPr>
          <a:xfrm>
            <a:off x="61722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孵化新品项：小批量验证</a:t>
            </a:r>
          </a:p>
        </p:txBody>
      </p:sp>
      <p:sp>
        <p:nvSpPr>
          <p:cNvPr id="31" name="SKU_BAND_4">
            <a:extLst>
              <a:ext uri="{FF2B5EF4-FFF2-40B4-BE49-F238E27FC236}">
                <a16:creationId xmlns:a16="http://schemas.microsoft.com/office/drawing/2014/main" id="{6A83717F-4A4D-BAC9-62B5-C545C7E8EB5A}"/>
              </a:ext>
            </a:extLst>
          </p:cNvPr>
          <p:cNvSpPr/>
          <p:nvPr/>
        </p:nvSpPr>
        <p:spPr>
          <a:xfrm>
            <a:off x="87782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SKU_4_LABEL">
            <a:extLst>
              <a:ext uri="{FF2B5EF4-FFF2-40B4-BE49-F238E27FC236}">
                <a16:creationId xmlns:a16="http://schemas.microsoft.com/office/drawing/2014/main" id="{5A7F105B-61E0-65DF-0BE8-49C8A65A57B3}"/>
              </a:ext>
            </a:extLst>
          </p:cNvPr>
          <p:cNvSpPr txBox="1"/>
          <p:nvPr/>
        </p:nvSpPr>
        <p:spPr>
          <a:xfrm>
            <a:off x="89154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淘汰</a:t>
            </a:r>
          </a:p>
        </p:txBody>
      </p:sp>
      <p:sp>
        <p:nvSpPr>
          <p:cNvPr id="33" name="SKU_4_TEXT">
            <a:extLst>
              <a:ext uri="{FF2B5EF4-FFF2-40B4-BE49-F238E27FC236}">
                <a16:creationId xmlns:a16="http://schemas.microsoft.com/office/drawing/2014/main" id="{2770535A-2758-2C64-F43D-8DD51D09CBBF}"/>
              </a:ext>
            </a:extLst>
          </p:cNvPr>
          <p:cNvSpPr txBox="1"/>
          <p:nvPr/>
        </p:nvSpPr>
        <p:spPr>
          <a:xfrm>
            <a:off x="89154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低效品项退出或换品</a:t>
            </a:r>
          </a:p>
        </p:txBody>
      </p:sp>
      <p:sp>
        <p:nvSpPr>
          <p:cNvPr id="34" name="TEACHING_CUE">
            <a:extLst>
              <a:ext uri="{FF2B5EF4-FFF2-40B4-BE49-F238E27FC236}">
                <a16:creationId xmlns:a16="http://schemas.microsoft.com/office/drawing/2014/main" id="{44FE768B-F44F-362A-09BB-79B9C6E7897C}"/>
              </a:ext>
            </a:extLst>
          </p:cNvPr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一次销量≠爆品：检查覆盖、回转与复购；缺数据用低置信度代理并标注缺失。</a:t>
            </a:r>
          </a:p>
        </p:txBody>
      </p:sp>
    </p:spTree>
    <p:extLst>
      <p:ext uri="{BB962C8B-B14F-4D97-AF65-F5344CB8AC3E}">
        <p14:creationId xmlns:p14="http://schemas.microsoft.com/office/powerpoint/2010/main" val="3332818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9C48DE-3B72-13E3-A3FD-D1ACA3E1800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如果你是这位经销商，你会先怎么做？</a:t>
            </a:r>
          </a:p>
        </p:txBody>
      </p:sp>
      <p:sp>
        <p:nvSpPr>
          <p:cNvPr id="3" name="SCENARIO_BAND">
            <a:extLst>
              <a:ext uri="{FF2B5EF4-FFF2-40B4-BE49-F238E27FC236}">
                <a16:creationId xmlns:a16="http://schemas.microsoft.com/office/drawing/2014/main" id="{66847BD6-1832-5631-2A4F-8BB802A90B03}"/>
              </a:ext>
            </a:extLst>
          </p:cNvPr>
          <p:cNvSpPr/>
          <p:nvPr/>
        </p:nvSpPr>
        <p:spPr>
          <a:xfrm>
            <a:off x="548640" y="1143000"/>
            <a:ext cx="11064240" cy="14173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CENARIO_TITLE">
            <a:extLst>
              <a:ext uri="{FF2B5EF4-FFF2-40B4-BE49-F238E27FC236}">
                <a16:creationId xmlns:a16="http://schemas.microsoft.com/office/drawing/2014/main" id="{99016AF5-FD60-3394-9DDC-B3790F813EFB}"/>
              </a:ext>
            </a:extLst>
          </p:cNvPr>
          <p:cNvSpPr txBox="1"/>
          <p:nvPr/>
        </p:nvSpPr>
        <p:spPr>
          <a:xfrm>
            <a:off x="777240" y="1280160"/>
            <a:ext cx="36576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情景（匿名综合案例）</a:t>
            </a:r>
          </a:p>
        </p:txBody>
      </p:sp>
      <p:sp>
        <p:nvSpPr>
          <p:cNvPr id="5" name="SCENARIO_TEXT">
            <a:extLst>
              <a:ext uri="{FF2B5EF4-FFF2-40B4-BE49-F238E27FC236}">
                <a16:creationId xmlns:a16="http://schemas.microsoft.com/office/drawing/2014/main" id="{22C2228F-0C31-17A4-3CFF-D7F53A20673C}"/>
              </a:ext>
            </a:extLst>
          </p:cNvPr>
          <p:cNvSpPr txBox="1"/>
          <p:nvPr/>
        </p:nvSpPr>
        <p:spPr>
          <a:xfrm>
            <a:off x="777240" y="1691640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某县经销商：县城新房交付减少，已在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个乡镇铺过货但动销一般；手上有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个业务员，资金有限。刚听说邻县中心镇有一个大型安置房项目正在启动。</a:t>
            </a:r>
          </a:p>
        </p:txBody>
      </p:sp>
      <p:sp>
        <p:nvSpPr>
          <p:cNvPr id="6" name="CHOICE_TITLE">
            <a:extLst>
              <a:ext uri="{FF2B5EF4-FFF2-40B4-BE49-F238E27FC236}">
                <a16:creationId xmlns:a16="http://schemas.microsoft.com/office/drawing/2014/main" id="{139D36BB-CF5C-23B7-63E6-AC44DCCFFEA0}"/>
              </a:ext>
            </a:extLst>
          </p:cNvPr>
          <p:cNvSpPr txBox="1"/>
          <p:nvPr/>
        </p:nvSpPr>
        <p:spPr>
          <a:xfrm>
            <a:off x="548640" y="2788920"/>
            <a:ext cx="7315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你会先怎么做？</a:t>
            </a:r>
          </a:p>
        </p:txBody>
      </p:sp>
      <p:sp>
        <p:nvSpPr>
          <p:cNvPr id="7" name="CHOICE_BAND_1">
            <a:extLst>
              <a:ext uri="{FF2B5EF4-FFF2-40B4-BE49-F238E27FC236}">
                <a16:creationId xmlns:a16="http://schemas.microsoft.com/office/drawing/2014/main" id="{BBFC4A4E-9086-F238-69A2-DA5852D8DF3A}"/>
              </a:ext>
            </a:extLst>
          </p:cNvPr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CHOICE_1_TEXT">
            <a:extLst>
              <a:ext uri="{FF2B5EF4-FFF2-40B4-BE49-F238E27FC236}">
                <a16:creationId xmlns:a16="http://schemas.microsoft.com/office/drawing/2014/main" id="{519F2A7A-CAE7-1405-19F2-088D4352D8DC}"/>
              </a:ext>
            </a:extLst>
          </p:cNvPr>
          <p:cNvSpPr txBox="1"/>
          <p:nvPr/>
        </p:nvSpPr>
        <p:spPr>
          <a:xfrm>
            <a:off x="868680" y="333756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先打邻县中心镇安置房项目，找关系进项目</a:t>
            </a:r>
          </a:p>
        </p:txBody>
      </p:sp>
      <p:sp>
        <p:nvSpPr>
          <p:cNvPr id="9" name="CHOICE_BAND_2">
            <a:extLst>
              <a:ext uri="{FF2B5EF4-FFF2-40B4-BE49-F238E27FC236}">
                <a16:creationId xmlns:a16="http://schemas.microsoft.com/office/drawing/2014/main" id="{E9BAAACE-97F5-E22A-71CA-3FFFE6F4A502}"/>
              </a:ext>
            </a:extLst>
          </p:cNvPr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CHOICE_2_TEXT">
            <a:extLst>
              <a:ext uri="{FF2B5EF4-FFF2-40B4-BE49-F238E27FC236}">
                <a16:creationId xmlns:a16="http://schemas.microsoft.com/office/drawing/2014/main" id="{63124779-893F-56F7-4DFA-EC6464EECA45}"/>
              </a:ext>
            </a:extLst>
          </p:cNvPr>
          <p:cNvSpPr txBox="1"/>
          <p:nvPr/>
        </p:nvSpPr>
        <p:spPr>
          <a:xfrm>
            <a:off x="868680" y="393192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先激活已有 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个乡镇网点，促动销、补货</a:t>
            </a:r>
          </a:p>
        </p:txBody>
      </p:sp>
      <p:sp>
        <p:nvSpPr>
          <p:cNvPr id="11" name="CHOICE_BAND_3">
            <a:extLst>
              <a:ext uri="{FF2B5EF4-FFF2-40B4-BE49-F238E27FC236}">
                <a16:creationId xmlns:a16="http://schemas.microsoft.com/office/drawing/2014/main" id="{BA41100A-3526-FEE6-B14B-7B6A5CCDA214}"/>
              </a:ext>
            </a:extLst>
          </p:cNvPr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HOICE_3_TEXT">
            <a:extLst>
              <a:ext uri="{FF2B5EF4-FFF2-40B4-BE49-F238E27FC236}">
                <a16:creationId xmlns:a16="http://schemas.microsoft.com/office/drawing/2014/main" id="{A1018907-D5E9-5AC9-D044-C8DD3A417D1F}"/>
              </a:ext>
            </a:extLst>
          </p:cNvPr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先在县城做品牌展示和服务站，夯实大本营</a:t>
            </a:r>
          </a:p>
        </p:txBody>
      </p:sp>
      <p:sp>
        <p:nvSpPr>
          <p:cNvPr id="13" name="CHOICE_BAND_4">
            <a:extLst>
              <a:ext uri="{FF2B5EF4-FFF2-40B4-BE49-F238E27FC236}">
                <a16:creationId xmlns:a16="http://schemas.microsoft.com/office/drawing/2014/main" id="{DF86394F-7B31-58E2-014C-B573BCD56A69}"/>
              </a:ext>
            </a:extLst>
          </p:cNvPr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HOICE_4_TEXT">
            <a:extLst>
              <a:ext uri="{FF2B5EF4-FFF2-40B4-BE49-F238E27FC236}">
                <a16:creationId xmlns:a16="http://schemas.microsoft.com/office/drawing/2014/main" id="{8FB12730-7740-E3EC-59DF-6B2241118AFB}"/>
              </a:ext>
            </a:extLst>
          </p:cNvPr>
          <p:cNvSpPr txBox="1"/>
          <p:nvPr/>
        </p:nvSpPr>
        <p:spPr>
          <a:xfrm>
            <a:off x="868680" y="512064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先加跑乡镇的业务员，增加触达和线索</a:t>
            </a:r>
          </a:p>
        </p:txBody>
      </p:sp>
      <p:sp>
        <p:nvSpPr>
          <p:cNvPr id="15" name="DEBRIEF_CUE">
            <a:extLst>
              <a:ext uri="{FF2B5EF4-FFF2-40B4-BE49-F238E27FC236}">
                <a16:creationId xmlns:a16="http://schemas.microsoft.com/office/drawing/2014/main" id="{7B970C88-B014-1D34-A257-D3066A911C0C}"/>
              </a:ext>
            </a:extLst>
          </p:cNvPr>
          <p:cNvSpPr txBox="1"/>
          <p:nvPr/>
        </p:nvSpPr>
        <p:spPr>
          <a:xfrm>
            <a:off x="548640" y="580644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先选，再讲理由；本页不公布答案。</a:t>
            </a:r>
          </a:p>
        </p:txBody>
      </p:sp>
      <p:sp>
        <p:nvSpPr>
          <p:cNvPr id="16" name="TEACHING_CUE">
            <a:extLst>
              <a:ext uri="{FF2B5EF4-FFF2-40B4-BE49-F238E27FC236}">
                <a16:creationId xmlns:a16="http://schemas.microsoft.com/office/drawing/2014/main" id="{A7D14817-8851-6253-50C6-A6B12570FAB3}"/>
              </a:ext>
            </a:extLst>
          </p:cNvPr>
          <p:cNvSpPr txBox="1"/>
          <p:nvPr/>
        </p:nvSpPr>
        <p:spPr>
          <a:xfrm>
            <a:off x="548640" y="62179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先收集各组的选项与理由，再引导讨论每个选项的成本与可验证依据；选项无对错，避免羞辱。</a:t>
            </a:r>
          </a:p>
        </p:txBody>
      </p:sp>
    </p:spTree>
    <p:extLst>
      <p:ext uri="{BB962C8B-B14F-4D97-AF65-F5344CB8AC3E}">
        <p14:creationId xmlns:p14="http://schemas.microsoft.com/office/powerpoint/2010/main" val="2930308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348B54-B680-DB9B-C4B6-4784A300A26A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5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先看症状，再给解读：你的乡镇经营卡在哪？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0CDBDFC-F762-FC87-4652-9FE9F40C76EF}"/>
              </a:ext>
            </a:extLst>
          </p:cNvPr>
          <p:cNvSpPr txBox="1"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按维度逐行诊断：症状是事实，解读是判断，下一步是动作</a:t>
            </a:r>
          </a:p>
        </p:txBody>
      </p:sp>
      <p:sp>
        <p:nvSpPr>
          <p:cNvPr id="4" name="HDR_1">
            <a:extLst>
              <a:ext uri="{FF2B5EF4-FFF2-40B4-BE49-F238E27FC236}">
                <a16:creationId xmlns:a16="http://schemas.microsoft.com/office/drawing/2014/main" id="{BE52C567-7A51-F0F2-AB3D-35215106491A}"/>
              </a:ext>
            </a:extLst>
          </p:cNvPr>
          <p:cNvSpPr txBox="1"/>
          <p:nvPr/>
        </p:nvSpPr>
        <p:spPr>
          <a:xfrm>
            <a:off x="548640" y="1463040"/>
            <a:ext cx="219456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经营维度</a:t>
            </a:r>
          </a:p>
        </p:txBody>
      </p:sp>
      <p:sp>
        <p:nvSpPr>
          <p:cNvPr id="5" name="HDR_2">
            <a:extLst>
              <a:ext uri="{FF2B5EF4-FFF2-40B4-BE49-F238E27FC236}">
                <a16:creationId xmlns:a16="http://schemas.microsoft.com/office/drawing/2014/main" id="{62847ADC-7C5F-3370-D193-84EAFA0AD2A3}"/>
              </a:ext>
            </a:extLst>
          </p:cNvPr>
          <p:cNvSpPr txBox="1"/>
          <p:nvPr/>
        </p:nvSpPr>
        <p:spPr>
          <a:xfrm>
            <a:off x="283464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可见症状</a:t>
            </a:r>
          </a:p>
        </p:txBody>
      </p:sp>
      <p:sp>
        <p:nvSpPr>
          <p:cNvPr id="6" name="HDR_3">
            <a:extLst>
              <a:ext uri="{FF2B5EF4-FFF2-40B4-BE49-F238E27FC236}">
                <a16:creationId xmlns:a16="http://schemas.microsoft.com/office/drawing/2014/main" id="{4C178E36-50EF-33C0-19B2-41DF2D4E3AA5}"/>
              </a:ext>
            </a:extLst>
          </p:cNvPr>
          <p:cNvSpPr txBox="1"/>
          <p:nvPr/>
        </p:nvSpPr>
        <p:spPr>
          <a:xfrm>
            <a:off x="548640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解读</a:t>
            </a:r>
          </a:p>
        </p:txBody>
      </p:sp>
      <p:sp>
        <p:nvSpPr>
          <p:cNvPr id="7" name="HDR_4">
            <a:extLst>
              <a:ext uri="{FF2B5EF4-FFF2-40B4-BE49-F238E27FC236}">
                <a16:creationId xmlns:a16="http://schemas.microsoft.com/office/drawing/2014/main" id="{6E15FE9A-5A22-C4D4-75D9-0F93A90F99EB}"/>
              </a:ext>
            </a:extLst>
          </p:cNvPr>
          <p:cNvSpPr txBox="1"/>
          <p:nvPr/>
        </p:nvSpPr>
        <p:spPr>
          <a:xfrm>
            <a:off x="8138160" y="1463040"/>
            <a:ext cx="34747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</a:t>
            </a:r>
          </a:p>
        </p:txBody>
      </p:sp>
      <p:sp>
        <p:nvSpPr>
          <p:cNvPr id="8" name="ROW_BAND_1">
            <a:extLst>
              <a:ext uri="{FF2B5EF4-FFF2-40B4-BE49-F238E27FC236}">
                <a16:creationId xmlns:a16="http://schemas.microsoft.com/office/drawing/2014/main" id="{7C186B51-50DB-7BD4-0425-68B30FC00298}"/>
              </a:ext>
            </a:extLst>
          </p:cNvPr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DIM_1_NAME">
            <a:extLst>
              <a:ext uri="{FF2B5EF4-FFF2-40B4-BE49-F238E27FC236}">
                <a16:creationId xmlns:a16="http://schemas.microsoft.com/office/drawing/2014/main" id="{9F34780E-5F06-32CC-1145-C4468720E266}"/>
              </a:ext>
            </a:extLst>
          </p:cNvPr>
          <p:cNvSpPr txBox="1"/>
          <p:nvPr/>
        </p:nvSpPr>
        <p:spPr>
          <a:xfrm>
            <a:off x="685800" y="199339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10" name="DIM_1_SYMPTOM">
            <a:extLst>
              <a:ext uri="{FF2B5EF4-FFF2-40B4-BE49-F238E27FC236}">
                <a16:creationId xmlns:a16="http://schemas.microsoft.com/office/drawing/2014/main" id="{96438923-3B34-EEE7-6698-E088990D3979}"/>
              </a:ext>
            </a:extLst>
          </p:cNvPr>
          <p:cNvSpPr txBox="1"/>
          <p:nvPr/>
        </p:nvSpPr>
        <p:spPr>
          <a:xfrm>
            <a:off x="297180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网点铺了，但不动销</a:t>
            </a:r>
          </a:p>
        </p:txBody>
      </p:sp>
      <p:sp>
        <p:nvSpPr>
          <p:cNvPr id="11" name="DIM_1_READ">
            <a:extLst>
              <a:ext uri="{FF2B5EF4-FFF2-40B4-BE49-F238E27FC236}">
                <a16:creationId xmlns:a16="http://schemas.microsoft.com/office/drawing/2014/main" id="{03A3FF9F-A980-AD0F-15CD-EBAD4E176935}"/>
              </a:ext>
            </a:extLst>
          </p:cNvPr>
          <p:cNvSpPr txBox="1"/>
          <p:nvPr/>
        </p:nvSpPr>
        <p:spPr>
          <a:xfrm>
            <a:off x="562356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渠道力偏弱</a:t>
            </a:r>
          </a:p>
        </p:txBody>
      </p:sp>
      <p:sp>
        <p:nvSpPr>
          <p:cNvPr id="12" name="DIM_1_NEXT">
            <a:extLst>
              <a:ext uri="{FF2B5EF4-FFF2-40B4-BE49-F238E27FC236}">
                <a16:creationId xmlns:a16="http://schemas.microsoft.com/office/drawing/2014/main" id="{86A6E245-2D19-96C7-D7BF-E37220EE1841}"/>
              </a:ext>
            </a:extLst>
          </p:cNvPr>
          <p:cNvSpPr txBox="1"/>
          <p:nvPr/>
        </p:nvSpPr>
        <p:spPr>
          <a:xfrm>
            <a:off x="8275320" y="199339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按核心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普通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低效分类，集中激活</a:t>
            </a:r>
          </a:p>
        </p:txBody>
      </p:sp>
      <p:sp>
        <p:nvSpPr>
          <p:cNvPr id="13" name="ROW_BAND_2">
            <a:extLst>
              <a:ext uri="{FF2B5EF4-FFF2-40B4-BE49-F238E27FC236}">
                <a16:creationId xmlns:a16="http://schemas.microsoft.com/office/drawing/2014/main" id="{55943540-F103-5EFD-0155-13E5A587367B}"/>
              </a:ext>
            </a:extLst>
          </p:cNvPr>
          <p:cNvSpPr/>
          <p:nvPr/>
        </p:nvSpPr>
        <p:spPr>
          <a:xfrm>
            <a:off x="548640" y="251460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DIM_2_NAME">
            <a:extLst>
              <a:ext uri="{FF2B5EF4-FFF2-40B4-BE49-F238E27FC236}">
                <a16:creationId xmlns:a16="http://schemas.microsoft.com/office/drawing/2014/main" id="{9A101BCD-4D62-9E6F-6D45-2F4D3A0A337D}"/>
              </a:ext>
            </a:extLst>
          </p:cNvPr>
          <p:cNvSpPr txBox="1"/>
          <p:nvPr/>
        </p:nvSpPr>
        <p:spPr>
          <a:xfrm>
            <a:off x="685800" y="258775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5" name="DIM_2_SYMPTOM">
            <a:extLst>
              <a:ext uri="{FF2B5EF4-FFF2-40B4-BE49-F238E27FC236}">
                <a16:creationId xmlns:a16="http://schemas.microsoft.com/office/drawing/2014/main" id="{F6AF167C-568F-B747-D47B-7A914351C73B}"/>
              </a:ext>
            </a:extLst>
          </p:cNvPr>
          <p:cNvSpPr txBox="1"/>
          <p:nvPr/>
        </p:nvSpPr>
        <p:spPr>
          <a:xfrm>
            <a:off x="297180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补货不稳定，靠促销撑</a:t>
            </a:r>
          </a:p>
        </p:txBody>
      </p:sp>
      <p:sp>
        <p:nvSpPr>
          <p:cNvPr id="16" name="DIM_2_READ">
            <a:extLst>
              <a:ext uri="{FF2B5EF4-FFF2-40B4-BE49-F238E27FC236}">
                <a16:creationId xmlns:a16="http://schemas.microsoft.com/office/drawing/2014/main" id="{C1398A27-6A25-020F-53CB-91DE7CF0DFCB}"/>
              </a:ext>
            </a:extLst>
          </p:cNvPr>
          <p:cNvSpPr txBox="1"/>
          <p:nvPr/>
        </p:nvSpPr>
        <p:spPr>
          <a:xfrm>
            <a:off x="562356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拜访缺任务，动销未形成</a:t>
            </a:r>
          </a:p>
        </p:txBody>
      </p:sp>
      <p:sp>
        <p:nvSpPr>
          <p:cNvPr id="17" name="DIM_2_NEXT">
            <a:extLst>
              <a:ext uri="{FF2B5EF4-FFF2-40B4-BE49-F238E27FC236}">
                <a16:creationId xmlns:a16="http://schemas.microsoft.com/office/drawing/2014/main" id="{D5EFB405-A445-5EB2-A799-899C4670B41C}"/>
              </a:ext>
            </a:extLst>
          </p:cNvPr>
          <p:cNvSpPr txBox="1"/>
          <p:nvPr/>
        </p:nvSpPr>
        <p:spPr>
          <a:xfrm>
            <a:off x="8275320" y="258775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固定路线，每次拜访带项目提问</a:t>
            </a:r>
          </a:p>
        </p:txBody>
      </p:sp>
      <p:sp>
        <p:nvSpPr>
          <p:cNvPr id="18" name="ROW_BAND_3">
            <a:extLst>
              <a:ext uri="{FF2B5EF4-FFF2-40B4-BE49-F238E27FC236}">
                <a16:creationId xmlns:a16="http://schemas.microsoft.com/office/drawing/2014/main" id="{63F862FA-64FB-A96E-7486-C6AD81B05089}"/>
              </a:ext>
            </a:extLst>
          </p:cNvPr>
          <p:cNvSpPr/>
          <p:nvPr/>
        </p:nvSpPr>
        <p:spPr>
          <a:xfrm>
            <a:off x="548640" y="31089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IM_3_NAME">
            <a:extLst>
              <a:ext uri="{FF2B5EF4-FFF2-40B4-BE49-F238E27FC236}">
                <a16:creationId xmlns:a16="http://schemas.microsoft.com/office/drawing/2014/main" id="{BDF8D63D-3A10-D5EA-5188-F515DFD282B6}"/>
              </a:ext>
            </a:extLst>
          </p:cNvPr>
          <p:cNvSpPr txBox="1"/>
          <p:nvPr/>
        </p:nvSpPr>
        <p:spPr>
          <a:xfrm>
            <a:off x="685800" y="318211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</a:t>
            </a:r>
          </a:p>
        </p:txBody>
      </p:sp>
      <p:sp>
        <p:nvSpPr>
          <p:cNvPr id="20" name="DIM_3_SYMPTOM">
            <a:extLst>
              <a:ext uri="{FF2B5EF4-FFF2-40B4-BE49-F238E27FC236}">
                <a16:creationId xmlns:a16="http://schemas.microsoft.com/office/drawing/2014/main" id="{7A1E9BA9-2E5B-7849-95E9-91833DDBA39E}"/>
              </a:ext>
            </a:extLst>
          </p:cNvPr>
          <p:cNvSpPr txBox="1"/>
          <p:nvPr/>
        </p:nvSpPr>
        <p:spPr>
          <a:xfrm>
            <a:off x="297180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没有主推品项</a:t>
            </a:r>
          </a:p>
        </p:txBody>
      </p:sp>
      <p:sp>
        <p:nvSpPr>
          <p:cNvPr id="21" name="DIM_3_READ">
            <a:extLst>
              <a:ext uri="{FF2B5EF4-FFF2-40B4-BE49-F238E27FC236}">
                <a16:creationId xmlns:a16="http://schemas.microsoft.com/office/drawing/2014/main" id="{6F6EA3BF-9CA5-4DFE-FED2-5518487C6214}"/>
              </a:ext>
            </a:extLst>
          </p:cNvPr>
          <p:cNvSpPr txBox="1"/>
          <p:nvPr/>
        </p:nvSpPr>
        <p:spPr>
          <a:xfrm>
            <a:off x="562356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产品力弱，上量无抓手</a:t>
            </a:r>
          </a:p>
        </p:txBody>
      </p:sp>
      <p:sp>
        <p:nvSpPr>
          <p:cNvPr id="22" name="DIM_3_NEXT">
            <a:extLst>
              <a:ext uri="{FF2B5EF4-FFF2-40B4-BE49-F238E27FC236}">
                <a16:creationId xmlns:a16="http://schemas.microsoft.com/office/drawing/2014/main" id="{4EB2A178-812F-6C01-E644-8BE9DCD98B61}"/>
              </a:ext>
            </a:extLst>
          </p:cNvPr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选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1-2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款主推，配套陈列与话术</a:t>
            </a:r>
          </a:p>
        </p:txBody>
      </p:sp>
      <p:sp>
        <p:nvSpPr>
          <p:cNvPr id="23" name="ROW_BAND_4">
            <a:extLst>
              <a:ext uri="{FF2B5EF4-FFF2-40B4-BE49-F238E27FC236}">
                <a16:creationId xmlns:a16="http://schemas.microsoft.com/office/drawing/2014/main" id="{DF6ACB09-3F0C-E5FD-A8CF-66F1DA8B82FF}"/>
              </a:ext>
            </a:extLst>
          </p:cNvPr>
          <p:cNvSpPr/>
          <p:nvPr/>
        </p:nvSpPr>
        <p:spPr>
          <a:xfrm>
            <a:off x="548640" y="37033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IM_4_NAME">
            <a:extLst>
              <a:ext uri="{FF2B5EF4-FFF2-40B4-BE49-F238E27FC236}">
                <a16:creationId xmlns:a16="http://schemas.microsoft.com/office/drawing/2014/main" id="{BBD963CA-428E-B658-21CE-B98339442A57}"/>
              </a:ext>
            </a:extLst>
          </p:cNvPr>
          <p:cNvSpPr txBox="1"/>
          <p:nvPr/>
        </p:nvSpPr>
        <p:spPr>
          <a:xfrm>
            <a:off x="685800" y="377647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</a:t>
            </a:r>
          </a:p>
        </p:txBody>
      </p:sp>
      <p:sp>
        <p:nvSpPr>
          <p:cNvPr id="25" name="DIM_4_SYMPTOM">
            <a:extLst>
              <a:ext uri="{FF2B5EF4-FFF2-40B4-BE49-F238E27FC236}">
                <a16:creationId xmlns:a16="http://schemas.microsoft.com/office/drawing/2014/main" id="{1E55DDB4-5471-4059-A76E-1E3931FD26D7}"/>
              </a:ext>
            </a:extLst>
          </p:cNvPr>
          <p:cNvSpPr txBox="1"/>
          <p:nvPr/>
        </p:nvSpPr>
        <p:spPr>
          <a:xfrm>
            <a:off x="297180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售后没人接，口碑传不动</a:t>
            </a:r>
          </a:p>
        </p:txBody>
      </p:sp>
      <p:sp>
        <p:nvSpPr>
          <p:cNvPr id="26" name="DIM_4_READ">
            <a:extLst>
              <a:ext uri="{FF2B5EF4-FFF2-40B4-BE49-F238E27FC236}">
                <a16:creationId xmlns:a16="http://schemas.microsoft.com/office/drawing/2014/main" id="{BF0ACD3F-6E8F-7897-61E8-535224B727D3}"/>
              </a:ext>
            </a:extLst>
          </p:cNvPr>
          <p:cNvSpPr txBox="1"/>
          <p:nvPr/>
        </p:nvSpPr>
        <p:spPr>
          <a:xfrm>
            <a:off x="562356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服务力弱，复购转介绍断</a:t>
            </a:r>
          </a:p>
        </p:txBody>
      </p:sp>
      <p:sp>
        <p:nvSpPr>
          <p:cNvPr id="27" name="DIM_4_NEXT">
            <a:extLst>
              <a:ext uri="{FF2B5EF4-FFF2-40B4-BE49-F238E27FC236}">
                <a16:creationId xmlns:a16="http://schemas.microsoft.com/office/drawing/2014/main" id="{13F77F47-7F7F-7F3D-0879-57CB8828DA43}"/>
              </a:ext>
            </a:extLst>
          </p:cNvPr>
          <p:cNvSpPr txBox="1"/>
          <p:nvPr/>
        </p:nvSpPr>
        <p:spPr>
          <a:xfrm>
            <a:off x="8275320" y="377647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明确售后责任人，回访沉淀样板</a:t>
            </a:r>
          </a:p>
        </p:txBody>
      </p:sp>
      <p:sp>
        <p:nvSpPr>
          <p:cNvPr id="28" name="DEBRIEF_CUE">
            <a:extLst>
              <a:ext uri="{FF2B5EF4-FFF2-40B4-BE49-F238E27FC236}">
                <a16:creationId xmlns:a16="http://schemas.microsoft.com/office/drawing/2014/main" id="{5E3593CC-71F2-5069-F8CD-3033F35665F4}"/>
              </a:ext>
            </a:extLst>
          </p:cNvPr>
          <p:cNvSpPr txBox="1"/>
          <p:nvPr/>
        </p:nvSpPr>
        <p:spPr>
          <a:xfrm>
            <a:off x="548640" y="4526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先看症状，由讲师逐行揭示解读与下一步；不一次性展开全部。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0A3A152-65AD-F455-6D9C-8821DC7F57F1}"/>
              </a:ext>
            </a:extLst>
          </p:cNvPr>
          <p:cNvSpPr txBox="1"/>
          <p:nvPr/>
        </p:nvSpPr>
        <p:spPr>
          <a:xfrm>
            <a:off x="548640" y="498348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逐行点击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揭示：先让学员只看症状并猜解读，再揭示；可点击区控制在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4-6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个。</a:t>
            </a:r>
          </a:p>
        </p:txBody>
      </p:sp>
    </p:spTree>
    <p:extLst>
      <p:ext uri="{BB962C8B-B14F-4D97-AF65-F5344CB8AC3E}">
        <p14:creationId xmlns:p14="http://schemas.microsoft.com/office/powerpoint/2010/main" val="826178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90E70C-BC50-D6B0-4451-BC91FBCAC01B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把课堂判断摆上桌：下一场仗打哪？</a:t>
            </a:r>
          </a:p>
        </p:txBody>
      </p:sp>
      <p:sp>
        <p:nvSpPr>
          <p:cNvPr id="3" name="VOTE_PROMPT">
            <a:extLst>
              <a:ext uri="{FF2B5EF4-FFF2-40B4-BE49-F238E27FC236}">
                <a16:creationId xmlns:a16="http://schemas.microsoft.com/office/drawing/2014/main" id="{3E3C530E-670F-CA35-1A21-DDCB9828E218}"/>
              </a:ext>
            </a:extLst>
          </p:cNvPr>
          <p:cNvSpPr txBox="1"/>
          <p:nvPr/>
        </p:nvSpPr>
        <p:spPr>
          <a:xfrm>
            <a:off x="548640" y="1097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每人一票，选一个主攻方向，并准备一条理由</a:t>
            </a:r>
          </a:p>
        </p:txBody>
      </p:sp>
      <p:sp>
        <p:nvSpPr>
          <p:cNvPr id="4" name="CHOICE_BAND_1">
            <a:extLst>
              <a:ext uri="{FF2B5EF4-FFF2-40B4-BE49-F238E27FC236}">
                <a16:creationId xmlns:a16="http://schemas.microsoft.com/office/drawing/2014/main" id="{796BE12F-8ABE-90BD-EB45-9EDCB844BD21}"/>
              </a:ext>
            </a:extLst>
          </p:cNvPr>
          <p:cNvSpPr/>
          <p:nvPr/>
        </p:nvSpPr>
        <p:spPr>
          <a:xfrm>
            <a:off x="548640" y="169164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CHOICE_1_TEXT">
            <a:extLst>
              <a:ext uri="{FF2B5EF4-FFF2-40B4-BE49-F238E27FC236}">
                <a16:creationId xmlns:a16="http://schemas.microsoft.com/office/drawing/2014/main" id="{E6C5E98F-756F-AEC3-119C-FC3A23A65B5C}"/>
              </a:ext>
            </a:extLst>
          </p:cNvPr>
          <p:cNvSpPr txBox="1"/>
          <p:nvPr/>
        </p:nvSpPr>
        <p:spPr>
          <a:xfrm>
            <a:off x="822960" y="169164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攻项目：县城安置房、翻修与维修项目</a:t>
            </a:r>
          </a:p>
        </p:txBody>
      </p:sp>
      <p:sp>
        <p:nvSpPr>
          <p:cNvPr id="6" name="VOTE_BOX_1">
            <a:extLst>
              <a:ext uri="{FF2B5EF4-FFF2-40B4-BE49-F238E27FC236}">
                <a16:creationId xmlns:a16="http://schemas.microsoft.com/office/drawing/2014/main" id="{F6CCACDE-5FE3-E11E-DDF5-447EFF703623}"/>
              </a:ext>
            </a:extLst>
          </p:cNvPr>
          <p:cNvSpPr/>
          <p:nvPr/>
        </p:nvSpPr>
        <p:spPr>
          <a:xfrm>
            <a:off x="9372600" y="169164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VOTE_1">
            <a:extLst>
              <a:ext uri="{FF2B5EF4-FFF2-40B4-BE49-F238E27FC236}">
                <a16:creationId xmlns:a16="http://schemas.microsoft.com/office/drawing/2014/main" id="{64126B27-A665-6209-E97C-FAB29655429E}"/>
              </a:ext>
            </a:extLst>
          </p:cNvPr>
          <p:cNvSpPr txBox="1"/>
          <p:nvPr/>
        </p:nvSpPr>
        <p:spPr>
          <a:xfrm>
            <a:off x="9509760" y="169164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8" name="CHOICE_BAND_2">
            <a:extLst>
              <a:ext uri="{FF2B5EF4-FFF2-40B4-BE49-F238E27FC236}">
                <a16:creationId xmlns:a16="http://schemas.microsoft.com/office/drawing/2014/main" id="{F91439FC-53EB-9BDC-354B-568118E25FD3}"/>
              </a:ext>
            </a:extLst>
          </p:cNvPr>
          <p:cNvSpPr/>
          <p:nvPr/>
        </p:nvSpPr>
        <p:spPr>
          <a:xfrm>
            <a:off x="548640" y="228600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HOICE_2_TEXT">
            <a:extLst>
              <a:ext uri="{FF2B5EF4-FFF2-40B4-BE49-F238E27FC236}">
                <a16:creationId xmlns:a16="http://schemas.microsoft.com/office/drawing/2014/main" id="{1591448B-FE89-0198-6322-225F9651CD5F}"/>
              </a:ext>
            </a:extLst>
          </p:cNvPr>
          <p:cNvSpPr txBox="1"/>
          <p:nvPr/>
        </p:nvSpPr>
        <p:spPr>
          <a:xfrm>
            <a:off x="822960" y="228600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攻渠道：中心镇核心网点激活与补货</a:t>
            </a:r>
          </a:p>
        </p:txBody>
      </p:sp>
      <p:sp>
        <p:nvSpPr>
          <p:cNvPr id="10" name="VOTE_BOX_2">
            <a:extLst>
              <a:ext uri="{FF2B5EF4-FFF2-40B4-BE49-F238E27FC236}">
                <a16:creationId xmlns:a16="http://schemas.microsoft.com/office/drawing/2014/main" id="{C52F5C0A-DEA7-50B1-7CDB-6C73776F55DE}"/>
              </a:ext>
            </a:extLst>
          </p:cNvPr>
          <p:cNvSpPr/>
          <p:nvPr/>
        </p:nvSpPr>
        <p:spPr>
          <a:xfrm>
            <a:off x="9372600" y="228600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VOTE_2">
            <a:extLst>
              <a:ext uri="{FF2B5EF4-FFF2-40B4-BE49-F238E27FC236}">
                <a16:creationId xmlns:a16="http://schemas.microsoft.com/office/drawing/2014/main" id="{C4037AE1-4276-571E-9747-B1F3047399A9}"/>
              </a:ext>
            </a:extLst>
          </p:cNvPr>
          <p:cNvSpPr txBox="1"/>
          <p:nvPr/>
        </p:nvSpPr>
        <p:spPr>
          <a:xfrm>
            <a:off x="9509760" y="228600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2" name="CHOICE_BAND_3">
            <a:extLst>
              <a:ext uri="{FF2B5EF4-FFF2-40B4-BE49-F238E27FC236}">
                <a16:creationId xmlns:a16="http://schemas.microsoft.com/office/drawing/2014/main" id="{C86E395B-56EB-5293-435E-BFDB49BD0F4B}"/>
              </a:ext>
            </a:extLst>
          </p:cNvPr>
          <p:cNvSpPr/>
          <p:nvPr/>
        </p:nvSpPr>
        <p:spPr>
          <a:xfrm>
            <a:off x="548640" y="288036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CHOICE_3_TEXT">
            <a:extLst>
              <a:ext uri="{FF2B5EF4-FFF2-40B4-BE49-F238E27FC236}">
                <a16:creationId xmlns:a16="http://schemas.microsoft.com/office/drawing/2014/main" id="{CD8F2984-D0B1-4E8A-3A60-E520B3BD7FC8}"/>
              </a:ext>
            </a:extLst>
          </p:cNvPr>
          <p:cNvSpPr txBox="1"/>
          <p:nvPr/>
        </p:nvSpPr>
        <p:spPr>
          <a:xfrm>
            <a:off x="822960" y="288036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攻产品：主推品项铺开与动销</a:t>
            </a:r>
          </a:p>
        </p:txBody>
      </p:sp>
      <p:sp>
        <p:nvSpPr>
          <p:cNvPr id="14" name="VOTE_BOX_3">
            <a:extLst>
              <a:ext uri="{FF2B5EF4-FFF2-40B4-BE49-F238E27FC236}">
                <a16:creationId xmlns:a16="http://schemas.microsoft.com/office/drawing/2014/main" id="{4EBDDA66-1AB1-45A8-BD0E-103D9310632C}"/>
              </a:ext>
            </a:extLst>
          </p:cNvPr>
          <p:cNvSpPr/>
          <p:nvPr/>
        </p:nvSpPr>
        <p:spPr>
          <a:xfrm>
            <a:off x="9372600" y="288036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VOTE_3">
            <a:extLst>
              <a:ext uri="{FF2B5EF4-FFF2-40B4-BE49-F238E27FC236}">
                <a16:creationId xmlns:a16="http://schemas.microsoft.com/office/drawing/2014/main" id="{BAA9054B-7103-AE35-6D7A-9C8FE8670C87}"/>
              </a:ext>
            </a:extLst>
          </p:cNvPr>
          <p:cNvSpPr txBox="1"/>
          <p:nvPr/>
        </p:nvSpPr>
        <p:spPr>
          <a:xfrm>
            <a:off x="9509760" y="288036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6" name="CHOICE_BAND_4">
            <a:extLst>
              <a:ext uri="{FF2B5EF4-FFF2-40B4-BE49-F238E27FC236}">
                <a16:creationId xmlns:a16="http://schemas.microsoft.com/office/drawing/2014/main" id="{61208555-AAA2-B972-924F-2AEA24B66741}"/>
              </a:ext>
            </a:extLst>
          </p:cNvPr>
          <p:cNvSpPr/>
          <p:nvPr/>
        </p:nvSpPr>
        <p:spPr>
          <a:xfrm>
            <a:off x="548640" y="347472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CHOICE_4_TEXT">
            <a:extLst>
              <a:ext uri="{FF2B5EF4-FFF2-40B4-BE49-F238E27FC236}">
                <a16:creationId xmlns:a16="http://schemas.microsoft.com/office/drawing/2014/main" id="{9B6CCFF2-FB85-F796-ECED-314603B5718C}"/>
              </a:ext>
            </a:extLst>
          </p:cNvPr>
          <p:cNvSpPr txBox="1"/>
          <p:nvPr/>
        </p:nvSpPr>
        <p:spPr>
          <a:xfrm>
            <a:off x="822960" y="347472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攻人脉：工人、包工头与关键人运营</a:t>
            </a:r>
          </a:p>
        </p:txBody>
      </p:sp>
      <p:sp>
        <p:nvSpPr>
          <p:cNvPr id="18" name="VOTE_BOX_4">
            <a:extLst>
              <a:ext uri="{FF2B5EF4-FFF2-40B4-BE49-F238E27FC236}">
                <a16:creationId xmlns:a16="http://schemas.microsoft.com/office/drawing/2014/main" id="{82E22AB2-6D8E-3821-36FB-33C0328E6A91}"/>
              </a:ext>
            </a:extLst>
          </p:cNvPr>
          <p:cNvSpPr/>
          <p:nvPr/>
        </p:nvSpPr>
        <p:spPr>
          <a:xfrm>
            <a:off x="9372600" y="347472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VOTE_4">
            <a:extLst>
              <a:ext uri="{FF2B5EF4-FFF2-40B4-BE49-F238E27FC236}">
                <a16:creationId xmlns:a16="http://schemas.microsoft.com/office/drawing/2014/main" id="{EFC9BE45-6508-5BFD-ABD9-FD717D44C52E}"/>
              </a:ext>
            </a:extLst>
          </p:cNvPr>
          <p:cNvSpPr txBox="1"/>
          <p:nvPr/>
        </p:nvSpPr>
        <p:spPr>
          <a:xfrm>
            <a:off x="9509760" y="347472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20" name="METHOD_CUE">
            <a:extLst>
              <a:ext uri="{FF2B5EF4-FFF2-40B4-BE49-F238E27FC236}">
                <a16:creationId xmlns:a16="http://schemas.microsoft.com/office/drawing/2014/main" id="{BA019673-F137-3BDD-09B0-497689C9B4C7}"/>
              </a:ext>
            </a:extLst>
          </p:cNvPr>
          <p:cNvSpPr txBox="1"/>
          <p:nvPr/>
        </p:nvSpPr>
        <p:spPr>
          <a:xfrm>
            <a:off x="548640" y="42519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投票方式：举手或纸票；票数填在右侧。</a:t>
            </a:r>
          </a:p>
        </p:txBody>
      </p:sp>
      <p:sp>
        <p:nvSpPr>
          <p:cNvPr id="21" name="DEBRIEF_CUE">
            <a:extLst>
              <a:ext uri="{FF2B5EF4-FFF2-40B4-BE49-F238E27FC236}">
                <a16:creationId xmlns:a16="http://schemas.microsoft.com/office/drawing/2014/main" id="{5D329E22-5E33-48B9-3689-57569BB1EC1A}"/>
              </a:ext>
            </a:extLst>
          </p:cNvPr>
          <p:cNvSpPr txBox="1"/>
          <p:nvPr/>
        </p:nvSpPr>
        <p:spPr>
          <a:xfrm>
            <a:off x="548640" y="47091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先听少数派理由，再定主战役与备选；票数不替代最终经营判断。</a:t>
            </a:r>
          </a:p>
        </p:txBody>
      </p:sp>
      <p:sp>
        <p:nvSpPr>
          <p:cNvPr id="22" name="TEACHING_CUE">
            <a:extLst>
              <a:ext uri="{FF2B5EF4-FFF2-40B4-BE49-F238E27FC236}">
                <a16:creationId xmlns:a16="http://schemas.microsoft.com/office/drawing/2014/main" id="{11D56D87-0939-4658-A469-1E6605AEB2C5}"/>
              </a:ext>
            </a:extLst>
          </p:cNvPr>
          <p:cNvSpPr txBox="1"/>
          <p:nvPr/>
        </p:nvSpPr>
        <p:spPr>
          <a:xfrm>
            <a:off x="548640" y="516636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不自动计票：用举手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纸票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表单；记录少数意见；投票后进入方法讲解。</a:t>
            </a:r>
          </a:p>
        </p:txBody>
      </p:sp>
    </p:spTree>
    <p:extLst>
      <p:ext uri="{BB962C8B-B14F-4D97-AF65-F5344CB8AC3E}">
        <p14:creationId xmlns:p14="http://schemas.microsoft.com/office/powerpoint/2010/main" val="21437008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2374</Words>
  <Application>Microsoft Office PowerPoint</Application>
  <DocSecurity>0</DocSecurity>
  <PresentationFormat>宽屏</PresentationFormat>
  <Paragraphs>317</Paragraphs>
  <Slides>14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10</cp:revision>
  <dcterms:created xsi:type="dcterms:W3CDTF">2026-08-13T12:27:10Z</dcterms:created>
  <dcterms:modified xsi:type="dcterms:W3CDTF">2026-08-19T02:57:32Z</dcterms:modified>
</cp:coreProperties>
</file>