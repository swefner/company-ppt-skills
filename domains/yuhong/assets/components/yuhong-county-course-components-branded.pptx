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BC54E2-9E63-8162-495E-35E6515F33B8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8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国家资源是不是离开县域了？</a:t>
            </a:r>
          </a:p>
        </p:txBody>
      </p:sp>
      <p:sp>
        <p:nvSpPr>
          <p:cNvPr id="3" name="ASK_PROMPT">
            <a:extLst>
              <a:ext uri="{FF2B5EF4-FFF2-40B4-BE49-F238E27FC236}">
                <a16:creationId xmlns:a16="http://schemas.microsoft.com/office/drawing/2014/main" id="{48762A02-FA42-56BB-CE51-1EBBF0035643}"/>
              </a:ext>
            </a:extLst>
          </p:cNvPr>
          <p:cNvSpPr txBox="1"/>
          <p:nvPr/>
        </p:nvSpPr>
        <p:spPr>
          <a:xfrm>
            <a:off x="548640" y="15544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先表态：国家资源离开县域了吗？</a:t>
            </a:r>
          </a:p>
        </p:txBody>
      </p:sp>
      <p:sp>
        <p:nvSpPr>
          <p:cNvPr id="4" name="OPT_BAND_1">
            <a:extLst>
              <a:ext uri="{FF2B5EF4-FFF2-40B4-BE49-F238E27FC236}">
                <a16:creationId xmlns:a16="http://schemas.microsoft.com/office/drawing/2014/main" id="{8DF92F48-4AB2-897E-70C5-DBBD2B435AFC}"/>
              </a:ext>
            </a:extLst>
          </p:cNvPr>
          <p:cNvSpPr/>
          <p:nvPr/>
        </p:nvSpPr>
        <p:spPr>
          <a:xfrm>
            <a:off x="548640" y="214884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OPT_1_TEXT">
            <a:extLst>
              <a:ext uri="{FF2B5EF4-FFF2-40B4-BE49-F238E27FC236}">
                <a16:creationId xmlns:a16="http://schemas.microsoft.com/office/drawing/2014/main" id="{E051D4F4-C95F-411B-09B1-2CC24C18104D}"/>
              </a:ext>
            </a:extLst>
          </p:cNvPr>
          <p:cNvSpPr txBox="1"/>
          <p:nvPr/>
        </p:nvSpPr>
        <p:spPr>
          <a:xfrm>
            <a:off x="822960" y="224028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离开了，资源都在大城市</a:t>
            </a:r>
          </a:p>
        </p:txBody>
      </p:sp>
      <p:sp>
        <p:nvSpPr>
          <p:cNvPr id="6" name="OPT_BAND_2">
            <a:extLst>
              <a:ext uri="{FF2B5EF4-FFF2-40B4-BE49-F238E27FC236}">
                <a16:creationId xmlns:a16="http://schemas.microsoft.com/office/drawing/2014/main" id="{D6EBE1B6-3014-E2C5-6A91-DECAA312CE11}"/>
              </a:ext>
            </a:extLst>
          </p:cNvPr>
          <p:cNvSpPr/>
          <p:nvPr/>
        </p:nvSpPr>
        <p:spPr>
          <a:xfrm>
            <a:off x="548640" y="2880360"/>
            <a:ext cx="10789920" cy="566928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PT_2_TEXT">
            <a:extLst>
              <a:ext uri="{FF2B5EF4-FFF2-40B4-BE49-F238E27FC236}">
                <a16:creationId xmlns:a16="http://schemas.microsoft.com/office/drawing/2014/main" id="{6E51E0B5-18EA-2EAA-2453-03A77C6492D9}"/>
              </a:ext>
            </a:extLst>
          </p:cNvPr>
          <p:cNvSpPr txBox="1"/>
          <p:nvPr/>
        </p:nvSpPr>
        <p:spPr>
          <a:xfrm>
            <a:off x="822960" y="297180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没离开，但和政策无关</a:t>
            </a:r>
          </a:p>
        </p:txBody>
      </p:sp>
      <p:sp>
        <p:nvSpPr>
          <p:cNvPr id="8" name="OPT_BAND_3">
            <a:extLst>
              <a:ext uri="{FF2B5EF4-FFF2-40B4-BE49-F238E27FC236}">
                <a16:creationId xmlns:a16="http://schemas.microsoft.com/office/drawing/2014/main" id="{84ED1604-B9E3-1406-5907-DD91D4E9383C}"/>
              </a:ext>
            </a:extLst>
          </p:cNvPr>
          <p:cNvSpPr/>
          <p:nvPr/>
        </p:nvSpPr>
        <p:spPr>
          <a:xfrm>
            <a:off x="548640" y="361188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OPT_3_TEXT">
            <a:extLst>
              <a:ext uri="{FF2B5EF4-FFF2-40B4-BE49-F238E27FC236}">
                <a16:creationId xmlns:a16="http://schemas.microsoft.com/office/drawing/2014/main" id="{6AC1E4E6-8E1D-C303-D605-18775B001804}"/>
              </a:ext>
            </a:extLst>
          </p:cNvPr>
          <p:cNvSpPr txBox="1"/>
          <p:nvPr/>
        </p:nvSpPr>
        <p:spPr>
          <a:xfrm>
            <a:off x="822960" y="370332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没离开，政策会带来真实场景</a:t>
            </a:r>
          </a:p>
        </p:txBody>
      </p:sp>
      <p:sp>
        <p:nvSpPr>
          <p:cNvPr id="10" name="REVEAL_BAND">
            <a:extLst>
              <a:ext uri="{FF2B5EF4-FFF2-40B4-BE49-F238E27FC236}">
                <a16:creationId xmlns:a16="http://schemas.microsoft.com/office/drawing/2014/main" id="{70C4870A-E77E-AB3C-63BE-E805A22B8F6E}"/>
              </a:ext>
            </a:extLst>
          </p:cNvPr>
          <p:cNvSpPr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VEAL_TITLE">
            <a:extLst>
              <a:ext uri="{FF2B5EF4-FFF2-40B4-BE49-F238E27FC236}">
                <a16:creationId xmlns:a16="http://schemas.microsoft.com/office/drawing/2014/main" id="{DA45E95A-6755-09BA-9CAC-042B84BC0009}"/>
              </a:ext>
            </a:extLst>
          </p:cNvPr>
          <p:cNvSpPr txBox="1"/>
          <p:nvPr/>
        </p:nvSpPr>
        <p:spPr>
          <a:xfrm>
            <a:off x="777240" y="470916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12" name="REVEAL_TEXT">
            <a:extLst>
              <a:ext uri="{FF2B5EF4-FFF2-40B4-BE49-F238E27FC236}">
                <a16:creationId xmlns:a16="http://schemas.microsoft.com/office/drawing/2014/main" id="{B3FC26CC-DC3B-89D8-12F9-E8BB6C393E1C}"/>
              </a:ext>
            </a:extLst>
          </p:cNvPr>
          <p:cNvSpPr txBox="1"/>
          <p:nvPr/>
        </p:nvSpPr>
        <p:spPr>
          <a:xfrm>
            <a:off x="777240" y="521208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政策方向会翻译成真实场景：县城更新、中心镇集聚、乡村建设、绿色建材下乡。不要只问政策有没有补贴，更要问政策会让哪些地方发生建设、哪些房子需要改善。</a:t>
            </a:r>
          </a:p>
        </p:txBody>
      </p:sp>
      <p:sp>
        <p:nvSpPr>
          <p:cNvPr id="13" name="TEACHING_CUE">
            <a:extLst>
              <a:ext uri="{FF2B5EF4-FFF2-40B4-BE49-F238E27FC236}">
                <a16:creationId xmlns:a16="http://schemas.microsoft.com/office/drawing/2014/main" id="{82F0EA86-9312-827D-7FAE-CEC56B018354}"/>
              </a:ext>
            </a:extLst>
          </p:cNvPr>
          <p:cNvSpPr txBox="1"/>
          <p:nvPr/>
        </p:nvSpPr>
        <p:spPr>
          <a:xfrm>
            <a:off x="548640" y="621792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先让学员表态（举手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分组），再揭示；本页不提前讲答案。</a:t>
            </a:r>
          </a:p>
        </p:txBody>
      </p:sp>
    </p:spTree>
    <p:extLst>
      <p:ext uri="{BB962C8B-B14F-4D97-AF65-F5344CB8AC3E}">
        <p14:creationId xmlns:p14="http://schemas.microsoft.com/office/powerpoint/2010/main" val="307532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3791F-A759-464A-AAA9-9A49798F3BDD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资源有限，先投哪个乡镇？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E451F756-0A7D-69C0-C525-584CC5B535C2}"/>
              </a:ext>
            </a:extLst>
          </p:cNvPr>
          <p:cNvSpPr txBox="1"/>
          <p:nvPr/>
        </p:nvSpPr>
        <p:spPr>
          <a:xfrm>
            <a:off x="548640" y="96012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按「经营价值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攻坚难度」两阶段排序：先看价值，再加难度，最后下注</a:t>
            </a:r>
          </a:p>
        </p:txBody>
      </p:sp>
      <p:sp>
        <p:nvSpPr>
          <p:cNvPr id="4" name="CAN_TITLE">
            <a:extLst>
              <a:ext uri="{FF2B5EF4-FFF2-40B4-BE49-F238E27FC236}">
                <a16:creationId xmlns:a16="http://schemas.microsoft.com/office/drawing/2014/main" id="{151DC87A-1E68-CB1A-40B3-0D66749257DC}"/>
              </a:ext>
            </a:extLst>
          </p:cNvPr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候选证据卡（先按经营价值排序）</a:t>
            </a:r>
          </a:p>
        </p:txBody>
      </p:sp>
      <p:sp>
        <p:nvSpPr>
          <p:cNvPr id="5" name="CAN_BAND_1">
            <a:extLst>
              <a:ext uri="{FF2B5EF4-FFF2-40B4-BE49-F238E27FC236}">
                <a16:creationId xmlns:a16="http://schemas.microsoft.com/office/drawing/2014/main" id="{F401AAAB-7B58-4FFE-B351-D2B4ABFE90F9}"/>
              </a:ext>
            </a:extLst>
          </p:cNvPr>
          <p:cNvSpPr/>
          <p:nvPr/>
        </p:nvSpPr>
        <p:spPr>
          <a:xfrm>
            <a:off x="548640" y="19202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CAN_1_NAME">
            <a:extLst>
              <a:ext uri="{FF2B5EF4-FFF2-40B4-BE49-F238E27FC236}">
                <a16:creationId xmlns:a16="http://schemas.microsoft.com/office/drawing/2014/main" id="{ED1C3FDA-4564-7895-30D8-7068ED20F4FC}"/>
              </a:ext>
            </a:extLst>
          </p:cNvPr>
          <p:cNvSpPr txBox="1"/>
          <p:nvPr/>
        </p:nvSpPr>
        <p:spPr>
          <a:xfrm>
            <a:off x="731520" y="19202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中心镇</a:t>
            </a:r>
          </a:p>
        </p:txBody>
      </p:sp>
      <p:sp>
        <p:nvSpPr>
          <p:cNvPr id="7" name="CAN_1_EVIDENCE">
            <a:extLst>
              <a:ext uri="{FF2B5EF4-FFF2-40B4-BE49-F238E27FC236}">
                <a16:creationId xmlns:a16="http://schemas.microsoft.com/office/drawing/2014/main" id="{A28A0FDF-D904-56DF-FCD6-FEC3636209D8}"/>
              </a:ext>
            </a:extLst>
          </p:cNvPr>
          <p:cNvSpPr txBox="1"/>
          <p:nvPr/>
        </p:nvSpPr>
        <p:spPr>
          <a:xfrm>
            <a:off x="731520" y="21945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人口与商业集聚，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家活跃网点，有项目线索</a:t>
            </a:r>
          </a:p>
        </p:txBody>
      </p:sp>
      <p:sp>
        <p:nvSpPr>
          <p:cNvPr id="8" name="CAN_BAND_2">
            <a:extLst>
              <a:ext uri="{FF2B5EF4-FFF2-40B4-BE49-F238E27FC236}">
                <a16:creationId xmlns:a16="http://schemas.microsoft.com/office/drawing/2014/main" id="{F61BD6D6-0074-53D5-2AC3-4C332A354CFD}"/>
              </a:ext>
            </a:extLst>
          </p:cNvPr>
          <p:cNvSpPr/>
          <p:nvPr/>
        </p:nvSpPr>
        <p:spPr>
          <a:xfrm>
            <a:off x="548640" y="2606040"/>
            <a:ext cx="3931920" cy="5486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AN_2_NAME">
            <a:extLst>
              <a:ext uri="{FF2B5EF4-FFF2-40B4-BE49-F238E27FC236}">
                <a16:creationId xmlns:a16="http://schemas.microsoft.com/office/drawing/2014/main" id="{3712C16E-5CB7-9681-41D8-10E5124F15E1}"/>
              </a:ext>
            </a:extLst>
          </p:cNvPr>
          <p:cNvSpPr txBox="1"/>
          <p:nvPr/>
        </p:nvSpPr>
        <p:spPr>
          <a:xfrm>
            <a:off x="731520" y="26060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0" name="CAN_2_EVIDENCE">
            <a:extLst>
              <a:ext uri="{FF2B5EF4-FFF2-40B4-BE49-F238E27FC236}">
                <a16:creationId xmlns:a16="http://schemas.microsoft.com/office/drawing/2014/main" id="{64BE933B-4CD2-2B29-DB16-9CBF5DDE7E90}"/>
              </a:ext>
            </a:extLst>
          </p:cNvPr>
          <p:cNvSpPr txBox="1"/>
          <p:nvPr/>
        </p:nvSpPr>
        <p:spPr>
          <a:xfrm>
            <a:off x="731520" y="28803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自建房多，无网点，老板有熟人关系</a:t>
            </a:r>
          </a:p>
        </p:txBody>
      </p:sp>
      <p:sp>
        <p:nvSpPr>
          <p:cNvPr id="11" name="CAN_BAND_3">
            <a:extLst>
              <a:ext uri="{FF2B5EF4-FFF2-40B4-BE49-F238E27FC236}">
                <a16:creationId xmlns:a16="http://schemas.microsoft.com/office/drawing/2014/main" id="{E9B95C12-E444-1035-AEC6-9BBB5146B23D}"/>
              </a:ext>
            </a:extLst>
          </p:cNvPr>
          <p:cNvSpPr/>
          <p:nvPr/>
        </p:nvSpPr>
        <p:spPr>
          <a:xfrm>
            <a:off x="548640" y="32918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AN_3_NAME">
            <a:extLst>
              <a:ext uri="{FF2B5EF4-FFF2-40B4-BE49-F238E27FC236}">
                <a16:creationId xmlns:a16="http://schemas.microsoft.com/office/drawing/2014/main" id="{80CBC99B-6011-59B8-3156-F144B2AAE6CC}"/>
              </a:ext>
            </a:extLst>
          </p:cNvPr>
          <p:cNvSpPr txBox="1"/>
          <p:nvPr/>
        </p:nvSpPr>
        <p:spPr>
          <a:xfrm>
            <a:off x="731520" y="32918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3" name="CAN_3_EVIDENCE">
            <a:extLst>
              <a:ext uri="{FF2B5EF4-FFF2-40B4-BE49-F238E27FC236}">
                <a16:creationId xmlns:a16="http://schemas.microsoft.com/office/drawing/2014/main" id="{B57CD9E0-5029-344B-1296-5AD48D3E98AD}"/>
              </a:ext>
            </a:extLst>
          </p:cNvPr>
          <p:cNvSpPr txBox="1"/>
          <p:nvPr/>
        </p:nvSpPr>
        <p:spPr>
          <a:xfrm>
            <a:off x="731520" y="35661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项目零散、依赖客情，配送半径外</a:t>
            </a:r>
          </a:p>
        </p:txBody>
      </p:sp>
      <p:sp>
        <p:nvSpPr>
          <p:cNvPr id="14" name="MATRIX_TITLE">
            <a:extLst>
              <a:ext uri="{FF2B5EF4-FFF2-40B4-BE49-F238E27FC236}">
                <a16:creationId xmlns:a16="http://schemas.microsoft.com/office/drawing/2014/main" id="{4D21C050-1713-EB68-5111-245BE03C9703}"/>
              </a:ext>
            </a:extLst>
          </p:cNvPr>
          <p:cNvSpPr txBox="1"/>
          <p:nvPr/>
        </p:nvSpPr>
        <p:spPr>
          <a:xfrm>
            <a:off x="4754880" y="1463040"/>
            <a:ext cx="5486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经营价值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</a:t>
            </a:r>
          </a:p>
        </p:txBody>
      </p:sp>
      <p:sp>
        <p:nvSpPr>
          <p:cNvPr id="15" name="QUAD_Q1">
            <a:extLst>
              <a:ext uri="{FF2B5EF4-FFF2-40B4-BE49-F238E27FC236}">
                <a16:creationId xmlns:a16="http://schemas.microsoft.com/office/drawing/2014/main" id="{602981BB-1F89-C441-673A-5AAE3DAE6AA8}"/>
              </a:ext>
            </a:extLst>
          </p:cNvPr>
          <p:cNvSpPr/>
          <p:nvPr/>
        </p:nvSpPr>
        <p:spPr>
          <a:xfrm>
            <a:off x="4754880" y="19202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QUAD_Q1_LABEL">
            <a:extLst>
              <a:ext uri="{FF2B5EF4-FFF2-40B4-BE49-F238E27FC236}">
                <a16:creationId xmlns:a16="http://schemas.microsoft.com/office/drawing/2014/main" id="{87254A10-BD0A-68A3-C8B5-D7D395F43E61}"/>
              </a:ext>
            </a:extLst>
          </p:cNvPr>
          <p:cNvSpPr txBox="1"/>
          <p:nvPr/>
        </p:nvSpPr>
        <p:spPr>
          <a:xfrm>
            <a:off x="489204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优先拿下</a:t>
            </a:r>
          </a:p>
        </p:txBody>
      </p:sp>
      <p:sp>
        <p:nvSpPr>
          <p:cNvPr id="17" name="QUAD_Q1_HINT">
            <a:extLst>
              <a:ext uri="{FF2B5EF4-FFF2-40B4-BE49-F238E27FC236}">
                <a16:creationId xmlns:a16="http://schemas.microsoft.com/office/drawing/2014/main" id="{2F6CCBB1-EF56-727E-ABC6-724FAB85C5F2}"/>
              </a:ext>
            </a:extLst>
          </p:cNvPr>
          <p:cNvSpPr txBox="1"/>
          <p:nvPr/>
        </p:nvSpPr>
        <p:spPr>
          <a:xfrm>
            <a:off x="489204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18" name="QUAD_Q1_FILL">
            <a:extLst>
              <a:ext uri="{FF2B5EF4-FFF2-40B4-BE49-F238E27FC236}">
                <a16:creationId xmlns:a16="http://schemas.microsoft.com/office/drawing/2014/main" id="{E9812A0C-1BE2-112C-48E1-AE2F521A21AA}"/>
              </a:ext>
            </a:extLst>
          </p:cNvPr>
          <p:cNvSpPr txBox="1"/>
          <p:nvPr/>
        </p:nvSpPr>
        <p:spPr>
          <a:xfrm>
            <a:off x="489204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QUAD_Q2">
            <a:extLst>
              <a:ext uri="{FF2B5EF4-FFF2-40B4-BE49-F238E27FC236}">
                <a16:creationId xmlns:a16="http://schemas.microsoft.com/office/drawing/2014/main" id="{CCC8B029-1EBB-B5AD-544C-30FEC4FE67E4}"/>
              </a:ext>
            </a:extLst>
          </p:cNvPr>
          <p:cNvSpPr/>
          <p:nvPr/>
        </p:nvSpPr>
        <p:spPr>
          <a:xfrm>
            <a:off x="8138160" y="1920240"/>
            <a:ext cx="3200400" cy="128016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QUAD_Q2_LABEL">
            <a:extLst>
              <a:ext uri="{FF2B5EF4-FFF2-40B4-BE49-F238E27FC236}">
                <a16:creationId xmlns:a16="http://schemas.microsoft.com/office/drawing/2014/main" id="{8BF87F57-4E11-B744-B51A-4D57B64179AC}"/>
              </a:ext>
            </a:extLst>
          </p:cNvPr>
          <p:cNvSpPr txBox="1"/>
          <p:nvPr/>
        </p:nvSpPr>
        <p:spPr>
          <a:xfrm>
            <a:off x="827532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重点攻坚</a:t>
            </a:r>
          </a:p>
        </p:txBody>
      </p:sp>
      <p:sp>
        <p:nvSpPr>
          <p:cNvPr id="21" name="QUAD_Q2_HINT">
            <a:extLst>
              <a:ext uri="{FF2B5EF4-FFF2-40B4-BE49-F238E27FC236}">
                <a16:creationId xmlns:a16="http://schemas.microsoft.com/office/drawing/2014/main" id="{33D26DE7-9EE8-E762-07CB-9D78F6FC23A6}"/>
              </a:ext>
            </a:extLst>
          </p:cNvPr>
          <p:cNvSpPr txBox="1"/>
          <p:nvPr/>
        </p:nvSpPr>
        <p:spPr>
          <a:xfrm>
            <a:off x="827532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22" name="QUAD_Q2_FILL">
            <a:extLst>
              <a:ext uri="{FF2B5EF4-FFF2-40B4-BE49-F238E27FC236}">
                <a16:creationId xmlns:a16="http://schemas.microsoft.com/office/drawing/2014/main" id="{B751B424-BCF7-F39A-29AB-EC7A6A4841A5}"/>
              </a:ext>
            </a:extLst>
          </p:cNvPr>
          <p:cNvSpPr txBox="1"/>
          <p:nvPr/>
        </p:nvSpPr>
        <p:spPr>
          <a:xfrm>
            <a:off x="827532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QUAD_Q3">
            <a:extLst>
              <a:ext uri="{FF2B5EF4-FFF2-40B4-BE49-F238E27FC236}">
                <a16:creationId xmlns:a16="http://schemas.microsoft.com/office/drawing/2014/main" id="{BCF02BF2-F431-89E8-E237-70550008A939}"/>
              </a:ext>
            </a:extLst>
          </p:cNvPr>
          <p:cNvSpPr/>
          <p:nvPr/>
        </p:nvSpPr>
        <p:spPr>
          <a:xfrm>
            <a:off x="4754880" y="32918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QUAD_Q3_LABEL">
            <a:extLst>
              <a:ext uri="{FF2B5EF4-FFF2-40B4-BE49-F238E27FC236}">
                <a16:creationId xmlns:a16="http://schemas.microsoft.com/office/drawing/2014/main" id="{AFB5AE1D-43AD-004C-8B6D-4A58C46683DC}"/>
              </a:ext>
            </a:extLst>
          </p:cNvPr>
          <p:cNvSpPr txBox="1"/>
          <p:nvPr/>
        </p:nvSpPr>
        <p:spPr>
          <a:xfrm>
            <a:off x="489204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观察验证</a:t>
            </a:r>
          </a:p>
        </p:txBody>
      </p:sp>
      <p:sp>
        <p:nvSpPr>
          <p:cNvPr id="25" name="QUAD_Q3_HINT">
            <a:extLst>
              <a:ext uri="{FF2B5EF4-FFF2-40B4-BE49-F238E27FC236}">
                <a16:creationId xmlns:a16="http://schemas.microsoft.com/office/drawing/2014/main" id="{1E8D4B5B-951F-429C-AE51-33F64ED0BAE0}"/>
              </a:ext>
            </a:extLst>
          </p:cNvPr>
          <p:cNvSpPr txBox="1"/>
          <p:nvPr/>
        </p:nvSpPr>
        <p:spPr>
          <a:xfrm>
            <a:off x="489204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26" name="QUAD_Q3_FILL">
            <a:extLst>
              <a:ext uri="{FF2B5EF4-FFF2-40B4-BE49-F238E27FC236}">
                <a16:creationId xmlns:a16="http://schemas.microsoft.com/office/drawing/2014/main" id="{25653AA1-AD51-E037-8607-C85034A24C94}"/>
              </a:ext>
            </a:extLst>
          </p:cNvPr>
          <p:cNvSpPr txBox="1"/>
          <p:nvPr/>
        </p:nvSpPr>
        <p:spPr>
          <a:xfrm>
            <a:off x="489204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QUAD_Q4">
            <a:extLst>
              <a:ext uri="{FF2B5EF4-FFF2-40B4-BE49-F238E27FC236}">
                <a16:creationId xmlns:a16="http://schemas.microsoft.com/office/drawing/2014/main" id="{CC6F5EC0-751C-88AF-8E6C-253BDCB98CBD}"/>
              </a:ext>
            </a:extLst>
          </p:cNvPr>
          <p:cNvSpPr/>
          <p:nvPr/>
        </p:nvSpPr>
        <p:spPr>
          <a:xfrm>
            <a:off x="8138160" y="3291840"/>
            <a:ext cx="3200400" cy="128016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QUAD_Q4_LABEL">
            <a:extLst>
              <a:ext uri="{FF2B5EF4-FFF2-40B4-BE49-F238E27FC236}">
                <a16:creationId xmlns:a16="http://schemas.microsoft.com/office/drawing/2014/main" id="{DC112707-C82B-252A-34B3-1F95C8CE9EED}"/>
              </a:ext>
            </a:extLst>
          </p:cNvPr>
          <p:cNvSpPr txBox="1"/>
          <p:nvPr/>
        </p:nvSpPr>
        <p:spPr>
          <a:xfrm>
            <a:off x="827532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暂缓投入</a:t>
            </a:r>
          </a:p>
        </p:txBody>
      </p:sp>
      <p:sp>
        <p:nvSpPr>
          <p:cNvPr id="29" name="QUAD_Q4_HINT">
            <a:extLst>
              <a:ext uri="{FF2B5EF4-FFF2-40B4-BE49-F238E27FC236}">
                <a16:creationId xmlns:a16="http://schemas.microsoft.com/office/drawing/2014/main" id="{289539D4-1019-4E57-45EF-C4195335465B}"/>
              </a:ext>
            </a:extLst>
          </p:cNvPr>
          <p:cNvSpPr txBox="1"/>
          <p:nvPr/>
        </p:nvSpPr>
        <p:spPr>
          <a:xfrm>
            <a:off x="827532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30" name="QUAD_Q4_FILL">
            <a:extLst>
              <a:ext uri="{FF2B5EF4-FFF2-40B4-BE49-F238E27FC236}">
                <a16:creationId xmlns:a16="http://schemas.microsoft.com/office/drawing/2014/main" id="{FF931194-BD25-44DA-92FE-E5ABCC67ED1F}"/>
              </a:ext>
            </a:extLst>
          </p:cNvPr>
          <p:cNvSpPr txBox="1"/>
          <p:nvPr/>
        </p:nvSpPr>
        <p:spPr>
          <a:xfrm>
            <a:off x="827532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BET_BAND">
            <a:extLst>
              <a:ext uri="{FF2B5EF4-FFF2-40B4-BE49-F238E27FC236}">
                <a16:creationId xmlns:a16="http://schemas.microsoft.com/office/drawing/2014/main" id="{D013884A-E625-04CF-3742-0E43FACB85BB}"/>
              </a:ext>
            </a:extLst>
          </p:cNvPr>
          <p:cNvSpPr/>
          <p:nvPr/>
        </p:nvSpPr>
        <p:spPr>
          <a:xfrm>
            <a:off x="548640" y="489204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BET_TITLE">
            <a:extLst>
              <a:ext uri="{FF2B5EF4-FFF2-40B4-BE49-F238E27FC236}">
                <a16:creationId xmlns:a16="http://schemas.microsoft.com/office/drawing/2014/main" id="{72019D6E-EA05-300E-E175-8C8E2DA90B81}"/>
              </a:ext>
            </a:extLst>
          </p:cNvPr>
          <p:cNvSpPr txBox="1"/>
          <p:nvPr/>
        </p:nvSpPr>
        <p:spPr>
          <a:xfrm>
            <a:off x="777240" y="5029200"/>
            <a:ext cx="18288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资源下注</a:t>
            </a:r>
          </a:p>
        </p:txBody>
      </p:sp>
      <p:sp>
        <p:nvSpPr>
          <p:cNvPr id="33" name="BET_1_LABEL">
            <a:extLst>
              <a:ext uri="{FF2B5EF4-FFF2-40B4-BE49-F238E27FC236}">
                <a16:creationId xmlns:a16="http://schemas.microsoft.com/office/drawing/2014/main" id="{786E9C03-D23A-EC23-1787-13C5BE70457D}"/>
              </a:ext>
            </a:extLst>
          </p:cNvPr>
          <p:cNvSpPr txBox="1"/>
          <p:nvPr/>
        </p:nvSpPr>
        <p:spPr>
          <a:xfrm>
            <a:off x="27432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首战</a:t>
            </a:r>
          </a:p>
        </p:txBody>
      </p:sp>
      <p:sp>
        <p:nvSpPr>
          <p:cNvPr id="34" name="BET_1_TARGET">
            <a:extLst>
              <a:ext uri="{FF2B5EF4-FFF2-40B4-BE49-F238E27FC236}">
                <a16:creationId xmlns:a16="http://schemas.microsoft.com/office/drawing/2014/main" id="{DDAD1189-109D-3637-A9B4-E26A3933BC62}"/>
              </a:ext>
            </a:extLst>
          </p:cNvPr>
          <p:cNvSpPr txBox="1"/>
          <p:nvPr/>
        </p:nvSpPr>
        <p:spPr>
          <a:xfrm>
            <a:off x="27432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5" name="BET_2_LABEL">
            <a:extLst>
              <a:ext uri="{FF2B5EF4-FFF2-40B4-BE49-F238E27FC236}">
                <a16:creationId xmlns:a16="http://schemas.microsoft.com/office/drawing/2014/main" id="{BFFD6B03-C8A5-93A0-5FB9-7FCD27928AA6}"/>
              </a:ext>
            </a:extLst>
          </p:cNvPr>
          <p:cNvSpPr txBox="1"/>
          <p:nvPr/>
        </p:nvSpPr>
        <p:spPr>
          <a:xfrm>
            <a:off x="54864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候补</a:t>
            </a:r>
          </a:p>
        </p:txBody>
      </p:sp>
      <p:sp>
        <p:nvSpPr>
          <p:cNvPr id="36" name="BET_2_TARGET">
            <a:extLst>
              <a:ext uri="{FF2B5EF4-FFF2-40B4-BE49-F238E27FC236}">
                <a16:creationId xmlns:a16="http://schemas.microsoft.com/office/drawing/2014/main" id="{20C6796D-60B7-787B-4CF3-64AD15D0A9A1}"/>
              </a:ext>
            </a:extLst>
          </p:cNvPr>
          <p:cNvSpPr txBox="1"/>
          <p:nvPr/>
        </p:nvSpPr>
        <p:spPr>
          <a:xfrm>
            <a:off x="54864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7" name="BET_3_LABEL">
            <a:extLst>
              <a:ext uri="{FF2B5EF4-FFF2-40B4-BE49-F238E27FC236}">
                <a16:creationId xmlns:a16="http://schemas.microsoft.com/office/drawing/2014/main" id="{B2810A25-749D-D4E8-04A4-9B4DADE29AB6}"/>
              </a:ext>
            </a:extLst>
          </p:cNvPr>
          <p:cNvSpPr txBox="1"/>
          <p:nvPr/>
        </p:nvSpPr>
        <p:spPr>
          <a:xfrm>
            <a:off x="82296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</a:t>
            </a:r>
          </a:p>
        </p:txBody>
      </p:sp>
      <p:sp>
        <p:nvSpPr>
          <p:cNvPr id="38" name="BET_3_TARGET">
            <a:extLst>
              <a:ext uri="{FF2B5EF4-FFF2-40B4-BE49-F238E27FC236}">
                <a16:creationId xmlns:a16="http://schemas.microsoft.com/office/drawing/2014/main" id="{BF29331E-D7FA-AD22-9850-32330DB686D1}"/>
              </a:ext>
            </a:extLst>
          </p:cNvPr>
          <p:cNvSpPr txBox="1"/>
          <p:nvPr/>
        </p:nvSpPr>
        <p:spPr>
          <a:xfrm>
            <a:off x="82296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8C34CACC-2A17-882E-E2E3-05E617781765}"/>
              </a:ext>
            </a:extLst>
          </p:cNvPr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先按经营价值排序，再加实施难度；用「高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证据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待验证字段」，不打精确分数。</a:t>
            </a:r>
          </a:p>
        </p:txBody>
      </p:sp>
    </p:spTree>
    <p:extLst>
      <p:ext uri="{BB962C8B-B14F-4D97-AF65-F5344CB8AC3E}">
        <p14:creationId xmlns:p14="http://schemas.microsoft.com/office/powerpoint/2010/main" val="1518005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3233FEB-5B3F-7EDC-FEF0-59E330411D99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产品增长卡在哪：铺得更广、卖得更动，还是核心品项产出？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914DCF3-D917-3A0C-FC85-06723E57DA52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铺货网点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动销回转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FEDEE5C4-7BC9-9CC7-B327-C8FEF12B8919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05AC0F55-E458-C52F-786F-087C6EB21846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50BBAC5-6861-6C70-5AC5-A748A54B9D42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铺得广吗？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E8A664A-A2AA-6F94-49EA-F8F0841A504B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个网点 ｜ 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E244A3C0-CEC7-45B1-4AFF-E3B4ED6360FF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D32A23FB-72AF-8AFB-83F9-AEA45C987028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E2036FE0-5401-8A45-26B7-BA892BBFBC7C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33F524A9-C071-4F99-0750-20F59B6F198E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铺了，回转了吗？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A823C6AE-CA59-5623-702A-0D0E62A79D9C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｜ 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E59B378A-A4F3-32EF-5D87-2C7860BB867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D1A5C50C-29E0-38EC-3F61-B9116115DBCA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6E579A35-6578-EA7C-31D4-2B8083AFCB39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D041BAD-D1D0-B507-A9FE-56EA7655F466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品项卖得动吗？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A2E973F4-4FD7-C5F0-6F4C-4E1FCC965ADD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单品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F42265E0-5BF6-A670-52D2-57B9D0E8E288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88FA4898-8BB5-1A3B-AD7F-BC7424E8992E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54550F49-ECFE-13D3-F09B-CBC5F1117AA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SKU_TITLE">
            <a:extLst>
              <a:ext uri="{FF2B5EF4-FFF2-40B4-BE49-F238E27FC236}">
                <a16:creationId xmlns:a16="http://schemas.microsoft.com/office/drawing/2014/main" id="{38F04CB4-60C4-B623-D175-F63997849F5B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核心品项策略</a:t>
            </a:r>
          </a:p>
        </p:txBody>
      </p:sp>
      <p:sp>
        <p:nvSpPr>
          <p:cNvPr id="22" name="SKU_BAND_1">
            <a:extLst>
              <a:ext uri="{FF2B5EF4-FFF2-40B4-BE49-F238E27FC236}">
                <a16:creationId xmlns:a16="http://schemas.microsoft.com/office/drawing/2014/main" id="{BABB55BF-8E45-4362-EC7F-04A0558CD713}"/>
              </a:ext>
            </a:extLst>
          </p:cNvPr>
          <p:cNvSpPr/>
          <p:nvPr/>
        </p:nvSpPr>
        <p:spPr>
          <a:xfrm>
            <a:off x="5486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SKU_1_LABEL">
            <a:extLst>
              <a:ext uri="{FF2B5EF4-FFF2-40B4-BE49-F238E27FC236}">
                <a16:creationId xmlns:a16="http://schemas.microsoft.com/office/drawing/2014/main" id="{9C2271AB-D720-355C-DBF5-BC865266B3F3}"/>
              </a:ext>
            </a:extLst>
          </p:cNvPr>
          <p:cNvSpPr txBox="1"/>
          <p:nvPr/>
        </p:nvSpPr>
        <p:spPr>
          <a:xfrm>
            <a:off x="6858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守</a:t>
            </a:r>
          </a:p>
        </p:txBody>
      </p:sp>
      <p:sp>
        <p:nvSpPr>
          <p:cNvPr id="24" name="SKU_1_TEXT">
            <a:extLst>
              <a:ext uri="{FF2B5EF4-FFF2-40B4-BE49-F238E27FC236}">
                <a16:creationId xmlns:a16="http://schemas.microsoft.com/office/drawing/2014/main" id="{E1D7ADB7-68AA-0B96-D23D-60E6A01B703A}"/>
              </a:ext>
            </a:extLst>
          </p:cNvPr>
          <p:cNvSpPr txBox="1"/>
          <p:nvPr/>
        </p:nvSpPr>
        <p:spPr>
          <a:xfrm>
            <a:off x="6858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爆品做深：保覆盖、追复购</a:t>
            </a:r>
          </a:p>
        </p:txBody>
      </p:sp>
      <p:sp>
        <p:nvSpPr>
          <p:cNvPr id="25" name="SKU_BAND_2">
            <a:extLst>
              <a:ext uri="{FF2B5EF4-FFF2-40B4-BE49-F238E27FC236}">
                <a16:creationId xmlns:a16="http://schemas.microsoft.com/office/drawing/2014/main" id="{90DC4061-6732-C0D0-BD74-173CDAFBAA1B}"/>
              </a:ext>
            </a:extLst>
          </p:cNvPr>
          <p:cNvSpPr/>
          <p:nvPr/>
        </p:nvSpPr>
        <p:spPr>
          <a:xfrm>
            <a:off x="3291840" y="5394960"/>
            <a:ext cx="2468880" cy="91440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SKU_2_LABEL">
            <a:extLst>
              <a:ext uri="{FF2B5EF4-FFF2-40B4-BE49-F238E27FC236}">
                <a16:creationId xmlns:a16="http://schemas.microsoft.com/office/drawing/2014/main" id="{D5919042-9605-5FA2-ED02-3D33838816DB}"/>
              </a:ext>
            </a:extLst>
          </p:cNvPr>
          <p:cNvSpPr txBox="1"/>
          <p:nvPr/>
        </p:nvSpPr>
        <p:spPr>
          <a:xfrm>
            <a:off x="34290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</a:t>
            </a:r>
          </a:p>
        </p:txBody>
      </p:sp>
      <p:sp>
        <p:nvSpPr>
          <p:cNvPr id="27" name="SKU_2_TEXT">
            <a:extLst>
              <a:ext uri="{FF2B5EF4-FFF2-40B4-BE49-F238E27FC236}">
                <a16:creationId xmlns:a16="http://schemas.microsoft.com/office/drawing/2014/main" id="{0142CF99-C39B-1B1A-E4B7-16218236D99F}"/>
              </a:ext>
            </a:extLst>
          </p:cNvPr>
          <p:cNvSpPr txBox="1"/>
          <p:nvPr/>
        </p:nvSpPr>
        <p:spPr>
          <a:xfrm>
            <a:off x="34290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潜力品项铺开到匹配网点</a:t>
            </a:r>
          </a:p>
        </p:txBody>
      </p:sp>
      <p:sp>
        <p:nvSpPr>
          <p:cNvPr id="28" name="SKU_BAND_3">
            <a:extLst>
              <a:ext uri="{FF2B5EF4-FFF2-40B4-BE49-F238E27FC236}">
                <a16:creationId xmlns:a16="http://schemas.microsoft.com/office/drawing/2014/main" id="{9280703C-1259-BFB8-E7A1-C2213B16BBD9}"/>
              </a:ext>
            </a:extLst>
          </p:cNvPr>
          <p:cNvSpPr/>
          <p:nvPr/>
        </p:nvSpPr>
        <p:spPr>
          <a:xfrm>
            <a:off x="60350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SKU_3_LABEL">
            <a:extLst>
              <a:ext uri="{FF2B5EF4-FFF2-40B4-BE49-F238E27FC236}">
                <a16:creationId xmlns:a16="http://schemas.microsoft.com/office/drawing/2014/main" id="{DC01EA15-4709-96D5-2B1E-81D7AA6BFD94}"/>
              </a:ext>
            </a:extLst>
          </p:cNvPr>
          <p:cNvSpPr txBox="1"/>
          <p:nvPr/>
        </p:nvSpPr>
        <p:spPr>
          <a:xfrm>
            <a:off x="61722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育</a:t>
            </a:r>
          </a:p>
        </p:txBody>
      </p:sp>
      <p:sp>
        <p:nvSpPr>
          <p:cNvPr id="30" name="SKU_3_TEXT">
            <a:extLst>
              <a:ext uri="{FF2B5EF4-FFF2-40B4-BE49-F238E27FC236}">
                <a16:creationId xmlns:a16="http://schemas.microsoft.com/office/drawing/2014/main" id="{A61A1836-475F-5557-EB7C-3D75470FA52D}"/>
              </a:ext>
            </a:extLst>
          </p:cNvPr>
          <p:cNvSpPr txBox="1"/>
          <p:nvPr/>
        </p:nvSpPr>
        <p:spPr>
          <a:xfrm>
            <a:off x="61722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孵化新品项：小批量验证</a:t>
            </a:r>
          </a:p>
        </p:txBody>
      </p:sp>
      <p:sp>
        <p:nvSpPr>
          <p:cNvPr id="31" name="SKU_BAND_4">
            <a:extLst>
              <a:ext uri="{FF2B5EF4-FFF2-40B4-BE49-F238E27FC236}">
                <a16:creationId xmlns:a16="http://schemas.microsoft.com/office/drawing/2014/main" id="{6A83717F-4A4D-BAC9-62B5-C545C7E8EB5A}"/>
              </a:ext>
            </a:extLst>
          </p:cNvPr>
          <p:cNvSpPr/>
          <p:nvPr/>
        </p:nvSpPr>
        <p:spPr>
          <a:xfrm>
            <a:off x="8778240" y="5394960"/>
            <a:ext cx="2468880" cy="91440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SKU_4_LABEL">
            <a:extLst>
              <a:ext uri="{FF2B5EF4-FFF2-40B4-BE49-F238E27FC236}">
                <a16:creationId xmlns:a16="http://schemas.microsoft.com/office/drawing/2014/main" id="{5A7F105B-61E0-65DF-0BE8-49C8A65A57B3}"/>
              </a:ext>
            </a:extLst>
          </p:cNvPr>
          <p:cNvSpPr txBox="1"/>
          <p:nvPr/>
        </p:nvSpPr>
        <p:spPr>
          <a:xfrm>
            <a:off x="89154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淘汰</a:t>
            </a:r>
          </a:p>
        </p:txBody>
      </p:sp>
      <p:sp>
        <p:nvSpPr>
          <p:cNvPr id="33" name="SKU_4_TEXT">
            <a:extLst>
              <a:ext uri="{FF2B5EF4-FFF2-40B4-BE49-F238E27FC236}">
                <a16:creationId xmlns:a16="http://schemas.microsoft.com/office/drawing/2014/main" id="{2770535A-2758-2C64-F43D-8DD51D09CBBF}"/>
              </a:ext>
            </a:extLst>
          </p:cNvPr>
          <p:cNvSpPr txBox="1"/>
          <p:nvPr/>
        </p:nvSpPr>
        <p:spPr>
          <a:xfrm>
            <a:off x="89154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低效品项退出或换品</a:t>
            </a:r>
          </a:p>
        </p:txBody>
      </p:sp>
      <p:sp>
        <p:nvSpPr>
          <p:cNvPr id="34" name="TEACHING_CUE">
            <a:extLst>
              <a:ext uri="{FF2B5EF4-FFF2-40B4-BE49-F238E27FC236}">
                <a16:creationId xmlns:a16="http://schemas.microsoft.com/office/drawing/2014/main" id="{44FE768B-F44F-362A-09BB-79B9C6E7897C}"/>
              </a:ext>
            </a:extLst>
          </p:cNvPr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一次销量≠爆品：检查覆盖、回转与复购；缺数据用低置信度代理并标注缺失。</a:t>
            </a:r>
          </a:p>
        </p:txBody>
      </p:sp>
    </p:spTree>
    <p:extLst>
      <p:ext uri="{BB962C8B-B14F-4D97-AF65-F5344CB8AC3E}">
        <p14:creationId xmlns:p14="http://schemas.microsoft.com/office/powerpoint/2010/main" val="333281837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1695</Words>
  <Application>Microsoft Office PowerPoint</Application>
  <DocSecurity>0</DocSecurity>
  <PresentationFormat>宽屏</PresentationFormat>
  <Paragraphs>270</Paragraphs>
  <Slides>11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7</cp:revision>
  <dcterms:created xsi:type="dcterms:W3CDTF">2026-08-13T12:27:10Z</dcterms:created>
  <dcterms:modified xsi:type="dcterms:W3CDTF">2026-08-18T08:52:49Z</dcterms:modified>
</cp:coreProperties>
</file>