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DC-01 County Trend Three Judgments</a:t>
            </a:r>
          </a:p>
          <a:p>
            <a:r>
              <a:t>[Instructor] 先让学员判断县域机会是减少还是迁移，再逐条揭示。</a:t>
            </a:r>
          </a:p>
          <a:p>
            <a:r>
              <a:t>[Learner] 每人说出一个本地需求场景变化。</a:t>
            </a:r>
          </a:p>
          <a:p>
            <a:r>
              <a:t>[Replace] TITLE, SUBTITLE, J01/J02/J03_LABEL, J01/J02/J03_FROM, J01/J02/J03_TO, TEACHING_CUE.</a:t>
            </a:r>
          </a:p>
          <a:p>
            <a:r>
              <a:t>[Keep] 三条纵向变化链、编号、箭头方向和三种语义色。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DC-02 County Business Territory Map</a:t>
            </a:r>
          </a:p>
          <a:p>
            <a:r>
              <a:t>[Instructor] 示范如何用经营动作而不是销售高低给区域分类。</a:t>
            </a:r>
          </a:p>
          <a:p>
            <a:r>
              <a:t>[Learner] 标出守盘区、做深区、开拓区，并说明证据。</a:t>
            </a:r>
          </a:p>
          <a:p>
            <a:r>
              <a:t>[Replace] COUNTY_NAME, COUNTY_EVIDENCE, TOWN_01..04_LABEL, TOWN_01..04_ACTION, TEACHING_CUE.</a:t>
            </a:r>
          </a:p>
          <a:p>
            <a:r>
              <a:t>[Keep] 县城中心、乡镇空间关系、守盘/做深/开拓语义色。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DC-03 Four-Force Diagnosis</a:t>
            </a:r>
          </a:p>
          <a:p>
            <a:r>
              <a:t>[Instructor] 不先打分。先让学员选症状，再追问哪一力最能解释症状。</a:t>
            </a:r>
          </a:p>
          <a:p>
            <a:r>
              <a:t>[Learner] 选1个主短板、最多1个辅助短板，并写证据。</a:t>
            </a:r>
          </a:p>
          <a:p>
            <a:r>
              <a:t>[Replace] CORE_PROBLEM, BRAND/CHANNEL/SCENE/PRODUCT_QUESTION and _EVIDENCE, TEACHING_CUE.</a:t>
            </a:r>
          </a:p>
          <a:p>
            <a:r>
              <a:t>[Keep] 中心问题与四力环绕关系；禁止四项都标红。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DC-04 Four-Stage Growth Diagnosis</a:t>
            </a:r>
          </a:p>
          <a:p>
            <a:r>
              <a:t>[Instructor] 先展示情境，隐藏标准答案；学员选阶段后再逐级解释。</a:t>
            </a:r>
          </a:p>
          <a:p>
            <a:r>
              <a:t>[Learner] 选择阶段并说出一个已经形成的结果。</a:t>
            </a:r>
          </a:p>
          <a:p>
            <a:r>
              <a:t>[Replace] S1..S4_RESULT, S1..S4_TASK, STAGE_RULE, TEACHING_CUE.</a:t>
            </a:r>
          </a:p>
          <a:p>
            <a:r>
              <a:t>[Keep] 四级阶梯、由浅到深的视觉进阶、阶段名称。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DC-17 Symptom Clustering And Core-Problem Convergence</a:t>
            </a:r>
          </a:p>
          <a:p>
            <a:r>
              <a:t>[Instructor] 先只展示左侧症状墙；让小组归类后，再揭示右侧四类病症。</a:t>
            </a:r>
          </a:p>
          <a:p>
            <a:r>
              <a:t>[Learner] 对症状归类并投票选1个主病症。</a:t>
            </a:r>
          </a:p>
          <a:p>
            <a:r>
              <a:t>[Replace] SYMPTOM_01..08_TEXT, C1..C4_LABEL, C1..C4_DESC, TEACHING_CUE.</a:t>
            </a:r>
          </a:p>
          <a:p>
            <a:r>
              <a:t>[Keep] 左侧零散事实到右侧病症聚类的收敛关系。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DC-20 Integrated Diagnosis Chain</a:t>
            </a:r>
          </a:p>
          <a:p>
            <a:r>
              <a:t>[Instructor] 逐步推进，禁止学员在没有阶段和病症证据时直接给动作。</a:t>
            </a:r>
          </a:p>
          <a:p>
            <a:r>
              <a:t>[Learner] 完成五步诊断，并用一句话陈述结论。</a:t>
            </a:r>
          </a:p>
          <a:p>
            <a:r>
              <a:t>[Replace] CASE_PROMPT, STEP_1..5_OUTPUT, STEP_1..5_QUESTION, TEACHING_CUE.</a:t>
            </a:r>
          </a:p>
          <a:p>
            <a:r>
              <a:t>[Keep] 五步顺序和左侧诊断脊柱；动作最多3项。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图片 1" descr="企业微信截图_ec44598d-13a2-44fb-8073-73b70684fbb2">
            <a:extLst>
              <a:ext uri="{FF2B5EF4-FFF2-40B4-BE49-F238E27FC236}">
                <a16:creationId xmlns:a16="http://schemas.microsoft.com/office/drawing/2014/main" id="{81DEF11C-785E-5D97-C56E-155049365F6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762593" y="268476"/>
            <a:ext cx="1153226" cy="815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7468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6DC3A899-1565-4279-820E-D4E49A899B46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5050"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DC-01 · COUNTY TREND THREE JUDGMENTS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153A2CA7-78E2-4A6B-9F02-B23A373EC7D1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县域机会没有消失，但机会来源、位置和购买逻辑都变了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C2B61CBA-2991-4CDF-9869-2C37721DC683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把宏观趋势翻译成经销商可以观察、判断和行动的三条经营变化链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BD6DC31A-A82B-456C-A49B-28352602CE26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J01_NUMBER">
            <a:extLst>
              <a:ext uri="{FF2B5EF4-FFF2-40B4-BE49-F238E27FC236}">
                <a16:creationId xmlns:a16="http://schemas.microsoft.com/office/drawing/2014/main" id="{8DB34C77-9B33-4C47-9736-C32A58C54853}"/>
              </a:ext>
            </a:extLst>
          </p:cNvPr>
          <p:cNvSpPr>
            <a:spLocks noGrp="1"/>
          </p:cNvSpPr>
          <p:nvPr/>
        </p:nvSpPr>
        <p:spPr>
          <a:xfrm>
            <a:off x="533400" y="20955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31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J01_LABEL">
            <a:extLst>
              <a:ext uri="{FF2B5EF4-FFF2-40B4-BE49-F238E27FC236}">
                <a16:creationId xmlns:a16="http://schemas.microsoft.com/office/drawing/2014/main" id="{46CEF953-3BAF-4216-B218-F4129034465D}"/>
              </a:ext>
            </a:extLst>
          </p:cNvPr>
          <p:cNvSpPr>
            <a:spLocks noGrp="1"/>
          </p:cNvSpPr>
          <p:nvPr/>
        </p:nvSpPr>
        <p:spPr>
          <a:xfrm>
            <a:off x="1352550" y="211455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机会来源变了</a:t>
            </a:r>
          </a:p>
        </p:txBody>
      </p:sp>
      <p:sp>
        <p:nvSpPr>
          <p:cNvPr id="9" name="J01_FROM">
            <a:extLst>
              <a:ext uri="{FF2B5EF4-FFF2-40B4-BE49-F238E27FC236}">
                <a16:creationId xmlns:a16="http://schemas.microsoft.com/office/drawing/2014/main" id="{184225CF-794D-48C8-ACE6-A5C747902C08}"/>
              </a:ext>
            </a:extLst>
          </p:cNvPr>
          <p:cNvSpPr>
            <a:spLocks noGrp="1"/>
          </p:cNvSpPr>
          <p:nvPr/>
        </p:nvSpPr>
        <p:spPr>
          <a:xfrm>
            <a:off x="3810000" y="20383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只等新房新建</a:t>
            </a:r>
          </a:p>
        </p:txBody>
      </p:sp>
      <p:sp>
        <p:nvSpPr>
          <p:cNvPr id="10" name="J01_ARROW">
            <a:extLst>
              <a:ext uri="{FF2B5EF4-FFF2-40B4-BE49-F238E27FC236}">
                <a16:creationId xmlns:a16="http://schemas.microsoft.com/office/drawing/2014/main" id="{D6509F61-2914-45BA-BCB1-40444D7631A9}"/>
              </a:ext>
            </a:extLst>
          </p:cNvPr>
          <p:cNvSpPr>
            <a:spLocks noGrp="1"/>
          </p:cNvSpPr>
          <p:nvPr/>
        </p:nvSpPr>
        <p:spPr>
          <a:xfrm>
            <a:off x="6724650" y="2133600"/>
            <a:ext cx="1066800" cy="361950"/>
          </a:xfrm>
          <a:prstGeom prst="rightArrow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11" name="J01_TO_SURFACE">
            <a:extLst>
              <a:ext uri="{FF2B5EF4-FFF2-40B4-BE49-F238E27FC236}">
                <a16:creationId xmlns:a16="http://schemas.microsoft.com/office/drawing/2014/main" id="{CBB658FB-269F-46D0-80D2-DB4C8BC974DD}"/>
              </a:ext>
            </a:extLst>
          </p:cNvPr>
          <p:cNvSpPr>
            <a:spLocks noGrp="1"/>
          </p:cNvSpPr>
          <p:nvPr/>
        </p:nvSpPr>
        <p:spPr>
          <a:xfrm>
            <a:off x="8020050" y="2019300"/>
            <a:ext cx="3333750" cy="590550"/>
          </a:xfrm>
          <a:prstGeom prst="roundRect">
            <a:avLst>
              <a:gd name="adj" fmla="val 12903"/>
            </a:avLst>
          </a:prstGeom>
          <a:solidFill>
            <a:srgbClr val="FFF0F2"/>
          </a:solidFill>
          <a:ln w="14288">
            <a:solidFill>
              <a:srgbClr val="D6001C"/>
            </a:solidFill>
            <a:prstDash val="solid"/>
          </a:ln>
        </p:spPr>
      </p:sp>
      <p:sp>
        <p:nvSpPr>
          <p:cNvPr id="12" name="J01_TO">
            <a:extLst>
              <a:ext uri="{FF2B5EF4-FFF2-40B4-BE49-F238E27FC236}">
                <a16:creationId xmlns:a16="http://schemas.microsoft.com/office/drawing/2014/main" id="{F3D14615-927C-45BC-B09F-CC27811BFD1F}"/>
              </a:ext>
            </a:extLst>
          </p:cNvPr>
          <p:cNvSpPr>
            <a:spLocks noGrp="1"/>
          </p:cNvSpPr>
          <p:nvPr/>
        </p:nvSpPr>
        <p:spPr>
          <a:xfrm>
            <a:off x="8172450" y="2124075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新建 + 翻修 + 维修 + 更新</a:t>
            </a:r>
          </a:p>
        </p:txBody>
      </p:sp>
      <p:sp>
        <p:nvSpPr>
          <p:cNvPr id="13" name="J02_NUMBER">
            <a:extLst>
              <a:ext uri="{FF2B5EF4-FFF2-40B4-BE49-F238E27FC236}">
                <a16:creationId xmlns:a16="http://schemas.microsoft.com/office/drawing/2014/main" id="{348DA8DF-6A44-478D-A237-895FED395D86}"/>
              </a:ext>
            </a:extLst>
          </p:cNvPr>
          <p:cNvSpPr>
            <a:spLocks noGrp="1"/>
          </p:cNvSpPr>
          <p:nvPr/>
        </p:nvSpPr>
        <p:spPr>
          <a:xfrm>
            <a:off x="533400" y="33909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31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J02_LABEL">
            <a:extLst>
              <a:ext uri="{FF2B5EF4-FFF2-40B4-BE49-F238E27FC236}">
                <a16:creationId xmlns:a16="http://schemas.microsoft.com/office/drawing/2014/main" id="{B0B969D8-36D6-4B22-952F-5034E8666BAD}"/>
              </a:ext>
            </a:extLst>
          </p:cNvPr>
          <p:cNvSpPr>
            <a:spLocks noGrp="1"/>
          </p:cNvSpPr>
          <p:nvPr/>
        </p:nvSpPr>
        <p:spPr>
          <a:xfrm>
            <a:off x="1352550" y="340995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机会位置变了</a:t>
            </a:r>
          </a:p>
        </p:txBody>
      </p:sp>
      <p:sp>
        <p:nvSpPr>
          <p:cNvPr id="15" name="J02_FROM">
            <a:extLst>
              <a:ext uri="{FF2B5EF4-FFF2-40B4-BE49-F238E27FC236}">
                <a16:creationId xmlns:a16="http://schemas.microsoft.com/office/drawing/2014/main" id="{D06E2F57-162B-4FDF-B228-74D11F8257F4}"/>
              </a:ext>
            </a:extLst>
          </p:cNvPr>
          <p:cNvSpPr>
            <a:spLocks noGrp="1"/>
          </p:cNvSpPr>
          <p:nvPr/>
        </p:nvSpPr>
        <p:spPr>
          <a:xfrm>
            <a:off x="3810000" y="33337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只盯县城门店</a:t>
            </a:r>
          </a:p>
        </p:txBody>
      </p:sp>
      <p:sp>
        <p:nvSpPr>
          <p:cNvPr id="16" name="J02_ARROW">
            <a:extLst>
              <a:ext uri="{FF2B5EF4-FFF2-40B4-BE49-F238E27FC236}">
                <a16:creationId xmlns:a16="http://schemas.microsoft.com/office/drawing/2014/main" id="{E31BA782-9A19-418B-B8B7-3C853731F226}"/>
              </a:ext>
            </a:extLst>
          </p:cNvPr>
          <p:cNvSpPr>
            <a:spLocks noGrp="1"/>
          </p:cNvSpPr>
          <p:nvPr/>
        </p:nvSpPr>
        <p:spPr>
          <a:xfrm>
            <a:off x="6724650" y="3429000"/>
            <a:ext cx="1066800" cy="361950"/>
          </a:xfrm>
          <a:prstGeom prst="rightArrow">
            <a:avLst/>
          </a:prstGeom>
          <a:solidFill>
            <a:srgbClr val="246AA8"/>
          </a:solidFill>
          <a:ln w="0">
            <a:noFill/>
            <a:prstDash val="solid"/>
          </a:ln>
        </p:spPr>
      </p:sp>
      <p:sp>
        <p:nvSpPr>
          <p:cNvPr id="17" name="J02_TO_SURFACE">
            <a:extLst>
              <a:ext uri="{FF2B5EF4-FFF2-40B4-BE49-F238E27FC236}">
                <a16:creationId xmlns:a16="http://schemas.microsoft.com/office/drawing/2014/main" id="{1E1EBA9A-2EDB-4355-9ECE-E249B6BF7D43}"/>
              </a:ext>
            </a:extLst>
          </p:cNvPr>
          <p:cNvSpPr>
            <a:spLocks noGrp="1"/>
          </p:cNvSpPr>
          <p:nvPr/>
        </p:nvSpPr>
        <p:spPr>
          <a:xfrm>
            <a:off x="8020050" y="3314700"/>
            <a:ext cx="3333750" cy="590550"/>
          </a:xfrm>
          <a:prstGeom prst="roundRect">
            <a:avLst>
              <a:gd name="adj" fmla="val 12903"/>
            </a:avLst>
          </a:prstGeom>
          <a:solidFill>
            <a:srgbClr val="EAF2FA"/>
          </a:solidFill>
          <a:ln w="14288">
            <a:solidFill>
              <a:srgbClr val="246AA8"/>
            </a:solidFill>
            <a:prstDash val="solid"/>
          </a:ln>
        </p:spPr>
      </p:sp>
      <p:sp>
        <p:nvSpPr>
          <p:cNvPr id="18" name="J02_TO">
            <a:extLst>
              <a:ext uri="{FF2B5EF4-FFF2-40B4-BE49-F238E27FC236}">
                <a16:creationId xmlns:a16="http://schemas.microsoft.com/office/drawing/2014/main" id="{E8E3C8E5-B537-4173-9ECD-4E709F1B2167}"/>
              </a:ext>
            </a:extLst>
          </p:cNvPr>
          <p:cNvSpPr>
            <a:spLocks noGrp="1"/>
          </p:cNvSpPr>
          <p:nvPr/>
        </p:nvSpPr>
        <p:spPr>
          <a:xfrm>
            <a:off x="8172450" y="3419475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县城经营中心 + 重点乡镇需求触点</a:t>
            </a:r>
          </a:p>
        </p:txBody>
      </p:sp>
      <p:sp>
        <p:nvSpPr>
          <p:cNvPr id="19" name="J03_NUMBER">
            <a:extLst>
              <a:ext uri="{FF2B5EF4-FFF2-40B4-BE49-F238E27FC236}">
                <a16:creationId xmlns:a16="http://schemas.microsoft.com/office/drawing/2014/main" id="{3FAF351A-76BC-49AD-A1B2-8CE7C5073567}"/>
              </a:ext>
            </a:extLst>
          </p:cNvPr>
          <p:cNvSpPr>
            <a:spLocks noGrp="1"/>
          </p:cNvSpPr>
          <p:nvPr/>
        </p:nvSpPr>
        <p:spPr>
          <a:xfrm>
            <a:off x="533400" y="46863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31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0" name="J03_LABEL">
            <a:extLst>
              <a:ext uri="{FF2B5EF4-FFF2-40B4-BE49-F238E27FC236}">
                <a16:creationId xmlns:a16="http://schemas.microsoft.com/office/drawing/2014/main" id="{C0FDA0D9-0C3A-40BF-8055-76E0C7011050}"/>
              </a:ext>
            </a:extLst>
          </p:cNvPr>
          <p:cNvSpPr>
            <a:spLocks noGrp="1"/>
          </p:cNvSpPr>
          <p:nvPr/>
        </p:nvSpPr>
        <p:spPr>
          <a:xfrm>
            <a:off x="1352550" y="470535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购买逻辑变了</a:t>
            </a:r>
          </a:p>
        </p:txBody>
      </p:sp>
      <p:sp>
        <p:nvSpPr>
          <p:cNvPr id="21" name="J03_FROM">
            <a:extLst>
              <a:ext uri="{FF2B5EF4-FFF2-40B4-BE49-F238E27FC236}">
                <a16:creationId xmlns:a16="http://schemas.microsoft.com/office/drawing/2014/main" id="{A15819D4-F01B-4DF7-A69F-3D4A9ADDA2B8}"/>
              </a:ext>
            </a:extLst>
          </p:cNvPr>
          <p:cNvSpPr>
            <a:spLocks noGrp="1"/>
          </p:cNvSpPr>
          <p:nvPr/>
        </p:nvSpPr>
        <p:spPr>
          <a:xfrm>
            <a:off x="3810000" y="46291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产品与价格</a:t>
            </a:r>
          </a:p>
        </p:txBody>
      </p:sp>
      <p:sp>
        <p:nvSpPr>
          <p:cNvPr id="22" name="J03_ARROW">
            <a:extLst>
              <a:ext uri="{FF2B5EF4-FFF2-40B4-BE49-F238E27FC236}">
                <a16:creationId xmlns:a16="http://schemas.microsoft.com/office/drawing/2014/main" id="{A5FDEBE8-FB0A-4371-A995-65961A8FE8DA}"/>
              </a:ext>
            </a:extLst>
          </p:cNvPr>
          <p:cNvSpPr>
            <a:spLocks noGrp="1"/>
          </p:cNvSpPr>
          <p:nvPr/>
        </p:nvSpPr>
        <p:spPr>
          <a:xfrm>
            <a:off x="6724650" y="4724400"/>
            <a:ext cx="1066800" cy="361950"/>
          </a:xfrm>
          <a:prstGeom prst="rightArrow">
            <a:avLst/>
          </a:prstGeom>
          <a:solidFill>
            <a:srgbClr val="26866A"/>
          </a:solidFill>
          <a:ln w="0">
            <a:noFill/>
            <a:prstDash val="solid"/>
          </a:ln>
        </p:spPr>
      </p:sp>
      <p:sp>
        <p:nvSpPr>
          <p:cNvPr id="23" name="J03_TO_SURFACE">
            <a:extLst>
              <a:ext uri="{FF2B5EF4-FFF2-40B4-BE49-F238E27FC236}">
                <a16:creationId xmlns:a16="http://schemas.microsoft.com/office/drawing/2014/main" id="{A60BA2DD-F7E3-4999-B8F2-DA8EC4632080}"/>
              </a:ext>
            </a:extLst>
          </p:cNvPr>
          <p:cNvSpPr>
            <a:spLocks noGrp="1"/>
          </p:cNvSpPr>
          <p:nvPr/>
        </p:nvSpPr>
        <p:spPr>
          <a:xfrm>
            <a:off x="8020050" y="4610100"/>
            <a:ext cx="3333750" cy="590550"/>
          </a:xfrm>
          <a:prstGeom prst="roundRect">
            <a:avLst>
              <a:gd name="adj" fmla="val 12903"/>
            </a:avLst>
          </a:prstGeom>
          <a:solidFill>
            <a:srgbClr val="EAF5F1"/>
          </a:solidFill>
          <a:ln w="14288">
            <a:solidFill>
              <a:srgbClr val="26866A"/>
            </a:solidFill>
            <a:prstDash val="solid"/>
          </a:ln>
        </p:spPr>
      </p:sp>
      <p:sp>
        <p:nvSpPr>
          <p:cNvPr id="24" name="J03_TO">
            <a:extLst>
              <a:ext uri="{FF2B5EF4-FFF2-40B4-BE49-F238E27FC236}">
                <a16:creationId xmlns:a16="http://schemas.microsoft.com/office/drawing/2014/main" id="{ADBD459D-66CB-4E01-AE5D-A1A803814D88}"/>
              </a:ext>
            </a:extLst>
          </p:cNvPr>
          <p:cNvSpPr>
            <a:spLocks noGrp="1"/>
          </p:cNvSpPr>
          <p:nvPr/>
        </p:nvSpPr>
        <p:spPr>
          <a:xfrm>
            <a:off x="8172450" y="4714875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7829"/>
          </a:bodyPr>
          <a:lstStyle/>
          <a:p>
            <a:pPr algn="ctr">
              <a:defRPr sz="14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品牌 + 熟人推荐 + 施工与售后确定性</a:t>
            </a:r>
          </a:p>
        </p:txBody>
      </p:sp>
      <p:sp>
        <p:nvSpPr>
          <p:cNvPr id="25" name="TEACHING_CUE">
            <a:extLst>
              <a:ext uri="{FF2B5EF4-FFF2-40B4-BE49-F238E27FC236}">
                <a16:creationId xmlns:a16="http://schemas.microsoft.com/office/drawing/2014/main" id="{E1EFE987-8404-48B5-9F5C-5766F6BAE40D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讲师动作：先问“机会哪里变了”，收集答案后逐条揭示三条判断。</a:t>
            </a:r>
          </a:p>
        </p:txBody>
      </p:sp>
      <p:sp>
        <p:nvSpPr>
          <p:cNvPr id="26" name="PAGE_NUMBER">
            <a:extLst>
              <a:ext uri="{FF2B5EF4-FFF2-40B4-BE49-F238E27FC236}">
                <a16:creationId xmlns:a16="http://schemas.microsoft.com/office/drawing/2014/main" id="{EE5A4A45-F944-4D1C-B0A6-6E5A090FBF12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22948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1834B4A0-FC1E-4FCE-BFEC-11411A08C426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5942"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DC-02 · COUNTY BUSINESS TERRITORY MAP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284BEAC0-C28F-442E-95F8-E7B78369A70F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增长空间不是一张名单，而是一张有经营动作的县域版图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9B1E2B74-D6E7-4EFD-918F-9AFFF4DF75B1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按守盘、做深、开拓三类动作标注县城和乡镇，避免只用销售高低给区域上色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CB02E9BE-766C-48BD-886F-35E21F2F5422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COUNTY_CENTER">
            <a:extLst>
              <a:ext uri="{FF2B5EF4-FFF2-40B4-BE49-F238E27FC236}">
                <a16:creationId xmlns:a16="http://schemas.microsoft.com/office/drawing/2014/main" id="{F20FC3FA-8B08-47BF-91E8-EA13B578D926}"/>
              </a:ext>
            </a:extLst>
          </p:cNvPr>
          <p:cNvSpPr>
            <a:spLocks noGrp="1"/>
          </p:cNvSpPr>
          <p:nvPr/>
        </p:nvSpPr>
        <p:spPr>
          <a:xfrm>
            <a:off x="4762500" y="2781300"/>
            <a:ext cx="2190750" cy="2190750"/>
          </a:xfrm>
          <a:prstGeom prst="ellipse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8" name="COUNTY_NAME">
            <a:extLst>
              <a:ext uri="{FF2B5EF4-FFF2-40B4-BE49-F238E27FC236}">
                <a16:creationId xmlns:a16="http://schemas.microsoft.com/office/drawing/2014/main" id="{00226CA5-6E44-4DD0-889E-45A1F5E497BE}"/>
              </a:ext>
            </a:extLst>
          </p:cNvPr>
          <p:cNvSpPr>
            <a:spLocks noGrp="1"/>
          </p:cNvSpPr>
          <p:nvPr/>
        </p:nvSpPr>
        <p:spPr>
          <a:xfrm>
            <a:off x="5048250" y="3371850"/>
            <a:ext cx="1619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县城大本营</a:t>
            </a:r>
          </a:p>
        </p:txBody>
      </p:sp>
      <p:sp>
        <p:nvSpPr>
          <p:cNvPr id="9" name="COUNTY_EVIDENCE">
            <a:extLst>
              <a:ext uri="{FF2B5EF4-FFF2-40B4-BE49-F238E27FC236}">
                <a16:creationId xmlns:a16="http://schemas.microsoft.com/office/drawing/2014/main" id="{ABD351DC-6101-47ED-802F-546E5B447BF7}"/>
              </a:ext>
            </a:extLst>
          </p:cNvPr>
          <p:cNvSpPr>
            <a:spLocks noGrp="1"/>
          </p:cNvSpPr>
          <p:nvPr/>
        </p:nvSpPr>
        <p:spPr>
          <a:xfrm>
            <a:off x="5067300" y="3943350"/>
            <a:ext cx="1581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9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核心门店｜配送｜服务</a:t>
            </a:r>
          </a:p>
        </p:txBody>
      </p:sp>
      <p:sp>
        <p:nvSpPr>
          <p:cNvPr id="10" name="TOWN_01_LINK">
            <a:extLst>
              <a:ext uri="{FF2B5EF4-FFF2-40B4-BE49-F238E27FC236}">
                <a16:creationId xmlns:a16="http://schemas.microsoft.com/office/drawing/2014/main" id="{C9EE6FD8-575E-4AB1-B39F-8FE4321354FD}"/>
              </a:ext>
            </a:extLst>
          </p:cNvPr>
          <p:cNvSpPr>
            <a:spLocks noGrp="1"/>
          </p:cNvSpPr>
          <p:nvPr/>
        </p:nvSpPr>
        <p:spPr>
          <a:xfrm>
            <a:off x="3543300" y="2609850"/>
            <a:ext cx="1333500" cy="377952"/>
          </a:xfrm>
          <a:prstGeom prst="line">
            <a:avLst/>
          </a:prstGeom>
          <a:noFill/>
          <a:ln w="19050">
            <a:solidFill>
              <a:srgbClr val="26866A"/>
            </a:solidFill>
            <a:prstDash val="solid"/>
          </a:ln>
        </p:spPr>
      </p:sp>
      <p:sp>
        <p:nvSpPr>
          <p:cNvPr id="11" name="TOWN_01_NODE">
            <a:extLst>
              <a:ext uri="{FF2B5EF4-FFF2-40B4-BE49-F238E27FC236}">
                <a16:creationId xmlns:a16="http://schemas.microsoft.com/office/drawing/2014/main" id="{F289FF18-E060-4086-A667-1889811D0506}"/>
              </a:ext>
            </a:extLst>
          </p:cNvPr>
          <p:cNvSpPr>
            <a:spLocks noGrp="1"/>
          </p:cNvSpPr>
          <p:nvPr/>
        </p:nvSpPr>
        <p:spPr>
          <a:xfrm>
            <a:off x="1847850" y="2152650"/>
            <a:ext cx="1695450" cy="914400"/>
          </a:xfrm>
          <a:prstGeom prst="ellipse">
            <a:avLst/>
          </a:prstGeom>
          <a:solidFill>
            <a:srgbClr val="EAF5F1"/>
          </a:solidFill>
          <a:ln w="19050">
            <a:solidFill>
              <a:srgbClr val="26866A"/>
            </a:solidFill>
            <a:prstDash val="solid"/>
          </a:ln>
        </p:spPr>
      </p:sp>
      <p:sp>
        <p:nvSpPr>
          <p:cNvPr id="12" name="TOWN_01_LABEL">
            <a:extLst>
              <a:ext uri="{FF2B5EF4-FFF2-40B4-BE49-F238E27FC236}">
                <a16:creationId xmlns:a16="http://schemas.microsoft.com/office/drawing/2014/main" id="{445EDD39-97E7-444F-B6CE-24F0EBD7BDBF}"/>
              </a:ext>
            </a:extLst>
          </p:cNvPr>
          <p:cNvSpPr>
            <a:spLocks noGrp="1"/>
          </p:cNvSpPr>
          <p:nvPr/>
        </p:nvSpPr>
        <p:spPr>
          <a:xfrm>
            <a:off x="2019300" y="2314575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中心镇A</a:t>
            </a:r>
          </a:p>
        </p:txBody>
      </p:sp>
      <p:sp>
        <p:nvSpPr>
          <p:cNvPr id="13" name="TOWN_01_ACTION">
            <a:extLst>
              <a:ext uri="{FF2B5EF4-FFF2-40B4-BE49-F238E27FC236}">
                <a16:creationId xmlns:a16="http://schemas.microsoft.com/office/drawing/2014/main" id="{9F25BA7F-57F4-4495-9223-3814E374F94F}"/>
              </a:ext>
            </a:extLst>
          </p:cNvPr>
          <p:cNvSpPr>
            <a:spLocks noGrp="1"/>
          </p:cNvSpPr>
          <p:nvPr/>
        </p:nvSpPr>
        <p:spPr>
          <a:xfrm>
            <a:off x="2076450" y="26574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做深</a:t>
            </a:r>
          </a:p>
        </p:txBody>
      </p:sp>
      <p:sp>
        <p:nvSpPr>
          <p:cNvPr id="14" name="TOWN_02_LINK">
            <a:extLst>
              <a:ext uri="{FF2B5EF4-FFF2-40B4-BE49-F238E27FC236}">
                <a16:creationId xmlns:a16="http://schemas.microsoft.com/office/drawing/2014/main" id="{A3B4B54B-9445-4B3A-8999-2EE065EC85C3}"/>
              </a:ext>
            </a:extLst>
          </p:cNvPr>
          <p:cNvSpPr>
            <a:spLocks noGrp="1"/>
          </p:cNvSpPr>
          <p:nvPr/>
        </p:nvSpPr>
        <p:spPr>
          <a:xfrm>
            <a:off x="3448050" y="3333750"/>
            <a:ext cx="1333500" cy="396240"/>
          </a:xfrm>
          <a:prstGeom prst="line">
            <a:avLst/>
          </a:prstGeom>
          <a:noFill/>
          <a:ln w="19050">
            <a:solidFill>
              <a:srgbClr val="246AA8"/>
            </a:solidFill>
            <a:prstDash val="solid"/>
          </a:ln>
        </p:spPr>
      </p:sp>
      <p:sp>
        <p:nvSpPr>
          <p:cNvPr id="15" name="TOWN_02_NODE">
            <a:extLst>
              <a:ext uri="{FF2B5EF4-FFF2-40B4-BE49-F238E27FC236}">
                <a16:creationId xmlns:a16="http://schemas.microsoft.com/office/drawing/2014/main" id="{10CEF9E2-99C6-4519-967A-034F461E8FDE}"/>
              </a:ext>
            </a:extLst>
          </p:cNvPr>
          <p:cNvSpPr>
            <a:spLocks noGrp="1"/>
          </p:cNvSpPr>
          <p:nvPr/>
        </p:nvSpPr>
        <p:spPr>
          <a:xfrm>
            <a:off x="1752600" y="4572000"/>
            <a:ext cx="1695450" cy="914400"/>
          </a:xfrm>
          <a:prstGeom prst="ellipse">
            <a:avLst/>
          </a:prstGeom>
          <a:solidFill>
            <a:srgbClr val="EAF2FA"/>
          </a:solidFill>
          <a:ln w="19050">
            <a:solidFill>
              <a:srgbClr val="246AA8"/>
            </a:solidFill>
            <a:prstDash val="solid"/>
          </a:ln>
        </p:spPr>
      </p:sp>
      <p:sp>
        <p:nvSpPr>
          <p:cNvPr id="16" name="TOWN_02_LABEL">
            <a:extLst>
              <a:ext uri="{FF2B5EF4-FFF2-40B4-BE49-F238E27FC236}">
                <a16:creationId xmlns:a16="http://schemas.microsoft.com/office/drawing/2014/main" id="{6924B289-C96E-4ECB-A847-886A462EEB1E}"/>
              </a:ext>
            </a:extLst>
          </p:cNvPr>
          <p:cNvSpPr>
            <a:spLocks noGrp="1"/>
          </p:cNvSpPr>
          <p:nvPr/>
        </p:nvSpPr>
        <p:spPr>
          <a:xfrm>
            <a:off x="1924050" y="4733925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乡镇B</a:t>
            </a:r>
          </a:p>
        </p:txBody>
      </p:sp>
      <p:sp>
        <p:nvSpPr>
          <p:cNvPr id="17" name="TOWN_02_ACTION">
            <a:extLst>
              <a:ext uri="{FF2B5EF4-FFF2-40B4-BE49-F238E27FC236}">
                <a16:creationId xmlns:a16="http://schemas.microsoft.com/office/drawing/2014/main" id="{DF87962D-5931-4B54-BEA5-ECE512977F0C}"/>
              </a:ext>
            </a:extLst>
          </p:cNvPr>
          <p:cNvSpPr>
            <a:spLocks noGrp="1"/>
          </p:cNvSpPr>
          <p:nvPr/>
        </p:nvSpPr>
        <p:spPr>
          <a:xfrm>
            <a:off x="1981200" y="507682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守盘</a:t>
            </a:r>
          </a:p>
        </p:txBody>
      </p:sp>
      <p:sp>
        <p:nvSpPr>
          <p:cNvPr id="18" name="TOWN_03_LINK">
            <a:extLst>
              <a:ext uri="{FF2B5EF4-FFF2-40B4-BE49-F238E27FC236}">
                <a16:creationId xmlns:a16="http://schemas.microsoft.com/office/drawing/2014/main" id="{29D6AA3F-0943-40C7-8A5C-DDD49CCECF26}"/>
              </a:ext>
            </a:extLst>
          </p:cNvPr>
          <p:cNvSpPr>
            <a:spLocks noGrp="1"/>
          </p:cNvSpPr>
          <p:nvPr/>
        </p:nvSpPr>
        <p:spPr>
          <a:xfrm>
            <a:off x="6953250" y="2505075"/>
            <a:ext cx="1314450" cy="411480"/>
          </a:xfrm>
          <a:prstGeom prst="line">
            <a:avLst/>
          </a:prstGeom>
          <a:noFill/>
          <a:ln w="19050">
            <a:solidFill>
              <a:srgbClr val="B87700"/>
            </a:solidFill>
            <a:prstDash val="solid"/>
          </a:ln>
        </p:spPr>
      </p:sp>
      <p:sp>
        <p:nvSpPr>
          <p:cNvPr id="19" name="TOWN_03_NODE">
            <a:extLst>
              <a:ext uri="{FF2B5EF4-FFF2-40B4-BE49-F238E27FC236}">
                <a16:creationId xmlns:a16="http://schemas.microsoft.com/office/drawing/2014/main" id="{8D88CF59-0127-42AD-AF35-213EF3B782EC}"/>
              </a:ext>
            </a:extLst>
          </p:cNvPr>
          <p:cNvSpPr>
            <a:spLocks noGrp="1"/>
          </p:cNvSpPr>
          <p:nvPr/>
        </p:nvSpPr>
        <p:spPr>
          <a:xfrm>
            <a:off x="8267700" y="2047875"/>
            <a:ext cx="1695450" cy="914400"/>
          </a:xfrm>
          <a:prstGeom prst="ellipse">
            <a:avLst/>
          </a:prstGeom>
          <a:solidFill>
            <a:srgbClr val="FFF4DC"/>
          </a:solidFill>
          <a:ln w="19050">
            <a:solidFill>
              <a:srgbClr val="B87700"/>
            </a:solidFill>
            <a:prstDash val="solid"/>
          </a:ln>
        </p:spPr>
      </p:sp>
      <p:sp>
        <p:nvSpPr>
          <p:cNvPr id="20" name="TOWN_03_LABEL">
            <a:extLst>
              <a:ext uri="{FF2B5EF4-FFF2-40B4-BE49-F238E27FC236}">
                <a16:creationId xmlns:a16="http://schemas.microsoft.com/office/drawing/2014/main" id="{358D8641-03B7-45BD-BA23-30741A833839}"/>
              </a:ext>
            </a:extLst>
          </p:cNvPr>
          <p:cNvSpPr>
            <a:spLocks noGrp="1"/>
          </p:cNvSpPr>
          <p:nvPr/>
        </p:nvSpPr>
        <p:spPr>
          <a:xfrm>
            <a:off x="8439150" y="2209800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乡镇C</a:t>
            </a:r>
          </a:p>
        </p:txBody>
      </p:sp>
      <p:sp>
        <p:nvSpPr>
          <p:cNvPr id="21" name="TOWN_03_ACTION">
            <a:extLst>
              <a:ext uri="{FF2B5EF4-FFF2-40B4-BE49-F238E27FC236}">
                <a16:creationId xmlns:a16="http://schemas.microsoft.com/office/drawing/2014/main" id="{6FCE488C-4A75-4293-A0A7-2E4E442ABB9D}"/>
              </a:ext>
            </a:extLst>
          </p:cNvPr>
          <p:cNvSpPr>
            <a:spLocks noGrp="1"/>
          </p:cNvSpPr>
          <p:nvPr/>
        </p:nvSpPr>
        <p:spPr>
          <a:xfrm>
            <a:off x="8496300" y="25527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开拓</a:t>
            </a:r>
          </a:p>
        </p:txBody>
      </p:sp>
      <p:sp>
        <p:nvSpPr>
          <p:cNvPr id="22" name="TOWN_04_LINK">
            <a:extLst>
              <a:ext uri="{FF2B5EF4-FFF2-40B4-BE49-F238E27FC236}">
                <a16:creationId xmlns:a16="http://schemas.microsoft.com/office/drawing/2014/main" id="{8B768CDA-E014-45A1-9160-7B5CE17E48C8}"/>
              </a:ext>
            </a:extLst>
          </p:cNvPr>
          <p:cNvSpPr>
            <a:spLocks noGrp="1"/>
          </p:cNvSpPr>
          <p:nvPr/>
        </p:nvSpPr>
        <p:spPr>
          <a:xfrm>
            <a:off x="6953250" y="3333750"/>
            <a:ext cx="1571625" cy="377952"/>
          </a:xfrm>
          <a:prstGeom prst="line">
            <a:avLst/>
          </a:prstGeom>
          <a:noFill/>
          <a:ln w="19050">
            <a:solidFill>
              <a:srgbClr val="5F646B"/>
            </a:solidFill>
            <a:prstDash val="solid"/>
          </a:ln>
        </p:spPr>
      </p:sp>
      <p:sp>
        <p:nvSpPr>
          <p:cNvPr id="23" name="TOWN_04_NODE">
            <a:extLst>
              <a:ext uri="{FF2B5EF4-FFF2-40B4-BE49-F238E27FC236}">
                <a16:creationId xmlns:a16="http://schemas.microsoft.com/office/drawing/2014/main" id="{1DECEBDE-08A0-45FA-B904-497A691047DF}"/>
              </a:ext>
            </a:extLst>
          </p:cNvPr>
          <p:cNvSpPr>
            <a:spLocks noGrp="1"/>
          </p:cNvSpPr>
          <p:nvPr/>
        </p:nvSpPr>
        <p:spPr>
          <a:xfrm>
            <a:off x="8524875" y="4514850"/>
            <a:ext cx="1695450" cy="914400"/>
          </a:xfrm>
          <a:prstGeom prst="ellipse">
            <a:avLst/>
          </a:prstGeom>
          <a:solidFill>
            <a:srgbClr val="F4F5F6"/>
          </a:solidFill>
          <a:ln w="19050">
            <a:solidFill>
              <a:srgbClr val="5F646B"/>
            </a:solidFill>
            <a:prstDash val="solid"/>
          </a:ln>
        </p:spPr>
      </p:sp>
      <p:sp>
        <p:nvSpPr>
          <p:cNvPr id="24" name="TOWN_04_LABEL">
            <a:extLst>
              <a:ext uri="{FF2B5EF4-FFF2-40B4-BE49-F238E27FC236}">
                <a16:creationId xmlns:a16="http://schemas.microsoft.com/office/drawing/2014/main" id="{0DF52C39-AB7B-4F87-90EE-EA0282C6846C}"/>
              </a:ext>
            </a:extLst>
          </p:cNvPr>
          <p:cNvSpPr>
            <a:spLocks noGrp="1"/>
          </p:cNvSpPr>
          <p:nvPr/>
        </p:nvSpPr>
        <p:spPr>
          <a:xfrm>
            <a:off x="8696325" y="4676775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乡镇D</a:t>
            </a:r>
          </a:p>
        </p:txBody>
      </p:sp>
      <p:sp>
        <p:nvSpPr>
          <p:cNvPr id="25" name="TOWN_04_ACTION">
            <a:extLst>
              <a:ext uri="{FF2B5EF4-FFF2-40B4-BE49-F238E27FC236}">
                <a16:creationId xmlns:a16="http://schemas.microsoft.com/office/drawing/2014/main" id="{2EAF9D99-1B7B-47A8-A826-D280429C19D2}"/>
              </a:ext>
            </a:extLst>
          </p:cNvPr>
          <p:cNvSpPr>
            <a:spLocks noGrp="1"/>
          </p:cNvSpPr>
          <p:nvPr/>
        </p:nvSpPr>
        <p:spPr>
          <a:xfrm>
            <a:off x="8753475" y="50196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待验证</a:t>
            </a:r>
          </a:p>
        </p:txBody>
      </p:sp>
      <p:sp>
        <p:nvSpPr>
          <p:cNvPr id="26" name="LEGEND_KEEP">
            <a:extLst>
              <a:ext uri="{FF2B5EF4-FFF2-40B4-BE49-F238E27FC236}">
                <a16:creationId xmlns:a16="http://schemas.microsoft.com/office/drawing/2014/main" id="{4E615121-DD8C-4704-89E4-8664EE6395F9}"/>
              </a:ext>
            </a:extLst>
          </p:cNvPr>
          <p:cNvSpPr>
            <a:spLocks noGrp="1"/>
          </p:cNvSpPr>
          <p:nvPr/>
        </p:nvSpPr>
        <p:spPr>
          <a:xfrm>
            <a:off x="4333875" y="547687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守盘</a:t>
            </a:r>
          </a:p>
        </p:txBody>
      </p:sp>
      <p:sp>
        <p:nvSpPr>
          <p:cNvPr id="27" name="LEGEND_DEEPEN">
            <a:extLst>
              <a:ext uri="{FF2B5EF4-FFF2-40B4-BE49-F238E27FC236}">
                <a16:creationId xmlns:a16="http://schemas.microsoft.com/office/drawing/2014/main" id="{5075CC6B-4CCA-4B6A-A134-7F2B7F04FD69}"/>
              </a:ext>
            </a:extLst>
          </p:cNvPr>
          <p:cNvSpPr>
            <a:spLocks noGrp="1"/>
          </p:cNvSpPr>
          <p:nvPr/>
        </p:nvSpPr>
        <p:spPr>
          <a:xfrm>
            <a:off x="5286375" y="547687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做深</a:t>
            </a:r>
          </a:p>
        </p:txBody>
      </p:sp>
      <p:sp>
        <p:nvSpPr>
          <p:cNvPr id="28" name="LEGEND_EXPAND">
            <a:extLst>
              <a:ext uri="{FF2B5EF4-FFF2-40B4-BE49-F238E27FC236}">
                <a16:creationId xmlns:a16="http://schemas.microsoft.com/office/drawing/2014/main" id="{03F0608D-C72B-4604-BF3D-FD68B19EEF35}"/>
              </a:ext>
            </a:extLst>
          </p:cNvPr>
          <p:cNvSpPr>
            <a:spLocks noGrp="1"/>
          </p:cNvSpPr>
          <p:nvPr/>
        </p:nvSpPr>
        <p:spPr>
          <a:xfrm>
            <a:off x="6238875" y="547687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开拓</a:t>
            </a:r>
          </a:p>
        </p:txBody>
      </p:sp>
      <p:sp>
        <p:nvSpPr>
          <p:cNvPr id="29" name="TEACHING_CUE">
            <a:extLst>
              <a:ext uri="{FF2B5EF4-FFF2-40B4-BE49-F238E27FC236}">
                <a16:creationId xmlns:a16="http://schemas.microsoft.com/office/drawing/2014/main" id="{7865C13A-C158-4426-A8FE-AD3B178675E7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学员产出：标出1个守盘乡镇、1个做深乡镇和1个开拓乡镇，并写出证据。</a:t>
            </a:r>
          </a:p>
        </p:txBody>
      </p:sp>
      <p:sp>
        <p:nvSpPr>
          <p:cNvPr id="30" name="PAGE_NUMBER">
            <a:extLst>
              <a:ext uri="{FF2B5EF4-FFF2-40B4-BE49-F238E27FC236}">
                <a16:creationId xmlns:a16="http://schemas.microsoft.com/office/drawing/2014/main" id="{43EEE192-B173-4CE4-B093-CFA7969F5D3C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124298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4FFC46C4-65D3-4744-8C5E-F24946E415FE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DC-03 · FOUR-FORCE DIAGNOSIS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7174E65-E07B-4595-8C06-0A9CBD7243AC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四力不是四个概念，而是四个可以现场回答的经营问题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3981555-FCC6-4B21-88B1-7054E6B875CD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先选最突出症状，再用品牌力、渠道力、场景力、产品力寻找主短板与证据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04ACF05B-DCCE-46DC-9C30-1A97130F56C6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DIAGNOSIS_CORE">
            <a:extLst>
              <a:ext uri="{FF2B5EF4-FFF2-40B4-BE49-F238E27FC236}">
                <a16:creationId xmlns:a16="http://schemas.microsoft.com/office/drawing/2014/main" id="{4EDF7D7A-CE22-4A89-8A7B-97511E278AE1}"/>
              </a:ext>
            </a:extLst>
          </p:cNvPr>
          <p:cNvSpPr>
            <a:spLocks noGrp="1"/>
          </p:cNvSpPr>
          <p:nvPr/>
        </p:nvSpPr>
        <p:spPr>
          <a:xfrm>
            <a:off x="4876800" y="2857500"/>
            <a:ext cx="2095500" cy="2095500"/>
          </a:xfrm>
          <a:prstGeom prst="ellipse">
            <a:avLst/>
          </a:prstGeom>
          <a:solidFill>
            <a:srgbClr val="191919"/>
          </a:solidFill>
          <a:ln w="0">
            <a:noFill/>
            <a:prstDash val="solid"/>
          </a:ln>
        </p:spPr>
      </p:sp>
      <p:sp>
        <p:nvSpPr>
          <p:cNvPr id="8" name="CORE_PROBLEM">
            <a:extLst>
              <a:ext uri="{FF2B5EF4-FFF2-40B4-BE49-F238E27FC236}">
                <a16:creationId xmlns:a16="http://schemas.microsoft.com/office/drawing/2014/main" id="{156D94E6-C945-4C87-AF7F-A3CA6BE819E3}"/>
              </a:ext>
            </a:extLst>
          </p:cNvPr>
          <p:cNvSpPr>
            <a:spLocks noGrp="1"/>
          </p:cNvSpPr>
          <p:nvPr/>
        </p:nvSpPr>
        <p:spPr>
          <a:xfrm>
            <a:off x="5219700" y="3390900"/>
            <a:ext cx="14097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当前最卡的</a:t>
            </a:r>
          </a:p>
          <a:p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经营问题</a:t>
            </a:r>
          </a:p>
        </p:txBody>
      </p:sp>
      <p:sp>
        <p:nvSpPr>
          <p:cNvPr id="9" name="BRAND_LINK">
            <a:extLst>
              <a:ext uri="{FF2B5EF4-FFF2-40B4-BE49-F238E27FC236}">
                <a16:creationId xmlns:a16="http://schemas.microsoft.com/office/drawing/2014/main" id="{B767A619-B52F-478E-87B2-8128B847E0B9}"/>
              </a:ext>
            </a:extLst>
          </p:cNvPr>
          <p:cNvSpPr>
            <a:spLocks noGrp="1"/>
          </p:cNvSpPr>
          <p:nvPr/>
        </p:nvSpPr>
        <p:spPr>
          <a:xfrm>
            <a:off x="4152900" y="2676525"/>
            <a:ext cx="723900" cy="523875"/>
          </a:xfrm>
          <a:prstGeom prst="line">
            <a:avLst/>
          </a:prstGeom>
          <a:noFill/>
          <a:ln w="19050">
            <a:solidFill>
              <a:srgbClr val="D6001C"/>
            </a:solidFill>
            <a:prstDash val="solid"/>
          </a:ln>
        </p:spPr>
      </p:sp>
      <p:sp>
        <p:nvSpPr>
          <p:cNvPr id="10" name="BRAND_SURFACE">
            <a:extLst>
              <a:ext uri="{FF2B5EF4-FFF2-40B4-BE49-F238E27FC236}">
                <a16:creationId xmlns:a16="http://schemas.microsoft.com/office/drawing/2014/main" id="{40B0A206-C8D4-4384-B657-0DA99894B4E9}"/>
              </a:ext>
            </a:extLst>
          </p:cNvPr>
          <p:cNvSpPr>
            <a:spLocks noGrp="1"/>
          </p:cNvSpPr>
          <p:nvPr/>
        </p:nvSpPr>
        <p:spPr>
          <a:xfrm>
            <a:off x="1104900" y="21526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FFF0F2"/>
          </a:solidFill>
          <a:ln w="19050">
            <a:solidFill>
              <a:srgbClr val="D6001C"/>
            </a:solidFill>
            <a:prstDash val="solid"/>
          </a:ln>
        </p:spPr>
      </p:sp>
      <p:sp>
        <p:nvSpPr>
          <p:cNvPr id="11" name="BRAND_LABEL">
            <a:extLst>
              <a:ext uri="{FF2B5EF4-FFF2-40B4-BE49-F238E27FC236}">
                <a16:creationId xmlns:a16="http://schemas.microsoft.com/office/drawing/2014/main" id="{00F88D87-FA43-4B81-9B8D-BC7AB02BDD31}"/>
              </a:ext>
            </a:extLst>
          </p:cNvPr>
          <p:cNvSpPr>
            <a:spLocks noGrp="1"/>
          </p:cNvSpPr>
          <p:nvPr/>
        </p:nvSpPr>
        <p:spPr>
          <a:xfrm>
            <a:off x="1295400" y="22955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品牌力</a:t>
            </a:r>
          </a:p>
        </p:txBody>
      </p:sp>
      <p:sp>
        <p:nvSpPr>
          <p:cNvPr id="12" name="BRAND_QUESTION">
            <a:extLst>
              <a:ext uri="{FF2B5EF4-FFF2-40B4-BE49-F238E27FC236}">
                <a16:creationId xmlns:a16="http://schemas.microsoft.com/office/drawing/2014/main" id="{24F23C98-C2D6-48A1-8D71-073C74EA5496}"/>
              </a:ext>
            </a:extLst>
          </p:cNvPr>
          <p:cNvSpPr>
            <a:spLocks noGrp="1"/>
          </p:cNvSpPr>
          <p:nvPr/>
        </p:nvSpPr>
        <p:spPr>
          <a:xfrm>
            <a:off x="1295400" y="26384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当地客户为什么相信你？</a:t>
            </a:r>
          </a:p>
        </p:txBody>
      </p:sp>
      <p:sp>
        <p:nvSpPr>
          <p:cNvPr id="13" name="BRAND_EVIDENCE">
            <a:extLst>
              <a:ext uri="{FF2B5EF4-FFF2-40B4-BE49-F238E27FC236}">
                <a16:creationId xmlns:a16="http://schemas.microsoft.com/office/drawing/2014/main" id="{7D226B41-9501-4D1F-BF9A-BEA1BB3A75F1}"/>
              </a:ext>
            </a:extLst>
          </p:cNvPr>
          <p:cNvSpPr>
            <a:spLocks noGrp="1"/>
          </p:cNvSpPr>
          <p:nvPr/>
        </p:nvSpPr>
        <p:spPr>
          <a:xfrm>
            <a:off x="1295400" y="29908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本地认知｜样板｜口碑</a:t>
            </a:r>
          </a:p>
        </p:txBody>
      </p:sp>
      <p:sp>
        <p:nvSpPr>
          <p:cNvPr id="14" name="CHANNEL_LINK">
            <a:extLst>
              <a:ext uri="{FF2B5EF4-FFF2-40B4-BE49-F238E27FC236}">
                <a16:creationId xmlns:a16="http://schemas.microsoft.com/office/drawing/2014/main" id="{869203AC-831F-471F-91CA-BF31BDAA04C1}"/>
              </a:ext>
            </a:extLst>
          </p:cNvPr>
          <p:cNvSpPr>
            <a:spLocks noGrp="1"/>
          </p:cNvSpPr>
          <p:nvPr/>
        </p:nvSpPr>
        <p:spPr>
          <a:xfrm>
            <a:off x="6972300" y="2676525"/>
            <a:ext cx="1143000" cy="523875"/>
          </a:xfrm>
          <a:prstGeom prst="line">
            <a:avLst/>
          </a:prstGeom>
          <a:noFill/>
          <a:ln w="19050">
            <a:solidFill>
              <a:srgbClr val="246AA8"/>
            </a:solidFill>
            <a:prstDash val="solid"/>
          </a:ln>
        </p:spPr>
      </p:sp>
      <p:sp>
        <p:nvSpPr>
          <p:cNvPr id="15" name="CHANNEL_SURFACE">
            <a:extLst>
              <a:ext uri="{FF2B5EF4-FFF2-40B4-BE49-F238E27FC236}">
                <a16:creationId xmlns:a16="http://schemas.microsoft.com/office/drawing/2014/main" id="{435B9E77-8E0D-40D1-90BC-9094D9911990}"/>
              </a:ext>
            </a:extLst>
          </p:cNvPr>
          <p:cNvSpPr>
            <a:spLocks noGrp="1"/>
          </p:cNvSpPr>
          <p:nvPr/>
        </p:nvSpPr>
        <p:spPr>
          <a:xfrm>
            <a:off x="8115300" y="21526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EAF2FA"/>
          </a:solidFill>
          <a:ln w="19050">
            <a:solidFill>
              <a:srgbClr val="246AA8"/>
            </a:solidFill>
            <a:prstDash val="solid"/>
          </a:ln>
        </p:spPr>
      </p:sp>
      <p:sp>
        <p:nvSpPr>
          <p:cNvPr id="16" name="CHANNEL_LABEL">
            <a:extLst>
              <a:ext uri="{FF2B5EF4-FFF2-40B4-BE49-F238E27FC236}">
                <a16:creationId xmlns:a16="http://schemas.microsoft.com/office/drawing/2014/main" id="{C8A89BFA-4BAC-4419-8685-662A606315CB}"/>
              </a:ext>
            </a:extLst>
          </p:cNvPr>
          <p:cNvSpPr>
            <a:spLocks noGrp="1"/>
          </p:cNvSpPr>
          <p:nvPr/>
        </p:nvSpPr>
        <p:spPr>
          <a:xfrm>
            <a:off x="8305800" y="22955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渠道力</a:t>
            </a:r>
          </a:p>
        </p:txBody>
      </p:sp>
      <p:sp>
        <p:nvSpPr>
          <p:cNvPr id="17" name="CHANNEL_QUESTION">
            <a:extLst>
              <a:ext uri="{FF2B5EF4-FFF2-40B4-BE49-F238E27FC236}">
                <a16:creationId xmlns:a16="http://schemas.microsoft.com/office/drawing/2014/main" id="{5D9F9F16-98A5-4534-A6CE-A2481A825C96}"/>
              </a:ext>
            </a:extLst>
          </p:cNvPr>
          <p:cNvSpPr>
            <a:spLocks noGrp="1"/>
          </p:cNvSpPr>
          <p:nvPr/>
        </p:nvSpPr>
        <p:spPr>
          <a:xfrm>
            <a:off x="8305800" y="26384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当地有没有人持续卖、持续推？</a:t>
            </a:r>
          </a:p>
        </p:txBody>
      </p:sp>
      <p:sp>
        <p:nvSpPr>
          <p:cNvPr id="18" name="CHANNEL_EVIDENCE">
            <a:extLst>
              <a:ext uri="{FF2B5EF4-FFF2-40B4-BE49-F238E27FC236}">
                <a16:creationId xmlns:a16="http://schemas.microsoft.com/office/drawing/2014/main" id="{24104CD1-8DF7-46B6-B48D-1EB9BCCEB074}"/>
              </a:ext>
            </a:extLst>
          </p:cNvPr>
          <p:cNvSpPr>
            <a:spLocks noGrp="1"/>
          </p:cNvSpPr>
          <p:nvPr/>
        </p:nvSpPr>
        <p:spPr>
          <a:xfrm>
            <a:off x="8305800" y="29908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核心网点｜工人｜关键人</a:t>
            </a:r>
          </a:p>
        </p:txBody>
      </p:sp>
      <p:sp>
        <p:nvSpPr>
          <p:cNvPr id="19" name="SCENE_LINK">
            <a:extLst>
              <a:ext uri="{FF2B5EF4-FFF2-40B4-BE49-F238E27FC236}">
                <a16:creationId xmlns:a16="http://schemas.microsoft.com/office/drawing/2014/main" id="{E3812C07-AC96-4D44-B5A8-41337B1F5878}"/>
              </a:ext>
            </a:extLst>
          </p:cNvPr>
          <p:cNvSpPr>
            <a:spLocks noGrp="1"/>
          </p:cNvSpPr>
          <p:nvPr/>
        </p:nvSpPr>
        <p:spPr>
          <a:xfrm>
            <a:off x="4152900" y="4476750"/>
            <a:ext cx="723900" cy="523875"/>
          </a:xfrm>
          <a:prstGeom prst="line">
            <a:avLst/>
          </a:prstGeom>
          <a:noFill/>
          <a:ln w="19050">
            <a:solidFill>
              <a:srgbClr val="B87700"/>
            </a:solidFill>
            <a:prstDash val="solid"/>
          </a:ln>
        </p:spPr>
      </p:sp>
      <p:sp>
        <p:nvSpPr>
          <p:cNvPr id="20" name="SCENE_SURFACE">
            <a:extLst>
              <a:ext uri="{FF2B5EF4-FFF2-40B4-BE49-F238E27FC236}">
                <a16:creationId xmlns:a16="http://schemas.microsoft.com/office/drawing/2014/main" id="{C2395F50-F185-4D08-93DA-F702639B6DC3}"/>
              </a:ext>
            </a:extLst>
          </p:cNvPr>
          <p:cNvSpPr>
            <a:spLocks noGrp="1"/>
          </p:cNvSpPr>
          <p:nvPr/>
        </p:nvSpPr>
        <p:spPr>
          <a:xfrm>
            <a:off x="1104900" y="44767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FFF4DC"/>
          </a:solidFill>
          <a:ln w="19050">
            <a:solidFill>
              <a:srgbClr val="B87700"/>
            </a:solidFill>
            <a:prstDash val="solid"/>
          </a:ln>
        </p:spPr>
      </p:sp>
      <p:sp>
        <p:nvSpPr>
          <p:cNvPr id="21" name="SCENE_LABEL">
            <a:extLst>
              <a:ext uri="{FF2B5EF4-FFF2-40B4-BE49-F238E27FC236}">
                <a16:creationId xmlns:a16="http://schemas.microsoft.com/office/drawing/2014/main" id="{E3533932-C006-40A8-9E62-8E18828978D1}"/>
              </a:ext>
            </a:extLst>
          </p:cNvPr>
          <p:cNvSpPr>
            <a:spLocks noGrp="1"/>
          </p:cNvSpPr>
          <p:nvPr/>
        </p:nvSpPr>
        <p:spPr>
          <a:xfrm>
            <a:off x="1295400" y="46196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场景力</a:t>
            </a:r>
          </a:p>
        </p:txBody>
      </p:sp>
      <p:sp>
        <p:nvSpPr>
          <p:cNvPr id="22" name="SCENE_QUESTION">
            <a:extLst>
              <a:ext uri="{FF2B5EF4-FFF2-40B4-BE49-F238E27FC236}">
                <a16:creationId xmlns:a16="http://schemas.microsoft.com/office/drawing/2014/main" id="{AF84A24B-3E37-41C9-832E-072F6D2CD257}"/>
              </a:ext>
            </a:extLst>
          </p:cNvPr>
          <p:cNvSpPr>
            <a:spLocks noGrp="1"/>
          </p:cNvSpPr>
          <p:nvPr/>
        </p:nvSpPr>
        <p:spPr>
          <a:xfrm>
            <a:off x="1295400" y="49625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能不能持续找到真实项目？</a:t>
            </a:r>
          </a:p>
        </p:txBody>
      </p:sp>
      <p:sp>
        <p:nvSpPr>
          <p:cNvPr id="23" name="SCENE_EVIDENCE">
            <a:extLst>
              <a:ext uri="{FF2B5EF4-FFF2-40B4-BE49-F238E27FC236}">
                <a16:creationId xmlns:a16="http://schemas.microsoft.com/office/drawing/2014/main" id="{742863A3-607C-426F-8A6A-34E907E4F79B}"/>
              </a:ext>
            </a:extLst>
          </p:cNvPr>
          <p:cNvSpPr>
            <a:spLocks noGrp="1"/>
          </p:cNvSpPr>
          <p:nvPr/>
        </p:nvSpPr>
        <p:spPr>
          <a:xfrm>
            <a:off x="1295400" y="53149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线索｜节点｜转化</a:t>
            </a:r>
          </a:p>
        </p:txBody>
      </p:sp>
      <p:sp>
        <p:nvSpPr>
          <p:cNvPr id="24" name="PRODUCT_LINK">
            <a:extLst>
              <a:ext uri="{FF2B5EF4-FFF2-40B4-BE49-F238E27FC236}">
                <a16:creationId xmlns:a16="http://schemas.microsoft.com/office/drawing/2014/main" id="{7E89A4B1-D239-4EDA-A50C-733CC008129C}"/>
              </a:ext>
            </a:extLst>
          </p:cNvPr>
          <p:cNvSpPr>
            <a:spLocks noGrp="1"/>
          </p:cNvSpPr>
          <p:nvPr/>
        </p:nvSpPr>
        <p:spPr>
          <a:xfrm>
            <a:off x="6972300" y="4476750"/>
            <a:ext cx="1143000" cy="523875"/>
          </a:xfrm>
          <a:prstGeom prst="line">
            <a:avLst/>
          </a:prstGeom>
          <a:noFill/>
          <a:ln w="19050">
            <a:solidFill>
              <a:srgbClr val="26866A"/>
            </a:solidFill>
            <a:prstDash val="solid"/>
          </a:ln>
        </p:spPr>
      </p:sp>
      <p:sp>
        <p:nvSpPr>
          <p:cNvPr id="25" name="PRODUCT_SURFACE">
            <a:extLst>
              <a:ext uri="{FF2B5EF4-FFF2-40B4-BE49-F238E27FC236}">
                <a16:creationId xmlns:a16="http://schemas.microsoft.com/office/drawing/2014/main" id="{657347C3-132A-4654-BC89-24367335A8B5}"/>
              </a:ext>
            </a:extLst>
          </p:cNvPr>
          <p:cNvSpPr>
            <a:spLocks noGrp="1"/>
          </p:cNvSpPr>
          <p:nvPr/>
        </p:nvSpPr>
        <p:spPr>
          <a:xfrm>
            <a:off x="8115300" y="44767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EAF5F1"/>
          </a:solidFill>
          <a:ln w="19050">
            <a:solidFill>
              <a:srgbClr val="26866A"/>
            </a:solidFill>
            <a:prstDash val="solid"/>
          </a:ln>
        </p:spPr>
      </p:sp>
      <p:sp>
        <p:nvSpPr>
          <p:cNvPr id="26" name="PRODUCT_LABEL">
            <a:extLst>
              <a:ext uri="{FF2B5EF4-FFF2-40B4-BE49-F238E27FC236}">
                <a16:creationId xmlns:a16="http://schemas.microsoft.com/office/drawing/2014/main" id="{BC94698D-B6BE-4902-8DF9-CBE9F7CD4EE3}"/>
              </a:ext>
            </a:extLst>
          </p:cNvPr>
          <p:cNvSpPr>
            <a:spLocks noGrp="1"/>
          </p:cNvSpPr>
          <p:nvPr/>
        </p:nvSpPr>
        <p:spPr>
          <a:xfrm>
            <a:off x="8305800" y="46196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产品力</a:t>
            </a:r>
          </a:p>
        </p:txBody>
      </p:sp>
      <p:sp>
        <p:nvSpPr>
          <p:cNvPr id="27" name="PRODUCT_QUESTION">
            <a:extLst>
              <a:ext uri="{FF2B5EF4-FFF2-40B4-BE49-F238E27FC236}">
                <a16:creationId xmlns:a16="http://schemas.microsoft.com/office/drawing/2014/main" id="{A64C96B1-A9A4-4677-B76E-30FB51732F0A}"/>
              </a:ext>
            </a:extLst>
          </p:cNvPr>
          <p:cNvSpPr>
            <a:spLocks noGrp="1"/>
          </p:cNvSpPr>
          <p:nvPr/>
        </p:nvSpPr>
        <p:spPr>
          <a:xfrm>
            <a:off x="8305800" y="49625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产品能否切入、动销并扩品？</a:t>
            </a:r>
          </a:p>
        </p:txBody>
      </p:sp>
      <p:sp>
        <p:nvSpPr>
          <p:cNvPr id="28" name="PRODUCT_EVIDENCE">
            <a:extLst>
              <a:ext uri="{FF2B5EF4-FFF2-40B4-BE49-F238E27FC236}">
                <a16:creationId xmlns:a16="http://schemas.microsoft.com/office/drawing/2014/main" id="{AFC18B0B-29CD-4A98-B4E6-E2A4A9BD1338}"/>
              </a:ext>
            </a:extLst>
          </p:cNvPr>
          <p:cNvSpPr>
            <a:spLocks noGrp="1"/>
          </p:cNvSpPr>
          <p:nvPr/>
        </p:nvSpPr>
        <p:spPr>
          <a:xfrm>
            <a:off x="8305800" y="53149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首单｜复购｜组合</a:t>
            </a:r>
          </a:p>
        </p:txBody>
      </p:sp>
      <p:sp>
        <p:nvSpPr>
          <p:cNvPr id="29" name="TEACHING_CUE">
            <a:extLst>
              <a:ext uri="{FF2B5EF4-FFF2-40B4-BE49-F238E27FC236}">
                <a16:creationId xmlns:a16="http://schemas.microsoft.com/office/drawing/2014/main" id="{8D938446-8400-4DF0-A382-AA3D6780C0D2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判断规则：只能选1个主短板、最多1个辅助短板，并各写出一条证据。</a:t>
            </a:r>
          </a:p>
        </p:txBody>
      </p:sp>
      <p:sp>
        <p:nvSpPr>
          <p:cNvPr id="30" name="PAGE_NUMBER">
            <a:extLst>
              <a:ext uri="{FF2B5EF4-FFF2-40B4-BE49-F238E27FC236}">
                <a16:creationId xmlns:a16="http://schemas.microsoft.com/office/drawing/2014/main" id="{CAC01B4F-05E4-4BD5-A44F-8715BACE2341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13819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B339CA92-25D8-4CC8-BDDD-B040465472DE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8381"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DC-04 · FOUR-STAGE GROWTH DIAGNOSIS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015E4D5-A524-41E6-B76F-43845D31DDC8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阶段不按开发了几年判断，而是看市场已经形成了什么结果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EAC61086-CA39-4AB3-B09C-98DBC03DB483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每一级只回答两件事：已经形成什么经营结果，下一步必须完成什么通关任务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7CE5B6D3-DE5C-4726-896E-90CA9E61601D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S1_BLOCK">
            <a:extLst>
              <a:ext uri="{FF2B5EF4-FFF2-40B4-BE49-F238E27FC236}">
                <a16:creationId xmlns:a16="http://schemas.microsoft.com/office/drawing/2014/main" id="{0CC200C0-2479-4589-8C5C-F7AB51108B35}"/>
              </a:ext>
            </a:extLst>
          </p:cNvPr>
          <p:cNvSpPr>
            <a:spLocks noGrp="1"/>
          </p:cNvSpPr>
          <p:nvPr/>
        </p:nvSpPr>
        <p:spPr>
          <a:xfrm>
            <a:off x="838200" y="4000500"/>
            <a:ext cx="2381250" cy="1905000"/>
          </a:xfrm>
          <a:prstGeom prst="rect">
            <a:avLst/>
          </a:prstGeom>
          <a:solidFill>
            <a:srgbClr val="E9ECEF"/>
          </a:solidFill>
          <a:ln w="0">
            <a:noFill/>
            <a:prstDash val="solid"/>
          </a:ln>
        </p:spPr>
      </p:sp>
      <p:sp>
        <p:nvSpPr>
          <p:cNvPr id="8" name="S1_NUMBER">
            <a:extLst>
              <a:ext uri="{FF2B5EF4-FFF2-40B4-BE49-F238E27FC236}">
                <a16:creationId xmlns:a16="http://schemas.microsoft.com/office/drawing/2014/main" id="{C42F2D47-C6A3-49FF-B0BE-ACBCB8FD030B}"/>
              </a:ext>
            </a:extLst>
          </p:cNvPr>
          <p:cNvSpPr>
            <a:spLocks noGrp="1"/>
          </p:cNvSpPr>
          <p:nvPr/>
        </p:nvSpPr>
        <p:spPr>
          <a:xfrm>
            <a:off x="1047750" y="419100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9" name="S1_LABEL">
            <a:extLst>
              <a:ext uri="{FF2B5EF4-FFF2-40B4-BE49-F238E27FC236}">
                <a16:creationId xmlns:a16="http://schemas.microsoft.com/office/drawing/2014/main" id="{6826E5DF-73FF-4359-A0BD-5612FD970C28}"/>
              </a:ext>
            </a:extLst>
          </p:cNvPr>
          <p:cNvSpPr>
            <a:spLocks noGrp="1"/>
          </p:cNvSpPr>
          <p:nvPr/>
        </p:nvSpPr>
        <p:spPr>
          <a:xfrm>
            <a:off x="1047750" y="4572000"/>
            <a:ext cx="1962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进得去</a:t>
            </a:r>
          </a:p>
        </p:txBody>
      </p:sp>
      <p:sp>
        <p:nvSpPr>
          <p:cNvPr id="10" name="S1_RESULT">
            <a:extLst>
              <a:ext uri="{FF2B5EF4-FFF2-40B4-BE49-F238E27FC236}">
                <a16:creationId xmlns:a16="http://schemas.microsoft.com/office/drawing/2014/main" id="{7F11A11A-7548-44DA-B7A4-99E6443749EB}"/>
              </a:ext>
            </a:extLst>
          </p:cNvPr>
          <p:cNvSpPr>
            <a:spLocks noGrp="1"/>
          </p:cNvSpPr>
          <p:nvPr/>
        </p:nvSpPr>
        <p:spPr>
          <a:xfrm>
            <a:off x="1047750" y="497205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发生第一批真实业务</a:t>
            </a:r>
          </a:p>
        </p:txBody>
      </p:sp>
      <p:sp>
        <p:nvSpPr>
          <p:cNvPr id="11" name="S1_TASK">
            <a:extLst>
              <a:ext uri="{FF2B5EF4-FFF2-40B4-BE49-F238E27FC236}">
                <a16:creationId xmlns:a16="http://schemas.microsoft.com/office/drawing/2014/main" id="{11891CEB-2EF2-4A22-A0C1-AAE739958585}"/>
              </a:ext>
            </a:extLst>
          </p:cNvPr>
          <p:cNvSpPr>
            <a:spLocks noGrp="1"/>
          </p:cNvSpPr>
          <p:nvPr/>
        </p:nvSpPr>
        <p:spPr>
          <a:xfrm>
            <a:off x="1047750" y="5429250"/>
            <a:ext cx="19621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下一关：找到入口，完成破零</a:t>
            </a:r>
          </a:p>
        </p:txBody>
      </p:sp>
      <p:sp>
        <p:nvSpPr>
          <p:cNvPr id="12" name="S2_BLOCK">
            <a:extLst>
              <a:ext uri="{FF2B5EF4-FFF2-40B4-BE49-F238E27FC236}">
                <a16:creationId xmlns:a16="http://schemas.microsoft.com/office/drawing/2014/main" id="{D442830E-21CC-497A-B8C9-AE6008778072}"/>
              </a:ext>
            </a:extLst>
          </p:cNvPr>
          <p:cNvSpPr>
            <a:spLocks noGrp="1"/>
          </p:cNvSpPr>
          <p:nvPr/>
        </p:nvSpPr>
        <p:spPr>
          <a:xfrm>
            <a:off x="3219450" y="3333750"/>
            <a:ext cx="2381250" cy="2571750"/>
          </a:xfrm>
          <a:prstGeom prst="rect">
            <a:avLst/>
          </a:prstGeom>
          <a:solidFill>
            <a:srgbClr val="D9DEE3"/>
          </a:solidFill>
          <a:ln w="0">
            <a:noFill/>
            <a:prstDash val="solid"/>
          </a:ln>
        </p:spPr>
      </p:sp>
      <p:sp>
        <p:nvSpPr>
          <p:cNvPr id="13" name="S2_NUMBER">
            <a:extLst>
              <a:ext uri="{FF2B5EF4-FFF2-40B4-BE49-F238E27FC236}">
                <a16:creationId xmlns:a16="http://schemas.microsoft.com/office/drawing/2014/main" id="{2E2BBD6C-68D8-4A0E-B668-69E86A71FF48}"/>
              </a:ext>
            </a:extLst>
          </p:cNvPr>
          <p:cNvSpPr>
            <a:spLocks noGrp="1"/>
          </p:cNvSpPr>
          <p:nvPr/>
        </p:nvSpPr>
        <p:spPr>
          <a:xfrm>
            <a:off x="3429000" y="352425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S2_LABEL">
            <a:extLst>
              <a:ext uri="{FF2B5EF4-FFF2-40B4-BE49-F238E27FC236}">
                <a16:creationId xmlns:a16="http://schemas.microsoft.com/office/drawing/2014/main" id="{679E81D6-96D7-407B-A975-A8CD08D4A9D5}"/>
              </a:ext>
            </a:extLst>
          </p:cNvPr>
          <p:cNvSpPr>
            <a:spLocks noGrp="1"/>
          </p:cNvSpPr>
          <p:nvPr/>
        </p:nvSpPr>
        <p:spPr>
          <a:xfrm>
            <a:off x="3429000" y="3905250"/>
            <a:ext cx="1962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站得住</a:t>
            </a:r>
          </a:p>
        </p:txBody>
      </p:sp>
      <p:sp>
        <p:nvSpPr>
          <p:cNvPr id="15" name="S2_RESULT">
            <a:extLst>
              <a:ext uri="{FF2B5EF4-FFF2-40B4-BE49-F238E27FC236}">
                <a16:creationId xmlns:a16="http://schemas.microsoft.com/office/drawing/2014/main" id="{C85427F5-E885-4784-8324-F9C175B51F21}"/>
              </a:ext>
            </a:extLst>
          </p:cNvPr>
          <p:cNvSpPr>
            <a:spLocks noGrp="1"/>
          </p:cNvSpPr>
          <p:nvPr/>
        </p:nvSpPr>
        <p:spPr>
          <a:xfrm>
            <a:off x="3429000" y="430530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网点、线索和产品开始重复</a:t>
            </a:r>
          </a:p>
        </p:txBody>
      </p:sp>
      <p:sp>
        <p:nvSpPr>
          <p:cNvPr id="16" name="S2_TASK">
            <a:extLst>
              <a:ext uri="{FF2B5EF4-FFF2-40B4-BE49-F238E27FC236}">
                <a16:creationId xmlns:a16="http://schemas.microsoft.com/office/drawing/2014/main" id="{8A1D2ADB-A9A6-4641-9706-A2E78C937BF8}"/>
              </a:ext>
            </a:extLst>
          </p:cNvPr>
          <p:cNvSpPr>
            <a:spLocks noGrp="1"/>
          </p:cNvSpPr>
          <p:nvPr/>
        </p:nvSpPr>
        <p:spPr>
          <a:xfrm>
            <a:off x="3429000" y="4762500"/>
            <a:ext cx="19621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下一关：把一次成交变成稳定基础</a:t>
            </a:r>
          </a:p>
        </p:txBody>
      </p:sp>
      <p:sp>
        <p:nvSpPr>
          <p:cNvPr id="17" name="S3_BLOCK">
            <a:extLst>
              <a:ext uri="{FF2B5EF4-FFF2-40B4-BE49-F238E27FC236}">
                <a16:creationId xmlns:a16="http://schemas.microsoft.com/office/drawing/2014/main" id="{71D57944-2CB7-4753-85DA-DBA84083FBC2}"/>
              </a:ext>
            </a:extLst>
          </p:cNvPr>
          <p:cNvSpPr>
            <a:spLocks noGrp="1"/>
          </p:cNvSpPr>
          <p:nvPr/>
        </p:nvSpPr>
        <p:spPr>
          <a:xfrm>
            <a:off x="5600700" y="2667000"/>
            <a:ext cx="2381250" cy="3238500"/>
          </a:xfrm>
          <a:prstGeom prst="rect">
            <a:avLst/>
          </a:prstGeom>
          <a:solidFill>
            <a:srgbClr val="2D3136"/>
          </a:solidFill>
          <a:ln w="0">
            <a:noFill/>
            <a:prstDash val="solid"/>
          </a:ln>
        </p:spPr>
      </p:sp>
      <p:sp>
        <p:nvSpPr>
          <p:cNvPr id="18" name="S3_NUMBER">
            <a:extLst>
              <a:ext uri="{FF2B5EF4-FFF2-40B4-BE49-F238E27FC236}">
                <a16:creationId xmlns:a16="http://schemas.microsoft.com/office/drawing/2014/main" id="{404A2C83-862F-4BA2-830E-F11AE7575C4E}"/>
              </a:ext>
            </a:extLst>
          </p:cNvPr>
          <p:cNvSpPr>
            <a:spLocks noGrp="1"/>
          </p:cNvSpPr>
          <p:nvPr/>
        </p:nvSpPr>
        <p:spPr>
          <a:xfrm>
            <a:off x="5810250" y="285750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9" name="S3_LABEL">
            <a:extLst>
              <a:ext uri="{FF2B5EF4-FFF2-40B4-BE49-F238E27FC236}">
                <a16:creationId xmlns:a16="http://schemas.microsoft.com/office/drawing/2014/main" id="{26EDCA7E-FC7D-41FC-B987-6E5B69E78669}"/>
              </a:ext>
            </a:extLst>
          </p:cNvPr>
          <p:cNvSpPr>
            <a:spLocks noGrp="1"/>
          </p:cNvSpPr>
          <p:nvPr/>
        </p:nvSpPr>
        <p:spPr>
          <a:xfrm>
            <a:off x="5810250" y="3238500"/>
            <a:ext cx="1962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卖得动</a:t>
            </a:r>
          </a:p>
        </p:txBody>
      </p:sp>
      <p:sp>
        <p:nvSpPr>
          <p:cNvPr id="20" name="S3_RESULT">
            <a:extLst>
              <a:ext uri="{FF2B5EF4-FFF2-40B4-BE49-F238E27FC236}">
                <a16:creationId xmlns:a16="http://schemas.microsoft.com/office/drawing/2014/main" id="{68E3C6B4-236D-48EC-BA3E-6412DA09C6D5}"/>
              </a:ext>
            </a:extLst>
          </p:cNvPr>
          <p:cNvSpPr>
            <a:spLocks noGrp="1"/>
          </p:cNvSpPr>
          <p:nvPr/>
        </p:nvSpPr>
        <p:spPr>
          <a:xfrm>
            <a:off x="5810250" y="363855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客户、项目和销量持续增加</a:t>
            </a:r>
          </a:p>
        </p:txBody>
      </p:sp>
      <p:sp>
        <p:nvSpPr>
          <p:cNvPr id="21" name="S3_TASK">
            <a:extLst>
              <a:ext uri="{FF2B5EF4-FFF2-40B4-BE49-F238E27FC236}">
                <a16:creationId xmlns:a16="http://schemas.microsoft.com/office/drawing/2014/main" id="{A1262302-D77E-4133-97FD-6D80D5AA7417}"/>
              </a:ext>
            </a:extLst>
          </p:cNvPr>
          <p:cNvSpPr>
            <a:spLocks noGrp="1"/>
          </p:cNvSpPr>
          <p:nvPr/>
        </p:nvSpPr>
        <p:spPr>
          <a:xfrm>
            <a:off x="5810250" y="4095750"/>
            <a:ext cx="19621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下一关：提高有效网点与转化效率</a:t>
            </a:r>
          </a:p>
        </p:txBody>
      </p:sp>
      <p:sp>
        <p:nvSpPr>
          <p:cNvPr id="22" name="S4_BLOCK">
            <a:extLst>
              <a:ext uri="{FF2B5EF4-FFF2-40B4-BE49-F238E27FC236}">
                <a16:creationId xmlns:a16="http://schemas.microsoft.com/office/drawing/2014/main" id="{970AB39D-EF02-4440-BC3E-1F453A2AC621}"/>
              </a:ext>
            </a:extLst>
          </p:cNvPr>
          <p:cNvSpPr>
            <a:spLocks noGrp="1"/>
          </p:cNvSpPr>
          <p:nvPr/>
        </p:nvSpPr>
        <p:spPr>
          <a:xfrm>
            <a:off x="7981950" y="2000250"/>
            <a:ext cx="3333750" cy="3905250"/>
          </a:xfrm>
          <a:prstGeom prst="rect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23" name="S4_NUMBER">
            <a:extLst>
              <a:ext uri="{FF2B5EF4-FFF2-40B4-BE49-F238E27FC236}">
                <a16:creationId xmlns:a16="http://schemas.microsoft.com/office/drawing/2014/main" id="{DD0FAAA6-DD49-4ED2-BE19-377337284EA4}"/>
              </a:ext>
            </a:extLst>
          </p:cNvPr>
          <p:cNvSpPr>
            <a:spLocks noGrp="1"/>
          </p:cNvSpPr>
          <p:nvPr/>
        </p:nvSpPr>
        <p:spPr>
          <a:xfrm>
            <a:off x="8191500" y="219075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S4_LABEL">
            <a:extLst>
              <a:ext uri="{FF2B5EF4-FFF2-40B4-BE49-F238E27FC236}">
                <a16:creationId xmlns:a16="http://schemas.microsoft.com/office/drawing/2014/main" id="{ECEF836E-8D91-41B5-9684-8266ED34EFAA}"/>
              </a:ext>
            </a:extLst>
          </p:cNvPr>
          <p:cNvSpPr>
            <a:spLocks noGrp="1"/>
          </p:cNvSpPr>
          <p:nvPr/>
        </p:nvSpPr>
        <p:spPr>
          <a:xfrm>
            <a:off x="8191500" y="2571750"/>
            <a:ext cx="29146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做得深</a:t>
            </a:r>
          </a:p>
        </p:txBody>
      </p:sp>
      <p:sp>
        <p:nvSpPr>
          <p:cNvPr id="25" name="S4_RESULT">
            <a:extLst>
              <a:ext uri="{FF2B5EF4-FFF2-40B4-BE49-F238E27FC236}">
                <a16:creationId xmlns:a16="http://schemas.microsoft.com/office/drawing/2014/main" id="{D9E2C376-C085-46D6-8A07-22B109C268AA}"/>
              </a:ext>
            </a:extLst>
          </p:cNvPr>
          <p:cNvSpPr>
            <a:spLocks noGrp="1"/>
          </p:cNvSpPr>
          <p:nvPr/>
        </p:nvSpPr>
        <p:spPr>
          <a:xfrm>
            <a:off x="8191500" y="297180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单点、单客和单项目价值提高</a:t>
            </a:r>
          </a:p>
        </p:txBody>
      </p:sp>
      <p:sp>
        <p:nvSpPr>
          <p:cNvPr id="26" name="S4_TASK">
            <a:extLst>
              <a:ext uri="{FF2B5EF4-FFF2-40B4-BE49-F238E27FC236}">
                <a16:creationId xmlns:a16="http://schemas.microsoft.com/office/drawing/2014/main" id="{ED4627A6-F825-47D8-BA32-62E46C4A84E8}"/>
              </a:ext>
            </a:extLst>
          </p:cNvPr>
          <p:cNvSpPr>
            <a:spLocks noGrp="1"/>
          </p:cNvSpPr>
          <p:nvPr/>
        </p:nvSpPr>
        <p:spPr>
          <a:xfrm>
            <a:off x="8191500" y="3429000"/>
            <a:ext cx="2914650" cy="2381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下一关：组合扩品，沉淀并复制方法</a:t>
            </a:r>
          </a:p>
        </p:txBody>
      </p:sp>
      <p:sp>
        <p:nvSpPr>
          <p:cNvPr id="27" name="STAGE_RULE">
            <a:extLst>
              <a:ext uri="{FF2B5EF4-FFF2-40B4-BE49-F238E27FC236}">
                <a16:creationId xmlns:a16="http://schemas.microsoft.com/office/drawing/2014/main" id="{1D4E1AF0-EC74-4EAC-AC79-B1F60C72A5AE}"/>
              </a:ext>
            </a:extLst>
          </p:cNvPr>
          <p:cNvSpPr>
            <a:spLocks noGrp="1"/>
          </p:cNvSpPr>
          <p:nvPr/>
        </p:nvSpPr>
        <p:spPr>
          <a:xfrm>
            <a:off x="838200" y="1895475"/>
            <a:ext cx="6286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先说证据，再选阶段；阶段决定下一步任务，不是给乡镇打分。</a:t>
            </a:r>
          </a:p>
        </p:txBody>
      </p:sp>
      <p:sp>
        <p:nvSpPr>
          <p:cNvPr id="28" name="TEACHING_CUE">
            <a:extLst>
              <a:ext uri="{FF2B5EF4-FFF2-40B4-BE49-F238E27FC236}">
                <a16:creationId xmlns:a16="http://schemas.microsoft.com/office/drawing/2014/main" id="{2DB1E978-80B2-47BD-832B-E67D68C2F0DF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课堂动作：给出一个乡镇情境，学员先举牌选阶段，再说出支撑判断的事实。</a:t>
            </a:r>
          </a:p>
        </p:txBody>
      </p:sp>
      <p:sp>
        <p:nvSpPr>
          <p:cNvPr id="29" name="PAGE_NUMBER">
            <a:extLst>
              <a:ext uri="{FF2B5EF4-FFF2-40B4-BE49-F238E27FC236}">
                <a16:creationId xmlns:a16="http://schemas.microsoft.com/office/drawing/2014/main" id="{0884160C-C642-4EF0-A1D2-4E58AD8F5BF1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924614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FB45F5DD-6DF3-42AB-8B60-3EF0E556EAED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DC-17 · SYMPTOM CLUSTERING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4D74369-284E-4DB6-B9FE-326ED39917B0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问题很多时，先把零散现象聚成四类病症，再找真正的主问题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2301BA9C-77DE-4ACD-A7EA-4268BCBD5175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症状写事实，病症做归纳；不要把“继续铺货、继续活动”当成未经诊断的默认答案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D1DE82DE-35D1-410A-B376-330771657352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SYMPTOM_01">
            <a:extLst>
              <a:ext uri="{FF2B5EF4-FFF2-40B4-BE49-F238E27FC236}">
                <a16:creationId xmlns:a16="http://schemas.microsoft.com/office/drawing/2014/main" id="{236107BA-0123-4633-A1D8-33DFA55338A2}"/>
              </a:ext>
            </a:extLst>
          </p:cNvPr>
          <p:cNvSpPr>
            <a:spLocks noGrp="1"/>
          </p:cNvSpPr>
          <p:nvPr/>
        </p:nvSpPr>
        <p:spPr>
          <a:xfrm rot="-240000">
            <a:off x="666750" y="2057400"/>
            <a:ext cx="1600200" cy="6286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SYMPTOM_01_TEXT">
            <a:extLst>
              <a:ext uri="{FF2B5EF4-FFF2-40B4-BE49-F238E27FC236}">
                <a16:creationId xmlns:a16="http://schemas.microsoft.com/office/drawing/2014/main" id="{7DE256CA-D539-410A-85B8-D75A5631005A}"/>
              </a:ext>
            </a:extLst>
          </p:cNvPr>
          <p:cNvSpPr>
            <a:spLocks noGrp="1"/>
          </p:cNvSpPr>
          <p:nvPr/>
        </p:nvSpPr>
        <p:spPr>
          <a:xfrm rot="-240000">
            <a:off x="752475" y="2171700"/>
            <a:ext cx="1428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活动很多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市场一停就安静</a:t>
            </a:r>
          </a:p>
        </p:txBody>
      </p:sp>
      <p:sp>
        <p:nvSpPr>
          <p:cNvPr id="9" name="SYMPTOM_02">
            <a:extLst>
              <a:ext uri="{FF2B5EF4-FFF2-40B4-BE49-F238E27FC236}">
                <a16:creationId xmlns:a16="http://schemas.microsoft.com/office/drawing/2014/main" id="{4E2A0B50-ACFD-4D8E-8EDE-37F22D9A51D1}"/>
              </a:ext>
            </a:extLst>
          </p:cNvPr>
          <p:cNvSpPr>
            <a:spLocks noGrp="1"/>
          </p:cNvSpPr>
          <p:nvPr/>
        </p:nvSpPr>
        <p:spPr>
          <a:xfrm rot="180000">
            <a:off x="2428875" y="1885950"/>
            <a:ext cx="1504950" cy="70485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SYMPTOM_02_TEXT">
            <a:extLst>
              <a:ext uri="{FF2B5EF4-FFF2-40B4-BE49-F238E27FC236}">
                <a16:creationId xmlns:a16="http://schemas.microsoft.com/office/drawing/2014/main" id="{9C84BC26-9C2F-4023-BE93-64037011C712}"/>
              </a:ext>
            </a:extLst>
          </p:cNvPr>
          <p:cNvSpPr>
            <a:spLocks noGrp="1"/>
          </p:cNvSpPr>
          <p:nvPr/>
        </p:nvSpPr>
        <p:spPr>
          <a:xfrm rot="180000">
            <a:off x="2514600" y="2000250"/>
            <a:ext cx="1333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有曝光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没有购买入口</a:t>
            </a:r>
          </a:p>
        </p:txBody>
      </p:sp>
      <p:sp>
        <p:nvSpPr>
          <p:cNvPr id="11" name="SYMPTOM_03">
            <a:extLst>
              <a:ext uri="{FF2B5EF4-FFF2-40B4-BE49-F238E27FC236}">
                <a16:creationId xmlns:a16="http://schemas.microsoft.com/office/drawing/2014/main" id="{5CAFD797-6866-457A-9A8B-8426989938A2}"/>
              </a:ext>
            </a:extLst>
          </p:cNvPr>
          <p:cNvSpPr>
            <a:spLocks noGrp="1"/>
          </p:cNvSpPr>
          <p:nvPr/>
        </p:nvSpPr>
        <p:spPr>
          <a:xfrm rot="120000">
            <a:off x="866775" y="2886075"/>
            <a:ext cx="1638300" cy="6667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SYMPTOM_03_TEXT">
            <a:extLst>
              <a:ext uri="{FF2B5EF4-FFF2-40B4-BE49-F238E27FC236}">
                <a16:creationId xmlns:a16="http://schemas.microsoft.com/office/drawing/2014/main" id="{F6222EA3-98DE-4D46-A1EF-1A7146379519}"/>
              </a:ext>
            </a:extLst>
          </p:cNvPr>
          <p:cNvSpPr>
            <a:spLocks noGrp="1"/>
          </p:cNvSpPr>
          <p:nvPr/>
        </p:nvSpPr>
        <p:spPr>
          <a:xfrm rot="120000">
            <a:off x="952500" y="3000375"/>
            <a:ext cx="1466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首批进货后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很少补货</a:t>
            </a:r>
          </a:p>
        </p:txBody>
      </p:sp>
      <p:sp>
        <p:nvSpPr>
          <p:cNvPr id="13" name="SYMPTOM_04">
            <a:extLst>
              <a:ext uri="{FF2B5EF4-FFF2-40B4-BE49-F238E27FC236}">
                <a16:creationId xmlns:a16="http://schemas.microsoft.com/office/drawing/2014/main" id="{95669166-597D-4E3A-996D-63CFC6143F09}"/>
              </a:ext>
            </a:extLst>
          </p:cNvPr>
          <p:cNvSpPr>
            <a:spLocks noGrp="1"/>
          </p:cNvSpPr>
          <p:nvPr/>
        </p:nvSpPr>
        <p:spPr>
          <a:xfrm rot="-180000">
            <a:off x="2686050" y="2781300"/>
            <a:ext cx="1619250" cy="68580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SYMPTOM_04_TEXT">
            <a:extLst>
              <a:ext uri="{FF2B5EF4-FFF2-40B4-BE49-F238E27FC236}">
                <a16:creationId xmlns:a16="http://schemas.microsoft.com/office/drawing/2014/main" id="{ABD6CE9C-26CD-4B1E-8581-45FEAA662CE7}"/>
              </a:ext>
            </a:extLst>
          </p:cNvPr>
          <p:cNvSpPr>
            <a:spLocks noGrp="1"/>
          </p:cNvSpPr>
          <p:nvPr/>
        </p:nvSpPr>
        <p:spPr>
          <a:xfrm rot="-180000">
            <a:off x="2771775" y="2895600"/>
            <a:ext cx="14478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项目做完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没有新线索</a:t>
            </a:r>
          </a:p>
        </p:txBody>
      </p:sp>
      <p:sp>
        <p:nvSpPr>
          <p:cNvPr id="15" name="SYMPTOM_05">
            <a:extLst>
              <a:ext uri="{FF2B5EF4-FFF2-40B4-BE49-F238E27FC236}">
                <a16:creationId xmlns:a16="http://schemas.microsoft.com/office/drawing/2014/main" id="{AACDF1F3-847E-42E0-801A-7DEB303F62A2}"/>
              </a:ext>
            </a:extLst>
          </p:cNvPr>
          <p:cNvSpPr>
            <a:spLocks noGrp="1"/>
          </p:cNvSpPr>
          <p:nvPr/>
        </p:nvSpPr>
        <p:spPr>
          <a:xfrm rot="-120000">
            <a:off x="695325" y="3800475"/>
            <a:ext cx="1619250" cy="7048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SYMPTOM_05_TEXT">
            <a:extLst>
              <a:ext uri="{FF2B5EF4-FFF2-40B4-BE49-F238E27FC236}">
                <a16:creationId xmlns:a16="http://schemas.microsoft.com/office/drawing/2014/main" id="{D28A1884-4B9E-4FE4-AE5A-46D3A1DDB9DD}"/>
              </a:ext>
            </a:extLst>
          </p:cNvPr>
          <p:cNvSpPr>
            <a:spLocks noGrp="1"/>
          </p:cNvSpPr>
          <p:nvPr/>
        </p:nvSpPr>
        <p:spPr>
          <a:xfrm rot="-120000">
            <a:off x="781050" y="3914775"/>
            <a:ext cx="14478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网点不少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真正卖货的很少</a:t>
            </a:r>
          </a:p>
        </p:txBody>
      </p:sp>
      <p:sp>
        <p:nvSpPr>
          <p:cNvPr id="17" name="SYMPTOM_06">
            <a:extLst>
              <a:ext uri="{FF2B5EF4-FFF2-40B4-BE49-F238E27FC236}">
                <a16:creationId xmlns:a16="http://schemas.microsoft.com/office/drawing/2014/main" id="{83B34019-E26B-4591-AD05-A6D0A0D32878}"/>
              </a:ext>
            </a:extLst>
          </p:cNvPr>
          <p:cNvSpPr>
            <a:spLocks noGrp="1"/>
          </p:cNvSpPr>
          <p:nvPr/>
        </p:nvSpPr>
        <p:spPr>
          <a:xfrm rot="180000">
            <a:off x="2533650" y="3743325"/>
            <a:ext cx="1762125" cy="68580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SYMPTOM_06_TEXT">
            <a:extLst>
              <a:ext uri="{FF2B5EF4-FFF2-40B4-BE49-F238E27FC236}">
                <a16:creationId xmlns:a16="http://schemas.microsoft.com/office/drawing/2014/main" id="{5E710C74-14B7-4DEE-81E0-4B12F29F8BB5}"/>
              </a:ext>
            </a:extLst>
          </p:cNvPr>
          <p:cNvSpPr>
            <a:spLocks noGrp="1"/>
          </p:cNvSpPr>
          <p:nvPr/>
        </p:nvSpPr>
        <p:spPr>
          <a:xfrm rot="180000">
            <a:off x="2619375" y="3857625"/>
            <a:ext cx="15906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业务员天天跑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仍以送货收款为主</a:t>
            </a:r>
          </a:p>
        </p:txBody>
      </p:sp>
      <p:sp>
        <p:nvSpPr>
          <p:cNvPr id="19" name="SYMPTOM_07">
            <a:extLst>
              <a:ext uri="{FF2B5EF4-FFF2-40B4-BE49-F238E27FC236}">
                <a16:creationId xmlns:a16="http://schemas.microsoft.com/office/drawing/2014/main" id="{A3E816CC-80E9-45F3-8384-EEE0AE83D9C5}"/>
              </a:ext>
            </a:extLst>
          </p:cNvPr>
          <p:cNvSpPr>
            <a:spLocks noGrp="1"/>
          </p:cNvSpPr>
          <p:nvPr/>
        </p:nvSpPr>
        <p:spPr>
          <a:xfrm rot="120000">
            <a:off x="1019175" y="4733925"/>
            <a:ext cx="1619250" cy="6667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0" name="SYMPTOM_07_TEXT">
            <a:extLst>
              <a:ext uri="{FF2B5EF4-FFF2-40B4-BE49-F238E27FC236}">
                <a16:creationId xmlns:a16="http://schemas.microsoft.com/office/drawing/2014/main" id="{375F6752-2277-4CD7-A37A-DC0E0B70CF8C}"/>
              </a:ext>
            </a:extLst>
          </p:cNvPr>
          <p:cNvSpPr>
            <a:spLocks noGrp="1"/>
          </p:cNvSpPr>
          <p:nvPr/>
        </p:nvSpPr>
        <p:spPr>
          <a:xfrm rot="120000">
            <a:off x="1104900" y="4848225"/>
            <a:ext cx="14478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销量稳定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单点产出不再增长</a:t>
            </a:r>
          </a:p>
        </p:txBody>
      </p:sp>
      <p:sp>
        <p:nvSpPr>
          <p:cNvPr id="21" name="SYMPTOM_08">
            <a:extLst>
              <a:ext uri="{FF2B5EF4-FFF2-40B4-BE49-F238E27FC236}">
                <a16:creationId xmlns:a16="http://schemas.microsoft.com/office/drawing/2014/main" id="{0356F3CD-0E1B-47B5-93BB-093A9A16FF61}"/>
              </a:ext>
            </a:extLst>
          </p:cNvPr>
          <p:cNvSpPr>
            <a:spLocks noGrp="1"/>
          </p:cNvSpPr>
          <p:nvPr/>
        </p:nvSpPr>
        <p:spPr>
          <a:xfrm rot="-180000">
            <a:off x="2828925" y="4629150"/>
            <a:ext cx="1600200" cy="72390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2" name="SYMPTOM_08_TEXT">
            <a:extLst>
              <a:ext uri="{FF2B5EF4-FFF2-40B4-BE49-F238E27FC236}">
                <a16:creationId xmlns:a16="http://schemas.microsoft.com/office/drawing/2014/main" id="{64100E53-911E-4A9D-84F6-040FBE2B621F}"/>
              </a:ext>
            </a:extLst>
          </p:cNvPr>
          <p:cNvSpPr>
            <a:spLocks noGrp="1"/>
          </p:cNvSpPr>
          <p:nvPr/>
        </p:nvSpPr>
        <p:spPr>
          <a:xfrm rot="-180000">
            <a:off x="2914650" y="4743450"/>
            <a:ext cx="1428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长期依赖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少数单品和熟人</a:t>
            </a:r>
          </a:p>
        </p:txBody>
      </p:sp>
      <p:sp>
        <p:nvSpPr>
          <p:cNvPr id="23" name="CONVERGE_ARROW">
            <a:extLst>
              <a:ext uri="{FF2B5EF4-FFF2-40B4-BE49-F238E27FC236}">
                <a16:creationId xmlns:a16="http://schemas.microsoft.com/office/drawing/2014/main" id="{1D33780E-034F-430A-B80C-22D7B282D124}"/>
              </a:ext>
            </a:extLst>
          </p:cNvPr>
          <p:cNvSpPr>
            <a:spLocks noGrp="1"/>
          </p:cNvSpPr>
          <p:nvPr/>
        </p:nvSpPr>
        <p:spPr>
          <a:xfrm>
            <a:off x="4695825" y="3343275"/>
            <a:ext cx="914400" cy="476250"/>
          </a:xfrm>
          <a:prstGeom prst="rightArrow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24" name="C1_CLUSTER">
            <a:extLst>
              <a:ext uri="{FF2B5EF4-FFF2-40B4-BE49-F238E27FC236}">
                <a16:creationId xmlns:a16="http://schemas.microsoft.com/office/drawing/2014/main" id="{86F3D1BC-3F9D-4CF5-90B2-89B72B1F9368}"/>
              </a:ext>
            </a:extLst>
          </p:cNvPr>
          <p:cNvSpPr>
            <a:spLocks noGrp="1"/>
          </p:cNvSpPr>
          <p:nvPr/>
        </p:nvSpPr>
        <p:spPr>
          <a:xfrm>
            <a:off x="6000750" y="200025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FFF0F2"/>
          </a:solidFill>
          <a:ln w="19050">
            <a:solidFill>
              <a:srgbClr val="D6001C"/>
            </a:solidFill>
            <a:prstDash val="solid"/>
          </a:ln>
        </p:spPr>
      </p:sp>
      <p:sp>
        <p:nvSpPr>
          <p:cNvPr id="25" name="C1_LABEL">
            <a:extLst>
              <a:ext uri="{FF2B5EF4-FFF2-40B4-BE49-F238E27FC236}">
                <a16:creationId xmlns:a16="http://schemas.microsoft.com/office/drawing/2014/main" id="{CF5C6B6B-EBFC-4F3C-8F59-0D019E270F2B}"/>
              </a:ext>
            </a:extLst>
          </p:cNvPr>
          <p:cNvSpPr>
            <a:spLocks noGrp="1"/>
          </p:cNvSpPr>
          <p:nvPr/>
        </p:nvSpPr>
        <p:spPr>
          <a:xfrm>
            <a:off x="6172200" y="228600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市场空转症</a:t>
            </a:r>
          </a:p>
        </p:txBody>
      </p:sp>
      <p:sp>
        <p:nvSpPr>
          <p:cNvPr id="26" name="C1_DESC">
            <a:extLst>
              <a:ext uri="{FF2B5EF4-FFF2-40B4-BE49-F238E27FC236}">
                <a16:creationId xmlns:a16="http://schemas.microsoft.com/office/drawing/2014/main" id="{BE675C0E-E728-4A09-836B-DABD880AB319}"/>
              </a:ext>
            </a:extLst>
          </p:cNvPr>
          <p:cNvSpPr>
            <a:spLocks noGrp="1"/>
          </p:cNvSpPr>
          <p:nvPr/>
        </p:nvSpPr>
        <p:spPr>
          <a:xfrm>
            <a:off x="6172200" y="27813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有动作，没入口</a:t>
            </a:r>
          </a:p>
        </p:txBody>
      </p:sp>
      <p:sp>
        <p:nvSpPr>
          <p:cNvPr id="27" name="C2_CLUSTER">
            <a:extLst>
              <a:ext uri="{FF2B5EF4-FFF2-40B4-BE49-F238E27FC236}">
                <a16:creationId xmlns:a16="http://schemas.microsoft.com/office/drawing/2014/main" id="{C0E70DE0-4FDA-4428-AE79-833B239B06B3}"/>
              </a:ext>
            </a:extLst>
          </p:cNvPr>
          <p:cNvSpPr>
            <a:spLocks noGrp="1"/>
          </p:cNvSpPr>
          <p:nvPr/>
        </p:nvSpPr>
        <p:spPr>
          <a:xfrm>
            <a:off x="8705850" y="200025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EAF2FA"/>
          </a:solidFill>
          <a:ln w="19050">
            <a:solidFill>
              <a:srgbClr val="246AA8"/>
            </a:solidFill>
            <a:prstDash val="solid"/>
          </a:ln>
        </p:spPr>
      </p:sp>
      <p:sp>
        <p:nvSpPr>
          <p:cNvPr id="28" name="C2_LABEL">
            <a:extLst>
              <a:ext uri="{FF2B5EF4-FFF2-40B4-BE49-F238E27FC236}">
                <a16:creationId xmlns:a16="http://schemas.microsoft.com/office/drawing/2014/main" id="{ED24C0D1-93C7-44FE-B16E-D26E633E9A18}"/>
              </a:ext>
            </a:extLst>
          </p:cNvPr>
          <p:cNvSpPr>
            <a:spLocks noGrp="1"/>
          </p:cNvSpPr>
          <p:nvPr/>
        </p:nvSpPr>
        <p:spPr>
          <a:xfrm>
            <a:off x="8877300" y="228600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首单依赖症</a:t>
            </a:r>
          </a:p>
        </p:txBody>
      </p:sp>
      <p:sp>
        <p:nvSpPr>
          <p:cNvPr id="29" name="C2_DESC">
            <a:extLst>
              <a:ext uri="{FF2B5EF4-FFF2-40B4-BE49-F238E27FC236}">
                <a16:creationId xmlns:a16="http://schemas.microsoft.com/office/drawing/2014/main" id="{B3F3BA6B-53D5-4002-AB10-BD0A20D07836}"/>
              </a:ext>
            </a:extLst>
          </p:cNvPr>
          <p:cNvSpPr>
            <a:spLocks noGrp="1"/>
          </p:cNvSpPr>
          <p:nvPr/>
        </p:nvSpPr>
        <p:spPr>
          <a:xfrm>
            <a:off x="8877300" y="27813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有首单，没复购</a:t>
            </a:r>
          </a:p>
        </p:txBody>
      </p:sp>
      <p:sp>
        <p:nvSpPr>
          <p:cNvPr id="30" name="C3_CLUSTER">
            <a:extLst>
              <a:ext uri="{FF2B5EF4-FFF2-40B4-BE49-F238E27FC236}">
                <a16:creationId xmlns:a16="http://schemas.microsoft.com/office/drawing/2014/main" id="{90B98366-EF37-439A-8D17-9E69A0CF5F2E}"/>
              </a:ext>
            </a:extLst>
          </p:cNvPr>
          <p:cNvSpPr>
            <a:spLocks noGrp="1"/>
          </p:cNvSpPr>
          <p:nvPr/>
        </p:nvSpPr>
        <p:spPr>
          <a:xfrm>
            <a:off x="6000750" y="384810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FFF4DC"/>
          </a:solidFill>
          <a:ln w="19050">
            <a:solidFill>
              <a:srgbClr val="B87700"/>
            </a:solidFill>
            <a:prstDash val="solid"/>
          </a:ln>
        </p:spPr>
      </p:sp>
      <p:sp>
        <p:nvSpPr>
          <p:cNvPr id="31" name="C3_LABEL">
            <a:extLst>
              <a:ext uri="{FF2B5EF4-FFF2-40B4-BE49-F238E27FC236}">
                <a16:creationId xmlns:a16="http://schemas.microsoft.com/office/drawing/2014/main" id="{4700807F-1BB2-47A7-9528-8DE9E5B0560A}"/>
              </a:ext>
            </a:extLst>
          </p:cNvPr>
          <p:cNvSpPr>
            <a:spLocks noGrp="1"/>
          </p:cNvSpPr>
          <p:nvPr/>
        </p:nvSpPr>
        <p:spPr>
          <a:xfrm>
            <a:off x="6172200" y="413385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网点低效症</a:t>
            </a:r>
          </a:p>
        </p:txBody>
      </p:sp>
      <p:sp>
        <p:nvSpPr>
          <p:cNvPr id="32" name="C3_DESC">
            <a:extLst>
              <a:ext uri="{FF2B5EF4-FFF2-40B4-BE49-F238E27FC236}">
                <a16:creationId xmlns:a16="http://schemas.microsoft.com/office/drawing/2014/main" id="{6639D601-14F0-4DD8-B0ED-E75448FE51AD}"/>
              </a:ext>
            </a:extLst>
          </p:cNvPr>
          <p:cNvSpPr>
            <a:spLocks noGrp="1"/>
          </p:cNvSpPr>
          <p:nvPr/>
        </p:nvSpPr>
        <p:spPr>
          <a:xfrm>
            <a:off x="6172200" y="462915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有网点，没增量</a:t>
            </a:r>
          </a:p>
        </p:txBody>
      </p:sp>
      <p:sp>
        <p:nvSpPr>
          <p:cNvPr id="33" name="C4_CLUSTER">
            <a:extLst>
              <a:ext uri="{FF2B5EF4-FFF2-40B4-BE49-F238E27FC236}">
                <a16:creationId xmlns:a16="http://schemas.microsoft.com/office/drawing/2014/main" id="{F8EE678C-EC13-49ED-9590-21A3D5BD40BF}"/>
              </a:ext>
            </a:extLst>
          </p:cNvPr>
          <p:cNvSpPr>
            <a:spLocks noGrp="1"/>
          </p:cNvSpPr>
          <p:nvPr/>
        </p:nvSpPr>
        <p:spPr>
          <a:xfrm>
            <a:off x="8705850" y="384810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EAF5F1"/>
          </a:solidFill>
          <a:ln w="19050">
            <a:solidFill>
              <a:srgbClr val="26866A"/>
            </a:solidFill>
            <a:prstDash val="solid"/>
          </a:ln>
        </p:spPr>
      </p:sp>
      <p:sp>
        <p:nvSpPr>
          <p:cNvPr id="34" name="C4_LABEL">
            <a:extLst>
              <a:ext uri="{FF2B5EF4-FFF2-40B4-BE49-F238E27FC236}">
                <a16:creationId xmlns:a16="http://schemas.microsoft.com/office/drawing/2014/main" id="{AF8CE514-2A7A-45C2-88A5-FDF4FC9438B6}"/>
              </a:ext>
            </a:extLst>
          </p:cNvPr>
          <p:cNvSpPr>
            <a:spLocks noGrp="1"/>
          </p:cNvSpPr>
          <p:nvPr/>
        </p:nvSpPr>
        <p:spPr>
          <a:xfrm>
            <a:off x="8877300" y="413385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老路依赖症</a:t>
            </a:r>
          </a:p>
        </p:txBody>
      </p:sp>
      <p:sp>
        <p:nvSpPr>
          <p:cNvPr id="35" name="C4_DESC">
            <a:extLst>
              <a:ext uri="{FF2B5EF4-FFF2-40B4-BE49-F238E27FC236}">
                <a16:creationId xmlns:a16="http://schemas.microsoft.com/office/drawing/2014/main" id="{3D63F975-A552-4FFB-9359-6905BE3D742C}"/>
              </a:ext>
            </a:extLst>
          </p:cNvPr>
          <p:cNvSpPr>
            <a:spLocks noGrp="1"/>
          </p:cNvSpPr>
          <p:nvPr/>
        </p:nvSpPr>
        <p:spPr>
          <a:xfrm>
            <a:off x="8877300" y="462915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有销量，没突破</a:t>
            </a:r>
          </a:p>
        </p:txBody>
      </p:sp>
      <p:sp>
        <p:nvSpPr>
          <p:cNvPr id="36" name="TEACHING_CUE">
            <a:extLst>
              <a:ext uri="{FF2B5EF4-FFF2-40B4-BE49-F238E27FC236}">
                <a16:creationId xmlns:a16="http://schemas.microsoft.com/office/drawing/2014/main" id="{80B5F507-5834-422C-98EF-1A7FB86FD9AE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课堂动作：先把症状便签归类，再投票选出影响最大的1个主病症。</a:t>
            </a:r>
          </a:p>
        </p:txBody>
      </p:sp>
      <p:sp>
        <p:nvSpPr>
          <p:cNvPr id="37" name="PAGE_NUMBER">
            <a:extLst>
              <a:ext uri="{FF2B5EF4-FFF2-40B4-BE49-F238E27FC236}">
                <a16:creationId xmlns:a16="http://schemas.microsoft.com/office/drawing/2014/main" id="{4C24D9BC-D7BF-47C3-B68C-51CCAA4AFC3B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0291753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406F3525-0FD2-4CF1-A4D3-C1DF83B7D9CD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4458"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DC-20 · INTEGRATED DIAGNOSIS CHAIN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7E19D81-A60E-45BC-88EF-BC2CE4070FFB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综合诊断必须走完五步，不能从病症直接跳到促销动作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1B367540-AAAE-4837-8FCA-C972935BD88D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先确认经营结果，再确定阶段任务；然后识别病症、锁定四力短板，最后只选2—3项优先动作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ABC45785-B4B5-4BCA-8EAE-3ABEF960AE10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DIAGNOSIS_SPINE">
            <a:extLst>
              <a:ext uri="{FF2B5EF4-FFF2-40B4-BE49-F238E27FC236}">
                <a16:creationId xmlns:a16="http://schemas.microsoft.com/office/drawing/2014/main" id="{794CD394-276C-49E8-88E4-D185C473138C}"/>
              </a:ext>
            </a:extLst>
          </p:cNvPr>
          <p:cNvSpPr>
            <a:spLocks noGrp="1"/>
          </p:cNvSpPr>
          <p:nvPr/>
        </p:nvSpPr>
        <p:spPr>
          <a:xfrm>
            <a:off x="3048000" y="2124075"/>
            <a:ext cx="0" cy="3676650"/>
          </a:xfrm>
          <a:prstGeom prst="line">
            <a:avLst/>
          </a:prstGeom>
          <a:noFill/>
          <a:ln w="38100">
            <a:solidFill>
              <a:srgbClr val="D6001C"/>
            </a:solidFill>
            <a:prstDash val="solid"/>
          </a:ln>
        </p:spPr>
      </p:sp>
      <p:sp>
        <p:nvSpPr>
          <p:cNvPr id="8" name="STEP_1_DOT">
            <a:extLst>
              <a:ext uri="{FF2B5EF4-FFF2-40B4-BE49-F238E27FC236}">
                <a16:creationId xmlns:a16="http://schemas.microsoft.com/office/drawing/2014/main" id="{ED55369F-4A6B-4817-AB57-81CB7B98798F}"/>
              </a:ext>
            </a:extLst>
          </p:cNvPr>
          <p:cNvSpPr>
            <a:spLocks noGrp="1"/>
          </p:cNvSpPr>
          <p:nvPr/>
        </p:nvSpPr>
        <p:spPr>
          <a:xfrm>
            <a:off x="2800350" y="2095500"/>
            <a:ext cx="495300" cy="495300"/>
          </a:xfrm>
          <a:prstGeom prst="ellipse">
            <a:avLst/>
          </a:prstGeom>
          <a:solidFill>
            <a:srgbClr val="246AA8"/>
          </a:solidFill>
          <a:ln w="0">
            <a:noFill/>
            <a:prstDash val="solid"/>
          </a:ln>
        </p:spPr>
      </p:sp>
      <p:sp>
        <p:nvSpPr>
          <p:cNvPr id="9" name="STEP_1_NUMBER">
            <a:extLst>
              <a:ext uri="{FF2B5EF4-FFF2-40B4-BE49-F238E27FC236}">
                <a16:creationId xmlns:a16="http://schemas.microsoft.com/office/drawing/2014/main" id="{DCD5586A-D942-43F8-A4D6-AE81284E2BE5}"/>
              </a:ext>
            </a:extLst>
          </p:cNvPr>
          <p:cNvSpPr>
            <a:spLocks noGrp="1"/>
          </p:cNvSpPr>
          <p:nvPr/>
        </p:nvSpPr>
        <p:spPr>
          <a:xfrm>
            <a:off x="2924175" y="2190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0" name="STEP_1_LABEL">
            <a:extLst>
              <a:ext uri="{FF2B5EF4-FFF2-40B4-BE49-F238E27FC236}">
                <a16:creationId xmlns:a16="http://schemas.microsoft.com/office/drawing/2014/main" id="{29C47432-7B74-4232-86DA-601E0B0E3484}"/>
              </a:ext>
            </a:extLst>
          </p:cNvPr>
          <p:cNvSpPr>
            <a:spLocks noGrp="1"/>
          </p:cNvSpPr>
          <p:nvPr/>
        </p:nvSpPr>
        <p:spPr>
          <a:xfrm>
            <a:off x="666750" y="2095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阶段</a:t>
            </a:r>
          </a:p>
        </p:txBody>
      </p:sp>
      <p:sp>
        <p:nvSpPr>
          <p:cNvPr id="11" name="STEP_1_QUESTION">
            <a:extLst>
              <a:ext uri="{FF2B5EF4-FFF2-40B4-BE49-F238E27FC236}">
                <a16:creationId xmlns:a16="http://schemas.microsoft.com/office/drawing/2014/main" id="{C7326DED-C623-464B-A965-19859DD21AF5}"/>
              </a:ext>
            </a:extLst>
          </p:cNvPr>
          <p:cNvSpPr>
            <a:spLocks noGrp="1"/>
          </p:cNvSpPr>
          <p:nvPr/>
        </p:nvSpPr>
        <p:spPr>
          <a:xfrm>
            <a:off x="3619500" y="2047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已经形成什么结果？</a:t>
            </a:r>
          </a:p>
        </p:txBody>
      </p:sp>
      <p:sp>
        <p:nvSpPr>
          <p:cNvPr id="12" name="STEP_1_OUTPUT_SURFACE">
            <a:extLst>
              <a:ext uri="{FF2B5EF4-FFF2-40B4-BE49-F238E27FC236}">
                <a16:creationId xmlns:a16="http://schemas.microsoft.com/office/drawing/2014/main" id="{8042AA74-67BC-4751-BFA7-CDC3C236BA4E}"/>
              </a:ext>
            </a:extLst>
          </p:cNvPr>
          <p:cNvSpPr>
            <a:spLocks noGrp="1"/>
          </p:cNvSpPr>
          <p:nvPr/>
        </p:nvSpPr>
        <p:spPr>
          <a:xfrm>
            <a:off x="7524750" y="2028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EAF2FA"/>
          </a:solidFill>
          <a:ln w="14288">
            <a:solidFill>
              <a:srgbClr val="246AA8"/>
            </a:solidFill>
            <a:prstDash val="solid"/>
          </a:ln>
        </p:spPr>
      </p:sp>
      <p:sp>
        <p:nvSpPr>
          <p:cNvPr id="13" name="STEP_1_OUTPUT">
            <a:extLst>
              <a:ext uri="{FF2B5EF4-FFF2-40B4-BE49-F238E27FC236}">
                <a16:creationId xmlns:a16="http://schemas.microsoft.com/office/drawing/2014/main" id="{5F0F91D4-D2A8-4387-B430-4E471B793639}"/>
              </a:ext>
            </a:extLst>
          </p:cNvPr>
          <p:cNvSpPr>
            <a:spLocks noGrp="1"/>
          </p:cNvSpPr>
          <p:nvPr/>
        </p:nvSpPr>
        <p:spPr>
          <a:xfrm>
            <a:off x="7715250" y="2143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当前阶段：站得住</a:t>
            </a:r>
          </a:p>
        </p:txBody>
      </p:sp>
      <p:sp>
        <p:nvSpPr>
          <p:cNvPr id="14" name="STEP_2_DOT">
            <a:extLst>
              <a:ext uri="{FF2B5EF4-FFF2-40B4-BE49-F238E27FC236}">
                <a16:creationId xmlns:a16="http://schemas.microsoft.com/office/drawing/2014/main" id="{1BEFCA22-C0CC-4B06-89C6-A71588021BAC}"/>
              </a:ext>
            </a:extLst>
          </p:cNvPr>
          <p:cNvSpPr>
            <a:spLocks noGrp="1"/>
          </p:cNvSpPr>
          <p:nvPr/>
        </p:nvSpPr>
        <p:spPr>
          <a:xfrm>
            <a:off x="2800350" y="2857500"/>
            <a:ext cx="495300" cy="495300"/>
          </a:xfrm>
          <a:prstGeom prst="ellipse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15" name="STEP_2_NUMBER">
            <a:extLst>
              <a:ext uri="{FF2B5EF4-FFF2-40B4-BE49-F238E27FC236}">
                <a16:creationId xmlns:a16="http://schemas.microsoft.com/office/drawing/2014/main" id="{0C395E19-1AC0-4E9E-9C9D-EC9F78EA0582}"/>
              </a:ext>
            </a:extLst>
          </p:cNvPr>
          <p:cNvSpPr>
            <a:spLocks noGrp="1"/>
          </p:cNvSpPr>
          <p:nvPr/>
        </p:nvSpPr>
        <p:spPr>
          <a:xfrm>
            <a:off x="2924175" y="2952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6" name="STEP_2_LABEL">
            <a:extLst>
              <a:ext uri="{FF2B5EF4-FFF2-40B4-BE49-F238E27FC236}">
                <a16:creationId xmlns:a16="http://schemas.microsoft.com/office/drawing/2014/main" id="{6426F3DB-16C1-42DB-A9F0-4ADC3915EC1F}"/>
              </a:ext>
            </a:extLst>
          </p:cNvPr>
          <p:cNvSpPr>
            <a:spLocks noGrp="1"/>
          </p:cNvSpPr>
          <p:nvPr/>
        </p:nvSpPr>
        <p:spPr>
          <a:xfrm>
            <a:off x="666750" y="2857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7" name="STEP_2_QUESTION">
            <a:extLst>
              <a:ext uri="{FF2B5EF4-FFF2-40B4-BE49-F238E27FC236}">
                <a16:creationId xmlns:a16="http://schemas.microsoft.com/office/drawing/2014/main" id="{6E1A889E-3BCA-4329-935E-08418A620240}"/>
              </a:ext>
            </a:extLst>
          </p:cNvPr>
          <p:cNvSpPr>
            <a:spLocks noGrp="1"/>
          </p:cNvSpPr>
          <p:nvPr/>
        </p:nvSpPr>
        <p:spPr>
          <a:xfrm>
            <a:off x="3619500" y="2809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下一关必须完成什么？</a:t>
            </a:r>
          </a:p>
        </p:txBody>
      </p:sp>
      <p:sp>
        <p:nvSpPr>
          <p:cNvPr id="18" name="STEP_2_OUTPUT_SURFACE">
            <a:extLst>
              <a:ext uri="{FF2B5EF4-FFF2-40B4-BE49-F238E27FC236}">
                <a16:creationId xmlns:a16="http://schemas.microsoft.com/office/drawing/2014/main" id="{7A99844D-3C2F-42FC-9FF8-55DDFB98197D}"/>
              </a:ext>
            </a:extLst>
          </p:cNvPr>
          <p:cNvSpPr>
            <a:spLocks noGrp="1"/>
          </p:cNvSpPr>
          <p:nvPr/>
        </p:nvSpPr>
        <p:spPr>
          <a:xfrm>
            <a:off x="7524750" y="2790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FF0F2"/>
          </a:solidFill>
          <a:ln w="14288">
            <a:solidFill>
              <a:srgbClr val="D6001C"/>
            </a:solidFill>
            <a:prstDash val="solid"/>
          </a:ln>
        </p:spPr>
      </p:sp>
      <p:sp>
        <p:nvSpPr>
          <p:cNvPr id="19" name="STEP_2_OUTPUT">
            <a:extLst>
              <a:ext uri="{FF2B5EF4-FFF2-40B4-BE49-F238E27FC236}">
                <a16:creationId xmlns:a16="http://schemas.microsoft.com/office/drawing/2014/main" id="{FA789ADD-978A-4EC2-AB76-82A734070944}"/>
              </a:ext>
            </a:extLst>
          </p:cNvPr>
          <p:cNvSpPr>
            <a:spLocks noGrp="1"/>
          </p:cNvSpPr>
          <p:nvPr/>
        </p:nvSpPr>
        <p:spPr>
          <a:xfrm>
            <a:off x="7715250" y="2905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让网点、线索和产品重复</a:t>
            </a:r>
          </a:p>
        </p:txBody>
      </p:sp>
      <p:sp>
        <p:nvSpPr>
          <p:cNvPr id="20" name="STEP_3_DOT">
            <a:extLst>
              <a:ext uri="{FF2B5EF4-FFF2-40B4-BE49-F238E27FC236}">
                <a16:creationId xmlns:a16="http://schemas.microsoft.com/office/drawing/2014/main" id="{4F81240A-793C-40D0-B07F-30A480841D84}"/>
              </a:ext>
            </a:extLst>
          </p:cNvPr>
          <p:cNvSpPr>
            <a:spLocks noGrp="1"/>
          </p:cNvSpPr>
          <p:nvPr/>
        </p:nvSpPr>
        <p:spPr>
          <a:xfrm>
            <a:off x="2800350" y="3619500"/>
            <a:ext cx="495300" cy="495300"/>
          </a:xfrm>
          <a:prstGeom prst="ellipse">
            <a:avLst/>
          </a:prstGeom>
          <a:solidFill>
            <a:srgbClr val="B87700"/>
          </a:solidFill>
          <a:ln w="0">
            <a:noFill/>
            <a:prstDash val="solid"/>
          </a:ln>
        </p:spPr>
      </p:sp>
      <p:sp>
        <p:nvSpPr>
          <p:cNvPr id="21" name="STEP_3_NUMBER">
            <a:extLst>
              <a:ext uri="{FF2B5EF4-FFF2-40B4-BE49-F238E27FC236}">
                <a16:creationId xmlns:a16="http://schemas.microsoft.com/office/drawing/2014/main" id="{C2A6D2D2-5002-4573-9D22-D258ECBF94DA}"/>
              </a:ext>
            </a:extLst>
          </p:cNvPr>
          <p:cNvSpPr>
            <a:spLocks noGrp="1"/>
          </p:cNvSpPr>
          <p:nvPr/>
        </p:nvSpPr>
        <p:spPr>
          <a:xfrm>
            <a:off x="2924175" y="3714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2" name="STEP_3_LABEL">
            <a:extLst>
              <a:ext uri="{FF2B5EF4-FFF2-40B4-BE49-F238E27FC236}">
                <a16:creationId xmlns:a16="http://schemas.microsoft.com/office/drawing/2014/main" id="{DA58EDCD-1675-43A4-8E5E-8D8CD9768C3A}"/>
              </a:ext>
            </a:extLst>
          </p:cNvPr>
          <p:cNvSpPr>
            <a:spLocks noGrp="1"/>
          </p:cNvSpPr>
          <p:nvPr/>
        </p:nvSpPr>
        <p:spPr>
          <a:xfrm>
            <a:off x="666750" y="3619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病症</a:t>
            </a:r>
          </a:p>
        </p:txBody>
      </p:sp>
      <p:sp>
        <p:nvSpPr>
          <p:cNvPr id="23" name="STEP_3_QUESTION">
            <a:extLst>
              <a:ext uri="{FF2B5EF4-FFF2-40B4-BE49-F238E27FC236}">
                <a16:creationId xmlns:a16="http://schemas.microsoft.com/office/drawing/2014/main" id="{B736A411-6933-4569-95F7-1C9863011DE3}"/>
              </a:ext>
            </a:extLst>
          </p:cNvPr>
          <p:cNvSpPr>
            <a:spLocks noGrp="1"/>
          </p:cNvSpPr>
          <p:nvPr/>
        </p:nvSpPr>
        <p:spPr>
          <a:xfrm>
            <a:off x="3619500" y="3571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投入与结果哪里不匹配？</a:t>
            </a:r>
          </a:p>
        </p:txBody>
      </p:sp>
      <p:sp>
        <p:nvSpPr>
          <p:cNvPr id="24" name="STEP_3_OUTPUT_SURFACE">
            <a:extLst>
              <a:ext uri="{FF2B5EF4-FFF2-40B4-BE49-F238E27FC236}">
                <a16:creationId xmlns:a16="http://schemas.microsoft.com/office/drawing/2014/main" id="{7313737C-9491-47CD-B1E7-69621995364B}"/>
              </a:ext>
            </a:extLst>
          </p:cNvPr>
          <p:cNvSpPr>
            <a:spLocks noGrp="1"/>
          </p:cNvSpPr>
          <p:nvPr/>
        </p:nvSpPr>
        <p:spPr>
          <a:xfrm>
            <a:off x="7524750" y="3552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FF4DC"/>
          </a:solidFill>
          <a:ln w="14288">
            <a:solidFill>
              <a:srgbClr val="B87700"/>
            </a:solidFill>
            <a:prstDash val="solid"/>
          </a:ln>
        </p:spPr>
      </p:sp>
      <p:sp>
        <p:nvSpPr>
          <p:cNvPr id="25" name="STEP_3_OUTPUT">
            <a:extLst>
              <a:ext uri="{FF2B5EF4-FFF2-40B4-BE49-F238E27FC236}">
                <a16:creationId xmlns:a16="http://schemas.microsoft.com/office/drawing/2014/main" id="{8F98B9D2-8880-4445-AD78-FDEB3DFCFF93}"/>
              </a:ext>
            </a:extLst>
          </p:cNvPr>
          <p:cNvSpPr>
            <a:spLocks noGrp="1"/>
          </p:cNvSpPr>
          <p:nvPr/>
        </p:nvSpPr>
        <p:spPr>
          <a:xfrm>
            <a:off x="7715250" y="3667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主病症：首单依赖</a:t>
            </a:r>
          </a:p>
        </p:txBody>
      </p:sp>
      <p:sp>
        <p:nvSpPr>
          <p:cNvPr id="26" name="STEP_4_DOT">
            <a:extLst>
              <a:ext uri="{FF2B5EF4-FFF2-40B4-BE49-F238E27FC236}">
                <a16:creationId xmlns:a16="http://schemas.microsoft.com/office/drawing/2014/main" id="{A573DEE1-9024-4BBB-9BA1-91E3CB650908}"/>
              </a:ext>
            </a:extLst>
          </p:cNvPr>
          <p:cNvSpPr>
            <a:spLocks noGrp="1"/>
          </p:cNvSpPr>
          <p:nvPr/>
        </p:nvSpPr>
        <p:spPr>
          <a:xfrm>
            <a:off x="2800350" y="4381500"/>
            <a:ext cx="495300" cy="495300"/>
          </a:xfrm>
          <a:prstGeom prst="ellipse">
            <a:avLst/>
          </a:prstGeom>
          <a:solidFill>
            <a:srgbClr val="26866A"/>
          </a:solidFill>
          <a:ln w="0">
            <a:noFill/>
            <a:prstDash val="solid"/>
          </a:ln>
        </p:spPr>
      </p:sp>
      <p:sp>
        <p:nvSpPr>
          <p:cNvPr id="27" name="STEP_4_NUMBER">
            <a:extLst>
              <a:ext uri="{FF2B5EF4-FFF2-40B4-BE49-F238E27FC236}">
                <a16:creationId xmlns:a16="http://schemas.microsoft.com/office/drawing/2014/main" id="{53FAA616-C888-4C38-B67B-E402E21584EE}"/>
              </a:ext>
            </a:extLst>
          </p:cNvPr>
          <p:cNvSpPr>
            <a:spLocks noGrp="1"/>
          </p:cNvSpPr>
          <p:nvPr/>
        </p:nvSpPr>
        <p:spPr>
          <a:xfrm>
            <a:off x="2924175" y="4476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8" name="STEP_4_LABEL">
            <a:extLst>
              <a:ext uri="{FF2B5EF4-FFF2-40B4-BE49-F238E27FC236}">
                <a16:creationId xmlns:a16="http://schemas.microsoft.com/office/drawing/2014/main" id="{A83AA673-2482-432F-9E4E-EEE1AAB7BC83}"/>
              </a:ext>
            </a:extLst>
          </p:cNvPr>
          <p:cNvSpPr>
            <a:spLocks noGrp="1"/>
          </p:cNvSpPr>
          <p:nvPr/>
        </p:nvSpPr>
        <p:spPr>
          <a:xfrm>
            <a:off x="666750" y="4381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四力短板</a:t>
            </a:r>
          </a:p>
        </p:txBody>
      </p:sp>
      <p:sp>
        <p:nvSpPr>
          <p:cNvPr id="29" name="STEP_4_QUESTION">
            <a:extLst>
              <a:ext uri="{FF2B5EF4-FFF2-40B4-BE49-F238E27FC236}">
                <a16:creationId xmlns:a16="http://schemas.microsoft.com/office/drawing/2014/main" id="{3CE317E3-6A4C-4FDF-8E72-6CB4A15495DA}"/>
              </a:ext>
            </a:extLst>
          </p:cNvPr>
          <p:cNvSpPr>
            <a:spLocks noGrp="1"/>
          </p:cNvSpPr>
          <p:nvPr/>
        </p:nvSpPr>
        <p:spPr>
          <a:xfrm>
            <a:off x="3619500" y="4333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哪一力最能解释病症？</a:t>
            </a:r>
          </a:p>
        </p:txBody>
      </p:sp>
      <p:sp>
        <p:nvSpPr>
          <p:cNvPr id="30" name="STEP_4_OUTPUT_SURFACE">
            <a:extLst>
              <a:ext uri="{FF2B5EF4-FFF2-40B4-BE49-F238E27FC236}">
                <a16:creationId xmlns:a16="http://schemas.microsoft.com/office/drawing/2014/main" id="{FDEF4397-8E2E-4CDD-917A-6FA2D1669F7F}"/>
              </a:ext>
            </a:extLst>
          </p:cNvPr>
          <p:cNvSpPr>
            <a:spLocks noGrp="1"/>
          </p:cNvSpPr>
          <p:nvPr/>
        </p:nvSpPr>
        <p:spPr>
          <a:xfrm>
            <a:off x="7524750" y="4314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EAF5F1"/>
          </a:solidFill>
          <a:ln w="14288">
            <a:solidFill>
              <a:srgbClr val="26866A"/>
            </a:solidFill>
            <a:prstDash val="solid"/>
          </a:ln>
        </p:spPr>
      </p:sp>
      <p:sp>
        <p:nvSpPr>
          <p:cNvPr id="31" name="STEP_4_OUTPUT">
            <a:extLst>
              <a:ext uri="{FF2B5EF4-FFF2-40B4-BE49-F238E27FC236}">
                <a16:creationId xmlns:a16="http://schemas.microsoft.com/office/drawing/2014/main" id="{377542C7-CC1D-439C-AA5E-568ECDD6891A}"/>
              </a:ext>
            </a:extLst>
          </p:cNvPr>
          <p:cNvSpPr>
            <a:spLocks noGrp="1"/>
          </p:cNvSpPr>
          <p:nvPr/>
        </p:nvSpPr>
        <p:spPr>
          <a:xfrm>
            <a:off x="7715250" y="4429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主短板：渠道力</a:t>
            </a:r>
          </a:p>
        </p:txBody>
      </p:sp>
      <p:sp>
        <p:nvSpPr>
          <p:cNvPr id="32" name="STEP_5_DOT">
            <a:extLst>
              <a:ext uri="{FF2B5EF4-FFF2-40B4-BE49-F238E27FC236}">
                <a16:creationId xmlns:a16="http://schemas.microsoft.com/office/drawing/2014/main" id="{70766968-8112-4316-84EA-CEDDB44F031D}"/>
              </a:ext>
            </a:extLst>
          </p:cNvPr>
          <p:cNvSpPr>
            <a:spLocks noGrp="1"/>
          </p:cNvSpPr>
          <p:nvPr/>
        </p:nvSpPr>
        <p:spPr>
          <a:xfrm>
            <a:off x="2800350" y="5143500"/>
            <a:ext cx="495300" cy="495300"/>
          </a:xfrm>
          <a:prstGeom prst="ellipse">
            <a:avLst/>
          </a:prstGeom>
          <a:solidFill>
            <a:srgbClr val="191919"/>
          </a:solidFill>
          <a:ln w="0">
            <a:noFill/>
            <a:prstDash val="solid"/>
          </a:ln>
        </p:spPr>
      </p:sp>
      <p:sp>
        <p:nvSpPr>
          <p:cNvPr id="33" name="STEP_5_NUMBER">
            <a:extLst>
              <a:ext uri="{FF2B5EF4-FFF2-40B4-BE49-F238E27FC236}">
                <a16:creationId xmlns:a16="http://schemas.microsoft.com/office/drawing/2014/main" id="{AE1767D9-FF43-4E83-A1D3-F189725BDCA8}"/>
              </a:ext>
            </a:extLst>
          </p:cNvPr>
          <p:cNvSpPr>
            <a:spLocks noGrp="1"/>
          </p:cNvSpPr>
          <p:nvPr/>
        </p:nvSpPr>
        <p:spPr>
          <a:xfrm>
            <a:off x="2924175" y="5238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4" name="STEP_5_LABEL">
            <a:extLst>
              <a:ext uri="{FF2B5EF4-FFF2-40B4-BE49-F238E27FC236}">
                <a16:creationId xmlns:a16="http://schemas.microsoft.com/office/drawing/2014/main" id="{5B62859E-F32C-415C-85A8-033FBB60E7A6}"/>
              </a:ext>
            </a:extLst>
          </p:cNvPr>
          <p:cNvSpPr>
            <a:spLocks noGrp="1"/>
          </p:cNvSpPr>
          <p:nvPr/>
        </p:nvSpPr>
        <p:spPr>
          <a:xfrm>
            <a:off x="666750" y="5143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优先动作</a:t>
            </a:r>
          </a:p>
        </p:txBody>
      </p:sp>
      <p:sp>
        <p:nvSpPr>
          <p:cNvPr id="35" name="STEP_5_QUESTION">
            <a:extLst>
              <a:ext uri="{FF2B5EF4-FFF2-40B4-BE49-F238E27FC236}">
                <a16:creationId xmlns:a16="http://schemas.microsoft.com/office/drawing/2014/main" id="{96405759-A2EE-472B-9AC6-85A4C2C8D911}"/>
              </a:ext>
            </a:extLst>
          </p:cNvPr>
          <p:cNvSpPr>
            <a:spLocks noGrp="1"/>
          </p:cNvSpPr>
          <p:nvPr/>
        </p:nvSpPr>
        <p:spPr>
          <a:xfrm>
            <a:off x="3619500" y="5095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现在最先做哪2—3件事？</a:t>
            </a:r>
          </a:p>
        </p:txBody>
      </p:sp>
      <p:sp>
        <p:nvSpPr>
          <p:cNvPr id="36" name="STEP_5_OUTPUT_SURFACE">
            <a:extLst>
              <a:ext uri="{FF2B5EF4-FFF2-40B4-BE49-F238E27FC236}">
                <a16:creationId xmlns:a16="http://schemas.microsoft.com/office/drawing/2014/main" id="{6D882ECA-662D-436D-8D08-E46DF5A3D359}"/>
              </a:ext>
            </a:extLst>
          </p:cNvPr>
          <p:cNvSpPr>
            <a:spLocks noGrp="1"/>
          </p:cNvSpPr>
          <p:nvPr/>
        </p:nvSpPr>
        <p:spPr>
          <a:xfrm>
            <a:off x="7524750" y="5076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4F5F6"/>
          </a:solidFill>
          <a:ln w="14288">
            <a:solidFill>
              <a:srgbClr val="191919"/>
            </a:solidFill>
            <a:prstDash val="solid"/>
          </a:ln>
        </p:spPr>
      </p:sp>
      <p:sp>
        <p:nvSpPr>
          <p:cNvPr id="37" name="STEP_5_OUTPUT">
            <a:extLst>
              <a:ext uri="{FF2B5EF4-FFF2-40B4-BE49-F238E27FC236}">
                <a16:creationId xmlns:a16="http://schemas.microsoft.com/office/drawing/2014/main" id="{4028430D-0280-4652-BBC5-186D432CC7F9}"/>
              </a:ext>
            </a:extLst>
          </p:cNvPr>
          <p:cNvSpPr>
            <a:spLocks noGrp="1"/>
          </p:cNvSpPr>
          <p:nvPr/>
        </p:nvSpPr>
        <p:spPr>
          <a:xfrm>
            <a:off x="7715250" y="5191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核心网点 + 补货复盘 + 项目线索</a:t>
            </a:r>
          </a:p>
        </p:txBody>
      </p:sp>
      <p:sp>
        <p:nvSpPr>
          <p:cNvPr id="38" name="CASE_PROMPT">
            <a:extLst>
              <a:ext uri="{FF2B5EF4-FFF2-40B4-BE49-F238E27FC236}">
                <a16:creationId xmlns:a16="http://schemas.microsoft.com/office/drawing/2014/main" id="{5D2CDFAB-14E6-45F4-B90A-0E70BFA86ADD}"/>
              </a:ext>
            </a:extLst>
          </p:cNvPr>
          <p:cNvSpPr>
            <a:spLocks noGrp="1"/>
          </p:cNvSpPr>
          <p:nvPr/>
        </p:nvSpPr>
        <p:spPr>
          <a:xfrm>
            <a:off x="666750" y="1714500"/>
            <a:ext cx="102870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综合情境案例：某乡镇完成首批铺货，但两个月补货很少；业务员持续跑店，仍主要靠老板推动。</a:t>
            </a:r>
          </a:p>
        </p:txBody>
      </p:sp>
      <p:sp>
        <p:nvSpPr>
          <p:cNvPr id="39" name="TEACHING_CUE">
            <a:extLst>
              <a:ext uri="{FF2B5EF4-FFF2-40B4-BE49-F238E27FC236}">
                <a16:creationId xmlns:a16="http://schemas.microsoft.com/office/drawing/2014/main" id="{B5763167-D64A-437C-A069-8743E06EAAF8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学员产出：用一句话说清“阶段—任务—病症—短板—动作”，并说明证据。</a:t>
            </a:r>
          </a:p>
        </p:txBody>
      </p:sp>
      <p:sp>
        <p:nvSpPr>
          <p:cNvPr id="40" name="PAGE_NUMBER">
            <a:extLst>
              <a:ext uri="{FF2B5EF4-FFF2-40B4-BE49-F238E27FC236}">
                <a16:creationId xmlns:a16="http://schemas.microsoft.com/office/drawing/2014/main" id="{F748C6DE-D55D-4DEC-B951-52DF0D6303F4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58931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8D97873-1814-2820-21C8-C16459AB8C5F}"/>
              </a:ext>
            </a:extLst>
          </p:cNvPr>
          <p:cNvSpPr txBox="1"/>
          <p:nvPr/>
        </p:nvSpPr>
        <p:spPr>
          <a:xfrm>
            <a:off x="548640" y="384048"/>
            <a:ext cx="10607040" cy="8255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未来 </a:t>
            </a:r>
            <a:r>
              <a:rPr lang="en-US" altLang="zh-CN" sz="2600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30 </a:t>
            </a:r>
            <a:r>
              <a:rPr lang="zh-CN" altLang="en-US" sz="2600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天：谁、对谁、做什么、怎么验收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FD0B50DC-89BD-B712-2D74-34FB9D9D87A0}"/>
              </a:ext>
            </a:extLst>
          </p:cNvPr>
          <p:cNvSpPr txBox="1"/>
          <p:nvPr/>
        </p:nvSpPr>
        <p:spPr>
          <a:xfrm>
            <a:off x="548640" y="987552"/>
            <a:ext cx="106070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对象 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动作 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责任人 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节点 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指标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——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每项行动都要能检查</a:t>
            </a:r>
          </a:p>
        </p:txBody>
      </p:sp>
      <p:sp>
        <p:nvSpPr>
          <p:cNvPr id="4" name="COL_OBJECT">
            <a:extLst>
              <a:ext uri="{FF2B5EF4-FFF2-40B4-BE49-F238E27FC236}">
                <a16:creationId xmlns:a16="http://schemas.microsoft.com/office/drawing/2014/main" id="{83B3AA92-49F6-BA39-4B2D-AB10FD477E09}"/>
              </a:ext>
            </a:extLst>
          </p:cNvPr>
          <p:cNvSpPr txBox="1"/>
          <p:nvPr/>
        </p:nvSpPr>
        <p:spPr>
          <a:xfrm>
            <a:off x="731520" y="1463040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对象</a:t>
            </a:r>
          </a:p>
        </p:txBody>
      </p:sp>
      <p:sp>
        <p:nvSpPr>
          <p:cNvPr id="5" name="COL_ACTION">
            <a:extLst>
              <a:ext uri="{FF2B5EF4-FFF2-40B4-BE49-F238E27FC236}">
                <a16:creationId xmlns:a16="http://schemas.microsoft.com/office/drawing/2014/main" id="{701EFBC3-E701-A1A0-EE55-03A76C47D22A}"/>
              </a:ext>
            </a:extLst>
          </p:cNvPr>
          <p:cNvSpPr txBox="1"/>
          <p:nvPr/>
        </p:nvSpPr>
        <p:spPr>
          <a:xfrm>
            <a:off x="2606040" y="1463040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动作</a:t>
            </a:r>
          </a:p>
        </p:txBody>
      </p:sp>
      <p:sp>
        <p:nvSpPr>
          <p:cNvPr id="6" name="COL_OWNER">
            <a:extLst>
              <a:ext uri="{FF2B5EF4-FFF2-40B4-BE49-F238E27FC236}">
                <a16:creationId xmlns:a16="http://schemas.microsoft.com/office/drawing/2014/main" id="{96185530-8BEE-7E0B-6C83-6D64F613C653}"/>
              </a:ext>
            </a:extLst>
          </p:cNvPr>
          <p:cNvSpPr txBox="1"/>
          <p:nvPr/>
        </p:nvSpPr>
        <p:spPr>
          <a:xfrm>
            <a:off x="6583680" y="1463040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责任人</a:t>
            </a:r>
          </a:p>
        </p:txBody>
      </p:sp>
      <p:sp>
        <p:nvSpPr>
          <p:cNvPr id="7" name="COL_DATE">
            <a:extLst>
              <a:ext uri="{FF2B5EF4-FFF2-40B4-BE49-F238E27FC236}">
                <a16:creationId xmlns:a16="http://schemas.microsoft.com/office/drawing/2014/main" id="{307A33D4-CF80-CF50-EA8A-BB37A5303229}"/>
              </a:ext>
            </a:extLst>
          </p:cNvPr>
          <p:cNvSpPr txBox="1"/>
          <p:nvPr/>
        </p:nvSpPr>
        <p:spPr>
          <a:xfrm>
            <a:off x="8229600" y="1463040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节点</a:t>
            </a:r>
          </a:p>
        </p:txBody>
      </p:sp>
      <p:sp>
        <p:nvSpPr>
          <p:cNvPr id="8" name="COL_METRIC">
            <a:extLst>
              <a:ext uri="{FF2B5EF4-FFF2-40B4-BE49-F238E27FC236}">
                <a16:creationId xmlns:a16="http://schemas.microsoft.com/office/drawing/2014/main" id="{8A46E780-5ABD-BEA3-BE8B-950DF52B954C}"/>
              </a:ext>
            </a:extLst>
          </p:cNvPr>
          <p:cNvSpPr txBox="1"/>
          <p:nvPr/>
        </p:nvSpPr>
        <p:spPr>
          <a:xfrm>
            <a:off x="9921240" y="1463040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指标</a:t>
            </a:r>
          </a:p>
        </p:txBody>
      </p:sp>
      <p:sp>
        <p:nvSpPr>
          <p:cNvPr id="9" name="ROW_BAND_1">
            <a:extLst>
              <a:ext uri="{FF2B5EF4-FFF2-40B4-BE49-F238E27FC236}">
                <a16:creationId xmlns:a16="http://schemas.microsoft.com/office/drawing/2014/main" id="{2E9F722F-0AD7-C93C-D78D-319BC4DBC193}"/>
              </a:ext>
            </a:extLst>
          </p:cNvPr>
          <p:cNvSpPr/>
          <p:nvPr/>
        </p:nvSpPr>
        <p:spPr>
          <a:xfrm>
            <a:off x="594360" y="1965960"/>
            <a:ext cx="11155680" cy="822960"/>
          </a:xfrm>
          <a:prstGeom prst="rect">
            <a:avLst/>
          </a:prstGeom>
          <a:solidFill>
            <a:srgbClr val="F0F1EF"/>
          </a:solidFill>
          <a:ln w="9525">
            <a:solidFill>
              <a:srgbClr val="6674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ACT_01_OBJECT">
            <a:extLst>
              <a:ext uri="{FF2B5EF4-FFF2-40B4-BE49-F238E27FC236}">
                <a16:creationId xmlns:a16="http://schemas.microsoft.com/office/drawing/2014/main" id="{23049707-75D2-6904-74C7-8B534D4649FA}"/>
              </a:ext>
            </a:extLst>
          </p:cNvPr>
          <p:cNvSpPr txBox="1"/>
          <p:nvPr/>
        </p:nvSpPr>
        <p:spPr>
          <a:xfrm>
            <a:off x="731520" y="216712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" name="ACT_01_ACTION">
            <a:extLst>
              <a:ext uri="{FF2B5EF4-FFF2-40B4-BE49-F238E27FC236}">
                <a16:creationId xmlns:a16="http://schemas.microsoft.com/office/drawing/2014/main" id="{B0DD80EF-B808-545A-70A5-D558A4390E39}"/>
              </a:ext>
            </a:extLst>
          </p:cNvPr>
          <p:cNvSpPr txBox="1"/>
          <p:nvPr/>
        </p:nvSpPr>
        <p:spPr>
          <a:xfrm>
            <a:off x="2606040" y="216712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2" name="ACT_01_OWNER">
            <a:extLst>
              <a:ext uri="{FF2B5EF4-FFF2-40B4-BE49-F238E27FC236}">
                <a16:creationId xmlns:a16="http://schemas.microsoft.com/office/drawing/2014/main" id="{7BB6BC82-0D29-C4DD-5848-F241776B9402}"/>
              </a:ext>
            </a:extLst>
          </p:cNvPr>
          <p:cNvSpPr txBox="1"/>
          <p:nvPr/>
        </p:nvSpPr>
        <p:spPr>
          <a:xfrm>
            <a:off x="6583680" y="216712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3" name="ACT_01_DATE">
            <a:extLst>
              <a:ext uri="{FF2B5EF4-FFF2-40B4-BE49-F238E27FC236}">
                <a16:creationId xmlns:a16="http://schemas.microsoft.com/office/drawing/2014/main" id="{F8DBB096-DB44-C664-2A40-DF8D09F9BC94}"/>
              </a:ext>
            </a:extLst>
          </p:cNvPr>
          <p:cNvSpPr txBox="1"/>
          <p:nvPr/>
        </p:nvSpPr>
        <p:spPr>
          <a:xfrm>
            <a:off x="8229600" y="216712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ACT_01_METRIC">
            <a:extLst>
              <a:ext uri="{FF2B5EF4-FFF2-40B4-BE49-F238E27FC236}">
                <a16:creationId xmlns:a16="http://schemas.microsoft.com/office/drawing/2014/main" id="{3895D914-22F0-24E2-1B79-9C48F57E4690}"/>
              </a:ext>
            </a:extLst>
          </p:cNvPr>
          <p:cNvSpPr txBox="1"/>
          <p:nvPr/>
        </p:nvSpPr>
        <p:spPr>
          <a:xfrm>
            <a:off x="9921240" y="216712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5" name="ROW_BAND_2">
            <a:extLst>
              <a:ext uri="{FF2B5EF4-FFF2-40B4-BE49-F238E27FC236}">
                <a16:creationId xmlns:a16="http://schemas.microsoft.com/office/drawing/2014/main" id="{A8A49739-37FD-C673-C2CD-31A6A39F2C2C}"/>
              </a:ext>
            </a:extLst>
          </p:cNvPr>
          <p:cNvSpPr/>
          <p:nvPr/>
        </p:nvSpPr>
        <p:spPr>
          <a:xfrm>
            <a:off x="594360" y="2834640"/>
            <a:ext cx="11155680" cy="822960"/>
          </a:xfrm>
          <a:prstGeom prst="rect">
            <a:avLst/>
          </a:prstGeom>
          <a:solidFill>
            <a:srgbClr val="F7E6E6"/>
          </a:solidFill>
          <a:ln w="9525">
            <a:solidFill>
              <a:srgbClr val="6674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ACT_02_OBJECT">
            <a:extLst>
              <a:ext uri="{FF2B5EF4-FFF2-40B4-BE49-F238E27FC236}">
                <a16:creationId xmlns:a16="http://schemas.microsoft.com/office/drawing/2014/main" id="{8E6614A7-B3FC-976A-E99B-52E80219C6AC}"/>
              </a:ext>
            </a:extLst>
          </p:cNvPr>
          <p:cNvSpPr txBox="1"/>
          <p:nvPr/>
        </p:nvSpPr>
        <p:spPr>
          <a:xfrm>
            <a:off x="731520" y="303580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7" name="ACT_02_ACTION">
            <a:extLst>
              <a:ext uri="{FF2B5EF4-FFF2-40B4-BE49-F238E27FC236}">
                <a16:creationId xmlns:a16="http://schemas.microsoft.com/office/drawing/2014/main" id="{7919B6F1-6E34-D4DC-773D-299B298078B7}"/>
              </a:ext>
            </a:extLst>
          </p:cNvPr>
          <p:cNvSpPr txBox="1"/>
          <p:nvPr/>
        </p:nvSpPr>
        <p:spPr>
          <a:xfrm>
            <a:off x="2606040" y="303580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8" name="ACT_02_OWNER">
            <a:extLst>
              <a:ext uri="{FF2B5EF4-FFF2-40B4-BE49-F238E27FC236}">
                <a16:creationId xmlns:a16="http://schemas.microsoft.com/office/drawing/2014/main" id="{955BE149-8750-C4C9-C3E3-1869F2079AAF}"/>
              </a:ext>
            </a:extLst>
          </p:cNvPr>
          <p:cNvSpPr txBox="1"/>
          <p:nvPr/>
        </p:nvSpPr>
        <p:spPr>
          <a:xfrm>
            <a:off x="6583680" y="303580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9" name="ACT_02_DATE">
            <a:extLst>
              <a:ext uri="{FF2B5EF4-FFF2-40B4-BE49-F238E27FC236}">
                <a16:creationId xmlns:a16="http://schemas.microsoft.com/office/drawing/2014/main" id="{4CF664D0-9DD8-2345-0803-62F8E661444E}"/>
              </a:ext>
            </a:extLst>
          </p:cNvPr>
          <p:cNvSpPr txBox="1"/>
          <p:nvPr/>
        </p:nvSpPr>
        <p:spPr>
          <a:xfrm>
            <a:off x="8229600" y="303580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0" name="ACT_02_METRIC">
            <a:extLst>
              <a:ext uri="{FF2B5EF4-FFF2-40B4-BE49-F238E27FC236}">
                <a16:creationId xmlns:a16="http://schemas.microsoft.com/office/drawing/2014/main" id="{DE7D4B0C-725D-41C9-7072-A980A42C9258}"/>
              </a:ext>
            </a:extLst>
          </p:cNvPr>
          <p:cNvSpPr txBox="1"/>
          <p:nvPr/>
        </p:nvSpPr>
        <p:spPr>
          <a:xfrm>
            <a:off x="9921240" y="303580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1" name="ROW_BAND_3">
            <a:extLst>
              <a:ext uri="{FF2B5EF4-FFF2-40B4-BE49-F238E27FC236}">
                <a16:creationId xmlns:a16="http://schemas.microsoft.com/office/drawing/2014/main" id="{5AB1DE9A-ACF2-CAF1-C9B5-A10BCD12F88E}"/>
              </a:ext>
            </a:extLst>
          </p:cNvPr>
          <p:cNvSpPr/>
          <p:nvPr/>
        </p:nvSpPr>
        <p:spPr>
          <a:xfrm>
            <a:off x="594360" y="3703320"/>
            <a:ext cx="11155680" cy="822960"/>
          </a:xfrm>
          <a:prstGeom prst="rect">
            <a:avLst/>
          </a:prstGeom>
          <a:solidFill>
            <a:srgbClr val="F0F1EF"/>
          </a:solidFill>
          <a:ln w="9525">
            <a:solidFill>
              <a:srgbClr val="6674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ACT_03_OBJECT">
            <a:extLst>
              <a:ext uri="{FF2B5EF4-FFF2-40B4-BE49-F238E27FC236}">
                <a16:creationId xmlns:a16="http://schemas.microsoft.com/office/drawing/2014/main" id="{C0739392-A6A3-7C2A-B977-006B43CA94B5}"/>
              </a:ext>
            </a:extLst>
          </p:cNvPr>
          <p:cNvSpPr txBox="1"/>
          <p:nvPr/>
        </p:nvSpPr>
        <p:spPr>
          <a:xfrm>
            <a:off x="731520" y="390448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3" name="ACT_03_ACTION">
            <a:extLst>
              <a:ext uri="{FF2B5EF4-FFF2-40B4-BE49-F238E27FC236}">
                <a16:creationId xmlns:a16="http://schemas.microsoft.com/office/drawing/2014/main" id="{19E4104F-62EB-BC13-756C-21A7D3BCCD65}"/>
              </a:ext>
            </a:extLst>
          </p:cNvPr>
          <p:cNvSpPr txBox="1"/>
          <p:nvPr/>
        </p:nvSpPr>
        <p:spPr>
          <a:xfrm>
            <a:off x="2606040" y="390448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4" name="ACT_03_OWNER">
            <a:extLst>
              <a:ext uri="{FF2B5EF4-FFF2-40B4-BE49-F238E27FC236}">
                <a16:creationId xmlns:a16="http://schemas.microsoft.com/office/drawing/2014/main" id="{0518CA2B-93CE-A458-FF90-898AABA98595}"/>
              </a:ext>
            </a:extLst>
          </p:cNvPr>
          <p:cNvSpPr txBox="1"/>
          <p:nvPr/>
        </p:nvSpPr>
        <p:spPr>
          <a:xfrm>
            <a:off x="6583680" y="390448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5" name="ACT_03_DATE">
            <a:extLst>
              <a:ext uri="{FF2B5EF4-FFF2-40B4-BE49-F238E27FC236}">
                <a16:creationId xmlns:a16="http://schemas.microsoft.com/office/drawing/2014/main" id="{680635C2-C852-4268-9158-476B1365D8A7}"/>
              </a:ext>
            </a:extLst>
          </p:cNvPr>
          <p:cNvSpPr txBox="1"/>
          <p:nvPr/>
        </p:nvSpPr>
        <p:spPr>
          <a:xfrm>
            <a:off x="8229600" y="390448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6" name="ACT_03_METRIC">
            <a:extLst>
              <a:ext uri="{FF2B5EF4-FFF2-40B4-BE49-F238E27FC236}">
                <a16:creationId xmlns:a16="http://schemas.microsoft.com/office/drawing/2014/main" id="{E870A316-96BC-DA7A-6CFC-0307EB96123F}"/>
              </a:ext>
            </a:extLst>
          </p:cNvPr>
          <p:cNvSpPr txBox="1"/>
          <p:nvPr/>
        </p:nvSpPr>
        <p:spPr>
          <a:xfrm>
            <a:off x="9921240" y="390448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7" name="ROW_BAND_4">
            <a:extLst>
              <a:ext uri="{FF2B5EF4-FFF2-40B4-BE49-F238E27FC236}">
                <a16:creationId xmlns:a16="http://schemas.microsoft.com/office/drawing/2014/main" id="{9ABC7208-5992-CD0E-6BF1-AFA849EAC77A}"/>
              </a:ext>
            </a:extLst>
          </p:cNvPr>
          <p:cNvSpPr/>
          <p:nvPr/>
        </p:nvSpPr>
        <p:spPr>
          <a:xfrm>
            <a:off x="594360" y="4572000"/>
            <a:ext cx="11155680" cy="822960"/>
          </a:xfrm>
          <a:prstGeom prst="rect">
            <a:avLst/>
          </a:prstGeom>
          <a:solidFill>
            <a:srgbClr val="F7E6E6"/>
          </a:solidFill>
          <a:ln w="9525">
            <a:solidFill>
              <a:srgbClr val="6674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ACT_04_OBJECT">
            <a:extLst>
              <a:ext uri="{FF2B5EF4-FFF2-40B4-BE49-F238E27FC236}">
                <a16:creationId xmlns:a16="http://schemas.microsoft.com/office/drawing/2014/main" id="{C6C1D7FE-C4EE-81F2-02D2-B37629AC0CA0}"/>
              </a:ext>
            </a:extLst>
          </p:cNvPr>
          <p:cNvSpPr txBox="1"/>
          <p:nvPr/>
        </p:nvSpPr>
        <p:spPr>
          <a:xfrm>
            <a:off x="731520" y="477316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9" name="ACT_04_ACTION">
            <a:extLst>
              <a:ext uri="{FF2B5EF4-FFF2-40B4-BE49-F238E27FC236}">
                <a16:creationId xmlns:a16="http://schemas.microsoft.com/office/drawing/2014/main" id="{53A36BB2-06CD-751C-12CC-413C419861FE}"/>
              </a:ext>
            </a:extLst>
          </p:cNvPr>
          <p:cNvSpPr txBox="1"/>
          <p:nvPr/>
        </p:nvSpPr>
        <p:spPr>
          <a:xfrm>
            <a:off x="2606040" y="477316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0" name="ACT_04_OWNER">
            <a:extLst>
              <a:ext uri="{FF2B5EF4-FFF2-40B4-BE49-F238E27FC236}">
                <a16:creationId xmlns:a16="http://schemas.microsoft.com/office/drawing/2014/main" id="{D2D885C9-1138-7797-4175-D9EA483C33EA}"/>
              </a:ext>
            </a:extLst>
          </p:cNvPr>
          <p:cNvSpPr txBox="1"/>
          <p:nvPr/>
        </p:nvSpPr>
        <p:spPr>
          <a:xfrm>
            <a:off x="6583680" y="477316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1" name="ACT_04_DATE">
            <a:extLst>
              <a:ext uri="{FF2B5EF4-FFF2-40B4-BE49-F238E27FC236}">
                <a16:creationId xmlns:a16="http://schemas.microsoft.com/office/drawing/2014/main" id="{E3486880-9BF6-E87F-77B7-272834862148}"/>
              </a:ext>
            </a:extLst>
          </p:cNvPr>
          <p:cNvSpPr txBox="1"/>
          <p:nvPr/>
        </p:nvSpPr>
        <p:spPr>
          <a:xfrm>
            <a:off x="8229600" y="477316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2" name="ACT_04_METRIC">
            <a:extLst>
              <a:ext uri="{FF2B5EF4-FFF2-40B4-BE49-F238E27FC236}">
                <a16:creationId xmlns:a16="http://schemas.microsoft.com/office/drawing/2014/main" id="{AA140A7B-5EE9-39E5-79FE-F57D3DFF28EC}"/>
              </a:ext>
            </a:extLst>
          </p:cNvPr>
          <p:cNvSpPr txBox="1"/>
          <p:nvPr/>
        </p:nvSpPr>
        <p:spPr>
          <a:xfrm>
            <a:off x="9921240" y="477316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3" name="TEACHING_CUE">
            <a:extLst>
              <a:ext uri="{FF2B5EF4-FFF2-40B4-BE49-F238E27FC236}">
                <a16:creationId xmlns:a16="http://schemas.microsoft.com/office/drawing/2014/main" id="{D197A33E-186C-9514-EB8B-6044E8C02DB0}"/>
              </a:ext>
            </a:extLst>
          </p:cNvPr>
          <p:cNvSpPr txBox="1"/>
          <p:nvPr/>
        </p:nvSpPr>
        <p:spPr>
          <a:xfrm>
            <a:off x="548640" y="5806440"/>
            <a:ext cx="11064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行动必须连接前面诊断出的短板或机会；最多 </a:t>
            </a:r>
            <a:r>
              <a:rPr lang="en-US" altLang="zh-CN" sz="12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12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项，选最重要的。</a:t>
            </a:r>
          </a:p>
        </p:txBody>
      </p:sp>
    </p:spTree>
    <p:extLst>
      <p:ext uri="{BB962C8B-B14F-4D97-AF65-F5344CB8AC3E}">
        <p14:creationId xmlns:p14="http://schemas.microsoft.com/office/powerpoint/2010/main" val="6520204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2B4CD45-9413-140C-6E54-A612BEDFAD34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渠道增长卡在哪：覆盖、活跃，还是单店产出？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A8540BC9-D356-9D3D-1FD9-F90DA4805716}"/>
              </a:ext>
            </a:extLst>
          </p:cNvPr>
          <p:cNvSpPr txBox="1"/>
          <p:nvPr/>
        </p:nvSpPr>
        <p:spPr>
          <a:xfrm>
            <a:off x="548640" y="987552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渠道增长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=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覆盖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活跃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单店产出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——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先判断卡在哪个杠杆</a:t>
            </a:r>
          </a:p>
        </p:txBody>
      </p:sp>
      <p:sp>
        <p:nvSpPr>
          <p:cNvPr id="4" name="LEVER_BAND_1">
            <a:extLst>
              <a:ext uri="{FF2B5EF4-FFF2-40B4-BE49-F238E27FC236}">
                <a16:creationId xmlns:a16="http://schemas.microsoft.com/office/drawing/2014/main" id="{2CB47E7C-E2D1-33A5-D7E6-3C874AB0000F}"/>
              </a:ext>
            </a:extLst>
          </p:cNvPr>
          <p:cNvSpPr/>
          <p:nvPr/>
        </p:nvSpPr>
        <p:spPr>
          <a:xfrm>
            <a:off x="548640" y="1600200"/>
            <a:ext cx="3474720" cy="21488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L1_NAME">
            <a:extLst>
              <a:ext uri="{FF2B5EF4-FFF2-40B4-BE49-F238E27FC236}">
                <a16:creationId xmlns:a16="http://schemas.microsoft.com/office/drawing/2014/main" id="{2B34EE29-2A52-BD47-178B-4F6B3651D15C}"/>
              </a:ext>
            </a:extLst>
          </p:cNvPr>
          <p:cNvSpPr txBox="1"/>
          <p:nvPr/>
        </p:nvSpPr>
        <p:spPr>
          <a:xfrm>
            <a:off x="77724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杠杆一 </a:t>
            </a:r>
            <a:r>
              <a:rPr lang="en-US" altLang="zh-CN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覆盖</a:t>
            </a:r>
          </a:p>
        </p:txBody>
      </p:sp>
      <p:sp>
        <p:nvSpPr>
          <p:cNvPr id="6" name="L1_QUESTION">
            <a:extLst>
              <a:ext uri="{FF2B5EF4-FFF2-40B4-BE49-F238E27FC236}">
                <a16:creationId xmlns:a16="http://schemas.microsoft.com/office/drawing/2014/main" id="{7CEC918B-6D4C-35F7-9BC7-1A42D26C2F58}"/>
              </a:ext>
            </a:extLst>
          </p:cNvPr>
          <p:cNvSpPr txBox="1"/>
          <p:nvPr/>
        </p:nvSpPr>
        <p:spPr>
          <a:xfrm>
            <a:off x="77724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网点铺够了吗？</a:t>
            </a:r>
          </a:p>
        </p:txBody>
      </p:sp>
      <p:sp>
        <p:nvSpPr>
          <p:cNvPr id="7" name="L1_VALUE">
            <a:extLst>
              <a:ext uri="{FF2B5EF4-FFF2-40B4-BE49-F238E27FC236}">
                <a16:creationId xmlns:a16="http://schemas.microsoft.com/office/drawing/2014/main" id="{8F205A6D-82FD-BFE1-A449-0ADF3E21EBF2}"/>
              </a:ext>
            </a:extLst>
          </p:cNvPr>
          <p:cNvSpPr txBox="1"/>
          <p:nvPr/>
        </p:nvSpPr>
        <p:spPr>
          <a:xfrm>
            <a:off x="77724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目标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 ｜ 覆盖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</a:t>
            </a:r>
          </a:p>
        </p:txBody>
      </p:sp>
      <p:sp>
        <p:nvSpPr>
          <p:cNvPr id="8" name="MULT_1">
            <a:extLst>
              <a:ext uri="{FF2B5EF4-FFF2-40B4-BE49-F238E27FC236}">
                <a16:creationId xmlns:a16="http://schemas.microsoft.com/office/drawing/2014/main" id="{11CF328E-A325-614B-76A3-BBE96E27C1C3}"/>
              </a:ext>
            </a:extLst>
          </p:cNvPr>
          <p:cNvSpPr txBox="1"/>
          <p:nvPr/>
        </p:nvSpPr>
        <p:spPr>
          <a:xfrm>
            <a:off x="4041648" y="2377440"/>
            <a:ext cx="2743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20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x</a:t>
            </a:r>
            <a:endParaRPr lang="zh-CN" altLang="en-US" sz="2000" b="1">
              <a:solidFill>
                <a:srgbClr val="E84C2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" name="LEVER_BAND_2">
            <a:extLst>
              <a:ext uri="{FF2B5EF4-FFF2-40B4-BE49-F238E27FC236}">
                <a16:creationId xmlns:a16="http://schemas.microsoft.com/office/drawing/2014/main" id="{28FBAEB3-BAB6-2F46-4D67-FEC9DE35C1A9}"/>
              </a:ext>
            </a:extLst>
          </p:cNvPr>
          <p:cNvSpPr/>
          <p:nvPr/>
        </p:nvSpPr>
        <p:spPr>
          <a:xfrm>
            <a:off x="4297680" y="1600200"/>
            <a:ext cx="3474720" cy="2148840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L2_NAME">
            <a:extLst>
              <a:ext uri="{FF2B5EF4-FFF2-40B4-BE49-F238E27FC236}">
                <a16:creationId xmlns:a16="http://schemas.microsoft.com/office/drawing/2014/main" id="{1700F865-CA7E-A91F-9075-691FE62909A8}"/>
              </a:ext>
            </a:extLst>
          </p:cNvPr>
          <p:cNvSpPr txBox="1"/>
          <p:nvPr/>
        </p:nvSpPr>
        <p:spPr>
          <a:xfrm>
            <a:off x="452628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杠杆二 </a:t>
            </a:r>
            <a:r>
              <a:rPr lang="en-US" altLang="zh-CN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活跃</a:t>
            </a:r>
          </a:p>
        </p:txBody>
      </p:sp>
      <p:sp>
        <p:nvSpPr>
          <p:cNvPr id="11" name="L2_QUESTION">
            <a:extLst>
              <a:ext uri="{FF2B5EF4-FFF2-40B4-BE49-F238E27FC236}">
                <a16:creationId xmlns:a16="http://schemas.microsoft.com/office/drawing/2014/main" id="{2EDAD1D4-16FA-3CCA-7C0F-A78ACC424195}"/>
              </a:ext>
            </a:extLst>
          </p:cNvPr>
          <p:cNvSpPr txBox="1"/>
          <p:nvPr/>
        </p:nvSpPr>
        <p:spPr>
          <a:xfrm>
            <a:off x="452628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铺了，动销了吗？</a:t>
            </a:r>
          </a:p>
        </p:txBody>
      </p:sp>
      <p:sp>
        <p:nvSpPr>
          <p:cNvPr id="12" name="L2_VALUE">
            <a:extLst>
              <a:ext uri="{FF2B5EF4-FFF2-40B4-BE49-F238E27FC236}">
                <a16:creationId xmlns:a16="http://schemas.microsoft.com/office/drawing/2014/main" id="{5CE25A41-1FC9-84AB-614C-1327F1D7E803}"/>
              </a:ext>
            </a:extLst>
          </p:cNvPr>
          <p:cNvSpPr txBox="1"/>
          <p:nvPr/>
        </p:nvSpPr>
        <p:spPr>
          <a:xfrm>
            <a:off x="452628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覆盖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 ｜ 活跃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</a:t>
            </a:r>
          </a:p>
        </p:txBody>
      </p:sp>
      <p:sp>
        <p:nvSpPr>
          <p:cNvPr id="13" name="MULT_2">
            <a:extLst>
              <a:ext uri="{FF2B5EF4-FFF2-40B4-BE49-F238E27FC236}">
                <a16:creationId xmlns:a16="http://schemas.microsoft.com/office/drawing/2014/main" id="{4E5FFA9A-487A-23C7-8EDE-34B4A6D904F2}"/>
              </a:ext>
            </a:extLst>
          </p:cNvPr>
          <p:cNvSpPr txBox="1"/>
          <p:nvPr/>
        </p:nvSpPr>
        <p:spPr>
          <a:xfrm>
            <a:off x="7790688" y="2377440"/>
            <a:ext cx="2743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20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x</a:t>
            </a:r>
            <a:endParaRPr lang="zh-CN" altLang="en-US" sz="2000" b="1">
              <a:solidFill>
                <a:srgbClr val="E84C2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LEVER_BAND_3">
            <a:extLst>
              <a:ext uri="{FF2B5EF4-FFF2-40B4-BE49-F238E27FC236}">
                <a16:creationId xmlns:a16="http://schemas.microsoft.com/office/drawing/2014/main" id="{C5C4B1E0-975F-B6CF-C735-1E06BCFEFDF9}"/>
              </a:ext>
            </a:extLst>
          </p:cNvPr>
          <p:cNvSpPr/>
          <p:nvPr/>
        </p:nvSpPr>
        <p:spPr>
          <a:xfrm>
            <a:off x="8046720" y="1600200"/>
            <a:ext cx="3474719" cy="21488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L3_NAME">
            <a:extLst>
              <a:ext uri="{FF2B5EF4-FFF2-40B4-BE49-F238E27FC236}">
                <a16:creationId xmlns:a16="http://schemas.microsoft.com/office/drawing/2014/main" id="{D6086B7A-8EF1-75BE-F62E-1CCD1ACE35F5}"/>
              </a:ext>
            </a:extLst>
          </p:cNvPr>
          <p:cNvSpPr txBox="1"/>
          <p:nvPr/>
        </p:nvSpPr>
        <p:spPr>
          <a:xfrm>
            <a:off x="827532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杠杆三 </a:t>
            </a:r>
            <a:r>
              <a:rPr lang="en-US" altLang="zh-CN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单店产出</a:t>
            </a:r>
          </a:p>
        </p:txBody>
      </p:sp>
      <p:sp>
        <p:nvSpPr>
          <p:cNvPr id="16" name="L3_QUESTION">
            <a:extLst>
              <a:ext uri="{FF2B5EF4-FFF2-40B4-BE49-F238E27FC236}">
                <a16:creationId xmlns:a16="http://schemas.microsoft.com/office/drawing/2014/main" id="{1149446F-1555-3C00-B6D5-5A9ECE094789}"/>
              </a:ext>
            </a:extLst>
          </p:cNvPr>
          <p:cNvSpPr txBox="1"/>
          <p:nvPr/>
        </p:nvSpPr>
        <p:spPr>
          <a:xfrm>
            <a:off x="827532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单店卖得够吗？</a:t>
            </a:r>
          </a:p>
        </p:txBody>
      </p:sp>
      <p:sp>
        <p:nvSpPr>
          <p:cNvPr id="17" name="L3_VALUE">
            <a:extLst>
              <a:ext uri="{FF2B5EF4-FFF2-40B4-BE49-F238E27FC236}">
                <a16:creationId xmlns:a16="http://schemas.microsoft.com/office/drawing/2014/main" id="{4327F205-F649-CD3D-9C9E-9D5CE798799C}"/>
              </a:ext>
            </a:extLst>
          </p:cNvPr>
          <p:cNvSpPr txBox="1"/>
          <p:nvPr/>
        </p:nvSpPr>
        <p:spPr>
          <a:xfrm>
            <a:off x="827532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活跃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 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元</a:t>
            </a:r>
          </a:p>
        </p:txBody>
      </p:sp>
      <p:sp>
        <p:nvSpPr>
          <p:cNvPr id="18" name="CORE_BAND">
            <a:extLst>
              <a:ext uri="{FF2B5EF4-FFF2-40B4-BE49-F238E27FC236}">
                <a16:creationId xmlns:a16="http://schemas.microsoft.com/office/drawing/2014/main" id="{944E7E92-4CA7-FA8A-CDAF-DC82532CFD77}"/>
              </a:ext>
            </a:extLst>
          </p:cNvPr>
          <p:cNvSpPr/>
          <p:nvPr/>
        </p:nvSpPr>
        <p:spPr>
          <a:xfrm>
            <a:off x="548640" y="4023360"/>
            <a:ext cx="11064240" cy="1143000"/>
          </a:xfrm>
          <a:prstGeom prst="rect">
            <a:avLst/>
          </a:prstGeom>
          <a:solidFill>
            <a:srgbClr val="505046"/>
          </a:solidFill>
          <a:ln w="9525">
            <a:solidFill>
              <a:srgbClr val="5050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CORE_TITLE">
            <a:extLst>
              <a:ext uri="{FF2B5EF4-FFF2-40B4-BE49-F238E27FC236}">
                <a16:creationId xmlns:a16="http://schemas.microsoft.com/office/drawing/2014/main" id="{A83C6291-D2E9-3192-ACFA-48A8570C0EF1}"/>
              </a:ext>
            </a:extLst>
          </p:cNvPr>
          <p:cNvSpPr txBox="1"/>
          <p:nvPr/>
        </p:nvSpPr>
        <p:spPr>
          <a:xfrm>
            <a:off x="777240" y="4187952"/>
            <a:ext cx="23774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主矛盾判断</a:t>
            </a:r>
          </a:p>
        </p:txBody>
      </p:sp>
      <p:sp>
        <p:nvSpPr>
          <p:cNvPr id="20" name="CORE_FINDING">
            <a:extLst>
              <a:ext uri="{FF2B5EF4-FFF2-40B4-BE49-F238E27FC236}">
                <a16:creationId xmlns:a16="http://schemas.microsoft.com/office/drawing/2014/main" id="{D1FB3717-3834-6744-AF3F-72730F2336B0}"/>
              </a:ext>
            </a:extLst>
          </p:cNvPr>
          <p:cNvSpPr txBox="1"/>
          <p:nvPr/>
        </p:nvSpPr>
        <p:spPr>
          <a:xfrm>
            <a:off x="3291840" y="4224528"/>
            <a:ext cx="8138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当前最卡：</a:t>
            </a:r>
            <a:r>
              <a:rPr lang="en-US" altLang="zh-CN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杠杆（依据：</a:t>
            </a:r>
            <a:r>
              <a:rPr lang="en-US" altLang="zh-CN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</a:p>
        </p:txBody>
      </p:sp>
      <p:sp>
        <p:nvSpPr>
          <p:cNvPr id="21" name="POOL_TITLE">
            <a:extLst>
              <a:ext uri="{FF2B5EF4-FFF2-40B4-BE49-F238E27FC236}">
                <a16:creationId xmlns:a16="http://schemas.microsoft.com/office/drawing/2014/main" id="{79757373-5D87-C86D-15D7-B127F74AA623}"/>
              </a:ext>
            </a:extLst>
          </p:cNvPr>
          <p:cNvSpPr txBox="1"/>
          <p:nvPr/>
        </p:nvSpPr>
        <p:spPr>
          <a:xfrm>
            <a:off x="548640" y="539496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重点网点池</a:t>
            </a:r>
          </a:p>
        </p:txBody>
      </p:sp>
      <p:sp>
        <p:nvSpPr>
          <p:cNvPr id="22" name="POOL_TEXT">
            <a:extLst>
              <a:ext uri="{FF2B5EF4-FFF2-40B4-BE49-F238E27FC236}">
                <a16:creationId xmlns:a16="http://schemas.microsoft.com/office/drawing/2014/main" id="{5F7505BF-E2B7-1B78-46B2-BBF238174989}"/>
              </a:ext>
            </a:extLst>
          </p:cNvPr>
          <p:cNvSpPr txBox="1"/>
          <p:nvPr/>
        </p:nvSpPr>
        <p:spPr>
          <a:xfrm>
            <a:off x="2834640" y="5394960"/>
            <a:ext cx="8778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圈定</a:t>
            </a:r>
            <a:r>
              <a:rPr lang="en-US" altLang="zh-CN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个重点网点：</a:t>
            </a:r>
            <a:r>
              <a:rPr lang="en-US" altLang="zh-CN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4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3" name="TEACHING_CUE">
            <a:extLst>
              <a:ext uri="{FF2B5EF4-FFF2-40B4-BE49-F238E27FC236}">
                <a16:creationId xmlns:a16="http://schemas.microsoft.com/office/drawing/2014/main" id="{E0D39E11-AA9E-1E34-B985-6856B0AAB740}"/>
              </a:ext>
            </a:extLst>
          </p:cNvPr>
          <p:cNvSpPr txBox="1"/>
          <p:nvPr/>
        </p:nvSpPr>
        <p:spPr>
          <a:xfrm>
            <a:off x="548640" y="6126480"/>
            <a:ext cx="11064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根据数据只突出一个主杠杆，其余作为约束项；指标口径必须一致，口径不一致会产生伪诊断。</a:t>
            </a:r>
          </a:p>
        </p:txBody>
      </p:sp>
    </p:spTree>
    <p:extLst>
      <p:ext uri="{BB962C8B-B14F-4D97-AF65-F5344CB8AC3E}">
        <p14:creationId xmlns:p14="http://schemas.microsoft.com/office/powerpoint/2010/main" val="21806369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CBC54E2-9E63-8162-495E-35E6515F33B8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8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国家资源是不是离开县域了？</a:t>
            </a:r>
          </a:p>
        </p:txBody>
      </p:sp>
      <p:sp>
        <p:nvSpPr>
          <p:cNvPr id="3" name="ASK_PROMPT">
            <a:extLst>
              <a:ext uri="{FF2B5EF4-FFF2-40B4-BE49-F238E27FC236}">
                <a16:creationId xmlns:a16="http://schemas.microsoft.com/office/drawing/2014/main" id="{48762A02-FA42-56BB-CE51-1EBBF0035643}"/>
              </a:ext>
            </a:extLst>
          </p:cNvPr>
          <p:cNvSpPr txBox="1"/>
          <p:nvPr/>
        </p:nvSpPr>
        <p:spPr>
          <a:xfrm>
            <a:off x="548640" y="155448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6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先表态：国家资源离开县域了吗？</a:t>
            </a:r>
          </a:p>
        </p:txBody>
      </p:sp>
      <p:sp>
        <p:nvSpPr>
          <p:cNvPr id="4" name="OPT_BAND_1">
            <a:extLst>
              <a:ext uri="{FF2B5EF4-FFF2-40B4-BE49-F238E27FC236}">
                <a16:creationId xmlns:a16="http://schemas.microsoft.com/office/drawing/2014/main" id="{8DF92F48-4AB2-897E-70C5-DBBD2B435AFC}"/>
              </a:ext>
            </a:extLst>
          </p:cNvPr>
          <p:cNvSpPr/>
          <p:nvPr/>
        </p:nvSpPr>
        <p:spPr>
          <a:xfrm>
            <a:off x="548640" y="2148840"/>
            <a:ext cx="10789920" cy="566928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OPT_1_TEXT">
            <a:extLst>
              <a:ext uri="{FF2B5EF4-FFF2-40B4-BE49-F238E27FC236}">
                <a16:creationId xmlns:a16="http://schemas.microsoft.com/office/drawing/2014/main" id="{E051D4F4-C95F-411B-09B1-2CC24C18104D}"/>
              </a:ext>
            </a:extLst>
          </p:cNvPr>
          <p:cNvSpPr txBox="1"/>
          <p:nvPr/>
        </p:nvSpPr>
        <p:spPr>
          <a:xfrm>
            <a:off x="822960" y="2240280"/>
            <a:ext cx="102412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离开了，资源都在大城市</a:t>
            </a:r>
          </a:p>
        </p:txBody>
      </p:sp>
      <p:sp>
        <p:nvSpPr>
          <p:cNvPr id="6" name="OPT_BAND_2">
            <a:extLst>
              <a:ext uri="{FF2B5EF4-FFF2-40B4-BE49-F238E27FC236}">
                <a16:creationId xmlns:a16="http://schemas.microsoft.com/office/drawing/2014/main" id="{D6EBE1B6-3014-E2C5-6A91-DECAA312CE11}"/>
              </a:ext>
            </a:extLst>
          </p:cNvPr>
          <p:cNvSpPr/>
          <p:nvPr/>
        </p:nvSpPr>
        <p:spPr>
          <a:xfrm>
            <a:off x="548640" y="2880360"/>
            <a:ext cx="10789920" cy="566928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OPT_2_TEXT">
            <a:extLst>
              <a:ext uri="{FF2B5EF4-FFF2-40B4-BE49-F238E27FC236}">
                <a16:creationId xmlns:a16="http://schemas.microsoft.com/office/drawing/2014/main" id="{6E51E0B5-18EA-2EAA-2453-03A77C6492D9}"/>
              </a:ext>
            </a:extLst>
          </p:cNvPr>
          <p:cNvSpPr txBox="1"/>
          <p:nvPr/>
        </p:nvSpPr>
        <p:spPr>
          <a:xfrm>
            <a:off x="822960" y="2971800"/>
            <a:ext cx="102412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没离开，但和政策无关</a:t>
            </a:r>
          </a:p>
        </p:txBody>
      </p:sp>
      <p:sp>
        <p:nvSpPr>
          <p:cNvPr id="8" name="OPT_BAND_3">
            <a:extLst>
              <a:ext uri="{FF2B5EF4-FFF2-40B4-BE49-F238E27FC236}">
                <a16:creationId xmlns:a16="http://schemas.microsoft.com/office/drawing/2014/main" id="{84ED1604-B9E3-1406-5907-DD91D4E9383C}"/>
              </a:ext>
            </a:extLst>
          </p:cNvPr>
          <p:cNvSpPr/>
          <p:nvPr/>
        </p:nvSpPr>
        <p:spPr>
          <a:xfrm>
            <a:off x="548640" y="3611880"/>
            <a:ext cx="10789920" cy="566928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OPT_3_TEXT">
            <a:extLst>
              <a:ext uri="{FF2B5EF4-FFF2-40B4-BE49-F238E27FC236}">
                <a16:creationId xmlns:a16="http://schemas.microsoft.com/office/drawing/2014/main" id="{6AC1E4E6-8E1D-C303-D605-18775B001804}"/>
              </a:ext>
            </a:extLst>
          </p:cNvPr>
          <p:cNvSpPr txBox="1"/>
          <p:nvPr/>
        </p:nvSpPr>
        <p:spPr>
          <a:xfrm>
            <a:off x="822960" y="3703320"/>
            <a:ext cx="102412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没离开，政策会带来真实场景</a:t>
            </a:r>
          </a:p>
        </p:txBody>
      </p:sp>
      <p:sp>
        <p:nvSpPr>
          <p:cNvPr id="10" name="REVEAL_BAND">
            <a:extLst>
              <a:ext uri="{FF2B5EF4-FFF2-40B4-BE49-F238E27FC236}">
                <a16:creationId xmlns:a16="http://schemas.microsoft.com/office/drawing/2014/main" id="{70C4870A-E77E-AB3C-63BE-E805A22B8F6E}"/>
              </a:ext>
            </a:extLst>
          </p:cNvPr>
          <p:cNvSpPr/>
          <p:nvPr/>
        </p:nvSpPr>
        <p:spPr>
          <a:xfrm>
            <a:off x="548640" y="4526280"/>
            <a:ext cx="11064240" cy="1463040"/>
          </a:xfrm>
          <a:prstGeom prst="rect">
            <a:avLst/>
          </a:prstGeom>
          <a:solidFill>
            <a:srgbClr val="505046"/>
          </a:solidFill>
          <a:ln w="9525">
            <a:solidFill>
              <a:srgbClr val="5050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VEAL_TITLE">
            <a:extLst>
              <a:ext uri="{FF2B5EF4-FFF2-40B4-BE49-F238E27FC236}">
                <a16:creationId xmlns:a16="http://schemas.microsoft.com/office/drawing/2014/main" id="{DA45E95A-6755-09BA-9CAC-042B84BC0009}"/>
              </a:ext>
            </a:extLst>
          </p:cNvPr>
          <p:cNvSpPr txBox="1"/>
          <p:nvPr/>
        </p:nvSpPr>
        <p:spPr>
          <a:xfrm>
            <a:off x="777240" y="4709160"/>
            <a:ext cx="10058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6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国家资源没有离开县域</a:t>
            </a:r>
          </a:p>
        </p:txBody>
      </p:sp>
      <p:sp>
        <p:nvSpPr>
          <p:cNvPr id="12" name="REVEAL_TEXT">
            <a:extLst>
              <a:ext uri="{FF2B5EF4-FFF2-40B4-BE49-F238E27FC236}">
                <a16:creationId xmlns:a16="http://schemas.microsoft.com/office/drawing/2014/main" id="{B3FC26CC-DC3B-89D8-12F9-E8BB6C393E1C}"/>
              </a:ext>
            </a:extLst>
          </p:cNvPr>
          <p:cNvSpPr txBox="1"/>
          <p:nvPr/>
        </p:nvSpPr>
        <p:spPr>
          <a:xfrm>
            <a:off x="777240" y="5212080"/>
            <a:ext cx="10058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政策方向会翻译成真实场景：县城更新、中心镇集聚、乡村建设、绿色建材下乡。不要只问政策有没有补贴，更要问政策会让哪些地方发生建设、哪些房子需要改善。</a:t>
            </a:r>
          </a:p>
        </p:txBody>
      </p:sp>
      <p:sp>
        <p:nvSpPr>
          <p:cNvPr id="13" name="TEACHING_CUE">
            <a:extLst>
              <a:ext uri="{FF2B5EF4-FFF2-40B4-BE49-F238E27FC236}">
                <a16:creationId xmlns:a16="http://schemas.microsoft.com/office/drawing/2014/main" id="{82F0EA86-9312-827D-7FAE-CEC56B018354}"/>
              </a:ext>
            </a:extLst>
          </p:cNvPr>
          <p:cNvSpPr txBox="1"/>
          <p:nvPr/>
        </p:nvSpPr>
        <p:spPr>
          <a:xfrm>
            <a:off x="548640" y="6217920"/>
            <a:ext cx="11064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先让学员表态（举手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分组），再揭示；本页不提前讲答案。</a:t>
            </a:r>
          </a:p>
        </p:txBody>
      </p:sp>
    </p:spTree>
    <p:extLst>
      <p:ext uri="{BB962C8B-B14F-4D97-AF65-F5344CB8AC3E}">
        <p14:creationId xmlns:p14="http://schemas.microsoft.com/office/powerpoint/2010/main" val="30753251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1201</Words>
  <Application>Microsoft Office PowerPoint</Application>
  <DocSecurity>0</DocSecurity>
  <PresentationFormat>宽屏</PresentationFormat>
  <Paragraphs>215</Paragraphs>
  <Slides>9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2" baseType="lpstr">
      <vt:lpstr>Microsoft YaHei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起轩 王</cp:lastModifiedBy>
  <cp:revision>5</cp:revision>
  <dcterms:created xsi:type="dcterms:W3CDTF">2026-08-13T12:27:10Z</dcterms:created>
  <dcterms:modified xsi:type="dcterms:W3CDTF">2026-08-18T08:29:01Z</dcterms:modified>
</cp:coreProperties>
</file>