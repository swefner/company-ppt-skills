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3791F-A759-464A-AAA9-9A49798F3BDD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资源有限，先投哪个乡镇？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451F756-0A7D-69C0-C525-584CC5B535C2}"/>
              </a:ext>
            </a:extLst>
          </p:cNvPr>
          <p:cNvSpPr txBox="1"/>
          <p:nvPr/>
        </p:nvSpPr>
        <p:spPr>
          <a:xfrm>
            <a:off x="548640" y="96012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按「经营价值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攻坚难度」两阶段排序：先看价值，再加难度，最后下注</a:t>
            </a:r>
          </a:p>
        </p:txBody>
      </p:sp>
      <p:sp>
        <p:nvSpPr>
          <p:cNvPr id="4" name="CAN_TITLE">
            <a:extLst>
              <a:ext uri="{FF2B5EF4-FFF2-40B4-BE49-F238E27FC236}">
                <a16:creationId xmlns:a16="http://schemas.microsoft.com/office/drawing/2014/main" id="{151DC87A-1E68-CB1A-40B3-0D66749257DC}"/>
              </a:ext>
            </a:extLst>
          </p:cNvPr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候选证据卡（先按经营价值排序）</a:t>
            </a:r>
          </a:p>
        </p:txBody>
      </p:sp>
      <p:sp>
        <p:nvSpPr>
          <p:cNvPr id="5" name="CAN_BAND_1">
            <a:extLst>
              <a:ext uri="{FF2B5EF4-FFF2-40B4-BE49-F238E27FC236}">
                <a16:creationId xmlns:a16="http://schemas.microsoft.com/office/drawing/2014/main" id="{F401AAAB-7B58-4FFE-B351-D2B4ABFE90F9}"/>
              </a:ext>
            </a:extLst>
          </p:cNvPr>
          <p:cNvSpPr/>
          <p:nvPr/>
        </p:nvSpPr>
        <p:spPr>
          <a:xfrm>
            <a:off x="548640" y="19202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CAN_1_NAME">
            <a:extLst>
              <a:ext uri="{FF2B5EF4-FFF2-40B4-BE49-F238E27FC236}">
                <a16:creationId xmlns:a16="http://schemas.microsoft.com/office/drawing/2014/main" id="{ED1C3FDA-4564-7895-30D8-7068ED20F4FC}"/>
              </a:ext>
            </a:extLst>
          </p:cNvPr>
          <p:cNvSpPr txBox="1"/>
          <p:nvPr/>
        </p:nvSpPr>
        <p:spPr>
          <a:xfrm>
            <a:off x="731520" y="19202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</a:t>
            </a:r>
          </a:p>
        </p:txBody>
      </p:sp>
      <p:sp>
        <p:nvSpPr>
          <p:cNvPr id="7" name="CAN_1_EVIDENCE">
            <a:extLst>
              <a:ext uri="{FF2B5EF4-FFF2-40B4-BE49-F238E27FC236}">
                <a16:creationId xmlns:a16="http://schemas.microsoft.com/office/drawing/2014/main" id="{A28A0FDF-D904-56DF-FCD6-FEC3636209D8}"/>
              </a:ext>
            </a:extLst>
          </p:cNvPr>
          <p:cNvSpPr txBox="1"/>
          <p:nvPr/>
        </p:nvSpPr>
        <p:spPr>
          <a:xfrm>
            <a:off x="731520" y="21945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人口与商业集聚，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家活跃网点，有项目线索</a:t>
            </a:r>
          </a:p>
        </p:txBody>
      </p:sp>
      <p:sp>
        <p:nvSpPr>
          <p:cNvPr id="8" name="CAN_BAND_2">
            <a:extLst>
              <a:ext uri="{FF2B5EF4-FFF2-40B4-BE49-F238E27FC236}">
                <a16:creationId xmlns:a16="http://schemas.microsoft.com/office/drawing/2014/main" id="{F61BD6D6-0074-53D5-2AC3-4C332A354CFD}"/>
              </a:ext>
            </a:extLst>
          </p:cNvPr>
          <p:cNvSpPr/>
          <p:nvPr/>
        </p:nvSpPr>
        <p:spPr>
          <a:xfrm>
            <a:off x="548640" y="2606040"/>
            <a:ext cx="3931920" cy="5486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AN_2_NAME">
            <a:extLst>
              <a:ext uri="{FF2B5EF4-FFF2-40B4-BE49-F238E27FC236}">
                <a16:creationId xmlns:a16="http://schemas.microsoft.com/office/drawing/2014/main" id="{3712C16E-5CB7-9681-41D8-10E5124F15E1}"/>
              </a:ext>
            </a:extLst>
          </p:cNvPr>
          <p:cNvSpPr txBox="1"/>
          <p:nvPr/>
        </p:nvSpPr>
        <p:spPr>
          <a:xfrm>
            <a:off x="731520" y="26060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0" name="CAN_2_EVIDENCE">
            <a:extLst>
              <a:ext uri="{FF2B5EF4-FFF2-40B4-BE49-F238E27FC236}">
                <a16:creationId xmlns:a16="http://schemas.microsoft.com/office/drawing/2014/main" id="{64BE933B-4CD2-2B29-DB16-9CBF5DDE7E90}"/>
              </a:ext>
            </a:extLst>
          </p:cNvPr>
          <p:cNvSpPr txBox="1"/>
          <p:nvPr/>
        </p:nvSpPr>
        <p:spPr>
          <a:xfrm>
            <a:off x="731520" y="28803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自建房多，无网点，老板有熟人关系</a:t>
            </a:r>
          </a:p>
        </p:txBody>
      </p:sp>
      <p:sp>
        <p:nvSpPr>
          <p:cNvPr id="11" name="CAN_BAND_3">
            <a:extLst>
              <a:ext uri="{FF2B5EF4-FFF2-40B4-BE49-F238E27FC236}">
                <a16:creationId xmlns:a16="http://schemas.microsoft.com/office/drawing/2014/main" id="{E9B95C12-E444-1035-AEC6-9BBB5146B23D}"/>
              </a:ext>
            </a:extLst>
          </p:cNvPr>
          <p:cNvSpPr/>
          <p:nvPr/>
        </p:nvSpPr>
        <p:spPr>
          <a:xfrm>
            <a:off x="548640" y="32918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AN_3_NAME">
            <a:extLst>
              <a:ext uri="{FF2B5EF4-FFF2-40B4-BE49-F238E27FC236}">
                <a16:creationId xmlns:a16="http://schemas.microsoft.com/office/drawing/2014/main" id="{80CBC99B-6011-59B8-3156-F144B2AAE6CC}"/>
              </a:ext>
            </a:extLst>
          </p:cNvPr>
          <p:cNvSpPr txBox="1"/>
          <p:nvPr/>
        </p:nvSpPr>
        <p:spPr>
          <a:xfrm>
            <a:off x="731520" y="32918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3" name="CAN_3_EVIDENCE">
            <a:extLst>
              <a:ext uri="{FF2B5EF4-FFF2-40B4-BE49-F238E27FC236}">
                <a16:creationId xmlns:a16="http://schemas.microsoft.com/office/drawing/2014/main" id="{B57CD9E0-5029-344B-1296-5AD48D3E98AD}"/>
              </a:ext>
            </a:extLst>
          </p:cNvPr>
          <p:cNvSpPr txBox="1"/>
          <p:nvPr/>
        </p:nvSpPr>
        <p:spPr>
          <a:xfrm>
            <a:off x="731520" y="35661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项目零散、依赖客情，配送半径外</a:t>
            </a:r>
          </a:p>
        </p:txBody>
      </p:sp>
      <p:sp>
        <p:nvSpPr>
          <p:cNvPr id="14" name="MATRIX_TITLE">
            <a:extLst>
              <a:ext uri="{FF2B5EF4-FFF2-40B4-BE49-F238E27FC236}">
                <a16:creationId xmlns:a16="http://schemas.microsoft.com/office/drawing/2014/main" id="{4D21C050-1713-EB68-5111-245BE03C9703}"/>
              </a:ext>
            </a:extLst>
          </p:cNvPr>
          <p:cNvSpPr txBox="1"/>
          <p:nvPr/>
        </p:nvSpPr>
        <p:spPr>
          <a:xfrm>
            <a:off x="4754880" y="1463040"/>
            <a:ext cx="5486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经营价值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</a:t>
            </a:r>
          </a:p>
        </p:txBody>
      </p:sp>
      <p:sp>
        <p:nvSpPr>
          <p:cNvPr id="15" name="QUAD_Q1">
            <a:extLst>
              <a:ext uri="{FF2B5EF4-FFF2-40B4-BE49-F238E27FC236}">
                <a16:creationId xmlns:a16="http://schemas.microsoft.com/office/drawing/2014/main" id="{602981BB-1F89-C441-673A-5AAE3DAE6AA8}"/>
              </a:ext>
            </a:extLst>
          </p:cNvPr>
          <p:cNvSpPr/>
          <p:nvPr/>
        </p:nvSpPr>
        <p:spPr>
          <a:xfrm>
            <a:off x="4754880" y="19202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QUAD_Q1_LABEL">
            <a:extLst>
              <a:ext uri="{FF2B5EF4-FFF2-40B4-BE49-F238E27FC236}">
                <a16:creationId xmlns:a16="http://schemas.microsoft.com/office/drawing/2014/main" id="{87254A10-BD0A-68A3-C8B5-D7D395F43E61}"/>
              </a:ext>
            </a:extLst>
          </p:cNvPr>
          <p:cNvSpPr txBox="1"/>
          <p:nvPr/>
        </p:nvSpPr>
        <p:spPr>
          <a:xfrm>
            <a:off x="489204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优先拿下</a:t>
            </a:r>
          </a:p>
        </p:txBody>
      </p:sp>
      <p:sp>
        <p:nvSpPr>
          <p:cNvPr id="17" name="QUAD_Q1_HINT">
            <a:extLst>
              <a:ext uri="{FF2B5EF4-FFF2-40B4-BE49-F238E27FC236}">
                <a16:creationId xmlns:a16="http://schemas.microsoft.com/office/drawing/2014/main" id="{2F6CCBB1-EF56-727E-ABC6-724FAB85C5F2}"/>
              </a:ext>
            </a:extLst>
          </p:cNvPr>
          <p:cNvSpPr txBox="1"/>
          <p:nvPr/>
        </p:nvSpPr>
        <p:spPr>
          <a:xfrm>
            <a:off x="489204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18" name="QUAD_Q1_FILL">
            <a:extLst>
              <a:ext uri="{FF2B5EF4-FFF2-40B4-BE49-F238E27FC236}">
                <a16:creationId xmlns:a16="http://schemas.microsoft.com/office/drawing/2014/main" id="{E9812A0C-1BE2-112C-48E1-AE2F521A21AA}"/>
              </a:ext>
            </a:extLst>
          </p:cNvPr>
          <p:cNvSpPr txBox="1"/>
          <p:nvPr/>
        </p:nvSpPr>
        <p:spPr>
          <a:xfrm>
            <a:off x="489204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QUAD_Q2">
            <a:extLst>
              <a:ext uri="{FF2B5EF4-FFF2-40B4-BE49-F238E27FC236}">
                <a16:creationId xmlns:a16="http://schemas.microsoft.com/office/drawing/2014/main" id="{CCC8B029-1EBB-B5AD-544C-30FEC4FE67E4}"/>
              </a:ext>
            </a:extLst>
          </p:cNvPr>
          <p:cNvSpPr/>
          <p:nvPr/>
        </p:nvSpPr>
        <p:spPr>
          <a:xfrm>
            <a:off x="8138160" y="1920240"/>
            <a:ext cx="3200400" cy="128016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QUAD_Q2_LABEL">
            <a:extLst>
              <a:ext uri="{FF2B5EF4-FFF2-40B4-BE49-F238E27FC236}">
                <a16:creationId xmlns:a16="http://schemas.microsoft.com/office/drawing/2014/main" id="{8BF87F57-4E11-B744-B51A-4D57B64179AC}"/>
              </a:ext>
            </a:extLst>
          </p:cNvPr>
          <p:cNvSpPr txBox="1"/>
          <p:nvPr/>
        </p:nvSpPr>
        <p:spPr>
          <a:xfrm>
            <a:off x="827532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重点攻坚</a:t>
            </a:r>
          </a:p>
        </p:txBody>
      </p:sp>
      <p:sp>
        <p:nvSpPr>
          <p:cNvPr id="21" name="QUAD_Q2_HINT">
            <a:extLst>
              <a:ext uri="{FF2B5EF4-FFF2-40B4-BE49-F238E27FC236}">
                <a16:creationId xmlns:a16="http://schemas.microsoft.com/office/drawing/2014/main" id="{33D26DE7-9EE8-E762-07CB-9D78F6FC23A6}"/>
              </a:ext>
            </a:extLst>
          </p:cNvPr>
          <p:cNvSpPr txBox="1"/>
          <p:nvPr/>
        </p:nvSpPr>
        <p:spPr>
          <a:xfrm>
            <a:off x="827532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22" name="QUAD_Q2_FILL">
            <a:extLst>
              <a:ext uri="{FF2B5EF4-FFF2-40B4-BE49-F238E27FC236}">
                <a16:creationId xmlns:a16="http://schemas.microsoft.com/office/drawing/2014/main" id="{B751B424-BCF7-F39A-29AB-EC7A6A4841A5}"/>
              </a:ext>
            </a:extLst>
          </p:cNvPr>
          <p:cNvSpPr txBox="1"/>
          <p:nvPr/>
        </p:nvSpPr>
        <p:spPr>
          <a:xfrm>
            <a:off x="827532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QUAD_Q3">
            <a:extLst>
              <a:ext uri="{FF2B5EF4-FFF2-40B4-BE49-F238E27FC236}">
                <a16:creationId xmlns:a16="http://schemas.microsoft.com/office/drawing/2014/main" id="{BCF02BF2-F431-89E8-E237-70550008A939}"/>
              </a:ext>
            </a:extLst>
          </p:cNvPr>
          <p:cNvSpPr/>
          <p:nvPr/>
        </p:nvSpPr>
        <p:spPr>
          <a:xfrm>
            <a:off x="4754880" y="32918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QUAD_Q3_LABEL">
            <a:extLst>
              <a:ext uri="{FF2B5EF4-FFF2-40B4-BE49-F238E27FC236}">
                <a16:creationId xmlns:a16="http://schemas.microsoft.com/office/drawing/2014/main" id="{AFB5AE1D-43AD-004C-8B6D-4A58C46683DC}"/>
              </a:ext>
            </a:extLst>
          </p:cNvPr>
          <p:cNvSpPr txBox="1"/>
          <p:nvPr/>
        </p:nvSpPr>
        <p:spPr>
          <a:xfrm>
            <a:off x="489204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观察验证</a:t>
            </a:r>
          </a:p>
        </p:txBody>
      </p:sp>
      <p:sp>
        <p:nvSpPr>
          <p:cNvPr id="25" name="QUAD_Q3_HINT">
            <a:extLst>
              <a:ext uri="{FF2B5EF4-FFF2-40B4-BE49-F238E27FC236}">
                <a16:creationId xmlns:a16="http://schemas.microsoft.com/office/drawing/2014/main" id="{1E8D4B5B-951F-429C-AE51-33F64ED0BAE0}"/>
              </a:ext>
            </a:extLst>
          </p:cNvPr>
          <p:cNvSpPr txBox="1"/>
          <p:nvPr/>
        </p:nvSpPr>
        <p:spPr>
          <a:xfrm>
            <a:off x="489204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26" name="QUAD_Q3_FILL">
            <a:extLst>
              <a:ext uri="{FF2B5EF4-FFF2-40B4-BE49-F238E27FC236}">
                <a16:creationId xmlns:a16="http://schemas.microsoft.com/office/drawing/2014/main" id="{25653AA1-AD51-E037-8607-C85034A24C94}"/>
              </a:ext>
            </a:extLst>
          </p:cNvPr>
          <p:cNvSpPr txBox="1"/>
          <p:nvPr/>
        </p:nvSpPr>
        <p:spPr>
          <a:xfrm>
            <a:off x="489204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QUAD_Q4">
            <a:extLst>
              <a:ext uri="{FF2B5EF4-FFF2-40B4-BE49-F238E27FC236}">
                <a16:creationId xmlns:a16="http://schemas.microsoft.com/office/drawing/2014/main" id="{CC6F5EC0-751C-88AF-8E6C-253BDCB98CBD}"/>
              </a:ext>
            </a:extLst>
          </p:cNvPr>
          <p:cNvSpPr/>
          <p:nvPr/>
        </p:nvSpPr>
        <p:spPr>
          <a:xfrm>
            <a:off x="8138160" y="3291840"/>
            <a:ext cx="3200400" cy="128016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QUAD_Q4_LABEL">
            <a:extLst>
              <a:ext uri="{FF2B5EF4-FFF2-40B4-BE49-F238E27FC236}">
                <a16:creationId xmlns:a16="http://schemas.microsoft.com/office/drawing/2014/main" id="{DC112707-C82B-252A-34B3-1F95C8CE9EED}"/>
              </a:ext>
            </a:extLst>
          </p:cNvPr>
          <p:cNvSpPr txBox="1"/>
          <p:nvPr/>
        </p:nvSpPr>
        <p:spPr>
          <a:xfrm>
            <a:off x="827532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暂缓投入</a:t>
            </a:r>
          </a:p>
        </p:txBody>
      </p:sp>
      <p:sp>
        <p:nvSpPr>
          <p:cNvPr id="29" name="QUAD_Q4_HINT">
            <a:extLst>
              <a:ext uri="{FF2B5EF4-FFF2-40B4-BE49-F238E27FC236}">
                <a16:creationId xmlns:a16="http://schemas.microsoft.com/office/drawing/2014/main" id="{289539D4-1019-4E57-45EF-C4195335465B}"/>
              </a:ext>
            </a:extLst>
          </p:cNvPr>
          <p:cNvSpPr txBox="1"/>
          <p:nvPr/>
        </p:nvSpPr>
        <p:spPr>
          <a:xfrm>
            <a:off x="827532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30" name="QUAD_Q4_FILL">
            <a:extLst>
              <a:ext uri="{FF2B5EF4-FFF2-40B4-BE49-F238E27FC236}">
                <a16:creationId xmlns:a16="http://schemas.microsoft.com/office/drawing/2014/main" id="{FF931194-BD25-44DA-92FE-E5ABCC67ED1F}"/>
              </a:ext>
            </a:extLst>
          </p:cNvPr>
          <p:cNvSpPr txBox="1"/>
          <p:nvPr/>
        </p:nvSpPr>
        <p:spPr>
          <a:xfrm>
            <a:off x="827532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BET_BAND">
            <a:extLst>
              <a:ext uri="{FF2B5EF4-FFF2-40B4-BE49-F238E27FC236}">
                <a16:creationId xmlns:a16="http://schemas.microsoft.com/office/drawing/2014/main" id="{D013884A-E625-04CF-3742-0E43FACB85BB}"/>
              </a:ext>
            </a:extLst>
          </p:cNvPr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BET_TITLE">
            <a:extLst>
              <a:ext uri="{FF2B5EF4-FFF2-40B4-BE49-F238E27FC236}">
                <a16:creationId xmlns:a16="http://schemas.microsoft.com/office/drawing/2014/main" id="{72019D6E-EA05-300E-E175-8C8E2DA90B81}"/>
              </a:ext>
            </a:extLst>
          </p:cNvPr>
          <p:cNvSpPr txBox="1"/>
          <p:nvPr/>
        </p:nvSpPr>
        <p:spPr>
          <a:xfrm>
            <a:off x="777240" y="5029200"/>
            <a:ext cx="18288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资源下注</a:t>
            </a:r>
          </a:p>
        </p:txBody>
      </p:sp>
      <p:sp>
        <p:nvSpPr>
          <p:cNvPr id="33" name="BET_1_LABEL">
            <a:extLst>
              <a:ext uri="{FF2B5EF4-FFF2-40B4-BE49-F238E27FC236}">
                <a16:creationId xmlns:a16="http://schemas.microsoft.com/office/drawing/2014/main" id="{786E9C03-D23A-EC23-1787-13C5BE70457D}"/>
              </a:ext>
            </a:extLst>
          </p:cNvPr>
          <p:cNvSpPr txBox="1"/>
          <p:nvPr/>
        </p:nvSpPr>
        <p:spPr>
          <a:xfrm>
            <a:off x="27432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首战</a:t>
            </a:r>
          </a:p>
        </p:txBody>
      </p:sp>
      <p:sp>
        <p:nvSpPr>
          <p:cNvPr id="34" name="BET_1_TARGET">
            <a:extLst>
              <a:ext uri="{FF2B5EF4-FFF2-40B4-BE49-F238E27FC236}">
                <a16:creationId xmlns:a16="http://schemas.microsoft.com/office/drawing/2014/main" id="{DDAD1189-109D-3637-A9B4-E26A3933BC62}"/>
              </a:ext>
            </a:extLst>
          </p:cNvPr>
          <p:cNvSpPr txBox="1"/>
          <p:nvPr/>
        </p:nvSpPr>
        <p:spPr>
          <a:xfrm>
            <a:off x="27432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5" name="BET_2_LABEL">
            <a:extLst>
              <a:ext uri="{FF2B5EF4-FFF2-40B4-BE49-F238E27FC236}">
                <a16:creationId xmlns:a16="http://schemas.microsoft.com/office/drawing/2014/main" id="{BFFD6B03-C8A5-93A0-5FB9-7FCD27928AA6}"/>
              </a:ext>
            </a:extLst>
          </p:cNvPr>
          <p:cNvSpPr txBox="1"/>
          <p:nvPr/>
        </p:nvSpPr>
        <p:spPr>
          <a:xfrm>
            <a:off x="54864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候补</a:t>
            </a:r>
          </a:p>
        </p:txBody>
      </p:sp>
      <p:sp>
        <p:nvSpPr>
          <p:cNvPr id="36" name="BET_2_TARGET">
            <a:extLst>
              <a:ext uri="{FF2B5EF4-FFF2-40B4-BE49-F238E27FC236}">
                <a16:creationId xmlns:a16="http://schemas.microsoft.com/office/drawing/2014/main" id="{20C6796D-60B7-787B-4CF3-64AD15D0A9A1}"/>
              </a:ext>
            </a:extLst>
          </p:cNvPr>
          <p:cNvSpPr txBox="1"/>
          <p:nvPr/>
        </p:nvSpPr>
        <p:spPr>
          <a:xfrm>
            <a:off x="54864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7" name="BET_3_LABEL">
            <a:extLst>
              <a:ext uri="{FF2B5EF4-FFF2-40B4-BE49-F238E27FC236}">
                <a16:creationId xmlns:a16="http://schemas.microsoft.com/office/drawing/2014/main" id="{B2810A25-749D-D4E8-04A4-9B4DADE29AB6}"/>
              </a:ext>
            </a:extLst>
          </p:cNvPr>
          <p:cNvSpPr txBox="1"/>
          <p:nvPr/>
        </p:nvSpPr>
        <p:spPr>
          <a:xfrm>
            <a:off x="82296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</a:t>
            </a:r>
          </a:p>
        </p:txBody>
      </p:sp>
      <p:sp>
        <p:nvSpPr>
          <p:cNvPr id="38" name="BET_3_TARGET">
            <a:extLst>
              <a:ext uri="{FF2B5EF4-FFF2-40B4-BE49-F238E27FC236}">
                <a16:creationId xmlns:a16="http://schemas.microsoft.com/office/drawing/2014/main" id="{BF29331E-D7FA-AD22-9850-32330DB686D1}"/>
              </a:ext>
            </a:extLst>
          </p:cNvPr>
          <p:cNvSpPr txBox="1"/>
          <p:nvPr/>
        </p:nvSpPr>
        <p:spPr>
          <a:xfrm>
            <a:off x="82296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8C34CACC-2A17-882E-E2E3-05E617781765}"/>
              </a:ext>
            </a:extLst>
          </p:cNvPr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先按经营价值排序，再加实施难度；用「高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证据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待验证字段」，不打精确分数。</a:t>
            </a:r>
          </a:p>
        </p:txBody>
      </p:sp>
    </p:spTree>
    <p:extLst>
      <p:ext uri="{BB962C8B-B14F-4D97-AF65-F5344CB8AC3E}">
        <p14:creationId xmlns:p14="http://schemas.microsoft.com/office/powerpoint/2010/main" val="151800511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1456</Words>
  <Application>Microsoft Office PowerPoint</Application>
  <DocSecurity>0</DocSecurity>
  <PresentationFormat>宽屏</PresentationFormat>
  <Paragraphs>245</Paragraphs>
  <Slides>10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6</cp:revision>
  <dcterms:created xsi:type="dcterms:W3CDTF">2026-08-13T12:27:10Z</dcterms:created>
  <dcterms:modified xsi:type="dcterms:W3CDTF">2026-08-18T08:48:29Z</dcterms:modified>
</cp:coreProperties>
</file>