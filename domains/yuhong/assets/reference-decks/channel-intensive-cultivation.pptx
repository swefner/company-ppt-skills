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73"/>
  </p:notesMasterIdLst>
  <p:handoutMasterIdLst>
    <p:handoutMasterId r:id="rId74"/>
  </p:handoutMasterIdLst>
  <p:sldIdLst>
    <p:sldId id="16770064" r:id="rId3"/>
    <p:sldId id="16770089" r:id="rId4"/>
    <p:sldId id="16770088" r:id="rId5"/>
    <p:sldId id="16770046" r:id="rId6"/>
    <p:sldId id="16770814" r:id="rId7"/>
    <p:sldId id="16770087" r:id="rId8"/>
    <p:sldId id="16770815" r:id="rId9"/>
    <p:sldId id="16770663" r:id="rId10"/>
    <p:sldId id="16770664" r:id="rId11"/>
    <p:sldId id="16770665" r:id="rId12"/>
    <p:sldId id="16770700" r:id="rId13"/>
    <p:sldId id="16770666" r:id="rId14"/>
    <p:sldId id="16770667" r:id="rId15"/>
    <p:sldId id="16770341" r:id="rId16"/>
    <p:sldId id="16770100" r:id="rId17"/>
    <p:sldId id="16770382" r:id="rId18"/>
    <p:sldId id="16770037" r:id="rId19"/>
    <p:sldId id="16770036" r:id="rId20"/>
    <p:sldId id="16770040" r:id="rId21"/>
    <p:sldId id="16770383" r:id="rId22"/>
    <p:sldId id="16770342" r:id="rId23"/>
    <p:sldId id="16770745" r:id="rId24"/>
    <p:sldId id="16770104" r:id="rId25"/>
    <p:sldId id="16770344" r:id="rId26"/>
    <p:sldId id="16770348" r:id="rId27"/>
    <p:sldId id="16770351" r:id="rId28"/>
    <p:sldId id="16770106" r:id="rId29"/>
    <p:sldId id="16770109" r:id="rId30"/>
    <p:sldId id="16770668" r:id="rId31"/>
    <p:sldId id="16770372" r:id="rId32"/>
    <p:sldId id="16770352" r:id="rId33"/>
    <p:sldId id="16770389" r:id="rId34"/>
    <p:sldId id="16770356" r:id="rId35"/>
    <p:sldId id="16770359" r:id="rId36"/>
    <p:sldId id="16770390" r:id="rId37"/>
    <p:sldId id="16770617" r:id="rId38"/>
    <p:sldId id="16770816" r:id="rId39"/>
    <p:sldId id="16770820" r:id="rId40"/>
    <p:sldId id="16770817" r:id="rId41"/>
    <p:sldId id="16770818" r:id="rId42"/>
    <p:sldId id="16770819" r:id="rId43"/>
    <p:sldId id="16770394" r:id="rId44"/>
    <p:sldId id="16770362" r:id="rId45"/>
    <p:sldId id="16770669" r:id="rId46"/>
    <p:sldId id="13906" r:id="rId47"/>
    <p:sldId id="13833" r:id="rId48"/>
    <p:sldId id="12903" r:id="rId49"/>
    <p:sldId id="13877" r:id="rId50"/>
    <p:sldId id="13907" r:id="rId51"/>
    <p:sldId id="16770746" r:id="rId52"/>
    <p:sldId id="16770376" r:id="rId53"/>
    <p:sldId id="16770019" r:id="rId54"/>
    <p:sldId id="16770377" r:id="rId55"/>
    <p:sldId id="16769983" r:id="rId56"/>
    <p:sldId id="16769690" r:id="rId57"/>
    <p:sldId id="16770675" r:id="rId58"/>
    <p:sldId id="481" r:id="rId59"/>
    <p:sldId id="472" r:id="rId60"/>
    <p:sldId id="470" r:id="rId61"/>
    <p:sldId id="479" r:id="rId62"/>
    <p:sldId id="475" r:id="rId63"/>
    <p:sldId id="476" r:id="rId64"/>
    <p:sldId id="478" r:id="rId65"/>
    <p:sldId id="16769982" r:id="rId66"/>
    <p:sldId id="16770744" r:id="rId67"/>
    <p:sldId id="16769993" r:id="rId68"/>
    <p:sldId id="16769977" r:id="rId69"/>
    <p:sldId id="16769713" r:id="rId70"/>
    <p:sldId id="16770676" r:id="rId71"/>
    <p:sldId id="16770601" r:id="rId7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BFBF"/>
    <a:srgbClr val="D81D06"/>
    <a:srgbClr val="000000"/>
    <a:srgbClr val="FFFFFF"/>
    <a:srgbClr val="FFA7AF"/>
    <a:srgbClr val="D75655"/>
    <a:srgbClr val="FAEAEA"/>
    <a:srgbClr val="E4392A"/>
    <a:srgbClr val="ED949B"/>
    <a:srgbClr val="8E5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 autoAdjust="0"/>
    <p:restoredTop sz="92517" autoAdjust="0"/>
  </p:normalViewPr>
  <p:slideViewPr>
    <p:cSldViewPr snapToGrid="0" showGuides="1">
      <p:cViewPr varScale="1">
        <p:scale>
          <a:sx n="118" d="100"/>
          <a:sy n="118" d="100"/>
        </p:scale>
        <p:origin x="1128" y="184"/>
      </p:cViewPr>
      <p:guideLst>
        <p:guide orient="horz" pos="2160"/>
        <p:guide pos="3667"/>
      </p:guideLst>
    </p:cSldViewPr>
  </p:slideViewPr>
  <p:outlineViewPr>
    <p:cViewPr>
      <p:scale>
        <a:sx n="33" d="100"/>
        <a:sy n="33" d="100"/>
      </p:scale>
      <p:origin x="0" y="-303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101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市场摸排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摸：从上往下，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排：从上往下，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主阵地（优先级）最肥的土地</a:t>
            </a:r>
            <a:endParaRPr kumimoji="1" lang="en-US" altLang="zh-CN" dirty="0"/>
          </a:p>
          <a:p>
            <a:r>
              <a:rPr kumimoji="1" lang="zh-CN" altLang="en-US" dirty="0"/>
              <a:t>空白乡镇分主次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空白建材市场</a:t>
            </a:r>
            <a:endParaRPr kumimoji="1" lang="en-US" altLang="zh-CN" dirty="0"/>
          </a:p>
          <a:p>
            <a:r>
              <a:rPr kumimoji="1" lang="zh-CN" altLang="en-US" dirty="0"/>
              <a:t>责任田，土质最肥沃，好的在建材市场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其它的再开出来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精准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通过提问：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交通，年轻劳动力等</a:t>
            </a:r>
            <a:endParaRPr kumimoji="1" lang="en-US" altLang="zh-CN" dirty="0"/>
          </a:p>
          <a:p>
            <a:r>
              <a:rPr kumimoji="1" lang="zh-CN" altLang="en-US" dirty="0"/>
              <a:t>人均可支配收入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纽带等，先能切进去，竞争对手去打他，</a:t>
            </a:r>
            <a:r>
              <a:rPr kumimoji="1" lang="zh-CN" altLang="en-US" b="1" dirty="0"/>
              <a:t>扶持老二，去打她，市场不能空白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从别人那里抢东西，摸网点，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人口数核对</a:t>
            </a: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63F55A-51F3-4499-A782-90EF95DBB6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57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6DF772E-7604-41B0-90F4-611AC39AD06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58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Tk yne </a:t>
            </a:r>
            <a:endParaRPr lang="zh-CN" altLang="en-US"/>
          </a:p>
        </p:txBody>
      </p:sp>
      <p:sp>
        <p:nvSpPr>
          <p:cNvPr id="1136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1B1826-9AE8-428C-B204-C893216969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61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连成线路</a:t>
            </a: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4A0F0A-B014-41F1-8C4B-FDDE9D950E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5115" y="290195"/>
            <a:ext cx="1162685" cy="8274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703" y="309681"/>
            <a:ext cx="947400" cy="725668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19405" y="266223"/>
            <a:ext cx="10515600" cy="561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8CB122-2A59-4933-9BAC-14EB95C6DD60}" type="datetime11">
              <a:rPr lang="zh-CN" altLang="en-US" smtClean="0"/>
              <a:t>17:35:13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EEA63B-D198-4419-8DEB-D3DDD174A9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5115" y="290195"/>
            <a:ext cx="1162685" cy="8274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703" y="309681"/>
            <a:ext cx="947400" cy="72566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319405" y="266223"/>
            <a:ext cx="10515600" cy="561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13745" y="224155"/>
            <a:ext cx="1066800" cy="7588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8CB122-2A59-4933-9BAC-14EB95C6DD60}" type="datetime11">
              <a:rPr lang="zh-CN" altLang="en-US" smtClean="0"/>
              <a:t>17:35:13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EEA63B-D198-4419-8DEB-D3DDD174A9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13745" y="224155"/>
            <a:ext cx="1066800" cy="7588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微信图片_20250609181417"/>
          <p:cNvPicPr>
            <a:picLocks noChangeAspect="1"/>
          </p:cNvPicPr>
          <p:nvPr userDrawn="1"/>
        </p:nvPicPr>
        <p:blipFill>
          <a:blip r:embed="rId7"/>
          <a:srcRect l="3333" t="4852" r="3626" b="8059"/>
          <a:stretch>
            <a:fillRect/>
          </a:stretch>
        </p:blipFill>
        <p:spPr>
          <a:xfrm>
            <a:off x="10930255" y="289560"/>
            <a:ext cx="1010285" cy="6724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8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0" y="6138696"/>
            <a:ext cx="12192000" cy="90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8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" Type="http://schemas.openxmlformats.org/officeDocument/2006/relationships/tags" Target="../tags/tag12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notesSlide" Target="../notesSlides/notesSlide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11.jpe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34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13.jpe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12.jpe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43.xml"/><Relationship Id="rId15" Type="http://schemas.openxmlformats.org/officeDocument/2006/relationships/image" Target="../media/image15.jpeg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14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3.xml"/><Relationship Id="rId4" Type="http://schemas.openxmlformats.org/officeDocument/2006/relationships/image" Target="../media/image1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72469" y="2229612"/>
            <a:ext cx="695575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600" b="1" dirty="0">
                <a:solidFill>
                  <a:schemeClr val="bg1"/>
                </a:solidFill>
              </a:rPr>
              <a:t>一套业务闭环系统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0176" y="4074216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b="1" dirty="0"/>
              <a:t>一套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业务闭环系统</a:t>
            </a:r>
            <a:r>
              <a:rPr kumimoji="1" lang="zh-CN" altLang="en-US" sz="3200" b="1" dirty="0"/>
              <a:t>的核心价值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94243" y="121284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经营规划系统</a:t>
            </a:r>
          </a:p>
        </p:txBody>
      </p:sp>
      <p:sp>
        <p:nvSpPr>
          <p:cNvPr id="5" name="三角形 4"/>
          <p:cNvSpPr/>
          <p:nvPr/>
        </p:nvSpPr>
        <p:spPr>
          <a:xfrm>
            <a:off x="2644859" y="2893262"/>
            <a:ext cx="6130094" cy="744035"/>
          </a:xfrm>
          <a:prstGeom prst="triangle">
            <a:avLst/>
          </a:prstGeom>
          <a:gradFill flip="none" rotWithShape="1">
            <a:gsLst>
              <a:gs pos="70000">
                <a:srgbClr val="ECAEAC"/>
              </a:gs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3526033" y="1919208"/>
            <a:ext cx="1710388" cy="537135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战略目标实现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6183391" y="1919208"/>
            <a:ext cx="1710388" cy="537135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盈利目标实现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09797" y="303444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bg1"/>
                </a:solidFill>
              </a:rPr>
              <a:t>支撑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00010" y="819561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大商如何做好业务规划体系？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33571" y="152274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要从</a:t>
            </a:r>
            <a:r>
              <a:rPr kumimoji="1" lang="zh-CN" altLang="en-US" b="1" dirty="0">
                <a:solidFill>
                  <a:srgbClr val="C00000"/>
                </a:solidFill>
              </a:rPr>
              <a:t>经营视角</a:t>
            </a:r>
            <a:r>
              <a:rPr kumimoji="1" lang="zh-CN" altLang="en-US" dirty="0"/>
              <a:t>打好关键战役！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41674" y="488078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从单纯的业务思维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70650" y="2840741"/>
            <a:ext cx="13618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b="1" dirty="0"/>
              <a:t>业务</a:t>
            </a:r>
            <a:endParaRPr kumimoji="1" lang="en-US" altLang="zh-CN" sz="2800" b="1" dirty="0"/>
          </a:p>
          <a:p>
            <a:pPr algn="ctr"/>
            <a:r>
              <a:rPr kumimoji="1" lang="zh-CN" altLang="en-US" sz="2800" b="1" dirty="0"/>
              <a:t>视角</a:t>
            </a:r>
            <a:endParaRPr lang="zh-CN" altLang="en-US" sz="28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847719" y="2411081"/>
            <a:ext cx="156409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财务视角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60543" y="3145038"/>
            <a:ext cx="1546201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业务视角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860543" y="3891180"/>
            <a:ext cx="1546201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管理视角</a:t>
            </a:r>
          </a:p>
        </p:txBody>
      </p:sp>
      <p:sp>
        <p:nvSpPr>
          <p:cNvPr id="13" name="三角形 12"/>
          <p:cNvSpPr/>
          <p:nvPr/>
        </p:nvSpPr>
        <p:spPr>
          <a:xfrm rot="5400000">
            <a:off x="4707563" y="3277131"/>
            <a:ext cx="2044336" cy="186483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50218" y="2734784"/>
            <a:ext cx="352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三者融合</a:t>
            </a:r>
          </a:p>
        </p:txBody>
      </p:sp>
      <p:sp>
        <p:nvSpPr>
          <p:cNvPr id="16" name="左大括号 15"/>
          <p:cNvSpPr/>
          <p:nvPr/>
        </p:nvSpPr>
        <p:spPr>
          <a:xfrm>
            <a:off x="6566250" y="2440728"/>
            <a:ext cx="92191" cy="17884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64457" y="5665971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财务、业务、管理</a:t>
            </a:r>
            <a:r>
              <a:rPr kumimoji="1" lang="zh-CN" altLang="en-US" sz="2400" b="1" dirty="0"/>
              <a:t>的三者融合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85387" y="5314767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</a:rPr>
              <a:t>思考如何打好关键战役！</a:t>
            </a:r>
          </a:p>
        </p:txBody>
      </p:sp>
      <p:sp>
        <p:nvSpPr>
          <p:cNvPr id="5" name="三角形 4"/>
          <p:cNvSpPr/>
          <p:nvPr/>
        </p:nvSpPr>
        <p:spPr>
          <a:xfrm rot="5400000">
            <a:off x="5779970" y="5291799"/>
            <a:ext cx="1174968" cy="496706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下箭头 7"/>
          <p:cNvSpPr/>
          <p:nvPr/>
        </p:nvSpPr>
        <p:spPr>
          <a:xfrm>
            <a:off x="3738602" y="5298862"/>
            <a:ext cx="644685" cy="277515"/>
          </a:xfrm>
          <a:prstGeom prst="downArrow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962546" y="2072031"/>
            <a:ext cx="4852610" cy="250877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6982" y="1858689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4800" b="1" dirty="0">
                <a:solidFill>
                  <a:srgbClr val="C00000"/>
                </a:solidFill>
              </a:rPr>
              <a:t>打好年度关键战役</a:t>
            </a:r>
          </a:p>
        </p:txBody>
      </p:sp>
      <p:sp>
        <p:nvSpPr>
          <p:cNvPr id="10" name="左大括号 9"/>
          <p:cNvSpPr/>
          <p:nvPr/>
        </p:nvSpPr>
        <p:spPr>
          <a:xfrm rot="5400000">
            <a:off x="5939647" y="-317467"/>
            <a:ext cx="403761" cy="70064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779616" y="124153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现有的关键战役有哪些：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823417" y="3986302"/>
            <a:ext cx="8636221" cy="707886"/>
            <a:chOff x="1823417" y="3986302"/>
            <a:chExt cx="8636221" cy="707886"/>
          </a:xfrm>
        </p:grpSpPr>
        <p:sp>
          <p:nvSpPr>
            <p:cNvPr id="6" name="圆角矩形 5"/>
            <p:cNvSpPr/>
            <p:nvPr/>
          </p:nvSpPr>
          <p:spPr>
            <a:xfrm>
              <a:off x="3607172" y="3986302"/>
              <a:ext cx="1501200" cy="707886"/>
            </a:xfrm>
            <a:prstGeom prst="roundRect">
              <a:avLst/>
            </a:prstGeom>
            <a:solidFill>
              <a:srgbClr val="C00000"/>
            </a:solidFill>
            <a:ln w="158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爆品打造</a:t>
              </a:r>
              <a:endParaRPr kumimoji="1" lang="en-US" altLang="zh-CN" b="1" dirty="0">
                <a:solidFill>
                  <a:schemeClr val="bg1"/>
                </a:solidFill>
              </a:endParaRPr>
            </a:p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关键战役</a:t>
              </a: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1823417" y="3986302"/>
              <a:ext cx="1501200" cy="707886"/>
            </a:xfrm>
            <a:prstGeom prst="roundRect">
              <a:avLst/>
            </a:prstGeom>
            <a:solidFill>
              <a:srgbClr val="C00000"/>
            </a:solidFill>
            <a:ln w="158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渠道精耕</a:t>
              </a:r>
              <a:endParaRPr kumimoji="1" lang="en-US" altLang="zh-CN" b="1" dirty="0">
                <a:solidFill>
                  <a:schemeClr val="bg1"/>
                </a:solidFill>
              </a:endParaRPr>
            </a:p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关键战役</a:t>
              </a: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7174682" y="3986302"/>
              <a:ext cx="1501200" cy="707886"/>
            </a:xfrm>
            <a:prstGeom prst="roundRect">
              <a:avLst/>
            </a:prstGeom>
            <a:solidFill>
              <a:srgbClr val="C00000"/>
            </a:solidFill>
            <a:ln w="158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双包</a:t>
              </a:r>
              <a:endParaRPr kumimoji="1" lang="en-US" altLang="zh-CN" b="1" dirty="0">
                <a:solidFill>
                  <a:schemeClr val="bg1"/>
                </a:solidFill>
              </a:endParaRPr>
            </a:p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关键战役</a:t>
              </a: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5390927" y="3986302"/>
              <a:ext cx="1501200" cy="707886"/>
            </a:xfrm>
            <a:prstGeom prst="roundRect">
              <a:avLst/>
            </a:prstGeom>
            <a:solidFill>
              <a:srgbClr val="C00000"/>
            </a:solidFill>
            <a:ln w="158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零售专卖</a:t>
              </a:r>
              <a:endParaRPr kumimoji="1" lang="en-US" altLang="zh-CN" b="1" dirty="0">
                <a:solidFill>
                  <a:schemeClr val="bg1"/>
                </a:solidFill>
              </a:endParaRPr>
            </a:p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关键战役</a:t>
              </a: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8958438" y="3986302"/>
              <a:ext cx="1501200" cy="707886"/>
            </a:xfrm>
            <a:prstGeom prst="roundRect">
              <a:avLst/>
            </a:prstGeom>
            <a:solidFill>
              <a:srgbClr val="C00000"/>
            </a:solidFill>
            <a:ln w="158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家装</a:t>
              </a:r>
              <a:endParaRPr kumimoji="1" lang="en-US" altLang="zh-CN" b="1" dirty="0">
                <a:solidFill>
                  <a:schemeClr val="bg1"/>
                </a:solidFill>
              </a:endParaRPr>
            </a:p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</a:rPr>
                <a:t>关键战役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19"/>
          <p:cNvSpPr/>
          <p:nvPr/>
        </p:nvSpPr>
        <p:spPr>
          <a:xfrm>
            <a:off x="335844" y="1345280"/>
            <a:ext cx="11520311" cy="5124138"/>
          </a:xfrm>
          <a:custGeom>
            <a:avLst/>
            <a:gdLst>
              <a:gd name="connsiteX0" fmla="*/ 6088982 w 12192000"/>
              <a:gd name="connsiteY0" fmla="*/ 0 h 5422900"/>
              <a:gd name="connsiteX1" fmla="*/ 11977512 w 12192000"/>
              <a:gd name="connsiteY1" fmla="*/ 2456876 h 5422900"/>
              <a:gd name="connsiteX2" fmla="*/ 12192000 w 12192000"/>
              <a:gd name="connsiteY2" fmla="*/ 2683296 h 5422900"/>
              <a:gd name="connsiteX3" fmla="*/ 12192000 w 12192000"/>
              <a:gd name="connsiteY3" fmla="*/ 5422900 h 5422900"/>
              <a:gd name="connsiteX4" fmla="*/ 0 w 12192000"/>
              <a:gd name="connsiteY4" fmla="*/ 5422900 h 5422900"/>
              <a:gd name="connsiteX5" fmla="*/ 0 w 12192000"/>
              <a:gd name="connsiteY5" fmla="*/ 2668479 h 5422900"/>
              <a:gd name="connsiteX6" fmla="*/ 200452 w 12192000"/>
              <a:gd name="connsiteY6" fmla="*/ 2456876 h 5422900"/>
              <a:gd name="connsiteX7" fmla="*/ 6088982 w 12192000"/>
              <a:gd name="connsiteY7" fmla="*/ 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422900">
                <a:moveTo>
                  <a:pt x="6088982" y="0"/>
                </a:moveTo>
                <a:cubicBezTo>
                  <a:pt x="8380315" y="0"/>
                  <a:pt x="10458118" y="936749"/>
                  <a:pt x="11977512" y="2456876"/>
                </a:cubicBezTo>
                <a:lnTo>
                  <a:pt x="12192000" y="2683296"/>
                </a:lnTo>
                <a:lnTo>
                  <a:pt x="12192000" y="5422900"/>
                </a:lnTo>
                <a:lnTo>
                  <a:pt x="0" y="5422900"/>
                </a:lnTo>
                <a:lnTo>
                  <a:pt x="0" y="2668479"/>
                </a:lnTo>
                <a:lnTo>
                  <a:pt x="200452" y="2456876"/>
                </a:lnTo>
                <a:cubicBezTo>
                  <a:pt x="1719846" y="936749"/>
                  <a:pt x="3797648" y="0"/>
                  <a:pt x="60889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66700" dist="50800" dir="2400000" sx="98000" sy="98000" algn="ctr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buSzPct val="25000"/>
            </a:pPr>
            <a:endParaRPr lang="zh-CN" altLang="en-US" sz="2400" b="1">
              <a:solidFill>
                <a:schemeClr val="accent1"/>
              </a:solidFill>
            </a:endParaRPr>
          </a:p>
        </p:txBody>
      </p:sp>
      <p:sp>
        <p:nvSpPr>
          <p:cNvPr id="4" name="任意多边形: 形状 4"/>
          <p:cNvSpPr/>
          <p:nvPr/>
        </p:nvSpPr>
        <p:spPr>
          <a:xfrm>
            <a:off x="1788765" y="3974320"/>
            <a:ext cx="8602470" cy="2495099"/>
          </a:xfrm>
          <a:custGeom>
            <a:avLst/>
            <a:gdLst>
              <a:gd name="connsiteX0" fmla="*/ 4552017 w 9104034"/>
              <a:gd name="connsiteY0" fmla="*/ 0 h 2640575"/>
              <a:gd name="connsiteX1" fmla="*/ 9037766 w 9104034"/>
              <a:gd name="connsiteY1" fmla="*/ 2525325 h 2640575"/>
              <a:gd name="connsiteX2" fmla="*/ 9104034 w 9104034"/>
              <a:gd name="connsiteY2" fmla="*/ 2640575 h 2640575"/>
              <a:gd name="connsiteX3" fmla="*/ 0 w 9104034"/>
              <a:gd name="connsiteY3" fmla="*/ 2640575 h 2640575"/>
              <a:gd name="connsiteX4" fmla="*/ 66268 w 9104034"/>
              <a:gd name="connsiteY4" fmla="*/ 2525325 h 2640575"/>
              <a:gd name="connsiteX5" fmla="*/ 4552017 w 9104034"/>
              <a:gd name="connsiteY5" fmla="*/ 0 h 264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04034" h="2640575">
                <a:moveTo>
                  <a:pt x="4552017" y="0"/>
                </a:moveTo>
                <a:cubicBezTo>
                  <a:pt x="6453035" y="0"/>
                  <a:pt x="8117843" y="1011334"/>
                  <a:pt x="9037766" y="2525325"/>
                </a:cubicBezTo>
                <a:lnTo>
                  <a:pt x="9104034" y="2640575"/>
                </a:lnTo>
                <a:lnTo>
                  <a:pt x="0" y="2640575"/>
                </a:lnTo>
                <a:lnTo>
                  <a:pt x="66268" y="2525325"/>
                </a:lnTo>
                <a:cubicBezTo>
                  <a:pt x="986192" y="1011334"/>
                  <a:pt x="2651000" y="0"/>
                  <a:pt x="45520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66700" dist="50800" dir="2400000" sx="98000" sy="98000" algn="ctr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25000"/>
            </a:pPr>
            <a:endParaRPr lang="zh-CN" altLang="en-US" sz="2400" b="1">
              <a:solidFill>
                <a:schemeClr val="accent1"/>
              </a:solidFill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4095374" y="4364218"/>
            <a:ext cx="3989250" cy="142118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ctr">
              <a:buSzPct val="25000"/>
            </a:pPr>
            <a:endParaRPr lang="en-US" altLang="zh-CN" sz="2400" b="1" dirty="0"/>
          </a:p>
        </p:txBody>
      </p:sp>
      <p:sp>
        <p:nvSpPr>
          <p:cNvPr id="6" name="任意多边形: 形状 10"/>
          <p:cNvSpPr/>
          <p:nvPr/>
        </p:nvSpPr>
        <p:spPr>
          <a:xfrm>
            <a:off x="1612856" y="3754727"/>
            <a:ext cx="8954288" cy="2638764"/>
          </a:xfrm>
          <a:custGeom>
            <a:avLst/>
            <a:gdLst>
              <a:gd name="connsiteX0" fmla="*/ 5010848 w 10021697"/>
              <a:gd name="connsiteY0" fmla="*/ 0 h 2953325"/>
              <a:gd name="connsiteX1" fmla="*/ 9861980 w 10021697"/>
              <a:gd name="connsiteY1" fmla="*/ 2692781 h 2953325"/>
              <a:gd name="connsiteX2" fmla="*/ 10021697 w 10021697"/>
              <a:gd name="connsiteY2" fmla="*/ 2953325 h 2953325"/>
              <a:gd name="connsiteX3" fmla="*/ 0 w 10021697"/>
              <a:gd name="connsiteY3" fmla="*/ 2953325 h 2953325"/>
              <a:gd name="connsiteX4" fmla="*/ 159716 w 10021697"/>
              <a:gd name="connsiteY4" fmla="*/ 2692781 h 2953325"/>
              <a:gd name="connsiteX5" fmla="*/ 5010848 w 10021697"/>
              <a:gd name="connsiteY5" fmla="*/ 0 h 2953325"/>
              <a:gd name="connsiteX0-1" fmla="*/ 0 w 10021697"/>
              <a:gd name="connsiteY0-2" fmla="*/ 2953325 h 3044765"/>
              <a:gd name="connsiteX1-3" fmla="*/ 159716 w 10021697"/>
              <a:gd name="connsiteY1-4" fmla="*/ 2692781 h 3044765"/>
              <a:gd name="connsiteX2-5" fmla="*/ 5010848 w 10021697"/>
              <a:gd name="connsiteY2-6" fmla="*/ 0 h 3044765"/>
              <a:gd name="connsiteX3-7" fmla="*/ 9861980 w 10021697"/>
              <a:gd name="connsiteY3-8" fmla="*/ 2692781 h 3044765"/>
              <a:gd name="connsiteX4-9" fmla="*/ 10021697 w 10021697"/>
              <a:gd name="connsiteY4-10" fmla="*/ 2953325 h 3044765"/>
              <a:gd name="connsiteX5-11" fmla="*/ 91440 w 10021697"/>
              <a:gd name="connsiteY5-12" fmla="*/ 3044765 h 3044765"/>
              <a:gd name="connsiteX0-13" fmla="*/ 0 w 10021697"/>
              <a:gd name="connsiteY0-14" fmla="*/ 2953325 h 2953325"/>
              <a:gd name="connsiteX1-15" fmla="*/ 159716 w 10021697"/>
              <a:gd name="connsiteY1-16" fmla="*/ 2692781 h 2953325"/>
              <a:gd name="connsiteX2-17" fmla="*/ 5010848 w 10021697"/>
              <a:gd name="connsiteY2-18" fmla="*/ 0 h 2953325"/>
              <a:gd name="connsiteX3-19" fmla="*/ 9861980 w 10021697"/>
              <a:gd name="connsiteY3-20" fmla="*/ 2692781 h 2953325"/>
              <a:gd name="connsiteX4-21" fmla="*/ 10021697 w 10021697"/>
              <a:gd name="connsiteY4-22" fmla="*/ 2953325 h 29533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21697" h="2953325">
                <a:moveTo>
                  <a:pt x="0" y="2953325"/>
                </a:moveTo>
                <a:lnTo>
                  <a:pt x="159716" y="2692781"/>
                </a:lnTo>
                <a:cubicBezTo>
                  <a:pt x="1227903" y="1064989"/>
                  <a:pt x="3002395" y="0"/>
                  <a:pt x="5010848" y="0"/>
                </a:cubicBezTo>
                <a:cubicBezTo>
                  <a:pt x="7019302" y="0"/>
                  <a:pt x="8793795" y="1064989"/>
                  <a:pt x="9861980" y="2692781"/>
                </a:cubicBezTo>
                <a:lnTo>
                  <a:pt x="10021697" y="2953325"/>
                </a:lnTo>
              </a:path>
            </a:pathLst>
          </a:custGeom>
          <a:noFill/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  <a:effectLst>
            <a:outerShdw blurRad="266700" dist="50800" dir="2400000" sx="98000" sy="98000" algn="ctr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buSzPct val="25000"/>
            </a:pPr>
            <a:endParaRPr lang="zh-CN" altLang="en-US" sz="2400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60352" y="4451951"/>
            <a:ext cx="4801314" cy="124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dirty="0"/>
              <a:t>得出专属于你的</a:t>
            </a:r>
            <a:endParaRPr kumimoji="1" lang="en-US" altLang="zh-CN" dirty="0"/>
          </a:p>
          <a:p>
            <a:pPr algn="ctr">
              <a:lnSpc>
                <a:spcPct val="150000"/>
              </a:lnSpc>
            </a:pPr>
            <a:r>
              <a:rPr kumimoji="1" lang="zh-CN" altLang="en-US" sz="3600" b="1" dirty="0">
                <a:solidFill>
                  <a:srgbClr val="C00000"/>
                </a:solidFill>
                <a:effectLst>
                  <a:reflection blurRad="6350" stA="55000" endA="300" endPos="45500" dir="5400000" sy="-100000" algn="bl" rotWithShape="0"/>
                </a:effectLst>
              </a:rPr>
              <a:t>区域经营质量提升方案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507866" y="2331680"/>
            <a:ext cx="2375303" cy="2401904"/>
            <a:chOff x="1043205" y="2039744"/>
            <a:chExt cx="2375303" cy="2401904"/>
          </a:xfrm>
        </p:grpSpPr>
        <p:grpSp>
          <p:nvGrpSpPr>
            <p:cNvPr id="7" name="组合 6"/>
            <p:cNvGrpSpPr/>
            <p:nvPr/>
          </p:nvGrpSpPr>
          <p:grpSpPr>
            <a:xfrm>
              <a:off x="1043205" y="2039744"/>
              <a:ext cx="2375303" cy="2401904"/>
              <a:chOff x="686607" y="2221804"/>
              <a:chExt cx="2513794" cy="2541946"/>
            </a:xfrm>
          </p:grpSpPr>
          <p:sp>
            <p:nvSpPr>
              <p:cNvPr id="22" name="Shape1"/>
              <p:cNvSpPr/>
              <p:nvPr/>
            </p:nvSpPr>
            <p:spPr>
              <a:xfrm>
                <a:off x="1577743" y="2221804"/>
                <a:ext cx="731523" cy="731521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IconBackground1"/>
              <p:cNvSpPr/>
              <p:nvPr/>
            </p:nvSpPr>
            <p:spPr>
              <a:xfrm>
                <a:off x="1629714" y="2273776"/>
                <a:ext cx="627580" cy="6275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000" b="1" i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ComponentBackground1"/>
              <p:cNvSpPr/>
              <p:nvPr/>
            </p:nvSpPr>
            <p:spPr>
              <a:xfrm>
                <a:off x="686607" y="3259707"/>
                <a:ext cx="2513794" cy="1504043"/>
              </a:xfrm>
              <a:prstGeom prst="roundRect">
                <a:avLst>
                  <a:gd name="adj" fmla="val 7836"/>
                </a:avLst>
              </a:prstGeom>
              <a:noFill/>
              <a:ln>
                <a:gradFill flip="none" rotWithShape="1"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1608934" y="317105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dirty="0"/>
                <a:t>先</a:t>
              </a:r>
              <a:r>
                <a:rPr kumimoji="1" lang="zh-CN" altLang="en-US" sz="2800" b="1" dirty="0">
                  <a:solidFill>
                    <a:srgbClr val="C00000"/>
                  </a:solidFill>
                </a:rPr>
                <a:t>诊断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339631" y="3663253"/>
              <a:ext cx="1800493" cy="7019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400" dirty="0"/>
                <a:t>先看看经营现状</a:t>
              </a:r>
              <a:endParaRPr kumimoji="1" lang="en-US" altLang="zh-CN" sz="1400" dirty="0"/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400" dirty="0"/>
                <a:t>有哪些地方可以改进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293392" y="1131876"/>
            <a:ext cx="2375303" cy="2401904"/>
            <a:chOff x="4902348" y="1057272"/>
            <a:chExt cx="2375303" cy="2401904"/>
          </a:xfrm>
        </p:grpSpPr>
        <p:grpSp>
          <p:nvGrpSpPr>
            <p:cNvPr id="8" name="组合 7"/>
            <p:cNvGrpSpPr/>
            <p:nvPr/>
          </p:nvGrpSpPr>
          <p:grpSpPr>
            <a:xfrm>
              <a:off x="4902348" y="1057272"/>
              <a:ext cx="2375303" cy="2401904"/>
              <a:chOff x="3588958" y="1130300"/>
              <a:chExt cx="2513794" cy="2541946"/>
            </a:xfrm>
          </p:grpSpPr>
          <p:sp>
            <p:nvSpPr>
              <p:cNvPr id="16" name="Shape2"/>
              <p:cNvSpPr/>
              <p:nvPr/>
            </p:nvSpPr>
            <p:spPr>
              <a:xfrm>
                <a:off x="4480094" y="1130300"/>
                <a:ext cx="731523" cy="731521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IconBackground2"/>
              <p:cNvSpPr/>
              <p:nvPr/>
            </p:nvSpPr>
            <p:spPr>
              <a:xfrm>
                <a:off x="4532065" y="1182272"/>
                <a:ext cx="627580" cy="6275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000" b="1" i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ComponentBackground2"/>
              <p:cNvSpPr/>
              <p:nvPr/>
            </p:nvSpPr>
            <p:spPr>
              <a:xfrm>
                <a:off x="3588958" y="2168203"/>
                <a:ext cx="2513794" cy="1504043"/>
              </a:xfrm>
              <a:prstGeom prst="roundRect">
                <a:avLst>
                  <a:gd name="adj" fmla="val 7836"/>
                </a:avLst>
              </a:prstGeom>
              <a:noFill/>
              <a:ln>
                <a:gradFill flip="none" rotWithShape="1"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5409380" y="225707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dirty="0"/>
                <a:t>听</a:t>
              </a:r>
              <a:r>
                <a:rPr kumimoji="1" lang="zh-CN" altLang="en-US" sz="2800" b="1" dirty="0">
                  <a:solidFill>
                    <a:srgbClr val="C00000"/>
                  </a:solidFill>
                </a:rPr>
                <a:t>方法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240112" y="2721560"/>
              <a:ext cx="1641796" cy="7019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400" dirty="0"/>
                <a:t>看看需要什么方法</a:t>
              </a:r>
              <a:endParaRPr kumimoji="1" lang="en-US" altLang="zh-CN" sz="1400" dirty="0"/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400" dirty="0"/>
                <a:t>可以有效改进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9186156" y="2331680"/>
            <a:ext cx="2375303" cy="2401904"/>
            <a:chOff x="8761493" y="2039745"/>
            <a:chExt cx="2375303" cy="2401904"/>
          </a:xfrm>
        </p:grpSpPr>
        <p:grpSp>
          <p:nvGrpSpPr>
            <p:cNvPr id="9" name="组合 8"/>
            <p:cNvGrpSpPr/>
            <p:nvPr/>
          </p:nvGrpSpPr>
          <p:grpSpPr>
            <a:xfrm>
              <a:off x="8761493" y="2039745"/>
              <a:ext cx="2375303" cy="2401904"/>
              <a:chOff x="6397101" y="1130300"/>
              <a:chExt cx="2513794" cy="2541946"/>
            </a:xfrm>
          </p:grpSpPr>
          <p:sp>
            <p:nvSpPr>
              <p:cNvPr id="10" name="Shape3"/>
              <p:cNvSpPr/>
              <p:nvPr/>
            </p:nvSpPr>
            <p:spPr>
              <a:xfrm>
                <a:off x="7288237" y="1130300"/>
                <a:ext cx="731523" cy="731521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IconBackground3"/>
              <p:cNvSpPr/>
              <p:nvPr/>
            </p:nvSpPr>
            <p:spPr>
              <a:xfrm>
                <a:off x="7340208" y="1182272"/>
                <a:ext cx="627580" cy="6275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000" b="1" i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ComponentBackground3"/>
              <p:cNvSpPr/>
              <p:nvPr/>
            </p:nvSpPr>
            <p:spPr>
              <a:xfrm>
                <a:off x="6397101" y="2168203"/>
                <a:ext cx="2513794" cy="1504043"/>
              </a:xfrm>
              <a:prstGeom prst="roundRect">
                <a:avLst>
                  <a:gd name="adj" fmla="val 7836"/>
                </a:avLst>
              </a:prstGeom>
              <a:noFill/>
              <a:ln>
                <a:gradFill flip="none" rotWithShape="1"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9387800" y="3225451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dirty="0"/>
                <a:t>做</a:t>
              </a:r>
              <a:r>
                <a:rPr kumimoji="1" lang="zh-CN" altLang="en-US" sz="2800" b="1" dirty="0">
                  <a:solidFill>
                    <a:srgbClr val="C00000"/>
                  </a:solidFill>
                </a:rPr>
                <a:t>方案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938959" y="3645392"/>
              <a:ext cx="2159566" cy="7019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kumimoji="1" sz="11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/>
                <a:t>根据自己区域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zh-CN" altLang="en-US" sz="1400" dirty="0"/>
                <a:t>实际状况做经营改善方案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400629" y="1131876"/>
            <a:ext cx="2375303" cy="2401904"/>
            <a:chOff x="4902348" y="1057272"/>
            <a:chExt cx="2375303" cy="2401904"/>
          </a:xfrm>
        </p:grpSpPr>
        <p:grpSp>
          <p:nvGrpSpPr>
            <p:cNvPr id="18" name="组合 17"/>
            <p:cNvGrpSpPr/>
            <p:nvPr/>
          </p:nvGrpSpPr>
          <p:grpSpPr>
            <a:xfrm>
              <a:off x="4902348" y="1057272"/>
              <a:ext cx="2375303" cy="2401904"/>
              <a:chOff x="3588958" y="1130300"/>
              <a:chExt cx="2513794" cy="2541946"/>
            </a:xfrm>
          </p:grpSpPr>
          <p:sp>
            <p:nvSpPr>
              <p:cNvPr id="24" name="Shape2"/>
              <p:cNvSpPr/>
              <p:nvPr/>
            </p:nvSpPr>
            <p:spPr>
              <a:xfrm>
                <a:off x="4480094" y="1130300"/>
                <a:ext cx="731523" cy="731521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IconBackground2"/>
              <p:cNvSpPr/>
              <p:nvPr/>
            </p:nvSpPr>
            <p:spPr>
              <a:xfrm>
                <a:off x="4532065" y="1182272"/>
                <a:ext cx="627580" cy="6275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000" b="1" i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ComponentBackground2"/>
              <p:cNvSpPr/>
              <p:nvPr/>
            </p:nvSpPr>
            <p:spPr>
              <a:xfrm>
                <a:off x="3588958" y="2168203"/>
                <a:ext cx="2513794" cy="1504043"/>
              </a:xfrm>
              <a:prstGeom prst="roundRect">
                <a:avLst>
                  <a:gd name="adj" fmla="val 7836"/>
                </a:avLst>
              </a:prstGeom>
              <a:noFill/>
              <a:ln>
                <a:gradFill flip="none" rotWithShape="1"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5409380" y="225707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dirty="0"/>
                <a:t>定</a:t>
              </a:r>
              <a:r>
                <a:rPr kumimoji="1" lang="zh-CN" altLang="en-US" sz="2800" b="1" dirty="0">
                  <a:solidFill>
                    <a:srgbClr val="C00000"/>
                  </a:solidFill>
                </a:rPr>
                <a:t>目标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50532" y="2721560"/>
              <a:ext cx="1620957" cy="7019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400" dirty="0"/>
                <a:t>根据诊断情况</a:t>
              </a:r>
              <a:endParaRPr kumimoji="1" lang="en-US" altLang="zh-CN" sz="1400" dirty="0"/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400" dirty="0"/>
                <a:t>制定业务改善目标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8" r="34678" b="33831"/>
          <a:stretch>
            <a:fillRect/>
          </a:stretch>
        </p:blipFill>
        <p:spPr>
          <a:xfrm>
            <a:off x="-1" y="0"/>
            <a:ext cx="12192001" cy="7345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-1398495" y="2984121"/>
            <a:ext cx="83710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6600" b="1" dirty="0">
                <a:solidFill>
                  <a:srgbClr val="FFC000"/>
                </a:solidFill>
              </a:rPr>
              <a:t>渠道精耕</a:t>
            </a:r>
            <a:endParaRPr kumimoji="1" lang="en-US" altLang="zh-CN" sz="6600" b="1" dirty="0">
              <a:solidFill>
                <a:srgbClr val="FFC000"/>
              </a:solidFill>
            </a:endParaRPr>
          </a:p>
          <a:p>
            <a:pPr algn="ctr"/>
            <a:r>
              <a:rPr kumimoji="1" lang="zh-CN" altLang="en-US" sz="6600" b="1" dirty="0">
                <a:solidFill>
                  <a:srgbClr val="FFC000"/>
                </a:solidFill>
              </a:rPr>
              <a:t>关键战役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/>
          <p:nvPr/>
        </p:nvSpPr>
        <p:spPr>
          <a:xfrm>
            <a:off x="2859437" y="1103947"/>
            <a:ext cx="6473127" cy="486689"/>
          </a:xfrm>
          <a:custGeom>
            <a:avLst/>
            <a:gdLst>
              <a:gd name="connsiteX0" fmla="*/ 6700291 w 6700290"/>
              <a:gd name="connsiteY0" fmla="*/ 897704 h 1795408"/>
              <a:gd name="connsiteX1" fmla="*/ 3350146 w 6700290"/>
              <a:gd name="connsiteY1" fmla="*/ 1795409 h 1795408"/>
              <a:gd name="connsiteX2" fmla="*/ 0 w 6700290"/>
              <a:gd name="connsiteY2" fmla="*/ 897704 h 1795408"/>
              <a:gd name="connsiteX3" fmla="*/ 3350146 w 6700290"/>
              <a:gd name="connsiteY3" fmla="*/ 0 h 1795408"/>
              <a:gd name="connsiteX4" fmla="*/ 6700291 w 6700290"/>
              <a:gd name="connsiteY4" fmla="*/ 897704 h 179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0290" h="1795408">
                <a:moveTo>
                  <a:pt x="6700291" y="897704"/>
                </a:moveTo>
                <a:cubicBezTo>
                  <a:pt x="6700291" y="1393493"/>
                  <a:pt x="5200380" y="1795409"/>
                  <a:pt x="3350146" y="1795409"/>
                </a:cubicBezTo>
                <a:cubicBezTo>
                  <a:pt x="1499911" y="1795409"/>
                  <a:pt x="0" y="1393493"/>
                  <a:pt x="0" y="897704"/>
                </a:cubicBezTo>
                <a:cubicBezTo>
                  <a:pt x="0" y="401916"/>
                  <a:pt x="1499911" y="0"/>
                  <a:pt x="3350146" y="0"/>
                </a:cubicBezTo>
                <a:cubicBezTo>
                  <a:pt x="5200380" y="0"/>
                  <a:pt x="6700291" y="401916"/>
                  <a:pt x="6700291" y="897704"/>
                </a:cubicBezTo>
                <a:close/>
              </a:path>
            </a:pathLst>
          </a:custGeom>
          <a:gradFill flip="none" rotWithShape="1">
            <a:gsLst>
              <a:gs pos="0">
                <a:srgbClr val="C00000"/>
              </a:gs>
              <a:gs pos="100000">
                <a:srgbClr val="FFFFFF">
                  <a:alpha val="0"/>
                </a:srgbClr>
              </a:gs>
            </a:gsLst>
            <a:lin ang="16200000" scaled="1"/>
            <a:tileRect/>
          </a:gradFill>
          <a:ln w="25400" cap="flat">
            <a:gradFill>
              <a:gsLst>
                <a:gs pos="2000">
                  <a:srgbClr val="C00000"/>
                </a:gs>
                <a:gs pos="94000">
                  <a:schemeClr val="bg1">
                    <a:alpha val="0"/>
                  </a:schemeClr>
                </a:gs>
              </a:gsLst>
              <a:lin ang="16200000" scaled="1"/>
            </a:gradFill>
            <a:prstDash val="solid"/>
            <a:miter/>
          </a:ln>
          <a:effectLst>
            <a:outerShdw blurRad="76200" sx="101000" sy="101000" algn="ctr" rotWithShape="0">
              <a:srgbClr val="2A23BF">
                <a:alpha val="10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1431" y="1080021"/>
            <a:ext cx="6109138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1800" b="1" dirty="0"/>
              <a:t>渠道精耕业绩增长原理</a:t>
            </a:r>
            <a:endParaRPr kumimoji="1" lang="en-US" altLang="zh-CN" sz="1800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5016217" y="2389495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根据诊断找出具体的问题</a:t>
            </a:r>
          </a:p>
        </p:txBody>
      </p:sp>
      <p:sp>
        <p:nvSpPr>
          <p:cNvPr id="46" name="三角形 45"/>
          <p:cNvSpPr/>
          <p:nvPr/>
        </p:nvSpPr>
        <p:spPr>
          <a:xfrm rot="10800000">
            <a:off x="4018838" y="2157812"/>
            <a:ext cx="4154324" cy="172605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998762" y="1713397"/>
            <a:ext cx="2194477" cy="36933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/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诊断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371744" y="456426"/>
            <a:ext cx="5448512" cy="395559"/>
          </a:xfrm>
          <a:prstGeom prst="rect">
            <a:avLst/>
          </a:prstGeom>
          <a:noFill/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</a:rPr>
              <a:t>渠道精耕业绩增长整图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393190" y="2715001"/>
            <a:ext cx="9405620" cy="3758565"/>
            <a:chOff x="1075109" y="2715001"/>
            <a:chExt cx="9405620" cy="3758565"/>
          </a:xfrm>
        </p:grpSpPr>
        <p:sp>
          <p:nvSpPr>
            <p:cNvPr id="6" name="Freeform 10"/>
            <p:cNvSpPr/>
            <p:nvPr/>
          </p:nvSpPr>
          <p:spPr>
            <a:xfrm>
              <a:off x="2786434" y="2864861"/>
              <a:ext cx="5981065" cy="1127760"/>
            </a:xfrm>
            <a:custGeom>
              <a:avLst/>
              <a:gdLst>
                <a:gd name="connsiteX0" fmla="*/ 0 w 3708953"/>
                <a:gd name="connsiteY0" fmla="*/ 699378 h 699378"/>
                <a:gd name="connsiteX1" fmla="*/ 3708954 w 3708953"/>
                <a:gd name="connsiteY1" fmla="*/ 699378 h 699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08953" h="699378">
                  <a:moveTo>
                    <a:pt x="0" y="699378"/>
                  </a:moveTo>
                  <a:cubicBezTo>
                    <a:pt x="0" y="699378"/>
                    <a:pt x="1774054" y="-874223"/>
                    <a:pt x="3708954" y="699378"/>
                  </a:cubicBezTo>
                </a:path>
              </a:pathLst>
            </a:custGeom>
            <a:noFill/>
            <a:ln w="22225" cap="flat">
              <a:gradFill>
                <a:gsLst>
                  <a:gs pos="28000">
                    <a:srgbClr val="C00000"/>
                  </a:gs>
                  <a:gs pos="100000">
                    <a:schemeClr val="bg1"/>
                  </a:gs>
                </a:gsLst>
                <a:lin ang="10800000" scaled="1"/>
              </a:gradFill>
              <a:prstDash val="solid"/>
              <a:miter/>
              <a:tailEnd type="triangle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2"/>
            <p:cNvSpPr/>
            <p:nvPr/>
          </p:nvSpPr>
          <p:spPr>
            <a:xfrm>
              <a:off x="2786434" y="5196581"/>
              <a:ext cx="5981065" cy="1127760"/>
            </a:xfrm>
            <a:custGeom>
              <a:avLst/>
              <a:gdLst>
                <a:gd name="connsiteX0" fmla="*/ 0 w 3708953"/>
                <a:gd name="connsiteY0" fmla="*/ 0 h 699378"/>
                <a:gd name="connsiteX1" fmla="*/ 3708954 w 3708953"/>
                <a:gd name="connsiteY1" fmla="*/ 0 h 699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08953" h="699378">
                  <a:moveTo>
                    <a:pt x="0" y="0"/>
                  </a:moveTo>
                  <a:cubicBezTo>
                    <a:pt x="0" y="0"/>
                    <a:pt x="1774054" y="1573601"/>
                    <a:pt x="3708954" y="0"/>
                  </a:cubicBezTo>
                </a:path>
              </a:pathLst>
            </a:custGeom>
            <a:noFill/>
            <a:ln w="22225" cap="flat">
              <a:gradFill>
                <a:gsLst>
                  <a:gs pos="28000">
                    <a:srgbClr val="C00000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  <a:headEnd type="triangle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3"/>
            <p:cNvSpPr/>
            <p:nvPr/>
          </p:nvSpPr>
          <p:spPr>
            <a:xfrm rot="15931535">
              <a:off x="5677589" y="6175751"/>
              <a:ext cx="297815" cy="297815"/>
            </a:xfrm>
            <a:custGeom>
              <a:avLst/>
              <a:gdLst>
                <a:gd name="connsiteX0" fmla="*/ 184639 w 184638"/>
                <a:gd name="connsiteY0" fmla="*/ 92341 h 184681"/>
                <a:gd name="connsiteX1" fmla="*/ 92319 w 184638"/>
                <a:gd name="connsiteY1" fmla="*/ 184682 h 184681"/>
                <a:gd name="connsiteX2" fmla="*/ 0 w 184638"/>
                <a:gd name="connsiteY2" fmla="*/ 92341 h 184681"/>
                <a:gd name="connsiteX3" fmla="*/ 92319 w 184638"/>
                <a:gd name="connsiteY3" fmla="*/ 0 h 184681"/>
                <a:gd name="connsiteX4" fmla="*/ 184639 w 184638"/>
                <a:gd name="connsiteY4" fmla="*/ 92341 h 18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38" h="184681">
                  <a:moveTo>
                    <a:pt x="184639" y="92341"/>
                  </a:moveTo>
                  <a:cubicBezTo>
                    <a:pt x="184639" y="143339"/>
                    <a:pt x="143306" y="184682"/>
                    <a:pt x="92319" y="184682"/>
                  </a:cubicBezTo>
                  <a:cubicBezTo>
                    <a:pt x="41333" y="184682"/>
                    <a:pt x="0" y="143339"/>
                    <a:pt x="0" y="92341"/>
                  </a:cubicBezTo>
                  <a:cubicBezTo>
                    <a:pt x="0" y="41343"/>
                    <a:pt x="41333" y="0"/>
                    <a:pt x="92319" y="0"/>
                  </a:cubicBezTo>
                  <a:cubicBezTo>
                    <a:pt x="143306" y="0"/>
                    <a:pt x="184639" y="41342"/>
                    <a:pt x="184639" y="923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schemeClr val="bg2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9" name="Freeform 18"/>
            <p:cNvSpPr/>
            <p:nvPr/>
          </p:nvSpPr>
          <p:spPr>
            <a:xfrm>
              <a:off x="2905179" y="4646898"/>
              <a:ext cx="5792470" cy="15240"/>
            </a:xfrm>
            <a:custGeom>
              <a:avLst/>
              <a:gdLst>
                <a:gd name="connsiteX0" fmla="*/ 0 w 3591888"/>
                <a:gd name="connsiteY0" fmla="*/ 0 h 9519"/>
                <a:gd name="connsiteX1" fmla="*/ 3591889 w 3591888"/>
                <a:gd name="connsiteY1" fmla="*/ 0 h 9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91888" h="9519">
                  <a:moveTo>
                    <a:pt x="0" y="0"/>
                  </a:moveTo>
                  <a:lnTo>
                    <a:pt x="3591889" y="0"/>
                  </a:lnTo>
                </a:path>
              </a:pathLst>
            </a:custGeom>
            <a:ln w="12700" cap="flat">
              <a:gradFill>
                <a:gsLst>
                  <a:gs pos="28000">
                    <a:srgbClr val="C00000"/>
                  </a:gs>
                  <a:gs pos="100000">
                    <a:srgbClr val="C00000"/>
                  </a:gs>
                </a:gsLst>
                <a:lin ang="0" scaled="1"/>
              </a:gradFill>
              <a:prstDash val="dash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6"/>
            <p:cNvSpPr/>
            <p:nvPr/>
          </p:nvSpPr>
          <p:spPr>
            <a:xfrm>
              <a:off x="4632379" y="3459856"/>
              <a:ext cx="2265680" cy="2266315"/>
            </a:xfrm>
            <a:custGeom>
              <a:avLst/>
              <a:gdLst>
                <a:gd name="connsiteX0" fmla="*/ 1404777 w 1404776"/>
                <a:gd name="connsiteY0" fmla="*/ 702551 h 1405102"/>
                <a:gd name="connsiteX1" fmla="*/ 702388 w 1404776"/>
                <a:gd name="connsiteY1" fmla="*/ 1405102 h 1405102"/>
                <a:gd name="connsiteX2" fmla="*/ 0 w 1404776"/>
                <a:gd name="connsiteY2" fmla="*/ 702551 h 1405102"/>
                <a:gd name="connsiteX3" fmla="*/ 702388 w 1404776"/>
                <a:gd name="connsiteY3" fmla="*/ 0 h 1405102"/>
                <a:gd name="connsiteX4" fmla="*/ 1404777 w 1404776"/>
                <a:gd name="connsiteY4" fmla="*/ 702551 h 140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776" h="1405102">
                  <a:moveTo>
                    <a:pt x="1404777" y="702551"/>
                  </a:moveTo>
                  <a:cubicBezTo>
                    <a:pt x="1404777" y="1090559"/>
                    <a:pt x="1090307" y="1405102"/>
                    <a:pt x="702388" y="1405102"/>
                  </a:cubicBezTo>
                  <a:cubicBezTo>
                    <a:pt x="314470" y="1405102"/>
                    <a:pt x="0" y="1090559"/>
                    <a:pt x="0" y="702551"/>
                  </a:cubicBezTo>
                  <a:cubicBezTo>
                    <a:pt x="0" y="314543"/>
                    <a:pt x="314470" y="0"/>
                    <a:pt x="702388" y="0"/>
                  </a:cubicBezTo>
                  <a:cubicBezTo>
                    <a:pt x="1090307" y="0"/>
                    <a:pt x="1404777" y="314543"/>
                    <a:pt x="1404777" y="702551"/>
                  </a:cubicBezTo>
                  <a:close/>
                </a:path>
              </a:pathLst>
            </a:custGeom>
            <a:solidFill>
              <a:schemeClr val="bg1"/>
            </a:solidFill>
            <a:ln w="2378" cap="flat">
              <a:noFill/>
              <a:prstDash val="solid"/>
              <a:miter/>
            </a:ln>
            <a:effectLst>
              <a:outerShdw blurRad="254000" dist="508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>
                <a:sym typeface="+mn-ea"/>
              </a:endParaRPr>
            </a:p>
          </p:txBody>
        </p:sp>
        <p:sp>
          <p:nvSpPr>
            <p:cNvPr id="12" name="Freeform 4"/>
            <p:cNvSpPr/>
            <p:nvPr/>
          </p:nvSpPr>
          <p:spPr>
            <a:xfrm>
              <a:off x="4801289" y="3628766"/>
              <a:ext cx="1927860" cy="1928495"/>
            </a:xfrm>
            <a:custGeom>
              <a:avLst/>
              <a:gdLst>
                <a:gd name="connsiteX0" fmla="*/ 1195393 w 1195392"/>
                <a:gd name="connsiteY0" fmla="*/ 597835 h 1195669"/>
                <a:gd name="connsiteX1" fmla="*/ 597696 w 1195392"/>
                <a:gd name="connsiteY1" fmla="*/ 1195670 h 1195669"/>
                <a:gd name="connsiteX2" fmla="*/ 0 w 1195392"/>
                <a:gd name="connsiteY2" fmla="*/ 597835 h 1195669"/>
                <a:gd name="connsiteX3" fmla="*/ 597696 w 1195392"/>
                <a:gd name="connsiteY3" fmla="*/ 0 h 1195669"/>
                <a:gd name="connsiteX4" fmla="*/ 1195393 w 1195392"/>
                <a:gd name="connsiteY4" fmla="*/ 597835 h 119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5392" h="1195669">
                  <a:moveTo>
                    <a:pt x="1195393" y="597835"/>
                  </a:moveTo>
                  <a:cubicBezTo>
                    <a:pt x="1195393" y="928010"/>
                    <a:pt x="927795" y="1195670"/>
                    <a:pt x="597696" y="1195670"/>
                  </a:cubicBezTo>
                  <a:cubicBezTo>
                    <a:pt x="267598" y="1195670"/>
                    <a:pt x="0" y="928010"/>
                    <a:pt x="0" y="597835"/>
                  </a:cubicBezTo>
                  <a:cubicBezTo>
                    <a:pt x="0" y="267660"/>
                    <a:pt x="267598" y="0"/>
                    <a:pt x="597696" y="0"/>
                  </a:cubicBezTo>
                  <a:cubicBezTo>
                    <a:pt x="927795" y="0"/>
                    <a:pt x="1195393" y="267660"/>
                    <a:pt x="1195393" y="597835"/>
                  </a:cubicBezTo>
                  <a:close/>
                </a:path>
              </a:pathLst>
            </a:custGeom>
            <a:solidFill>
              <a:schemeClr val="bg1"/>
            </a:solidFill>
            <a:ln w="2378" cap="flat">
              <a:noFill/>
              <a:prstDash val="solid"/>
              <a:miter/>
            </a:ln>
            <a:effectLst>
              <a:outerShdw blurRad="254000" dist="508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>
                <a:sym typeface="+mn-ea"/>
              </a:endParaRPr>
            </a:p>
          </p:txBody>
        </p:sp>
        <p:sp>
          <p:nvSpPr>
            <p:cNvPr id="13" name="Freeform 7"/>
            <p:cNvSpPr/>
            <p:nvPr/>
          </p:nvSpPr>
          <p:spPr>
            <a:xfrm>
              <a:off x="1075109" y="3664326"/>
              <a:ext cx="1857375" cy="1858010"/>
            </a:xfrm>
            <a:custGeom>
              <a:avLst/>
              <a:gdLst>
                <a:gd name="connsiteX0" fmla="*/ 1151612 w 1151612"/>
                <a:gd name="connsiteY0" fmla="*/ 575940 h 1151879"/>
                <a:gd name="connsiteX1" fmla="*/ 575806 w 1151612"/>
                <a:gd name="connsiteY1" fmla="*/ 1151879 h 1151879"/>
                <a:gd name="connsiteX2" fmla="*/ 0 w 1151612"/>
                <a:gd name="connsiteY2" fmla="*/ 575940 h 1151879"/>
                <a:gd name="connsiteX3" fmla="*/ 575806 w 1151612"/>
                <a:gd name="connsiteY3" fmla="*/ 0 h 1151879"/>
                <a:gd name="connsiteX4" fmla="*/ 1151612 w 1151612"/>
                <a:gd name="connsiteY4" fmla="*/ 575940 h 115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612" h="1151879">
                  <a:moveTo>
                    <a:pt x="1151612" y="575940"/>
                  </a:moveTo>
                  <a:cubicBezTo>
                    <a:pt x="1151612" y="894022"/>
                    <a:pt x="893815" y="1151879"/>
                    <a:pt x="575806" y="1151879"/>
                  </a:cubicBezTo>
                  <a:cubicBezTo>
                    <a:pt x="257797" y="1151879"/>
                    <a:pt x="0" y="894022"/>
                    <a:pt x="0" y="575940"/>
                  </a:cubicBezTo>
                  <a:cubicBezTo>
                    <a:pt x="0" y="257857"/>
                    <a:pt x="257797" y="0"/>
                    <a:pt x="575806" y="0"/>
                  </a:cubicBezTo>
                  <a:cubicBezTo>
                    <a:pt x="893815" y="0"/>
                    <a:pt x="1151612" y="257857"/>
                    <a:pt x="1151612" y="575940"/>
                  </a:cubicBezTo>
                  <a:close/>
                </a:path>
              </a:pathLst>
            </a:custGeom>
            <a:solidFill>
              <a:schemeClr val="bg1"/>
            </a:solidFill>
            <a:ln w="2378" cap="flat">
              <a:noFill/>
              <a:prstDash val="solid"/>
              <a:miter/>
            </a:ln>
            <a:effectLst>
              <a:outerShdw blurRad="254000" dist="508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>
                <a:sym typeface="+mn-ea"/>
              </a:endParaRPr>
            </a:p>
          </p:txBody>
        </p:sp>
        <p:sp>
          <p:nvSpPr>
            <p:cNvPr id="14" name="Freeform 9"/>
            <p:cNvSpPr/>
            <p:nvPr/>
          </p:nvSpPr>
          <p:spPr>
            <a:xfrm>
              <a:off x="8623354" y="3664326"/>
              <a:ext cx="1857375" cy="1858010"/>
            </a:xfrm>
            <a:custGeom>
              <a:avLst/>
              <a:gdLst>
                <a:gd name="connsiteX0" fmla="*/ 1151613 w 1151612"/>
                <a:gd name="connsiteY0" fmla="*/ 575940 h 1151879"/>
                <a:gd name="connsiteX1" fmla="*/ 575806 w 1151612"/>
                <a:gd name="connsiteY1" fmla="*/ 1151879 h 1151879"/>
                <a:gd name="connsiteX2" fmla="*/ 0 w 1151612"/>
                <a:gd name="connsiteY2" fmla="*/ 575940 h 1151879"/>
                <a:gd name="connsiteX3" fmla="*/ 575806 w 1151612"/>
                <a:gd name="connsiteY3" fmla="*/ 0 h 1151879"/>
                <a:gd name="connsiteX4" fmla="*/ 1151613 w 1151612"/>
                <a:gd name="connsiteY4" fmla="*/ 575940 h 115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612" h="1151879">
                  <a:moveTo>
                    <a:pt x="1151613" y="575940"/>
                  </a:moveTo>
                  <a:cubicBezTo>
                    <a:pt x="1151613" y="894022"/>
                    <a:pt x="893815" y="1151879"/>
                    <a:pt x="575806" y="1151879"/>
                  </a:cubicBezTo>
                  <a:cubicBezTo>
                    <a:pt x="257798" y="1151879"/>
                    <a:pt x="0" y="894022"/>
                    <a:pt x="0" y="575940"/>
                  </a:cubicBezTo>
                  <a:cubicBezTo>
                    <a:pt x="0" y="257857"/>
                    <a:pt x="257798" y="0"/>
                    <a:pt x="575806" y="0"/>
                  </a:cubicBezTo>
                  <a:cubicBezTo>
                    <a:pt x="893815" y="0"/>
                    <a:pt x="1151613" y="257857"/>
                    <a:pt x="1151613" y="575940"/>
                  </a:cubicBezTo>
                  <a:close/>
                </a:path>
              </a:pathLst>
            </a:custGeom>
            <a:solidFill>
              <a:schemeClr val="bg1"/>
            </a:solidFill>
            <a:ln w="2378" cap="flat">
              <a:noFill/>
              <a:prstDash val="solid"/>
              <a:miter/>
            </a:ln>
            <a:effectLst>
              <a:outerShdw blurRad="254000" dist="508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en-US">
                <a:sym typeface="+mn-ea"/>
              </a:endParaRPr>
            </a:p>
          </p:txBody>
        </p:sp>
        <p:sp>
          <p:nvSpPr>
            <p:cNvPr id="15" name="Freeform 5"/>
            <p:cNvSpPr/>
            <p:nvPr/>
          </p:nvSpPr>
          <p:spPr>
            <a:xfrm>
              <a:off x="1219254" y="3808471"/>
              <a:ext cx="1568450" cy="1569085"/>
            </a:xfrm>
            <a:custGeom>
              <a:avLst/>
              <a:gdLst>
                <a:gd name="connsiteX0" fmla="*/ 972684 w 972684"/>
                <a:gd name="connsiteY0" fmla="*/ 486455 h 972909"/>
                <a:gd name="connsiteX1" fmla="*/ 486342 w 972684"/>
                <a:gd name="connsiteY1" fmla="*/ 972910 h 972909"/>
                <a:gd name="connsiteX2" fmla="*/ 0 w 972684"/>
                <a:gd name="connsiteY2" fmla="*/ 486455 h 972909"/>
                <a:gd name="connsiteX3" fmla="*/ 486342 w 972684"/>
                <a:gd name="connsiteY3" fmla="*/ 0 h 972909"/>
                <a:gd name="connsiteX4" fmla="*/ 972684 w 972684"/>
                <a:gd name="connsiteY4" fmla="*/ 486455 h 97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684" h="972909">
                  <a:moveTo>
                    <a:pt x="972684" y="486455"/>
                  </a:moveTo>
                  <a:cubicBezTo>
                    <a:pt x="972684" y="755116"/>
                    <a:pt x="754941" y="972910"/>
                    <a:pt x="486342" y="972910"/>
                  </a:cubicBezTo>
                  <a:cubicBezTo>
                    <a:pt x="217743" y="972910"/>
                    <a:pt x="0" y="755117"/>
                    <a:pt x="0" y="486455"/>
                  </a:cubicBezTo>
                  <a:cubicBezTo>
                    <a:pt x="0" y="217793"/>
                    <a:pt x="217743" y="0"/>
                    <a:pt x="486342" y="0"/>
                  </a:cubicBezTo>
                  <a:cubicBezTo>
                    <a:pt x="754941" y="0"/>
                    <a:pt x="972684" y="217793"/>
                    <a:pt x="972684" y="486455"/>
                  </a:cubicBezTo>
                  <a:close/>
                </a:path>
              </a:pathLst>
            </a:custGeom>
            <a:solidFill>
              <a:srgbClr val="C00000"/>
            </a:solidFill>
            <a:ln w="2378" cap="flat">
              <a:noFill/>
              <a:prstDash val="solid"/>
              <a:miter/>
            </a:ln>
            <a:effectLst>
              <a:outerShdw blurRad="101600" dist="50800" dir="3600000" algn="ctr" rotWithShape="0">
                <a:srgbClr val="2F76E4">
                  <a:alpha val="20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endParaRPr lang="en-US">
                <a:sym typeface="+mn-ea"/>
              </a:endParaRPr>
            </a:p>
          </p:txBody>
        </p:sp>
        <p:sp>
          <p:nvSpPr>
            <p:cNvPr id="16" name="Freeform 8"/>
            <p:cNvSpPr/>
            <p:nvPr/>
          </p:nvSpPr>
          <p:spPr>
            <a:xfrm>
              <a:off x="8792264" y="3808471"/>
              <a:ext cx="1568450" cy="1569085"/>
            </a:xfrm>
            <a:custGeom>
              <a:avLst/>
              <a:gdLst>
                <a:gd name="connsiteX0" fmla="*/ 972684 w 972684"/>
                <a:gd name="connsiteY0" fmla="*/ 486455 h 972909"/>
                <a:gd name="connsiteX1" fmla="*/ 486342 w 972684"/>
                <a:gd name="connsiteY1" fmla="*/ 972910 h 972909"/>
                <a:gd name="connsiteX2" fmla="*/ 0 w 972684"/>
                <a:gd name="connsiteY2" fmla="*/ 486455 h 972909"/>
                <a:gd name="connsiteX3" fmla="*/ 486342 w 972684"/>
                <a:gd name="connsiteY3" fmla="*/ 0 h 972909"/>
                <a:gd name="connsiteX4" fmla="*/ 972684 w 972684"/>
                <a:gd name="connsiteY4" fmla="*/ 486455 h 97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684" h="972909">
                  <a:moveTo>
                    <a:pt x="972684" y="486455"/>
                  </a:moveTo>
                  <a:cubicBezTo>
                    <a:pt x="972684" y="755116"/>
                    <a:pt x="754942" y="972910"/>
                    <a:pt x="486342" y="972910"/>
                  </a:cubicBezTo>
                  <a:cubicBezTo>
                    <a:pt x="217743" y="972910"/>
                    <a:pt x="0" y="755117"/>
                    <a:pt x="0" y="486455"/>
                  </a:cubicBezTo>
                  <a:cubicBezTo>
                    <a:pt x="0" y="217793"/>
                    <a:pt x="217743" y="0"/>
                    <a:pt x="486342" y="0"/>
                  </a:cubicBezTo>
                  <a:cubicBezTo>
                    <a:pt x="754942" y="0"/>
                    <a:pt x="972684" y="217793"/>
                    <a:pt x="972684" y="486455"/>
                  </a:cubicBezTo>
                  <a:close/>
                </a:path>
              </a:pathLst>
            </a:custGeom>
            <a:solidFill>
              <a:srgbClr val="C00000"/>
            </a:solidFill>
            <a:ln w="2378" cap="flat">
              <a:noFill/>
              <a:prstDash val="solid"/>
              <a:miter/>
            </a:ln>
            <a:effectLst>
              <a:outerShdw blurRad="101600" dist="50800" dir="3600000" algn="ctr" rotWithShape="0">
                <a:srgbClr val="2F76E4">
                  <a:alpha val="20000"/>
                </a:srgbClr>
              </a:outerShdw>
            </a:effectLst>
          </p:spPr>
          <p:txBody>
            <a:bodyPr rtlCol="0" anchor="ctr">
              <a:noAutofit/>
            </a:bodyPr>
            <a:lstStyle/>
            <a:p>
              <a:endParaRPr lang="en-US">
                <a:sym typeface="+mn-ea"/>
              </a:endParaRPr>
            </a:p>
          </p:txBody>
        </p:sp>
        <p:sp>
          <p:nvSpPr>
            <p:cNvPr id="17" name="Freeform 11"/>
            <p:cNvSpPr/>
            <p:nvPr/>
          </p:nvSpPr>
          <p:spPr>
            <a:xfrm>
              <a:off x="5677589" y="2715001"/>
              <a:ext cx="297815" cy="297815"/>
            </a:xfrm>
            <a:custGeom>
              <a:avLst/>
              <a:gdLst>
                <a:gd name="connsiteX0" fmla="*/ 184639 w 184638"/>
                <a:gd name="connsiteY0" fmla="*/ 92341 h 184681"/>
                <a:gd name="connsiteX1" fmla="*/ 92319 w 184638"/>
                <a:gd name="connsiteY1" fmla="*/ 184681 h 184681"/>
                <a:gd name="connsiteX2" fmla="*/ 0 w 184638"/>
                <a:gd name="connsiteY2" fmla="*/ 92341 h 184681"/>
                <a:gd name="connsiteX3" fmla="*/ 92319 w 184638"/>
                <a:gd name="connsiteY3" fmla="*/ 0 h 184681"/>
                <a:gd name="connsiteX4" fmla="*/ 184639 w 184638"/>
                <a:gd name="connsiteY4" fmla="*/ 92341 h 18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38" h="184681">
                  <a:moveTo>
                    <a:pt x="184639" y="92341"/>
                  </a:moveTo>
                  <a:cubicBezTo>
                    <a:pt x="184639" y="143339"/>
                    <a:pt x="143306" y="184681"/>
                    <a:pt x="92319" y="184681"/>
                  </a:cubicBezTo>
                  <a:cubicBezTo>
                    <a:pt x="41333" y="184681"/>
                    <a:pt x="0" y="143339"/>
                    <a:pt x="0" y="92341"/>
                  </a:cubicBezTo>
                  <a:cubicBezTo>
                    <a:pt x="0" y="41342"/>
                    <a:pt x="41333" y="0"/>
                    <a:pt x="92319" y="0"/>
                  </a:cubicBezTo>
                  <a:cubicBezTo>
                    <a:pt x="143306" y="0"/>
                    <a:pt x="184639" y="41342"/>
                    <a:pt x="184639" y="923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schemeClr val="bg2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0" name="Freeform 16"/>
            <p:cNvSpPr/>
            <p:nvPr/>
          </p:nvSpPr>
          <p:spPr>
            <a:xfrm>
              <a:off x="7646724" y="4485627"/>
              <a:ext cx="297815" cy="297815"/>
            </a:xfrm>
            <a:custGeom>
              <a:avLst/>
              <a:gdLst>
                <a:gd name="connsiteX0" fmla="*/ 184639 w 184638"/>
                <a:gd name="connsiteY0" fmla="*/ 92341 h 184681"/>
                <a:gd name="connsiteX1" fmla="*/ 92319 w 184638"/>
                <a:gd name="connsiteY1" fmla="*/ 184682 h 184681"/>
                <a:gd name="connsiteX2" fmla="*/ 0 w 184638"/>
                <a:gd name="connsiteY2" fmla="*/ 92341 h 184681"/>
                <a:gd name="connsiteX3" fmla="*/ 92319 w 184638"/>
                <a:gd name="connsiteY3" fmla="*/ 0 h 184681"/>
                <a:gd name="connsiteX4" fmla="*/ 184639 w 184638"/>
                <a:gd name="connsiteY4" fmla="*/ 92341 h 18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638" h="184681">
                  <a:moveTo>
                    <a:pt x="184639" y="92341"/>
                  </a:moveTo>
                  <a:cubicBezTo>
                    <a:pt x="184639" y="143339"/>
                    <a:pt x="143306" y="184682"/>
                    <a:pt x="92319" y="184682"/>
                  </a:cubicBezTo>
                  <a:cubicBezTo>
                    <a:pt x="41333" y="184682"/>
                    <a:pt x="0" y="143339"/>
                    <a:pt x="0" y="92341"/>
                  </a:cubicBezTo>
                  <a:cubicBezTo>
                    <a:pt x="0" y="41343"/>
                    <a:pt x="41333" y="0"/>
                    <a:pt x="92319" y="0"/>
                  </a:cubicBezTo>
                  <a:cubicBezTo>
                    <a:pt x="143306" y="0"/>
                    <a:pt x="184639" y="41342"/>
                    <a:pt x="184639" y="923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schemeClr val="bg2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sym typeface="+mn-ea"/>
              </a:endParaRPr>
            </a:p>
          </p:txBody>
        </p:sp>
        <p:sp>
          <p:nvSpPr>
            <p:cNvPr id="33" name="文本框 36"/>
            <p:cNvSpPr txBox="1"/>
            <p:nvPr/>
          </p:nvSpPr>
          <p:spPr>
            <a:xfrm>
              <a:off x="1190679" y="4180638"/>
              <a:ext cx="1570355" cy="5978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2800" b="1" dirty="0">
                  <a:solidFill>
                    <a:schemeClr val="bg1"/>
                  </a:solidFill>
                </a:rPr>
                <a:t>目标</a:t>
              </a:r>
              <a:endParaRPr kumimoji="1"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燕尾形 21"/>
            <p:cNvSpPr/>
            <p:nvPr/>
          </p:nvSpPr>
          <p:spPr>
            <a:xfrm>
              <a:off x="5741089" y="2784838"/>
              <a:ext cx="164465" cy="155575"/>
            </a:xfrm>
            <a:prstGeom prst="chevron">
              <a:avLst>
                <a:gd name="adj" fmla="val 51176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燕尾形 22"/>
            <p:cNvSpPr/>
            <p:nvPr/>
          </p:nvSpPr>
          <p:spPr>
            <a:xfrm>
              <a:off x="3741474" y="4556747"/>
              <a:ext cx="164465" cy="155575"/>
            </a:xfrm>
            <a:prstGeom prst="chevron">
              <a:avLst>
                <a:gd name="adj" fmla="val 51176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燕尾形 24"/>
            <p:cNvSpPr/>
            <p:nvPr/>
          </p:nvSpPr>
          <p:spPr>
            <a:xfrm>
              <a:off x="7713399" y="4556747"/>
              <a:ext cx="164465" cy="155575"/>
            </a:xfrm>
            <a:prstGeom prst="chevron">
              <a:avLst>
                <a:gd name="adj" fmla="val 51176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172571" y="3055029"/>
              <a:ext cx="130784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600" b="1" dirty="0">
                  <a:solidFill>
                    <a:srgbClr val="C00000"/>
                  </a:solidFill>
                </a:rPr>
                <a:t>网点分级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5222968" y="4099187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3600" b="1" dirty="0"/>
                <a:t>策略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122486" y="4169980"/>
              <a:ext cx="902811" cy="5978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2800" b="1" dirty="0">
                  <a:solidFill>
                    <a:schemeClr val="bg1"/>
                  </a:solidFill>
                </a:rPr>
                <a:t>监控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3584450" y="3917472"/>
              <a:ext cx="12228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600" b="1" dirty="0">
                  <a:solidFill>
                    <a:srgbClr val="C00000"/>
                  </a:solidFill>
                </a:rPr>
                <a:t>执行标准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6741751" y="3913289"/>
              <a:ext cx="12228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600" b="1" dirty="0">
                  <a:solidFill>
                    <a:srgbClr val="C00000"/>
                  </a:solidFill>
                </a:rPr>
                <a:t>一店一策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8767256" y="4706550"/>
              <a:ext cx="1666612" cy="2909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1050" dirty="0">
                  <a:solidFill>
                    <a:schemeClr val="bg1"/>
                  </a:solidFill>
                </a:rPr>
                <a:t>网点检核与业绩提升</a:t>
              </a:r>
              <a:endParaRPr lang="zh-CN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332547" y="4778494"/>
              <a:ext cx="166661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1050" dirty="0">
                  <a:solidFill>
                    <a:schemeClr val="bg1"/>
                  </a:solidFill>
                </a:rPr>
                <a:t>渠道精耕目标制定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3749303" y="5319342"/>
              <a:ext cx="1728304" cy="381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zh-CN" altLang="en-US" sz="1600" b="1" dirty="0">
                  <a:solidFill>
                    <a:srgbClr val="C00000"/>
                  </a:solidFill>
                </a:rPr>
                <a:t>新网点开发</a:t>
              </a:r>
              <a:endParaRPr kumimoji="1" lang="en-US" altLang="zh-CN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548729" y="5354542"/>
              <a:ext cx="1147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600" b="1" dirty="0">
                  <a:solidFill>
                    <a:srgbClr val="C00000"/>
                  </a:solidFill>
                </a:rPr>
                <a:t>路线规划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089393" y="4741885"/>
              <a:ext cx="14157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/>
                <a:t>渠道精耕五大策略</a:t>
              </a:r>
            </a:p>
          </p:txBody>
        </p:sp>
        <p:sp>
          <p:nvSpPr>
            <p:cNvPr id="2" name="燕尾形 21"/>
            <p:cNvSpPr/>
            <p:nvPr/>
          </p:nvSpPr>
          <p:spPr>
            <a:xfrm rot="10800000">
              <a:off x="5744978" y="6249489"/>
              <a:ext cx="164465" cy="155575"/>
            </a:xfrm>
            <a:prstGeom prst="chevron">
              <a:avLst>
                <a:gd name="adj" fmla="val 51176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206609" y="576072"/>
            <a:ext cx="1900971" cy="584775"/>
          </a:xfrm>
          <a:prstGeom prst="rect">
            <a:avLst/>
          </a:prstGeom>
          <a:solidFill>
            <a:srgbClr val="C00000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600" b="1" dirty="0"/>
              <a:t>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14879" y="3854662"/>
            <a:ext cx="8632984" cy="826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i="0" dirty="0">
                <a:solidFill>
                  <a:srgbClr val="C00000"/>
                </a:solidFill>
                <a:effectLst/>
                <a:latin typeface="Helvetica Neue"/>
              </a:rPr>
              <a:t>打造终端掌控力</a:t>
            </a:r>
            <a:endParaRPr lang="en-US" altLang="zh-CN" b="1" i="0" dirty="0">
              <a:solidFill>
                <a:srgbClr val="C00000"/>
              </a:solidFill>
              <a:effectLst/>
              <a:latin typeface="Helvetica Neue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400" b="1" i="0" dirty="0">
                <a:effectLst/>
                <a:latin typeface="Helvetica Neue"/>
              </a:rPr>
              <a:t>建立动销能力，</a:t>
            </a:r>
            <a:r>
              <a:rPr lang="zh-CN" altLang="en-US" sz="1400" b="1" dirty="0">
                <a:latin typeface="Helvetica Neue"/>
              </a:rPr>
              <a:t>让产品更好卖，</a:t>
            </a:r>
            <a:r>
              <a:rPr lang="zh-CN" altLang="en-US" sz="1400" b="1" i="0" dirty="0">
                <a:effectLst/>
                <a:latin typeface="Helvetica Neue"/>
              </a:rPr>
              <a:t>提升单产、抵抗行情波动</a:t>
            </a:r>
            <a:endParaRPr lang="zh-CN" altLang="en-US" sz="1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714879" y="5138959"/>
            <a:ext cx="8410248" cy="826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Helvetica Neue"/>
              </a:rPr>
              <a:t>扩大大盘，提升利润</a:t>
            </a:r>
            <a:endParaRPr lang="en-US" altLang="zh-CN" sz="2400" b="1" dirty="0">
              <a:solidFill>
                <a:srgbClr val="C00000"/>
              </a:solidFill>
              <a:latin typeface="Helvetica Neue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400" b="1" i="0" dirty="0">
                <a:effectLst/>
                <a:latin typeface="Helvetica Neue"/>
              </a:rPr>
              <a:t>以能赚钱的方式覆盖更多区域更密网络</a:t>
            </a:r>
            <a:endParaRPr lang="zh-CN" altLang="en-US" sz="1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071617" y="1791130"/>
            <a:ext cx="84946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如何在现有网点中找增量？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64921" y="10523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为什么要渠道精耕？</a:t>
            </a:r>
          </a:p>
        </p:txBody>
      </p:sp>
      <p:sp>
        <p:nvSpPr>
          <p:cNvPr id="7" name="三角形 6"/>
          <p:cNvSpPr/>
          <p:nvPr/>
        </p:nvSpPr>
        <p:spPr>
          <a:xfrm rot="10800000">
            <a:off x="2950056" y="3083890"/>
            <a:ext cx="6162631" cy="313048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71739" y="2734901"/>
            <a:ext cx="86485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1" dirty="0">
                <a:solidFill>
                  <a:srgbClr val="C00000"/>
                </a:solidFill>
              </a:rPr>
              <a:t>用经营视角看待渠道精耕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08665" y="4419602"/>
            <a:ext cx="2698176" cy="108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800" dirty="0"/>
              <a:t>用经营指标看</a:t>
            </a:r>
            <a:endParaRPr kumimoji="1" lang="en-US" altLang="zh-CN" sz="2800" dirty="0"/>
          </a:p>
          <a:p>
            <a:pPr algn="ctr">
              <a:lnSpc>
                <a:spcPct val="120000"/>
              </a:lnSpc>
            </a:pPr>
            <a:r>
              <a:rPr kumimoji="1" lang="zh-CN" altLang="en-US" sz="2800" dirty="0"/>
              <a:t>用投资回报率看</a:t>
            </a:r>
            <a:endParaRPr kumimoji="1" lang="en-US" altLang="zh-C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63194" y="660022"/>
            <a:ext cx="4288353" cy="633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分销渠道业绩增长原理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033998" y="2507134"/>
            <a:ext cx="1918235" cy="85446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覆盖网点数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753135" y="2507134"/>
            <a:ext cx="2514043" cy="854465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网点活跃率</a:t>
            </a:r>
          </a:p>
        </p:txBody>
      </p:sp>
      <p:sp>
        <p:nvSpPr>
          <p:cNvPr id="7" name="圆角矩形 30"/>
          <p:cNvSpPr/>
          <p:nvPr/>
        </p:nvSpPr>
        <p:spPr>
          <a:xfrm>
            <a:off x="9068078" y="2517509"/>
            <a:ext cx="2514043" cy="833715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平均单店产出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41350" y="2507134"/>
            <a:ext cx="1471097" cy="85446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销售额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278330" y="4399788"/>
            <a:ext cx="1918235" cy="61434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网点覆盖率</a:t>
            </a:r>
          </a:p>
        </p:txBody>
      </p:sp>
      <p:sp>
        <p:nvSpPr>
          <p:cNvPr id="11" name="乘 10"/>
          <p:cNvSpPr/>
          <p:nvPr/>
        </p:nvSpPr>
        <p:spPr>
          <a:xfrm>
            <a:off x="5120909" y="2702591"/>
            <a:ext cx="463550" cy="463550"/>
          </a:xfrm>
          <a:prstGeom prst="mathMultiply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乘 11"/>
          <p:cNvSpPr/>
          <p:nvPr/>
        </p:nvSpPr>
        <p:spPr>
          <a:xfrm>
            <a:off x="8435854" y="2702591"/>
            <a:ext cx="463550" cy="463550"/>
          </a:xfrm>
          <a:prstGeom prst="mathMultiply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等于 12"/>
          <p:cNvSpPr/>
          <p:nvPr/>
        </p:nvSpPr>
        <p:spPr>
          <a:xfrm>
            <a:off x="2281122" y="2658141"/>
            <a:ext cx="584200" cy="552450"/>
          </a:xfrm>
          <a:prstGeom prst="mathEqual">
            <a:avLst>
              <a:gd name="adj1" fmla="val 23520"/>
              <a:gd name="adj2" fmla="val 23254"/>
            </a:avLst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右大括号 13"/>
          <p:cNvSpPr/>
          <p:nvPr/>
        </p:nvSpPr>
        <p:spPr>
          <a:xfrm rot="16200000">
            <a:off x="3901040" y="2933696"/>
            <a:ext cx="184150" cy="2378075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844959" y="4399788"/>
            <a:ext cx="1918235" cy="614343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区域网点总数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208285" y="35512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合作网点数量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907370" y="35557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本月进货的网点占比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089131" y="355127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本月网点的平均销售额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06686" y="2317552"/>
            <a:ext cx="5262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400" b="1" dirty="0"/>
              <a:t>三大指标如何提升？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031249" y="3429001"/>
            <a:ext cx="3207894" cy="1151730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覆盖网点数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710903" y="3429000"/>
            <a:ext cx="3207894" cy="1151731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网点活跃率</a:t>
            </a:r>
          </a:p>
        </p:txBody>
      </p:sp>
      <p:sp>
        <p:nvSpPr>
          <p:cNvPr id="5" name="圆角矩形 30"/>
          <p:cNvSpPr/>
          <p:nvPr/>
        </p:nvSpPr>
        <p:spPr>
          <a:xfrm>
            <a:off x="8292022" y="3429000"/>
            <a:ext cx="3207894" cy="112376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平均单店产出</a:t>
            </a:r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00" y="420165"/>
            <a:ext cx="1005403" cy="100540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03785" y="92286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/>
              <a:t>共创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5051" y="1987651"/>
            <a:ext cx="110081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/>
              <a:t>精细化渠道管理第一步：</a:t>
            </a:r>
            <a:r>
              <a:rPr kumimoji="1" lang="zh-CN" altLang="en-US" sz="4000" b="1" dirty="0">
                <a:solidFill>
                  <a:srgbClr val="C00000"/>
                </a:solidFill>
              </a:rPr>
              <a:t>先看</a:t>
            </a:r>
            <a:r>
              <a:rPr kumimoji="1" lang="zh-CN" altLang="en-US" sz="5400" b="1" dirty="0">
                <a:solidFill>
                  <a:srgbClr val="C00000"/>
                </a:solidFill>
              </a:rPr>
              <a:t>“数据表格”</a:t>
            </a:r>
            <a:endParaRPr kumimoji="1"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43100" y="115367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数据的价值是定位问题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2763" y="3873695"/>
            <a:ext cx="4331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用“数据表格”</a:t>
            </a:r>
            <a:endParaRPr lang="zh-CN" altLang="en-US" sz="4800" dirty="0"/>
          </a:p>
        </p:txBody>
      </p:sp>
      <p:cxnSp>
        <p:nvCxnSpPr>
          <p:cNvPr id="7" name="直线箭头连接符 6"/>
          <p:cNvCxnSpPr/>
          <p:nvPr/>
        </p:nvCxnSpPr>
        <p:spPr>
          <a:xfrm>
            <a:off x="5085836" y="4305494"/>
            <a:ext cx="21500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235912" y="3827528"/>
            <a:ext cx="4154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6000" b="1">
                <a:solidFill>
                  <a:srgbClr val="C00000"/>
                </a:solidFill>
              </a:defRPr>
            </a:lvl1pPr>
          </a:lstStyle>
          <a:p>
            <a:r>
              <a:rPr lang="zh-CN" altLang="en-US" sz="5400" dirty="0"/>
              <a:t>“提升指标”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05159" y="38187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定位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5139" y="605544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月度分销渠道业绩分析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04497" y="1483188"/>
          <a:ext cx="10489325" cy="3891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8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8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82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60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月份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覆盖网点数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当月活跃网点数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网点活跃率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平均单店产出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总销售额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6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6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6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6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6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937122" y="1616560"/>
            <a:ext cx="63177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400" b="1" dirty="0"/>
              <a:t>通过表格找出“提升指标”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08045" y="3947406"/>
            <a:ext cx="82894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现在我们一起来找出提升指标的</a:t>
            </a:r>
            <a:r>
              <a:rPr kumimoji="1" lang="zh-CN" altLang="en-US" sz="4800" b="1" dirty="0"/>
              <a:t>背后原因？</a:t>
            </a:r>
          </a:p>
        </p:txBody>
      </p:sp>
      <p:sp>
        <p:nvSpPr>
          <p:cNvPr id="8" name="三角形 7"/>
          <p:cNvSpPr/>
          <p:nvPr/>
        </p:nvSpPr>
        <p:spPr>
          <a:xfrm rot="10800000">
            <a:off x="5073831" y="3042683"/>
            <a:ext cx="2327866" cy="386316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/>
          <p:cNvSpPr/>
          <p:nvPr/>
        </p:nvSpPr>
        <p:spPr>
          <a:xfrm>
            <a:off x="798394" y="1939147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网点覆盖率</a:t>
            </a:r>
          </a:p>
        </p:txBody>
      </p:sp>
      <p:sp>
        <p:nvSpPr>
          <p:cNvPr id="3" name="圆角矩形 4"/>
          <p:cNvSpPr/>
          <p:nvPr/>
        </p:nvSpPr>
        <p:spPr>
          <a:xfrm>
            <a:off x="4731064" y="1939147"/>
            <a:ext cx="2514043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网点活跃度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12292" y="363770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网点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政策不对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12292" y="449396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网点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维护不够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48382" y="380037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业务人员</a:t>
            </a:r>
            <a:endParaRPr kumimoji="1" lang="en-US" altLang="zh-CN" b="1" dirty="0"/>
          </a:p>
          <a:p>
            <a:r>
              <a:rPr kumimoji="1" lang="zh-CN" altLang="en-US" b="1" dirty="0"/>
              <a:t>数量不够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48382" y="501918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业务人员</a:t>
            </a:r>
            <a:endParaRPr kumimoji="1" lang="en-US" altLang="zh-CN" b="1" dirty="0"/>
          </a:p>
          <a:p>
            <a:r>
              <a:rPr kumimoji="1" lang="zh-CN" altLang="en-US" b="1" dirty="0"/>
              <a:t>管理不够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698720" y="380037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新网点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策略不对</a:t>
            </a:r>
          </a:p>
        </p:txBody>
      </p:sp>
      <p:sp>
        <p:nvSpPr>
          <p:cNvPr id="14" name="圆角矩形 25"/>
          <p:cNvSpPr/>
          <p:nvPr/>
        </p:nvSpPr>
        <p:spPr>
          <a:xfrm>
            <a:off x="1988458" y="3995506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5" name="圆角矩形 26"/>
          <p:cNvSpPr/>
          <p:nvPr/>
        </p:nvSpPr>
        <p:spPr>
          <a:xfrm>
            <a:off x="3938796" y="3985546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6" name="圆角矩形 27"/>
          <p:cNvSpPr/>
          <p:nvPr/>
        </p:nvSpPr>
        <p:spPr>
          <a:xfrm>
            <a:off x="1988458" y="3022244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7" name="文本框 26"/>
          <p:cNvSpPr txBox="1"/>
          <p:nvPr/>
        </p:nvSpPr>
        <p:spPr>
          <a:xfrm>
            <a:off x="216092" y="9180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渠道精耕</a:t>
            </a:r>
            <a:r>
              <a:rPr lang="en-US" altLang="zh-CN" b="1" dirty="0"/>
              <a:t>——</a:t>
            </a:r>
            <a:r>
              <a:rPr lang="zh-CN" altLang="en-US" b="1" dirty="0"/>
              <a:t>经营自检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10443" y="723374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分析：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可以从哪些维度提升分销业务模式的质量？</a:t>
            </a:r>
          </a:p>
        </p:txBody>
      </p:sp>
      <p:sp>
        <p:nvSpPr>
          <p:cNvPr id="29" name="圆角矩形 25"/>
          <p:cNvSpPr/>
          <p:nvPr/>
        </p:nvSpPr>
        <p:spPr>
          <a:xfrm>
            <a:off x="6453897" y="5531126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0" name="圆角矩形 27"/>
          <p:cNvSpPr/>
          <p:nvPr/>
        </p:nvSpPr>
        <p:spPr>
          <a:xfrm>
            <a:off x="6441564" y="47540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1" name="文本框 30"/>
          <p:cNvSpPr txBox="1"/>
          <p:nvPr/>
        </p:nvSpPr>
        <p:spPr>
          <a:xfrm>
            <a:off x="7630504" y="39064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核心网点</a:t>
            </a:r>
            <a:endParaRPr kumimoji="1" lang="en-US" altLang="zh-CN" b="1" dirty="0"/>
          </a:p>
          <a:p>
            <a:r>
              <a:rPr kumimoji="1" lang="zh-CN" altLang="en-US" b="1" dirty="0"/>
              <a:t>数量不够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668798" y="517027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核心网点</a:t>
            </a:r>
            <a:endParaRPr kumimoji="1" lang="en-US" altLang="zh-CN" b="1" dirty="0"/>
          </a:p>
          <a:p>
            <a:r>
              <a:rPr kumimoji="1" lang="zh-CN" altLang="en-US" b="1" dirty="0"/>
              <a:t>销量不够</a:t>
            </a:r>
          </a:p>
        </p:txBody>
      </p:sp>
      <p:sp>
        <p:nvSpPr>
          <p:cNvPr id="34" name="圆角矩形 3"/>
          <p:cNvSpPr/>
          <p:nvPr/>
        </p:nvSpPr>
        <p:spPr>
          <a:xfrm>
            <a:off x="7692567" y="1939147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单店产出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9390054" y="39064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中小网点</a:t>
            </a:r>
            <a:endParaRPr kumimoji="1" lang="en-US" altLang="zh-CN" b="1" dirty="0"/>
          </a:p>
          <a:p>
            <a:r>
              <a:rPr kumimoji="1" lang="zh-CN" altLang="en-US" b="1" dirty="0"/>
              <a:t>产出不够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9428348" y="519019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中小网点</a:t>
            </a:r>
            <a:endParaRPr kumimoji="1" lang="en-US" altLang="zh-CN" b="1" dirty="0"/>
          </a:p>
          <a:p>
            <a:r>
              <a:rPr kumimoji="1" lang="zh-CN" altLang="en-US" b="1" dirty="0"/>
              <a:t>维护不够</a:t>
            </a:r>
          </a:p>
        </p:txBody>
      </p:sp>
      <p:sp>
        <p:nvSpPr>
          <p:cNvPr id="37" name="圆角矩形 25"/>
          <p:cNvSpPr/>
          <p:nvPr/>
        </p:nvSpPr>
        <p:spPr>
          <a:xfrm>
            <a:off x="8916291" y="5365409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8" name="圆角矩形 27"/>
          <p:cNvSpPr/>
          <p:nvPr/>
        </p:nvSpPr>
        <p:spPr>
          <a:xfrm>
            <a:off x="8877997" y="411157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9" name="圆角矩形 25"/>
          <p:cNvSpPr/>
          <p:nvPr/>
        </p:nvSpPr>
        <p:spPr>
          <a:xfrm>
            <a:off x="10675842" y="5365409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0" name="圆角矩形 27"/>
          <p:cNvSpPr/>
          <p:nvPr/>
        </p:nvSpPr>
        <p:spPr>
          <a:xfrm>
            <a:off x="10637548" y="411157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1" name="圆角矩形 25"/>
          <p:cNvSpPr/>
          <p:nvPr/>
        </p:nvSpPr>
        <p:spPr>
          <a:xfrm>
            <a:off x="1988458" y="5204362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2" name="文本框 41"/>
          <p:cNvSpPr txBox="1"/>
          <p:nvPr/>
        </p:nvSpPr>
        <p:spPr>
          <a:xfrm>
            <a:off x="748382" y="28171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没有区域</a:t>
            </a:r>
            <a:endParaRPr kumimoji="1" lang="en-US" altLang="zh-CN" b="1" dirty="0"/>
          </a:p>
          <a:p>
            <a:r>
              <a:rPr kumimoji="1" lang="zh-CN" altLang="en-US" b="1" dirty="0"/>
              <a:t>网点数据</a:t>
            </a:r>
          </a:p>
        </p:txBody>
      </p:sp>
      <p:sp>
        <p:nvSpPr>
          <p:cNvPr id="44" name="圆角矩形 26"/>
          <p:cNvSpPr/>
          <p:nvPr/>
        </p:nvSpPr>
        <p:spPr>
          <a:xfrm>
            <a:off x="6441564" y="386204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4912292" y="534235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网点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动销不够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16500" y="281705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没有客户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活跃数据</a:t>
            </a:r>
          </a:p>
        </p:txBody>
      </p:sp>
      <p:sp>
        <p:nvSpPr>
          <p:cNvPr id="9" name="圆角矩形 26"/>
          <p:cNvSpPr/>
          <p:nvPr/>
        </p:nvSpPr>
        <p:spPr>
          <a:xfrm>
            <a:off x="6453897" y="3002228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8362293" y="281612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没有网点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产出数据</a:t>
            </a:r>
          </a:p>
        </p:txBody>
      </p:sp>
      <p:sp>
        <p:nvSpPr>
          <p:cNvPr id="17" name="圆角矩形 26"/>
          <p:cNvSpPr/>
          <p:nvPr/>
        </p:nvSpPr>
        <p:spPr>
          <a:xfrm>
            <a:off x="9899690" y="3002228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/>
          <p:cNvSpPr/>
          <p:nvPr/>
        </p:nvSpPr>
        <p:spPr>
          <a:xfrm>
            <a:off x="798394" y="1939147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网点覆盖率</a:t>
            </a:r>
          </a:p>
        </p:txBody>
      </p:sp>
      <p:sp>
        <p:nvSpPr>
          <p:cNvPr id="3" name="圆角矩形 4"/>
          <p:cNvSpPr/>
          <p:nvPr/>
        </p:nvSpPr>
        <p:spPr>
          <a:xfrm>
            <a:off x="4731064" y="1939147"/>
            <a:ext cx="2514043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网点活跃度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916500" y="3647466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政策不对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16500" y="4496708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维护不够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48382" y="3647466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业务人员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数量不够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48382" y="5019187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业务人员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管理不够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698720" y="3647466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新网点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策略不对</a:t>
            </a:r>
          </a:p>
        </p:txBody>
      </p:sp>
      <p:sp>
        <p:nvSpPr>
          <p:cNvPr id="14" name="圆角矩形 25"/>
          <p:cNvSpPr/>
          <p:nvPr/>
        </p:nvSpPr>
        <p:spPr>
          <a:xfrm>
            <a:off x="1988458" y="38739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圆角矩形 26"/>
          <p:cNvSpPr/>
          <p:nvPr/>
        </p:nvSpPr>
        <p:spPr>
          <a:xfrm>
            <a:off x="3938796" y="38739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圆角矩形 27"/>
          <p:cNvSpPr/>
          <p:nvPr/>
        </p:nvSpPr>
        <p:spPr>
          <a:xfrm>
            <a:off x="1988458" y="3024725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/>
          </a:p>
        </p:txBody>
      </p:sp>
      <p:sp>
        <p:nvSpPr>
          <p:cNvPr id="27" name="文本框 26"/>
          <p:cNvSpPr txBox="1"/>
          <p:nvPr/>
        </p:nvSpPr>
        <p:spPr>
          <a:xfrm>
            <a:off x="216092" y="9180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渠道精耕</a:t>
            </a:r>
            <a:r>
              <a:rPr lang="en-US" altLang="zh-CN" b="1" dirty="0"/>
              <a:t>——</a:t>
            </a:r>
            <a:r>
              <a:rPr lang="zh-CN" altLang="en-US" b="1" dirty="0"/>
              <a:t>经营自检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10443" y="723374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分析：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可以从哪些维度提升分销业务模式的质量？</a:t>
            </a:r>
          </a:p>
        </p:txBody>
      </p:sp>
      <p:sp>
        <p:nvSpPr>
          <p:cNvPr id="29" name="圆角矩形 25"/>
          <p:cNvSpPr/>
          <p:nvPr/>
        </p:nvSpPr>
        <p:spPr>
          <a:xfrm>
            <a:off x="6441564" y="5531126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圆角矩形 27"/>
          <p:cNvSpPr/>
          <p:nvPr/>
        </p:nvSpPr>
        <p:spPr>
          <a:xfrm>
            <a:off x="6441564" y="47540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630504" y="3647466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核心网点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数量不够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630504" y="5170275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核心网点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销量不够</a:t>
            </a:r>
          </a:p>
        </p:txBody>
      </p:sp>
      <p:sp>
        <p:nvSpPr>
          <p:cNvPr id="34" name="圆角矩形 3"/>
          <p:cNvSpPr/>
          <p:nvPr/>
        </p:nvSpPr>
        <p:spPr>
          <a:xfrm>
            <a:off x="7692567" y="1939147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单店产出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9390054" y="3647466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中小网点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产出不够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9390054" y="5190193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中小网点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维护不够</a:t>
            </a:r>
          </a:p>
        </p:txBody>
      </p:sp>
      <p:sp>
        <p:nvSpPr>
          <p:cNvPr id="37" name="圆角矩形 25"/>
          <p:cNvSpPr/>
          <p:nvPr/>
        </p:nvSpPr>
        <p:spPr>
          <a:xfrm>
            <a:off x="8877997" y="5365409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圆角矩形 27"/>
          <p:cNvSpPr/>
          <p:nvPr/>
        </p:nvSpPr>
        <p:spPr>
          <a:xfrm>
            <a:off x="8877997" y="38739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圆角矩形 25"/>
          <p:cNvSpPr/>
          <p:nvPr/>
        </p:nvSpPr>
        <p:spPr>
          <a:xfrm>
            <a:off x="10637548" y="5365409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圆角矩形 27"/>
          <p:cNvSpPr/>
          <p:nvPr/>
        </p:nvSpPr>
        <p:spPr>
          <a:xfrm>
            <a:off x="10637548" y="38739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圆角矩形 25"/>
          <p:cNvSpPr/>
          <p:nvPr/>
        </p:nvSpPr>
        <p:spPr>
          <a:xfrm>
            <a:off x="1988458" y="5204362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48382" y="2798224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/>
              <a:t>没有区域</a:t>
            </a:r>
            <a:endParaRPr kumimoji="1" lang="en-US" altLang="zh-CN" b="1" dirty="0"/>
          </a:p>
          <a:p>
            <a:pPr>
              <a:lnSpc>
                <a:spcPct val="120000"/>
              </a:lnSpc>
            </a:pPr>
            <a:r>
              <a:rPr kumimoji="1" lang="zh-CN" altLang="en-US" b="1" dirty="0"/>
              <a:t>网点数据</a:t>
            </a:r>
          </a:p>
        </p:txBody>
      </p:sp>
      <p:sp>
        <p:nvSpPr>
          <p:cNvPr id="44" name="圆角矩形 26"/>
          <p:cNvSpPr/>
          <p:nvPr/>
        </p:nvSpPr>
        <p:spPr>
          <a:xfrm>
            <a:off x="6441564" y="38739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16500" y="5345950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动销不够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16500" y="2798224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b="1" dirty="0"/>
              <a:t>没有客户</a:t>
            </a:r>
            <a:endParaRPr kumimoji="1" lang="en-US" altLang="zh-CN" b="1" dirty="0"/>
          </a:p>
          <a:p>
            <a:pPr algn="ctr">
              <a:lnSpc>
                <a:spcPct val="120000"/>
              </a:lnSpc>
            </a:pPr>
            <a:r>
              <a:rPr kumimoji="1" lang="zh-CN" altLang="en-US" b="1" dirty="0"/>
              <a:t>活跃数据</a:t>
            </a:r>
          </a:p>
        </p:txBody>
      </p:sp>
      <p:sp>
        <p:nvSpPr>
          <p:cNvPr id="9" name="圆角矩形 26"/>
          <p:cNvSpPr/>
          <p:nvPr/>
        </p:nvSpPr>
        <p:spPr>
          <a:xfrm>
            <a:off x="6441564" y="3024725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8362293" y="2798224"/>
            <a:ext cx="1107996" cy="72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b="1" dirty="0"/>
              <a:t>没有网点</a:t>
            </a:r>
            <a:endParaRPr kumimoji="1" lang="en-US" altLang="zh-CN" b="1" dirty="0"/>
          </a:p>
          <a:p>
            <a:pPr algn="ctr">
              <a:lnSpc>
                <a:spcPct val="120000"/>
              </a:lnSpc>
            </a:pPr>
            <a:r>
              <a:rPr kumimoji="1" lang="zh-CN" altLang="en-US" b="1" dirty="0"/>
              <a:t>产出数据</a:t>
            </a:r>
          </a:p>
        </p:txBody>
      </p:sp>
      <p:sp>
        <p:nvSpPr>
          <p:cNvPr id="17" name="圆角矩形 26"/>
          <p:cNvSpPr/>
          <p:nvPr/>
        </p:nvSpPr>
        <p:spPr>
          <a:xfrm>
            <a:off x="9899690" y="3024725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/>
          </a:p>
        </p:txBody>
      </p:sp>
      <p:sp>
        <p:nvSpPr>
          <p:cNvPr id="5" name="圆角矩形 4"/>
          <p:cNvSpPr/>
          <p:nvPr/>
        </p:nvSpPr>
        <p:spPr>
          <a:xfrm>
            <a:off x="374709" y="2764058"/>
            <a:ext cx="11442581" cy="79731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216092" y="9180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渠道精耕</a:t>
            </a:r>
            <a:r>
              <a:rPr lang="en-US" altLang="zh-CN" b="1" dirty="0"/>
              <a:t>——</a:t>
            </a:r>
            <a:r>
              <a:rPr lang="zh-CN" altLang="en-US" b="1" dirty="0"/>
              <a:t>经营自检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8558" y="855024"/>
            <a:ext cx="10649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基础数据缺乏：对区域市场基本信息掌握不到位，难以支撑分析和细化管理！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9072" y="143295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现象：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09072" y="2010888"/>
            <a:ext cx="4166689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盘子做大了，却没有进一步了解空白的网点、每个网点的增长机会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对终端服务情况不了解，人员与终端服务配置不清晰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不关注终端怎么出的货，不记录终端容量和终端进货、销售情况</a:t>
            </a:r>
            <a:endParaRPr lang="en-US" altLang="zh-CN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6259846" y="143295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风险：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259846" y="2010888"/>
            <a:ext cx="4166689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市场基础不牢靠，增长乏力，除了整体增长率外，无从判断做得好不好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易出现服务不到位、销售随意性和波动性大的情况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难以辨清终端的重要程度，面对增长、新品、高毛利产品推广目标时找不到抓手</a:t>
            </a:r>
            <a:endParaRPr lang="en-US" altLang="zh-CN" sz="1600" dirty="0"/>
          </a:p>
        </p:txBody>
      </p:sp>
      <p:sp>
        <p:nvSpPr>
          <p:cNvPr id="19" name="箭头: 下 18"/>
          <p:cNvSpPr/>
          <p:nvPr/>
        </p:nvSpPr>
        <p:spPr>
          <a:xfrm>
            <a:off x="4701295" y="5022779"/>
            <a:ext cx="1943595" cy="558140"/>
          </a:xfrm>
          <a:prstGeom prst="downArrow">
            <a:avLst/>
          </a:prstGeom>
          <a:solidFill>
            <a:schemeClr val="accent2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589747" y="5615724"/>
            <a:ext cx="41666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</a:rPr>
              <a:t>缺乏数据基础</a:t>
            </a:r>
            <a:endParaRPr lang="zh-CN" altLang="en-US" sz="4000" dirty="0"/>
          </a:p>
        </p:txBody>
      </p:sp>
      <p:sp>
        <p:nvSpPr>
          <p:cNvPr id="4" name="文本框 3"/>
          <p:cNvSpPr txBox="1"/>
          <p:nvPr/>
        </p:nvSpPr>
        <p:spPr>
          <a:xfrm>
            <a:off x="5119094" y="51324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解决方法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/>
          <p:cNvSpPr/>
          <p:nvPr/>
        </p:nvSpPr>
        <p:spPr>
          <a:xfrm>
            <a:off x="704610" y="1575732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网点覆盖率</a:t>
            </a:r>
          </a:p>
        </p:txBody>
      </p:sp>
      <p:sp>
        <p:nvSpPr>
          <p:cNvPr id="3" name="圆角矩形 4"/>
          <p:cNvSpPr/>
          <p:nvPr/>
        </p:nvSpPr>
        <p:spPr>
          <a:xfrm>
            <a:off x="4637280" y="1575732"/>
            <a:ext cx="2514043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网点活跃度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16092" y="9180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渠道精耕</a:t>
            </a:r>
            <a:r>
              <a:rPr lang="en-US" altLang="zh-CN" b="1" dirty="0"/>
              <a:t>——</a:t>
            </a:r>
            <a:r>
              <a:rPr lang="zh-CN" altLang="en-US" b="1" dirty="0"/>
              <a:t>经营自检</a:t>
            </a:r>
          </a:p>
        </p:txBody>
      </p:sp>
      <p:sp>
        <p:nvSpPr>
          <p:cNvPr id="34" name="圆角矩形 3"/>
          <p:cNvSpPr/>
          <p:nvPr/>
        </p:nvSpPr>
        <p:spPr>
          <a:xfrm>
            <a:off x="7598783" y="1575732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单店产出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70092" y="333750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网点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r>
              <a:rPr kumimoji="1" lang="zh-CN" altLang="en-US" b="1" dirty="0">
                <a:solidFill>
                  <a:srgbClr val="000000"/>
                </a:solidFill>
              </a:rPr>
              <a:t>政策不对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88004" y="419276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维护不够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48382" y="349557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业务人员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数量不够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48382" y="471438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业务人员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管理不够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784052" y="342900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000000"/>
                </a:solidFill>
              </a:rPr>
              <a:t>新网点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pPr algn="ctr"/>
            <a:r>
              <a:rPr kumimoji="1" lang="zh-CN" altLang="en-US" b="1" dirty="0">
                <a:solidFill>
                  <a:srgbClr val="000000"/>
                </a:solidFill>
              </a:rPr>
              <a:t>策略不对</a:t>
            </a:r>
          </a:p>
        </p:txBody>
      </p:sp>
      <p:sp>
        <p:nvSpPr>
          <p:cNvPr id="20" name="圆角矩形 25"/>
          <p:cNvSpPr/>
          <p:nvPr/>
        </p:nvSpPr>
        <p:spPr>
          <a:xfrm>
            <a:off x="1988458" y="3690706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圆角矩形 26"/>
          <p:cNvSpPr/>
          <p:nvPr/>
        </p:nvSpPr>
        <p:spPr>
          <a:xfrm>
            <a:off x="4024128" y="3614175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圆角矩形 27"/>
          <p:cNvSpPr/>
          <p:nvPr/>
        </p:nvSpPr>
        <p:spPr>
          <a:xfrm>
            <a:off x="1988458" y="2717444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圆角矩形 25"/>
          <p:cNvSpPr/>
          <p:nvPr/>
        </p:nvSpPr>
        <p:spPr>
          <a:xfrm>
            <a:off x="6453897" y="5226326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圆角矩形 27"/>
          <p:cNvSpPr/>
          <p:nvPr/>
        </p:nvSpPr>
        <p:spPr>
          <a:xfrm>
            <a:off x="6441564" y="4449267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30504" y="334190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核心网点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数量不够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668798" y="486547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核心网点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销量不够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390053" y="328215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中小网点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r>
              <a:rPr kumimoji="1" lang="zh-CN" altLang="en-US" b="1" dirty="0">
                <a:solidFill>
                  <a:srgbClr val="000000"/>
                </a:solidFill>
              </a:rPr>
              <a:t>产出不够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428348" y="488539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中小网点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维护不够</a:t>
            </a:r>
          </a:p>
        </p:txBody>
      </p:sp>
      <p:sp>
        <p:nvSpPr>
          <p:cNvPr id="46" name="圆角矩形 25"/>
          <p:cNvSpPr/>
          <p:nvPr/>
        </p:nvSpPr>
        <p:spPr>
          <a:xfrm>
            <a:off x="8916291" y="5060609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圆角矩形 27"/>
          <p:cNvSpPr/>
          <p:nvPr/>
        </p:nvSpPr>
        <p:spPr>
          <a:xfrm>
            <a:off x="8877997" y="3546998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8" name="圆角矩形 25"/>
          <p:cNvSpPr/>
          <p:nvPr/>
        </p:nvSpPr>
        <p:spPr>
          <a:xfrm>
            <a:off x="10675842" y="5060609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9" name="圆角矩形 27"/>
          <p:cNvSpPr/>
          <p:nvPr/>
        </p:nvSpPr>
        <p:spPr>
          <a:xfrm>
            <a:off x="10637546" y="3476185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圆角矩形 25"/>
          <p:cNvSpPr/>
          <p:nvPr/>
        </p:nvSpPr>
        <p:spPr>
          <a:xfrm>
            <a:off x="1988458" y="4899562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48382" y="25123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没有区域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网点数据</a:t>
            </a:r>
          </a:p>
        </p:txBody>
      </p:sp>
      <p:sp>
        <p:nvSpPr>
          <p:cNvPr id="52" name="圆角矩形 26"/>
          <p:cNvSpPr/>
          <p:nvPr/>
        </p:nvSpPr>
        <p:spPr>
          <a:xfrm>
            <a:off x="6441564" y="355724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35354" y="504115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网点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r>
              <a:rPr kumimoji="1" lang="zh-CN" altLang="en-US" b="1" dirty="0">
                <a:solidFill>
                  <a:srgbClr val="000000"/>
                </a:solidFill>
              </a:rPr>
              <a:t>动销不够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4916500" y="251225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没有客户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活跃数据</a:t>
            </a:r>
          </a:p>
        </p:txBody>
      </p:sp>
      <p:sp>
        <p:nvSpPr>
          <p:cNvPr id="55" name="圆角矩形 26"/>
          <p:cNvSpPr/>
          <p:nvPr/>
        </p:nvSpPr>
        <p:spPr>
          <a:xfrm>
            <a:off x="6453897" y="2697428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362293" y="251132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没有网点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产出数据</a:t>
            </a:r>
          </a:p>
        </p:txBody>
      </p:sp>
      <p:sp>
        <p:nvSpPr>
          <p:cNvPr id="57" name="圆角矩形 26"/>
          <p:cNvSpPr/>
          <p:nvPr/>
        </p:nvSpPr>
        <p:spPr>
          <a:xfrm>
            <a:off x="9899690" y="2697428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2587214" y="3157656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0" name="椭圆 59"/>
          <p:cNvSpPr/>
          <p:nvPr/>
        </p:nvSpPr>
        <p:spPr>
          <a:xfrm>
            <a:off x="4950490" y="3137195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1" name="椭圆 60"/>
          <p:cNvSpPr/>
          <p:nvPr/>
        </p:nvSpPr>
        <p:spPr>
          <a:xfrm>
            <a:off x="4919515" y="4804498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2" name="椭圆 61"/>
          <p:cNvSpPr/>
          <p:nvPr/>
        </p:nvSpPr>
        <p:spPr>
          <a:xfrm>
            <a:off x="9182840" y="3073123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3" name="文本框 62"/>
          <p:cNvSpPr txBox="1"/>
          <p:nvPr/>
        </p:nvSpPr>
        <p:spPr>
          <a:xfrm>
            <a:off x="3252284" y="76978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网点缺乏精细化的策略管理和政策管理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216092" y="9180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渠道精耕</a:t>
            </a:r>
            <a:r>
              <a:rPr lang="en-US" altLang="zh-CN" b="1" dirty="0"/>
              <a:t>——</a:t>
            </a:r>
            <a:r>
              <a:rPr lang="zh-CN" altLang="en-US" b="1" dirty="0"/>
              <a:t>经营自检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9072" y="143295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现象：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09072" y="2010888"/>
            <a:ext cx="4166689" cy="2266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高价值网点得不到销售资源支持，低价值网点占用过多资源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对网点的激励、对业务人员的绩效评估和激励粗疏，没有差异化</a:t>
            </a:r>
            <a:endParaRPr lang="en-US" altLang="zh-CN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6259846" y="143295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风险：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259846" y="2010888"/>
            <a:ext cx="4166689" cy="2266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无法制定差异化的销售策略，资源浪费、效率浪费，产出下降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在网点端的市场竞争力下降，同时影响销售团队的业绩和积极性</a:t>
            </a:r>
            <a:endParaRPr lang="en-US" altLang="zh-CN" sz="1600" dirty="0"/>
          </a:p>
        </p:txBody>
      </p:sp>
      <p:sp>
        <p:nvSpPr>
          <p:cNvPr id="19" name="箭头: 下 18"/>
          <p:cNvSpPr/>
          <p:nvPr/>
        </p:nvSpPr>
        <p:spPr>
          <a:xfrm>
            <a:off x="4975761" y="4684310"/>
            <a:ext cx="1943595" cy="558140"/>
          </a:xfrm>
          <a:prstGeom prst="downArrow">
            <a:avLst/>
          </a:prstGeom>
          <a:solidFill>
            <a:schemeClr val="accent2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30691" y="771655"/>
            <a:ext cx="4822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网点分类与服务标准欠缺 </a:t>
            </a:r>
            <a:r>
              <a:rPr lang="en-US" altLang="zh-CN" sz="2400" b="1" dirty="0">
                <a:solidFill>
                  <a:srgbClr val="C00000"/>
                </a:solidFill>
              </a:rPr>
              <a:t>/ </a:t>
            </a:r>
            <a:r>
              <a:rPr lang="zh-CN" altLang="en-US" sz="2400" b="1" dirty="0">
                <a:solidFill>
                  <a:srgbClr val="C00000"/>
                </a:solidFill>
              </a:rPr>
              <a:t>不到位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59860" y="542504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</a:rPr>
              <a:t>精细化网点管理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3559" y="47468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解决方法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3"/>
          <p:cNvSpPr/>
          <p:nvPr/>
        </p:nvSpPr>
        <p:spPr>
          <a:xfrm>
            <a:off x="776628" y="1786748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网点覆盖率</a:t>
            </a:r>
          </a:p>
        </p:txBody>
      </p:sp>
      <p:sp>
        <p:nvSpPr>
          <p:cNvPr id="3" name="圆角矩形 4"/>
          <p:cNvSpPr/>
          <p:nvPr/>
        </p:nvSpPr>
        <p:spPr>
          <a:xfrm>
            <a:off x="4709298" y="1786748"/>
            <a:ext cx="2514043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网点活跃度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16092" y="9180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渠道精耕</a:t>
            </a:r>
            <a:r>
              <a:rPr lang="en-US" altLang="zh-CN" b="1" dirty="0"/>
              <a:t>——</a:t>
            </a:r>
            <a:r>
              <a:rPr lang="zh-CN" altLang="en-US" b="1" dirty="0"/>
              <a:t>经营自检</a:t>
            </a:r>
          </a:p>
        </p:txBody>
      </p:sp>
      <p:sp>
        <p:nvSpPr>
          <p:cNvPr id="34" name="圆角矩形 3"/>
          <p:cNvSpPr/>
          <p:nvPr/>
        </p:nvSpPr>
        <p:spPr>
          <a:xfrm>
            <a:off x="7670801" y="1786748"/>
            <a:ext cx="3485210" cy="541112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115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单店产出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98241" y="354751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政策不对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060022" y="440378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网点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r>
              <a:rPr kumimoji="1" lang="zh-CN" altLang="en-US" b="1" dirty="0">
                <a:solidFill>
                  <a:srgbClr val="000000"/>
                </a:solidFill>
              </a:rPr>
              <a:t>维护不够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20400" y="370658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业务人员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r>
              <a:rPr kumimoji="1" lang="zh-CN" altLang="en-US" b="1" dirty="0">
                <a:solidFill>
                  <a:srgbClr val="000000"/>
                </a:solidFill>
              </a:rPr>
              <a:t>数量不够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20400" y="492540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业务人员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r>
              <a:rPr kumimoji="1" lang="zh-CN" altLang="en-US" b="1" dirty="0">
                <a:solidFill>
                  <a:srgbClr val="000000"/>
                </a:solidFill>
              </a:rPr>
              <a:t>管理不够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770738" y="370658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新网点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策略不对</a:t>
            </a:r>
          </a:p>
        </p:txBody>
      </p:sp>
      <p:sp>
        <p:nvSpPr>
          <p:cNvPr id="20" name="圆角矩形 25"/>
          <p:cNvSpPr/>
          <p:nvPr/>
        </p:nvSpPr>
        <p:spPr>
          <a:xfrm>
            <a:off x="2060476" y="3901722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1" name="圆角矩形 26"/>
          <p:cNvSpPr/>
          <p:nvPr/>
        </p:nvSpPr>
        <p:spPr>
          <a:xfrm>
            <a:off x="4010814" y="3891762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圆角矩形 27"/>
          <p:cNvSpPr/>
          <p:nvPr/>
        </p:nvSpPr>
        <p:spPr>
          <a:xfrm>
            <a:off x="2060476" y="2928460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圆角矩形 25"/>
          <p:cNvSpPr/>
          <p:nvPr/>
        </p:nvSpPr>
        <p:spPr>
          <a:xfrm>
            <a:off x="6525915" y="5437342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圆角矩形 27"/>
          <p:cNvSpPr/>
          <p:nvPr/>
        </p:nvSpPr>
        <p:spPr>
          <a:xfrm>
            <a:off x="6513582" y="466028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702522" y="355292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核心网点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数量不够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740816" y="507649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核心网点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销量不够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462072" y="355292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中小网点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产出不够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500366" y="509640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</a:rPr>
              <a:t>中小网点</a:t>
            </a:r>
            <a:endParaRPr kumimoji="1" lang="en-US" altLang="zh-CN" b="1" dirty="0">
              <a:solidFill>
                <a:srgbClr val="000000"/>
              </a:solidFill>
            </a:endParaRPr>
          </a:p>
          <a:p>
            <a:r>
              <a:rPr kumimoji="1" lang="zh-CN" altLang="en-US" b="1" dirty="0">
                <a:solidFill>
                  <a:srgbClr val="000000"/>
                </a:solidFill>
              </a:rPr>
              <a:t>维护不够</a:t>
            </a:r>
          </a:p>
        </p:txBody>
      </p:sp>
      <p:sp>
        <p:nvSpPr>
          <p:cNvPr id="46" name="圆角矩形 25"/>
          <p:cNvSpPr/>
          <p:nvPr/>
        </p:nvSpPr>
        <p:spPr>
          <a:xfrm>
            <a:off x="8988309" y="5271625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圆角矩形 27"/>
          <p:cNvSpPr/>
          <p:nvPr/>
        </p:nvSpPr>
        <p:spPr>
          <a:xfrm>
            <a:off x="8950015" y="3758014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8" name="圆角矩形 25"/>
          <p:cNvSpPr/>
          <p:nvPr/>
        </p:nvSpPr>
        <p:spPr>
          <a:xfrm>
            <a:off x="10747860" y="5271625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9" name="圆角矩形 27"/>
          <p:cNvSpPr/>
          <p:nvPr/>
        </p:nvSpPr>
        <p:spPr>
          <a:xfrm>
            <a:off x="10709566" y="3758014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圆角矩形 25"/>
          <p:cNvSpPr/>
          <p:nvPr/>
        </p:nvSpPr>
        <p:spPr>
          <a:xfrm>
            <a:off x="2060476" y="5110578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20400" y="272336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没有区域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网点数据</a:t>
            </a:r>
          </a:p>
        </p:txBody>
      </p:sp>
      <p:sp>
        <p:nvSpPr>
          <p:cNvPr id="52" name="圆角矩形 26"/>
          <p:cNvSpPr/>
          <p:nvPr/>
        </p:nvSpPr>
        <p:spPr>
          <a:xfrm>
            <a:off x="6513582" y="3768259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107372" y="525216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动销不够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4988518" y="272326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没有客户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活跃数据</a:t>
            </a:r>
          </a:p>
        </p:txBody>
      </p:sp>
      <p:sp>
        <p:nvSpPr>
          <p:cNvPr id="55" name="圆角矩形 26"/>
          <p:cNvSpPr/>
          <p:nvPr/>
        </p:nvSpPr>
        <p:spPr>
          <a:xfrm>
            <a:off x="6525915" y="2908444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434311" y="272234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没有网点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</a:rPr>
              <a:t>产出数据</a:t>
            </a:r>
          </a:p>
        </p:txBody>
      </p:sp>
      <p:sp>
        <p:nvSpPr>
          <p:cNvPr id="57" name="圆角矩形 26"/>
          <p:cNvSpPr/>
          <p:nvPr/>
        </p:nvSpPr>
        <p:spPr>
          <a:xfrm>
            <a:off x="9971708" y="2908444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589837" y="3584393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589837" y="4803209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4936689" y="4206401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9322574" y="4798273"/>
            <a:ext cx="2041403" cy="1068779"/>
          </a:xfrm>
          <a:prstGeom prst="ellipse">
            <a:avLst/>
          </a:prstGeom>
          <a:noFill/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012951" y="88397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网点缺乏服务力和执行力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51283" y="3278564"/>
            <a:ext cx="4423719" cy="87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业务人员“撒芝麻面”式服务，缺乏针对性，网点服务质量、黏性得不到维护</a:t>
            </a:r>
            <a:endParaRPr lang="en-US" altLang="zh-CN" sz="1800" dirty="0"/>
          </a:p>
        </p:txBody>
      </p:sp>
      <p:sp>
        <p:nvSpPr>
          <p:cNvPr id="6" name="文本框 5"/>
          <p:cNvSpPr txBox="1"/>
          <p:nvPr/>
        </p:nvSpPr>
        <p:spPr>
          <a:xfrm>
            <a:off x="7069705" y="3278564"/>
            <a:ext cx="4423719" cy="87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客户满意度、活跃度下降，核心客户产出、中坚客户群的贡献不稳定</a:t>
            </a:r>
            <a:endParaRPr lang="en-US" altLang="zh-CN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2594544" y="252929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现象：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64302" y="26405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风险：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92459" y="531658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网点执行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16092" y="9180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渠道精耕</a:t>
            </a:r>
            <a:r>
              <a:rPr lang="en-US" altLang="zh-CN" b="1" dirty="0"/>
              <a:t>——</a:t>
            </a:r>
            <a:r>
              <a:rPr lang="zh-CN" altLang="en-US" b="1" dirty="0"/>
              <a:t>经营自检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22951" y="130101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网点管理执行不到位</a:t>
            </a:r>
          </a:p>
        </p:txBody>
      </p:sp>
      <p:sp>
        <p:nvSpPr>
          <p:cNvPr id="22" name="箭头: 下 18"/>
          <p:cNvSpPr/>
          <p:nvPr/>
        </p:nvSpPr>
        <p:spPr>
          <a:xfrm>
            <a:off x="5038918" y="4496273"/>
            <a:ext cx="1943595" cy="558140"/>
          </a:xfrm>
          <a:prstGeom prst="downArrow">
            <a:avLst/>
          </a:prstGeom>
          <a:solidFill>
            <a:schemeClr val="accent2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456716" y="45588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解决方法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5732" y="419949"/>
            <a:ext cx="5009705" cy="633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分销渠道精耕 </a:t>
            </a:r>
            <a:r>
              <a:rPr kumimoji="1"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——</a:t>
            </a:r>
            <a:r>
              <a:rPr kumimoji="1"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目标制定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507451"/>
              </p:ext>
            </p:extLst>
          </p:nvPr>
        </p:nvGraphicFramePr>
        <p:xfrm>
          <a:off x="1018330" y="1842426"/>
          <a:ext cx="10340535" cy="3885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3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0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6325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</a:rPr>
                        <a:t>2026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年</a:t>
                      </a:r>
                      <a:endParaRPr lang="en-US" altLang="zh-CN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销售额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sym typeface="+mn-ea"/>
                        </a:rPr>
                        <a:t>2026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sym typeface="+mn-ea"/>
                        </a:rPr>
                        <a:t>年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sym typeface="+mn-ea"/>
                        </a:rPr>
                        <a:t>1-3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sym typeface="+mn-ea"/>
                        </a:rPr>
                        <a:t>月销售额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年</a:t>
                      </a:r>
                      <a:endParaRPr lang="en-US" altLang="zh-CN" b="1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销售额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503">
                <a:tc gridSpan="7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改善指标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当前数值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改善目标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覆盖网点数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网点活跃率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平均单店产出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975" y="3795566"/>
            <a:ext cx="10382051" cy="452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000" b="1">
                <a:solidFill>
                  <a:srgbClr val="C00000"/>
                </a:solidFill>
                <a:latin typeface="Helvetica Neue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建立不同终端的产品组合与销售政策，</a:t>
            </a:r>
            <a:r>
              <a:rPr lang="zh-CN" altLang="en-US" sz="2000" dirty="0"/>
              <a:t>避免冲突制约单产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56336" y="4401395"/>
            <a:ext cx="9679329" cy="452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000" b="1">
                <a:solidFill>
                  <a:srgbClr val="C00000"/>
                </a:solidFill>
                <a:latin typeface="Helvetica Neue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给业务员明确的引导，</a:t>
            </a:r>
            <a:r>
              <a:rPr lang="zh-CN" altLang="en-US" sz="2000" dirty="0"/>
              <a:t>确保每周每月服务到位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6092" y="9180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网点精准分级的目标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45733" y="2416103"/>
            <a:ext cx="10341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</a:rPr>
              <a:t>网点分级，是为了更好帮助我们精细化管理网点！</a:t>
            </a:r>
          </a:p>
        </p:txBody>
      </p:sp>
      <p:sp>
        <p:nvSpPr>
          <p:cNvPr id="10" name="矩形 9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1" name="矩形 10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2" name="矩形 11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3" name="矩形 12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5027" y="2037144"/>
            <a:ext cx="4632557" cy="4236557"/>
            <a:chOff x="577932" y="3144036"/>
            <a:chExt cx="2759034" cy="275380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209" y="3330160"/>
              <a:ext cx="2318401" cy="23184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" name="直接箭头连接符 1"/>
            <p:cNvCxnSpPr/>
            <p:nvPr/>
          </p:nvCxnSpPr>
          <p:spPr>
            <a:xfrm flipV="1">
              <a:off x="1999498" y="3330390"/>
              <a:ext cx="0" cy="2318401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接箭头连接符 46"/>
            <p:cNvCxnSpPr/>
            <p:nvPr/>
          </p:nvCxnSpPr>
          <p:spPr>
            <a:xfrm>
              <a:off x="856080" y="4489413"/>
              <a:ext cx="2318401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648260" y="5717789"/>
              <a:ext cx="680489" cy="18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网点销量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77932" y="4169039"/>
              <a:ext cx="220579" cy="540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我司销量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23743" y="3876892"/>
              <a:ext cx="964507" cy="35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网点总销量高，我司销量低</a:t>
              </a:r>
              <a:endPara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97604" y="3468249"/>
              <a:ext cx="797372" cy="24007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重点提升型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092354" y="3876892"/>
              <a:ext cx="1034991" cy="35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网点总销量高，我司销量份额高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260539" y="3468249"/>
              <a:ext cx="522416" cy="24007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控盘型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23743" y="4773064"/>
              <a:ext cx="964507" cy="35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网点总销量低，我司销量低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25844" y="5235939"/>
              <a:ext cx="522416" cy="24007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谨慎型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092356" y="4773064"/>
              <a:ext cx="1034987" cy="35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网点总销量低，我司销量份额高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60539" y="5235939"/>
              <a:ext cx="522416" cy="24007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维持型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07301" y="4502865"/>
              <a:ext cx="297020" cy="18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166305" y="4379223"/>
              <a:ext cx="170661" cy="18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851846" y="3188291"/>
              <a:ext cx="297020" cy="18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922552" y="5524946"/>
              <a:ext cx="297020" cy="18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</a:p>
          </p:txBody>
        </p:sp>
        <p:sp>
          <p:nvSpPr>
            <p:cNvPr id="20" name="Freeform 36"/>
            <p:cNvSpPr>
              <a:spLocks noEditPoints="1"/>
            </p:cNvSpPr>
            <p:nvPr/>
          </p:nvSpPr>
          <p:spPr bwMode="auto">
            <a:xfrm>
              <a:off x="1785024" y="4271909"/>
              <a:ext cx="183032" cy="198284"/>
            </a:xfrm>
            <a:custGeom>
              <a:avLst/>
              <a:gdLst>
                <a:gd name="T0" fmla="*/ 67 w 120"/>
                <a:gd name="T1" fmla="*/ 53 h 121"/>
                <a:gd name="T2" fmla="*/ 67 w 120"/>
                <a:gd name="T3" fmla="*/ 26 h 121"/>
                <a:gd name="T4" fmla="*/ 53 w 120"/>
                <a:gd name="T5" fmla="*/ 26 h 121"/>
                <a:gd name="T6" fmla="*/ 53 w 120"/>
                <a:gd name="T7" fmla="*/ 53 h 121"/>
                <a:gd name="T8" fmla="*/ 27 w 120"/>
                <a:gd name="T9" fmla="*/ 53 h 121"/>
                <a:gd name="T10" fmla="*/ 27 w 120"/>
                <a:gd name="T11" fmla="*/ 68 h 121"/>
                <a:gd name="T12" fmla="*/ 53 w 120"/>
                <a:gd name="T13" fmla="*/ 68 h 121"/>
                <a:gd name="T14" fmla="*/ 53 w 120"/>
                <a:gd name="T15" fmla="*/ 94 h 121"/>
                <a:gd name="T16" fmla="*/ 67 w 120"/>
                <a:gd name="T17" fmla="*/ 94 h 121"/>
                <a:gd name="T18" fmla="*/ 67 w 120"/>
                <a:gd name="T19" fmla="*/ 68 h 121"/>
                <a:gd name="T20" fmla="*/ 93 w 120"/>
                <a:gd name="T21" fmla="*/ 68 h 121"/>
                <a:gd name="T22" fmla="*/ 93 w 120"/>
                <a:gd name="T23" fmla="*/ 53 h 121"/>
                <a:gd name="T24" fmla="*/ 67 w 120"/>
                <a:gd name="T25" fmla="*/ 53 h 121"/>
                <a:gd name="T26" fmla="*/ 60 w 120"/>
                <a:gd name="T27" fmla="*/ 0 h 121"/>
                <a:gd name="T28" fmla="*/ 0 w 120"/>
                <a:gd name="T29" fmla="*/ 61 h 121"/>
                <a:gd name="T30" fmla="*/ 60 w 120"/>
                <a:gd name="T31" fmla="*/ 121 h 121"/>
                <a:gd name="T32" fmla="*/ 120 w 120"/>
                <a:gd name="T33" fmla="*/ 61 h 121"/>
                <a:gd name="T34" fmla="*/ 60 w 120"/>
                <a:gd name="T35" fmla="*/ 0 h 121"/>
                <a:gd name="T36" fmla="*/ 60 w 120"/>
                <a:gd name="T37" fmla="*/ 107 h 121"/>
                <a:gd name="T38" fmla="*/ 13 w 120"/>
                <a:gd name="T39" fmla="*/ 61 h 121"/>
                <a:gd name="T40" fmla="*/ 60 w 120"/>
                <a:gd name="T41" fmla="*/ 14 h 121"/>
                <a:gd name="T42" fmla="*/ 107 w 120"/>
                <a:gd name="T43" fmla="*/ 61 h 121"/>
                <a:gd name="T44" fmla="*/ 60 w 120"/>
                <a:gd name="T45" fmla="*/ 10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21">
                  <a:moveTo>
                    <a:pt x="67" y="53"/>
                  </a:moveTo>
                  <a:cubicBezTo>
                    <a:pt x="67" y="26"/>
                    <a:pt x="67" y="26"/>
                    <a:pt x="67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53" y="68"/>
                    <a:pt x="53" y="68"/>
                    <a:pt x="53" y="68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93" y="68"/>
                    <a:pt x="93" y="68"/>
                    <a:pt x="93" y="68"/>
                  </a:cubicBezTo>
                  <a:cubicBezTo>
                    <a:pt x="93" y="53"/>
                    <a:pt x="93" y="53"/>
                    <a:pt x="93" y="53"/>
                  </a:cubicBezTo>
                  <a:lnTo>
                    <a:pt x="67" y="53"/>
                  </a:lnTo>
                  <a:close/>
                  <a:moveTo>
                    <a:pt x="60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4"/>
                    <a:pt x="27" y="121"/>
                    <a:pt x="60" y="121"/>
                  </a:cubicBezTo>
                  <a:cubicBezTo>
                    <a:pt x="93" y="121"/>
                    <a:pt x="120" y="94"/>
                    <a:pt x="120" y="61"/>
                  </a:cubicBezTo>
                  <a:cubicBezTo>
                    <a:pt x="120" y="27"/>
                    <a:pt x="93" y="0"/>
                    <a:pt x="60" y="0"/>
                  </a:cubicBezTo>
                  <a:close/>
                  <a:moveTo>
                    <a:pt x="60" y="107"/>
                  </a:moveTo>
                  <a:cubicBezTo>
                    <a:pt x="34" y="107"/>
                    <a:pt x="13" y="86"/>
                    <a:pt x="13" y="61"/>
                  </a:cubicBezTo>
                  <a:cubicBezTo>
                    <a:pt x="13" y="35"/>
                    <a:pt x="34" y="14"/>
                    <a:pt x="60" y="14"/>
                  </a:cubicBezTo>
                  <a:cubicBezTo>
                    <a:pt x="86" y="14"/>
                    <a:pt x="107" y="35"/>
                    <a:pt x="107" y="61"/>
                  </a:cubicBezTo>
                  <a:cubicBezTo>
                    <a:pt x="107" y="86"/>
                    <a:pt x="86" y="107"/>
                    <a:pt x="60" y="107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2055204" y="4509570"/>
              <a:ext cx="213537" cy="183032"/>
              <a:chOff x="555625" y="2511425"/>
              <a:chExt cx="819150" cy="688976"/>
            </a:xfrm>
            <a:solidFill>
              <a:srgbClr val="C00000"/>
            </a:solidFill>
          </p:grpSpPr>
          <p:sp>
            <p:nvSpPr>
              <p:cNvPr id="25" name="Freeform 172"/>
              <p:cNvSpPr/>
              <p:nvPr/>
            </p:nvSpPr>
            <p:spPr bwMode="auto">
              <a:xfrm>
                <a:off x="555625" y="2622550"/>
                <a:ext cx="544513" cy="365125"/>
              </a:xfrm>
              <a:custGeom>
                <a:avLst/>
                <a:gdLst>
                  <a:gd name="T0" fmla="*/ 343 w 343"/>
                  <a:gd name="T1" fmla="*/ 0 h 230"/>
                  <a:gd name="T2" fmla="*/ 0 w 343"/>
                  <a:gd name="T3" fmla="*/ 47 h 230"/>
                  <a:gd name="T4" fmla="*/ 33 w 343"/>
                  <a:gd name="T5" fmla="*/ 230 h 230"/>
                  <a:gd name="T6" fmla="*/ 261 w 343"/>
                  <a:gd name="T7" fmla="*/ 230 h 230"/>
                  <a:gd name="T8" fmla="*/ 343 w 343"/>
                  <a:gd name="T9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3" h="230">
                    <a:moveTo>
                      <a:pt x="343" y="0"/>
                    </a:moveTo>
                    <a:lnTo>
                      <a:pt x="0" y="47"/>
                    </a:lnTo>
                    <a:lnTo>
                      <a:pt x="33" y="230"/>
                    </a:lnTo>
                    <a:lnTo>
                      <a:pt x="261" y="230"/>
                    </a:lnTo>
                    <a:lnTo>
                      <a:pt x="3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400"/>
              </a:p>
            </p:txBody>
          </p:sp>
          <p:sp>
            <p:nvSpPr>
              <p:cNvPr id="26" name="Freeform 173"/>
              <p:cNvSpPr/>
              <p:nvPr/>
            </p:nvSpPr>
            <p:spPr bwMode="auto">
              <a:xfrm>
                <a:off x="619125" y="2511425"/>
                <a:ext cx="755650" cy="557213"/>
              </a:xfrm>
              <a:custGeom>
                <a:avLst/>
                <a:gdLst>
                  <a:gd name="T0" fmla="*/ 290 w 299"/>
                  <a:gd name="T1" fmla="*/ 0 h 221"/>
                  <a:gd name="T2" fmla="*/ 231 w 299"/>
                  <a:gd name="T3" fmla="*/ 0 h 221"/>
                  <a:gd name="T4" fmla="*/ 231 w 299"/>
                  <a:gd name="T5" fmla="*/ 0 h 221"/>
                  <a:gd name="T6" fmla="*/ 229 w 299"/>
                  <a:gd name="T7" fmla="*/ 1 h 221"/>
                  <a:gd name="T8" fmla="*/ 228 w 299"/>
                  <a:gd name="T9" fmla="*/ 1 h 221"/>
                  <a:gd name="T10" fmla="*/ 226 w 299"/>
                  <a:gd name="T11" fmla="*/ 2 h 221"/>
                  <a:gd name="T12" fmla="*/ 225 w 299"/>
                  <a:gd name="T13" fmla="*/ 3 h 221"/>
                  <a:gd name="T14" fmla="*/ 224 w 299"/>
                  <a:gd name="T15" fmla="*/ 4 h 221"/>
                  <a:gd name="T16" fmla="*/ 223 w 299"/>
                  <a:gd name="T17" fmla="*/ 6 h 221"/>
                  <a:gd name="T18" fmla="*/ 223 w 299"/>
                  <a:gd name="T19" fmla="*/ 6 h 221"/>
                  <a:gd name="T20" fmla="*/ 151 w 299"/>
                  <a:gd name="T21" fmla="*/ 203 h 221"/>
                  <a:gd name="T22" fmla="*/ 9 w 299"/>
                  <a:gd name="T23" fmla="*/ 203 h 221"/>
                  <a:gd name="T24" fmla="*/ 0 w 299"/>
                  <a:gd name="T25" fmla="*/ 212 h 221"/>
                  <a:gd name="T26" fmla="*/ 9 w 299"/>
                  <a:gd name="T27" fmla="*/ 221 h 221"/>
                  <a:gd name="T28" fmla="*/ 157 w 299"/>
                  <a:gd name="T29" fmla="*/ 221 h 221"/>
                  <a:gd name="T30" fmla="*/ 160 w 299"/>
                  <a:gd name="T31" fmla="*/ 220 h 221"/>
                  <a:gd name="T32" fmla="*/ 161 w 299"/>
                  <a:gd name="T33" fmla="*/ 220 h 221"/>
                  <a:gd name="T34" fmla="*/ 163 w 299"/>
                  <a:gd name="T35" fmla="*/ 218 h 221"/>
                  <a:gd name="T36" fmla="*/ 163 w 299"/>
                  <a:gd name="T37" fmla="*/ 218 h 221"/>
                  <a:gd name="T38" fmla="*/ 165 w 299"/>
                  <a:gd name="T39" fmla="*/ 216 h 221"/>
                  <a:gd name="T40" fmla="*/ 165 w 299"/>
                  <a:gd name="T41" fmla="*/ 215 h 221"/>
                  <a:gd name="T42" fmla="*/ 165 w 299"/>
                  <a:gd name="T43" fmla="*/ 215 h 221"/>
                  <a:gd name="T44" fmla="*/ 238 w 299"/>
                  <a:gd name="T45" fmla="*/ 18 h 221"/>
                  <a:gd name="T46" fmla="*/ 290 w 299"/>
                  <a:gd name="T47" fmla="*/ 18 h 221"/>
                  <a:gd name="T48" fmla="*/ 299 w 299"/>
                  <a:gd name="T49" fmla="*/ 9 h 221"/>
                  <a:gd name="T50" fmla="*/ 290 w 299"/>
                  <a:gd name="T51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9" h="221">
                    <a:moveTo>
                      <a:pt x="290" y="0"/>
                    </a:moveTo>
                    <a:cubicBezTo>
                      <a:pt x="231" y="0"/>
                      <a:pt x="231" y="0"/>
                      <a:pt x="231" y="0"/>
                    </a:cubicBezTo>
                    <a:cubicBezTo>
                      <a:pt x="231" y="0"/>
                      <a:pt x="231" y="0"/>
                      <a:pt x="231" y="0"/>
                    </a:cubicBezTo>
                    <a:cubicBezTo>
                      <a:pt x="231" y="0"/>
                      <a:pt x="230" y="0"/>
                      <a:pt x="229" y="1"/>
                    </a:cubicBezTo>
                    <a:cubicBezTo>
                      <a:pt x="229" y="1"/>
                      <a:pt x="228" y="1"/>
                      <a:pt x="228" y="1"/>
                    </a:cubicBezTo>
                    <a:cubicBezTo>
                      <a:pt x="227" y="1"/>
                      <a:pt x="227" y="2"/>
                      <a:pt x="226" y="2"/>
                    </a:cubicBezTo>
                    <a:cubicBezTo>
                      <a:pt x="226" y="2"/>
                      <a:pt x="225" y="2"/>
                      <a:pt x="225" y="3"/>
                    </a:cubicBezTo>
                    <a:cubicBezTo>
                      <a:pt x="225" y="3"/>
                      <a:pt x="224" y="4"/>
                      <a:pt x="224" y="4"/>
                    </a:cubicBezTo>
                    <a:cubicBezTo>
                      <a:pt x="224" y="5"/>
                      <a:pt x="223" y="5"/>
                      <a:pt x="223" y="6"/>
                    </a:cubicBezTo>
                    <a:cubicBezTo>
                      <a:pt x="223" y="6"/>
                      <a:pt x="223" y="6"/>
                      <a:pt x="223" y="6"/>
                    </a:cubicBezTo>
                    <a:cubicBezTo>
                      <a:pt x="151" y="203"/>
                      <a:pt x="151" y="203"/>
                      <a:pt x="151" y="203"/>
                    </a:cubicBezTo>
                    <a:cubicBezTo>
                      <a:pt x="9" y="203"/>
                      <a:pt x="9" y="203"/>
                      <a:pt x="9" y="203"/>
                    </a:cubicBezTo>
                    <a:cubicBezTo>
                      <a:pt x="4" y="203"/>
                      <a:pt x="0" y="207"/>
                      <a:pt x="0" y="212"/>
                    </a:cubicBezTo>
                    <a:cubicBezTo>
                      <a:pt x="0" y="217"/>
                      <a:pt x="4" y="221"/>
                      <a:pt x="9" y="221"/>
                    </a:cubicBezTo>
                    <a:cubicBezTo>
                      <a:pt x="157" y="221"/>
                      <a:pt x="157" y="221"/>
                      <a:pt x="157" y="221"/>
                    </a:cubicBezTo>
                    <a:cubicBezTo>
                      <a:pt x="158" y="221"/>
                      <a:pt x="159" y="221"/>
                      <a:pt x="160" y="220"/>
                    </a:cubicBezTo>
                    <a:cubicBezTo>
                      <a:pt x="161" y="220"/>
                      <a:pt x="161" y="220"/>
                      <a:pt x="161" y="220"/>
                    </a:cubicBezTo>
                    <a:cubicBezTo>
                      <a:pt x="162" y="219"/>
                      <a:pt x="162" y="219"/>
                      <a:pt x="163" y="218"/>
                    </a:cubicBezTo>
                    <a:cubicBezTo>
                      <a:pt x="163" y="218"/>
                      <a:pt x="163" y="218"/>
                      <a:pt x="163" y="218"/>
                    </a:cubicBezTo>
                    <a:cubicBezTo>
                      <a:pt x="164" y="217"/>
                      <a:pt x="164" y="217"/>
                      <a:pt x="165" y="216"/>
                    </a:cubicBezTo>
                    <a:cubicBezTo>
                      <a:pt x="165" y="215"/>
                      <a:pt x="165" y="215"/>
                      <a:pt x="165" y="215"/>
                    </a:cubicBezTo>
                    <a:cubicBezTo>
                      <a:pt x="165" y="215"/>
                      <a:pt x="165" y="215"/>
                      <a:pt x="165" y="215"/>
                    </a:cubicBezTo>
                    <a:cubicBezTo>
                      <a:pt x="238" y="18"/>
                      <a:pt x="238" y="18"/>
                      <a:pt x="238" y="18"/>
                    </a:cubicBezTo>
                    <a:cubicBezTo>
                      <a:pt x="290" y="18"/>
                      <a:pt x="290" y="18"/>
                      <a:pt x="290" y="18"/>
                    </a:cubicBezTo>
                    <a:cubicBezTo>
                      <a:pt x="295" y="18"/>
                      <a:pt x="299" y="14"/>
                      <a:pt x="299" y="9"/>
                    </a:cubicBezTo>
                    <a:cubicBezTo>
                      <a:pt x="299" y="4"/>
                      <a:pt x="295" y="0"/>
                      <a:pt x="29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400"/>
              </a:p>
            </p:txBody>
          </p:sp>
          <p:sp>
            <p:nvSpPr>
              <p:cNvPr id="27" name="Oval 174"/>
              <p:cNvSpPr>
                <a:spLocks noChangeArrowheads="1"/>
              </p:cNvSpPr>
              <p:nvPr/>
            </p:nvSpPr>
            <p:spPr bwMode="auto">
              <a:xfrm>
                <a:off x="644525" y="3097213"/>
                <a:ext cx="103188" cy="1031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400"/>
              </a:p>
            </p:txBody>
          </p:sp>
          <p:sp>
            <p:nvSpPr>
              <p:cNvPr id="28" name="Oval 175"/>
              <p:cNvSpPr>
                <a:spLocks noChangeArrowheads="1"/>
              </p:cNvSpPr>
              <p:nvPr/>
            </p:nvSpPr>
            <p:spPr bwMode="auto">
              <a:xfrm>
                <a:off x="917575" y="3097213"/>
                <a:ext cx="103188" cy="1031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400"/>
              </a:p>
            </p:txBody>
          </p:sp>
        </p:grpSp>
        <p:sp>
          <p:nvSpPr>
            <p:cNvPr id="22" name="Freeform 63"/>
            <p:cNvSpPr>
              <a:spLocks noChangeAspect="1" noEditPoints="1"/>
            </p:cNvSpPr>
            <p:nvPr/>
          </p:nvSpPr>
          <p:spPr bwMode="auto">
            <a:xfrm>
              <a:off x="2053212" y="4272120"/>
              <a:ext cx="161145" cy="183032"/>
            </a:xfrm>
            <a:custGeom>
              <a:avLst/>
              <a:gdLst>
                <a:gd name="T0" fmla="*/ 319 w 352"/>
                <a:gd name="T1" fmla="*/ 209 h 400"/>
                <a:gd name="T2" fmla="*/ 238 w 352"/>
                <a:gd name="T3" fmla="*/ 134 h 400"/>
                <a:gd name="T4" fmla="*/ 251 w 352"/>
                <a:gd name="T5" fmla="*/ 134 h 400"/>
                <a:gd name="T6" fmla="*/ 313 w 352"/>
                <a:gd name="T7" fmla="*/ 114 h 400"/>
                <a:gd name="T8" fmla="*/ 283 w 352"/>
                <a:gd name="T9" fmla="*/ 96 h 400"/>
                <a:gd name="T10" fmla="*/ 292 w 352"/>
                <a:gd name="T11" fmla="*/ 82 h 400"/>
                <a:gd name="T12" fmla="*/ 289 w 352"/>
                <a:gd name="T13" fmla="*/ 75 h 400"/>
                <a:gd name="T14" fmla="*/ 237 w 352"/>
                <a:gd name="T15" fmla="*/ 97 h 400"/>
                <a:gd name="T16" fmla="*/ 231 w 352"/>
                <a:gd name="T17" fmla="*/ 16 h 400"/>
                <a:gd name="T18" fmla="*/ 142 w 352"/>
                <a:gd name="T19" fmla="*/ 17 h 400"/>
                <a:gd name="T20" fmla="*/ 136 w 352"/>
                <a:gd name="T21" fmla="*/ 108 h 400"/>
                <a:gd name="T22" fmla="*/ 121 w 352"/>
                <a:gd name="T23" fmla="*/ 112 h 400"/>
                <a:gd name="T24" fmla="*/ 111 w 352"/>
                <a:gd name="T25" fmla="*/ 119 h 400"/>
                <a:gd name="T26" fmla="*/ 127 w 352"/>
                <a:gd name="T27" fmla="*/ 130 h 400"/>
                <a:gd name="T28" fmla="*/ 34 w 352"/>
                <a:gd name="T29" fmla="*/ 214 h 400"/>
                <a:gd name="T30" fmla="*/ 149 w 352"/>
                <a:gd name="T31" fmla="*/ 391 h 400"/>
                <a:gd name="T32" fmla="*/ 343 w 352"/>
                <a:gd name="T33" fmla="*/ 268 h 400"/>
                <a:gd name="T34" fmla="*/ 303 w 352"/>
                <a:gd name="T35" fmla="*/ 109 h 400"/>
                <a:gd name="T36" fmla="*/ 251 w 352"/>
                <a:gd name="T37" fmla="*/ 123 h 400"/>
                <a:gd name="T38" fmla="*/ 243 w 352"/>
                <a:gd name="T39" fmla="*/ 122 h 400"/>
                <a:gd name="T40" fmla="*/ 280 w 352"/>
                <a:gd name="T41" fmla="*/ 85 h 400"/>
                <a:gd name="T42" fmla="*/ 239 w 352"/>
                <a:gd name="T43" fmla="*/ 111 h 400"/>
                <a:gd name="T44" fmla="*/ 280 w 352"/>
                <a:gd name="T45" fmla="*/ 85 h 400"/>
                <a:gd name="T46" fmla="*/ 218 w 352"/>
                <a:gd name="T47" fmla="*/ 315 h 400"/>
                <a:gd name="T48" fmla="*/ 183 w 352"/>
                <a:gd name="T49" fmla="*/ 326 h 400"/>
                <a:gd name="T50" fmla="*/ 169 w 352"/>
                <a:gd name="T51" fmla="*/ 344 h 400"/>
                <a:gd name="T52" fmla="*/ 147 w 352"/>
                <a:gd name="T53" fmla="*/ 322 h 400"/>
                <a:gd name="T54" fmla="*/ 122 w 352"/>
                <a:gd name="T55" fmla="*/ 300 h 400"/>
                <a:gd name="T56" fmla="*/ 155 w 352"/>
                <a:gd name="T57" fmla="*/ 280 h 400"/>
                <a:gd name="T58" fmla="*/ 169 w 352"/>
                <a:gd name="T59" fmla="*/ 301 h 400"/>
                <a:gd name="T60" fmla="*/ 142 w 352"/>
                <a:gd name="T61" fmla="*/ 258 h 400"/>
                <a:gd name="T62" fmla="*/ 122 w 352"/>
                <a:gd name="T63" fmla="*/ 225 h 400"/>
                <a:gd name="T64" fmla="*/ 169 w 352"/>
                <a:gd name="T65" fmla="*/ 184 h 400"/>
                <a:gd name="T66" fmla="*/ 183 w 352"/>
                <a:gd name="T67" fmla="*/ 175 h 400"/>
                <a:gd name="T68" fmla="*/ 215 w 352"/>
                <a:gd name="T69" fmla="*/ 194 h 400"/>
                <a:gd name="T70" fmla="*/ 195 w 352"/>
                <a:gd name="T71" fmla="*/ 223 h 400"/>
                <a:gd name="T72" fmla="*/ 183 w 352"/>
                <a:gd name="T73" fmla="*/ 209 h 400"/>
                <a:gd name="T74" fmla="*/ 221 w 352"/>
                <a:gd name="T75" fmla="*/ 252 h 400"/>
                <a:gd name="T76" fmla="*/ 230 w 352"/>
                <a:gd name="T77" fmla="*/ 301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2" h="400">
                  <a:moveTo>
                    <a:pt x="343" y="268"/>
                  </a:moveTo>
                  <a:cubicBezTo>
                    <a:pt x="339" y="245"/>
                    <a:pt x="331" y="231"/>
                    <a:pt x="319" y="209"/>
                  </a:cubicBezTo>
                  <a:cubicBezTo>
                    <a:pt x="308" y="192"/>
                    <a:pt x="288" y="172"/>
                    <a:pt x="273" y="160"/>
                  </a:cubicBezTo>
                  <a:cubicBezTo>
                    <a:pt x="262" y="151"/>
                    <a:pt x="249" y="143"/>
                    <a:pt x="238" y="134"/>
                  </a:cubicBezTo>
                  <a:cubicBezTo>
                    <a:pt x="241" y="134"/>
                    <a:pt x="241" y="134"/>
                    <a:pt x="241" y="134"/>
                  </a:cubicBezTo>
                  <a:cubicBezTo>
                    <a:pt x="251" y="134"/>
                    <a:pt x="251" y="134"/>
                    <a:pt x="251" y="134"/>
                  </a:cubicBezTo>
                  <a:cubicBezTo>
                    <a:pt x="258" y="134"/>
                    <a:pt x="266" y="134"/>
                    <a:pt x="274" y="133"/>
                  </a:cubicBezTo>
                  <a:cubicBezTo>
                    <a:pt x="283" y="132"/>
                    <a:pt x="306" y="128"/>
                    <a:pt x="313" y="114"/>
                  </a:cubicBezTo>
                  <a:cubicBezTo>
                    <a:pt x="318" y="104"/>
                    <a:pt x="314" y="99"/>
                    <a:pt x="311" y="97"/>
                  </a:cubicBezTo>
                  <a:cubicBezTo>
                    <a:pt x="306" y="93"/>
                    <a:pt x="295" y="94"/>
                    <a:pt x="283" y="96"/>
                  </a:cubicBezTo>
                  <a:cubicBezTo>
                    <a:pt x="288" y="92"/>
                    <a:pt x="291" y="88"/>
                    <a:pt x="292" y="84"/>
                  </a:cubicBezTo>
                  <a:cubicBezTo>
                    <a:pt x="292" y="84"/>
                    <a:pt x="292" y="83"/>
                    <a:pt x="292" y="82"/>
                  </a:cubicBezTo>
                  <a:cubicBezTo>
                    <a:pt x="292" y="80"/>
                    <a:pt x="292" y="78"/>
                    <a:pt x="290" y="76"/>
                  </a:cubicBezTo>
                  <a:cubicBezTo>
                    <a:pt x="289" y="75"/>
                    <a:pt x="289" y="75"/>
                    <a:pt x="289" y="75"/>
                  </a:cubicBezTo>
                  <a:cubicBezTo>
                    <a:pt x="287" y="74"/>
                    <a:pt x="287" y="74"/>
                    <a:pt x="287" y="74"/>
                  </a:cubicBezTo>
                  <a:cubicBezTo>
                    <a:pt x="272" y="72"/>
                    <a:pt x="251" y="83"/>
                    <a:pt x="237" y="97"/>
                  </a:cubicBezTo>
                  <a:cubicBezTo>
                    <a:pt x="252" y="77"/>
                    <a:pt x="280" y="51"/>
                    <a:pt x="285" y="30"/>
                  </a:cubicBezTo>
                  <a:cubicBezTo>
                    <a:pt x="266" y="29"/>
                    <a:pt x="247" y="25"/>
                    <a:pt x="231" y="16"/>
                  </a:cubicBezTo>
                  <a:cubicBezTo>
                    <a:pt x="216" y="8"/>
                    <a:pt x="209" y="0"/>
                    <a:pt x="191" y="3"/>
                  </a:cubicBezTo>
                  <a:cubicBezTo>
                    <a:pt x="174" y="5"/>
                    <a:pt x="158" y="13"/>
                    <a:pt x="142" y="17"/>
                  </a:cubicBezTo>
                  <a:cubicBezTo>
                    <a:pt x="124" y="22"/>
                    <a:pt x="108" y="15"/>
                    <a:pt x="90" y="18"/>
                  </a:cubicBezTo>
                  <a:cubicBezTo>
                    <a:pt x="87" y="49"/>
                    <a:pt x="125" y="79"/>
                    <a:pt x="136" y="108"/>
                  </a:cubicBezTo>
                  <a:cubicBezTo>
                    <a:pt x="131" y="109"/>
                    <a:pt x="126" y="110"/>
                    <a:pt x="121" y="112"/>
                  </a:cubicBezTo>
                  <a:cubicBezTo>
                    <a:pt x="121" y="112"/>
                    <a:pt x="121" y="112"/>
                    <a:pt x="121" y="112"/>
                  </a:cubicBezTo>
                  <a:cubicBezTo>
                    <a:pt x="118" y="113"/>
                    <a:pt x="115" y="114"/>
                    <a:pt x="114" y="116"/>
                  </a:cubicBezTo>
                  <a:cubicBezTo>
                    <a:pt x="111" y="119"/>
                    <a:pt x="111" y="119"/>
                    <a:pt x="111" y="119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16" y="127"/>
                    <a:pt x="120" y="129"/>
                    <a:pt x="127" y="130"/>
                  </a:cubicBezTo>
                  <a:cubicBezTo>
                    <a:pt x="113" y="139"/>
                    <a:pt x="96" y="149"/>
                    <a:pt x="84" y="159"/>
                  </a:cubicBezTo>
                  <a:cubicBezTo>
                    <a:pt x="69" y="172"/>
                    <a:pt x="46" y="198"/>
                    <a:pt x="34" y="214"/>
                  </a:cubicBezTo>
                  <a:cubicBezTo>
                    <a:pt x="13" y="240"/>
                    <a:pt x="0" y="275"/>
                    <a:pt x="6" y="307"/>
                  </a:cubicBezTo>
                  <a:cubicBezTo>
                    <a:pt x="18" y="370"/>
                    <a:pt x="92" y="391"/>
                    <a:pt x="149" y="391"/>
                  </a:cubicBezTo>
                  <a:cubicBezTo>
                    <a:pt x="212" y="391"/>
                    <a:pt x="293" y="400"/>
                    <a:pt x="335" y="348"/>
                  </a:cubicBezTo>
                  <a:cubicBezTo>
                    <a:pt x="352" y="327"/>
                    <a:pt x="347" y="295"/>
                    <a:pt x="343" y="268"/>
                  </a:cubicBezTo>
                  <a:close/>
                  <a:moveTo>
                    <a:pt x="305" y="105"/>
                  </a:moveTo>
                  <a:cubicBezTo>
                    <a:pt x="305" y="105"/>
                    <a:pt x="305" y="106"/>
                    <a:pt x="303" y="109"/>
                  </a:cubicBezTo>
                  <a:cubicBezTo>
                    <a:pt x="299" y="117"/>
                    <a:pt x="284" y="121"/>
                    <a:pt x="273" y="123"/>
                  </a:cubicBezTo>
                  <a:cubicBezTo>
                    <a:pt x="266" y="124"/>
                    <a:pt x="258" y="124"/>
                    <a:pt x="251" y="123"/>
                  </a:cubicBezTo>
                  <a:cubicBezTo>
                    <a:pt x="243" y="123"/>
                    <a:pt x="243" y="123"/>
                    <a:pt x="243" y="123"/>
                  </a:cubicBezTo>
                  <a:cubicBezTo>
                    <a:pt x="243" y="122"/>
                    <a:pt x="243" y="122"/>
                    <a:pt x="243" y="122"/>
                  </a:cubicBezTo>
                  <a:cubicBezTo>
                    <a:pt x="263" y="112"/>
                    <a:pt x="300" y="101"/>
                    <a:pt x="305" y="105"/>
                  </a:cubicBezTo>
                  <a:close/>
                  <a:moveTo>
                    <a:pt x="280" y="85"/>
                  </a:moveTo>
                  <a:cubicBezTo>
                    <a:pt x="275" y="90"/>
                    <a:pt x="260" y="99"/>
                    <a:pt x="251" y="104"/>
                  </a:cubicBezTo>
                  <a:cubicBezTo>
                    <a:pt x="247" y="106"/>
                    <a:pt x="243" y="108"/>
                    <a:pt x="239" y="111"/>
                  </a:cubicBezTo>
                  <a:cubicBezTo>
                    <a:pt x="239" y="111"/>
                    <a:pt x="239" y="111"/>
                    <a:pt x="239" y="111"/>
                  </a:cubicBezTo>
                  <a:cubicBezTo>
                    <a:pt x="249" y="98"/>
                    <a:pt x="267" y="86"/>
                    <a:pt x="280" y="85"/>
                  </a:cubicBezTo>
                  <a:close/>
                  <a:moveTo>
                    <a:pt x="230" y="301"/>
                  </a:moveTo>
                  <a:cubicBezTo>
                    <a:pt x="227" y="306"/>
                    <a:pt x="223" y="311"/>
                    <a:pt x="218" y="315"/>
                  </a:cubicBezTo>
                  <a:cubicBezTo>
                    <a:pt x="213" y="319"/>
                    <a:pt x="208" y="322"/>
                    <a:pt x="203" y="323"/>
                  </a:cubicBezTo>
                  <a:cubicBezTo>
                    <a:pt x="197" y="325"/>
                    <a:pt x="191" y="326"/>
                    <a:pt x="183" y="326"/>
                  </a:cubicBezTo>
                  <a:cubicBezTo>
                    <a:pt x="183" y="344"/>
                    <a:pt x="183" y="344"/>
                    <a:pt x="183" y="344"/>
                  </a:cubicBezTo>
                  <a:cubicBezTo>
                    <a:pt x="169" y="344"/>
                    <a:pt x="169" y="344"/>
                    <a:pt x="169" y="344"/>
                  </a:cubicBezTo>
                  <a:cubicBezTo>
                    <a:pt x="169" y="326"/>
                    <a:pt x="169" y="326"/>
                    <a:pt x="169" y="326"/>
                  </a:cubicBezTo>
                  <a:cubicBezTo>
                    <a:pt x="160" y="326"/>
                    <a:pt x="152" y="324"/>
                    <a:pt x="147" y="322"/>
                  </a:cubicBezTo>
                  <a:cubicBezTo>
                    <a:pt x="141" y="320"/>
                    <a:pt x="136" y="317"/>
                    <a:pt x="132" y="313"/>
                  </a:cubicBezTo>
                  <a:cubicBezTo>
                    <a:pt x="127" y="309"/>
                    <a:pt x="124" y="305"/>
                    <a:pt x="122" y="300"/>
                  </a:cubicBezTo>
                  <a:cubicBezTo>
                    <a:pt x="120" y="296"/>
                    <a:pt x="118" y="291"/>
                    <a:pt x="117" y="284"/>
                  </a:cubicBezTo>
                  <a:cubicBezTo>
                    <a:pt x="155" y="280"/>
                    <a:pt x="155" y="280"/>
                    <a:pt x="155" y="280"/>
                  </a:cubicBezTo>
                  <a:cubicBezTo>
                    <a:pt x="156" y="286"/>
                    <a:pt x="158" y="291"/>
                    <a:pt x="160" y="293"/>
                  </a:cubicBezTo>
                  <a:cubicBezTo>
                    <a:pt x="162" y="296"/>
                    <a:pt x="165" y="299"/>
                    <a:pt x="169" y="301"/>
                  </a:cubicBezTo>
                  <a:cubicBezTo>
                    <a:pt x="169" y="267"/>
                    <a:pt x="169" y="267"/>
                    <a:pt x="169" y="267"/>
                  </a:cubicBezTo>
                  <a:cubicBezTo>
                    <a:pt x="156" y="264"/>
                    <a:pt x="147" y="261"/>
                    <a:pt x="142" y="258"/>
                  </a:cubicBezTo>
                  <a:cubicBezTo>
                    <a:pt x="137" y="255"/>
                    <a:pt x="132" y="251"/>
                    <a:pt x="128" y="246"/>
                  </a:cubicBezTo>
                  <a:cubicBezTo>
                    <a:pt x="124" y="240"/>
                    <a:pt x="122" y="233"/>
                    <a:pt x="122" y="225"/>
                  </a:cubicBezTo>
                  <a:cubicBezTo>
                    <a:pt x="122" y="213"/>
                    <a:pt x="126" y="204"/>
                    <a:pt x="134" y="196"/>
                  </a:cubicBezTo>
                  <a:cubicBezTo>
                    <a:pt x="142" y="189"/>
                    <a:pt x="154" y="185"/>
                    <a:pt x="169" y="184"/>
                  </a:cubicBezTo>
                  <a:cubicBezTo>
                    <a:pt x="169" y="175"/>
                    <a:pt x="169" y="175"/>
                    <a:pt x="169" y="175"/>
                  </a:cubicBezTo>
                  <a:cubicBezTo>
                    <a:pt x="183" y="175"/>
                    <a:pt x="183" y="175"/>
                    <a:pt x="183" y="175"/>
                  </a:cubicBezTo>
                  <a:cubicBezTo>
                    <a:pt x="183" y="184"/>
                    <a:pt x="183" y="184"/>
                    <a:pt x="183" y="184"/>
                  </a:cubicBezTo>
                  <a:cubicBezTo>
                    <a:pt x="197" y="185"/>
                    <a:pt x="208" y="188"/>
                    <a:pt x="215" y="194"/>
                  </a:cubicBezTo>
                  <a:cubicBezTo>
                    <a:pt x="223" y="200"/>
                    <a:pt x="228" y="208"/>
                    <a:pt x="230" y="218"/>
                  </a:cubicBezTo>
                  <a:cubicBezTo>
                    <a:pt x="195" y="223"/>
                    <a:pt x="195" y="223"/>
                    <a:pt x="195" y="223"/>
                  </a:cubicBezTo>
                  <a:cubicBezTo>
                    <a:pt x="193" y="219"/>
                    <a:pt x="191" y="216"/>
                    <a:pt x="190" y="214"/>
                  </a:cubicBezTo>
                  <a:cubicBezTo>
                    <a:pt x="189" y="212"/>
                    <a:pt x="186" y="211"/>
                    <a:pt x="183" y="209"/>
                  </a:cubicBezTo>
                  <a:cubicBezTo>
                    <a:pt x="183" y="236"/>
                    <a:pt x="183" y="236"/>
                    <a:pt x="183" y="236"/>
                  </a:cubicBezTo>
                  <a:cubicBezTo>
                    <a:pt x="202" y="241"/>
                    <a:pt x="215" y="247"/>
                    <a:pt x="221" y="252"/>
                  </a:cubicBezTo>
                  <a:cubicBezTo>
                    <a:pt x="230" y="260"/>
                    <a:pt x="234" y="270"/>
                    <a:pt x="234" y="282"/>
                  </a:cubicBezTo>
                  <a:cubicBezTo>
                    <a:pt x="234" y="288"/>
                    <a:pt x="233" y="295"/>
                    <a:pt x="230" y="301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23" name="Freeform 307"/>
            <p:cNvSpPr>
              <a:spLocks noChangeAspect="1" noEditPoints="1"/>
            </p:cNvSpPr>
            <p:nvPr/>
          </p:nvSpPr>
          <p:spPr bwMode="auto">
            <a:xfrm>
              <a:off x="1823471" y="4519870"/>
              <a:ext cx="114846" cy="167779"/>
            </a:xfrm>
            <a:custGeom>
              <a:avLst/>
              <a:gdLst>
                <a:gd name="T0" fmla="*/ 151 w 243"/>
                <a:gd name="T1" fmla="*/ 4 h 354"/>
                <a:gd name="T2" fmla="*/ 236 w 243"/>
                <a:gd name="T3" fmla="*/ 91 h 354"/>
                <a:gd name="T4" fmla="*/ 212 w 243"/>
                <a:gd name="T5" fmla="*/ 202 h 354"/>
                <a:gd name="T6" fmla="*/ 201 w 243"/>
                <a:gd name="T7" fmla="*/ 243 h 354"/>
                <a:gd name="T8" fmla="*/ 199 w 243"/>
                <a:gd name="T9" fmla="*/ 276 h 354"/>
                <a:gd name="T10" fmla="*/ 183 w 243"/>
                <a:gd name="T11" fmla="*/ 322 h 354"/>
                <a:gd name="T12" fmla="*/ 143 w 243"/>
                <a:gd name="T13" fmla="*/ 354 h 354"/>
                <a:gd name="T14" fmla="*/ 63 w 243"/>
                <a:gd name="T15" fmla="*/ 328 h 354"/>
                <a:gd name="T16" fmla="*/ 43 w 243"/>
                <a:gd name="T17" fmla="*/ 281 h 354"/>
                <a:gd name="T18" fmla="*/ 43 w 243"/>
                <a:gd name="T19" fmla="*/ 253 h 354"/>
                <a:gd name="T20" fmla="*/ 39 w 243"/>
                <a:gd name="T21" fmla="*/ 231 h 354"/>
                <a:gd name="T22" fmla="*/ 10 w 243"/>
                <a:gd name="T23" fmla="*/ 163 h 354"/>
                <a:gd name="T24" fmla="*/ 74 w 243"/>
                <a:gd name="T25" fmla="*/ 10 h 354"/>
                <a:gd name="T26" fmla="*/ 114 w 243"/>
                <a:gd name="T27" fmla="*/ 0 h 354"/>
                <a:gd name="T28" fmla="*/ 121 w 243"/>
                <a:gd name="T29" fmla="*/ 245 h 354"/>
                <a:gd name="T30" fmla="*/ 180 w 243"/>
                <a:gd name="T31" fmla="*/ 233 h 354"/>
                <a:gd name="T32" fmla="*/ 205 w 243"/>
                <a:gd name="T33" fmla="*/ 168 h 354"/>
                <a:gd name="T34" fmla="*/ 182 w 243"/>
                <a:gd name="T35" fmla="*/ 44 h 354"/>
                <a:gd name="T36" fmla="*/ 26 w 243"/>
                <a:gd name="T37" fmla="*/ 138 h 354"/>
                <a:gd name="T38" fmla="*/ 62 w 243"/>
                <a:gd name="T39" fmla="*/ 235 h 354"/>
                <a:gd name="T40" fmla="*/ 121 w 243"/>
                <a:gd name="T41" fmla="*/ 245 h 354"/>
                <a:gd name="T42" fmla="*/ 74 w 243"/>
                <a:gd name="T43" fmla="*/ 254 h 354"/>
                <a:gd name="T44" fmla="*/ 74 w 243"/>
                <a:gd name="T45" fmla="*/ 274 h 354"/>
                <a:gd name="T46" fmla="*/ 169 w 243"/>
                <a:gd name="T47" fmla="*/ 274 h 354"/>
                <a:gd name="T48" fmla="*/ 169 w 243"/>
                <a:gd name="T49" fmla="*/ 254 h 354"/>
                <a:gd name="T50" fmla="*/ 121 w 243"/>
                <a:gd name="T51" fmla="*/ 283 h 354"/>
                <a:gd name="T52" fmla="*/ 64 w 243"/>
                <a:gd name="T53" fmla="*/ 289 h 354"/>
                <a:gd name="T54" fmla="*/ 140 w 243"/>
                <a:gd name="T55" fmla="*/ 303 h 354"/>
                <a:gd name="T56" fmla="*/ 178 w 243"/>
                <a:gd name="T57" fmla="*/ 297 h 354"/>
                <a:gd name="T58" fmla="*/ 121 w 243"/>
                <a:gd name="T59" fmla="*/ 283 h 354"/>
                <a:gd name="T60" fmla="*/ 100 w 243"/>
                <a:gd name="T61" fmla="*/ 332 h 354"/>
                <a:gd name="T62" fmla="*/ 159 w 243"/>
                <a:gd name="T63" fmla="*/ 313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3" h="354">
                  <a:moveTo>
                    <a:pt x="128" y="0"/>
                  </a:moveTo>
                  <a:cubicBezTo>
                    <a:pt x="136" y="1"/>
                    <a:pt x="144" y="2"/>
                    <a:pt x="151" y="4"/>
                  </a:cubicBezTo>
                  <a:cubicBezTo>
                    <a:pt x="172" y="9"/>
                    <a:pt x="190" y="20"/>
                    <a:pt x="205" y="35"/>
                  </a:cubicBezTo>
                  <a:cubicBezTo>
                    <a:pt x="221" y="51"/>
                    <a:pt x="231" y="69"/>
                    <a:pt x="236" y="91"/>
                  </a:cubicBezTo>
                  <a:cubicBezTo>
                    <a:pt x="243" y="121"/>
                    <a:pt x="240" y="149"/>
                    <a:pt x="225" y="177"/>
                  </a:cubicBezTo>
                  <a:cubicBezTo>
                    <a:pt x="221" y="185"/>
                    <a:pt x="216" y="194"/>
                    <a:pt x="212" y="202"/>
                  </a:cubicBezTo>
                  <a:cubicBezTo>
                    <a:pt x="206" y="214"/>
                    <a:pt x="203" y="226"/>
                    <a:pt x="202" y="238"/>
                  </a:cubicBezTo>
                  <a:cubicBezTo>
                    <a:pt x="202" y="240"/>
                    <a:pt x="201" y="241"/>
                    <a:pt x="201" y="243"/>
                  </a:cubicBezTo>
                  <a:cubicBezTo>
                    <a:pt x="200" y="246"/>
                    <a:pt x="200" y="255"/>
                    <a:pt x="200" y="258"/>
                  </a:cubicBezTo>
                  <a:cubicBezTo>
                    <a:pt x="202" y="264"/>
                    <a:pt x="201" y="270"/>
                    <a:pt x="199" y="276"/>
                  </a:cubicBezTo>
                  <a:cubicBezTo>
                    <a:pt x="198" y="278"/>
                    <a:pt x="198" y="279"/>
                    <a:pt x="199" y="281"/>
                  </a:cubicBezTo>
                  <a:cubicBezTo>
                    <a:pt x="205" y="297"/>
                    <a:pt x="198" y="314"/>
                    <a:pt x="183" y="322"/>
                  </a:cubicBezTo>
                  <a:cubicBezTo>
                    <a:pt x="181" y="322"/>
                    <a:pt x="180" y="324"/>
                    <a:pt x="180" y="325"/>
                  </a:cubicBezTo>
                  <a:cubicBezTo>
                    <a:pt x="173" y="342"/>
                    <a:pt x="161" y="353"/>
                    <a:pt x="143" y="354"/>
                  </a:cubicBezTo>
                  <a:cubicBezTo>
                    <a:pt x="127" y="354"/>
                    <a:pt x="111" y="354"/>
                    <a:pt x="96" y="353"/>
                  </a:cubicBezTo>
                  <a:cubicBezTo>
                    <a:pt x="80" y="352"/>
                    <a:pt x="69" y="342"/>
                    <a:pt x="63" y="328"/>
                  </a:cubicBezTo>
                  <a:cubicBezTo>
                    <a:pt x="62" y="324"/>
                    <a:pt x="60" y="322"/>
                    <a:pt x="57" y="321"/>
                  </a:cubicBezTo>
                  <a:cubicBezTo>
                    <a:pt x="43" y="313"/>
                    <a:pt x="37" y="296"/>
                    <a:pt x="43" y="281"/>
                  </a:cubicBezTo>
                  <a:cubicBezTo>
                    <a:pt x="44" y="279"/>
                    <a:pt x="44" y="278"/>
                    <a:pt x="43" y="276"/>
                  </a:cubicBezTo>
                  <a:cubicBezTo>
                    <a:pt x="40" y="268"/>
                    <a:pt x="40" y="261"/>
                    <a:pt x="43" y="253"/>
                  </a:cubicBezTo>
                  <a:cubicBezTo>
                    <a:pt x="43" y="252"/>
                    <a:pt x="43" y="250"/>
                    <a:pt x="43" y="248"/>
                  </a:cubicBezTo>
                  <a:cubicBezTo>
                    <a:pt x="41" y="242"/>
                    <a:pt x="40" y="237"/>
                    <a:pt x="39" y="231"/>
                  </a:cubicBezTo>
                  <a:cubicBezTo>
                    <a:pt x="37" y="218"/>
                    <a:pt x="32" y="206"/>
                    <a:pt x="26" y="195"/>
                  </a:cubicBezTo>
                  <a:cubicBezTo>
                    <a:pt x="21" y="184"/>
                    <a:pt x="15" y="174"/>
                    <a:pt x="10" y="163"/>
                  </a:cubicBezTo>
                  <a:cubicBezTo>
                    <a:pt x="2" y="143"/>
                    <a:pt x="0" y="121"/>
                    <a:pt x="4" y="100"/>
                  </a:cubicBezTo>
                  <a:cubicBezTo>
                    <a:pt x="11" y="57"/>
                    <a:pt x="35" y="27"/>
                    <a:pt x="74" y="10"/>
                  </a:cubicBezTo>
                  <a:cubicBezTo>
                    <a:pt x="86" y="4"/>
                    <a:pt x="98" y="1"/>
                    <a:pt x="111" y="1"/>
                  </a:cubicBezTo>
                  <a:cubicBezTo>
                    <a:pt x="112" y="0"/>
                    <a:pt x="113" y="0"/>
                    <a:pt x="114" y="0"/>
                  </a:cubicBezTo>
                  <a:lnTo>
                    <a:pt x="128" y="0"/>
                  </a:lnTo>
                  <a:close/>
                  <a:moveTo>
                    <a:pt x="121" y="245"/>
                  </a:moveTo>
                  <a:cubicBezTo>
                    <a:pt x="136" y="245"/>
                    <a:pt x="151" y="245"/>
                    <a:pt x="167" y="245"/>
                  </a:cubicBezTo>
                  <a:cubicBezTo>
                    <a:pt x="176" y="245"/>
                    <a:pt x="179" y="242"/>
                    <a:pt x="180" y="233"/>
                  </a:cubicBezTo>
                  <a:cubicBezTo>
                    <a:pt x="182" y="223"/>
                    <a:pt x="184" y="213"/>
                    <a:pt x="187" y="203"/>
                  </a:cubicBezTo>
                  <a:cubicBezTo>
                    <a:pt x="192" y="191"/>
                    <a:pt x="199" y="180"/>
                    <a:pt x="205" y="168"/>
                  </a:cubicBezTo>
                  <a:cubicBezTo>
                    <a:pt x="212" y="156"/>
                    <a:pt x="216" y="143"/>
                    <a:pt x="217" y="128"/>
                  </a:cubicBezTo>
                  <a:cubicBezTo>
                    <a:pt x="220" y="94"/>
                    <a:pt x="208" y="66"/>
                    <a:pt x="182" y="44"/>
                  </a:cubicBezTo>
                  <a:cubicBezTo>
                    <a:pt x="149" y="17"/>
                    <a:pt x="106" y="15"/>
                    <a:pt x="70" y="37"/>
                  </a:cubicBezTo>
                  <a:cubicBezTo>
                    <a:pt x="35" y="58"/>
                    <a:pt x="19" y="98"/>
                    <a:pt x="26" y="138"/>
                  </a:cubicBezTo>
                  <a:cubicBezTo>
                    <a:pt x="28" y="152"/>
                    <a:pt x="35" y="165"/>
                    <a:pt x="42" y="177"/>
                  </a:cubicBezTo>
                  <a:cubicBezTo>
                    <a:pt x="52" y="195"/>
                    <a:pt x="60" y="214"/>
                    <a:pt x="62" y="235"/>
                  </a:cubicBezTo>
                  <a:cubicBezTo>
                    <a:pt x="62" y="242"/>
                    <a:pt x="66" y="245"/>
                    <a:pt x="73" y="245"/>
                  </a:cubicBezTo>
                  <a:cubicBezTo>
                    <a:pt x="89" y="245"/>
                    <a:pt x="105" y="245"/>
                    <a:pt x="121" y="245"/>
                  </a:cubicBezTo>
                  <a:moveTo>
                    <a:pt x="121" y="254"/>
                  </a:moveTo>
                  <a:cubicBezTo>
                    <a:pt x="105" y="254"/>
                    <a:pt x="89" y="254"/>
                    <a:pt x="74" y="254"/>
                  </a:cubicBezTo>
                  <a:cubicBezTo>
                    <a:pt x="69" y="254"/>
                    <a:pt x="65" y="256"/>
                    <a:pt x="64" y="260"/>
                  </a:cubicBezTo>
                  <a:cubicBezTo>
                    <a:pt x="61" y="267"/>
                    <a:pt x="66" y="274"/>
                    <a:pt x="74" y="274"/>
                  </a:cubicBezTo>
                  <a:cubicBezTo>
                    <a:pt x="96" y="274"/>
                    <a:pt x="118" y="274"/>
                    <a:pt x="140" y="274"/>
                  </a:cubicBezTo>
                  <a:cubicBezTo>
                    <a:pt x="149" y="274"/>
                    <a:pt x="159" y="274"/>
                    <a:pt x="169" y="274"/>
                  </a:cubicBezTo>
                  <a:cubicBezTo>
                    <a:pt x="173" y="274"/>
                    <a:pt x="176" y="272"/>
                    <a:pt x="178" y="268"/>
                  </a:cubicBezTo>
                  <a:cubicBezTo>
                    <a:pt x="181" y="261"/>
                    <a:pt x="176" y="254"/>
                    <a:pt x="169" y="254"/>
                  </a:cubicBezTo>
                  <a:cubicBezTo>
                    <a:pt x="153" y="254"/>
                    <a:pt x="137" y="254"/>
                    <a:pt x="121" y="254"/>
                  </a:cubicBezTo>
                  <a:moveTo>
                    <a:pt x="121" y="283"/>
                  </a:moveTo>
                  <a:cubicBezTo>
                    <a:pt x="105" y="283"/>
                    <a:pt x="89" y="283"/>
                    <a:pt x="74" y="283"/>
                  </a:cubicBezTo>
                  <a:cubicBezTo>
                    <a:pt x="69" y="283"/>
                    <a:pt x="65" y="285"/>
                    <a:pt x="64" y="289"/>
                  </a:cubicBezTo>
                  <a:cubicBezTo>
                    <a:pt x="61" y="296"/>
                    <a:pt x="66" y="303"/>
                    <a:pt x="74" y="303"/>
                  </a:cubicBezTo>
                  <a:cubicBezTo>
                    <a:pt x="96" y="303"/>
                    <a:pt x="118" y="303"/>
                    <a:pt x="140" y="303"/>
                  </a:cubicBezTo>
                  <a:cubicBezTo>
                    <a:pt x="149" y="303"/>
                    <a:pt x="159" y="303"/>
                    <a:pt x="169" y="303"/>
                  </a:cubicBezTo>
                  <a:cubicBezTo>
                    <a:pt x="173" y="303"/>
                    <a:pt x="176" y="301"/>
                    <a:pt x="178" y="297"/>
                  </a:cubicBezTo>
                  <a:cubicBezTo>
                    <a:pt x="181" y="290"/>
                    <a:pt x="176" y="283"/>
                    <a:pt x="169" y="283"/>
                  </a:cubicBezTo>
                  <a:cubicBezTo>
                    <a:pt x="153" y="283"/>
                    <a:pt x="137" y="283"/>
                    <a:pt x="121" y="283"/>
                  </a:cubicBezTo>
                  <a:moveTo>
                    <a:pt x="82" y="313"/>
                  </a:moveTo>
                  <a:cubicBezTo>
                    <a:pt x="82" y="323"/>
                    <a:pt x="90" y="331"/>
                    <a:pt x="100" y="332"/>
                  </a:cubicBezTo>
                  <a:cubicBezTo>
                    <a:pt x="114" y="332"/>
                    <a:pt x="128" y="332"/>
                    <a:pt x="142" y="332"/>
                  </a:cubicBezTo>
                  <a:cubicBezTo>
                    <a:pt x="152" y="331"/>
                    <a:pt x="159" y="323"/>
                    <a:pt x="159" y="313"/>
                  </a:cubicBezTo>
                  <a:lnTo>
                    <a:pt x="82" y="313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24" name="圆角矩形 27"/>
            <p:cNvSpPr/>
            <p:nvPr/>
          </p:nvSpPr>
          <p:spPr>
            <a:xfrm>
              <a:off x="798510" y="3144036"/>
              <a:ext cx="2434776" cy="131791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669694" y="872720"/>
            <a:ext cx="4852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普查区域网点，获取市场数据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16092" y="918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网点分级的逻辑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774620" y="3677244"/>
            <a:ext cx="4480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不只看“卖了多少”，更要看“能卖多少”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453241" y="2984203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精准识别更具机会的网点</a:t>
            </a:r>
          </a:p>
        </p:txBody>
      </p:sp>
      <p:sp>
        <p:nvSpPr>
          <p:cNvPr id="34" name="三角形 33"/>
          <p:cNvSpPr/>
          <p:nvPr/>
        </p:nvSpPr>
        <p:spPr>
          <a:xfrm rot="5400000">
            <a:off x="4078925" y="3788582"/>
            <a:ext cx="3368651" cy="381055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794130" y="443311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网点分级</a:t>
            </a:r>
          </a:p>
        </p:txBody>
      </p:sp>
      <p:sp>
        <p:nvSpPr>
          <p:cNvPr id="38" name="矩形 37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39" name="矩形 38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40" name="矩形 39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41" name="矩形 40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89975" y="6713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分级策略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88605" y="1469871"/>
            <a:ext cx="7255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/>
              <a:t>不同级别网点，分级管理，策略也不同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2365" y="2617901"/>
            <a:ext cx="4250593" cy="3685078"/>
            <a:chOff x="577932" y="3188291"/>
            <a:chExt cx="2759034" cy="272279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209" y="3330160"/>
              <a:ext cx="2318401" cy="231840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6" name="直接箭头连接符 1"/>
            <p:cNvCxnSpPr/>
            <p:nvPr/>
          </p:nvCxnSpPr>
          <p:spPr>
            <a:xfrm flipV="1">
              <a:off x="1999498" y="3330390"/>
              <a:ext cx="0" cy="2318401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箭头连接符 46"/>
            <p:cNvCxnSpPr/>
            <p:nvPr/>
          </p:nvCxnSpPr>
          <p:spPr>
            <a:xfrm>
              <a:off x="856080" y="4489413"/>
              <a:ext cx="2318401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1648260" y="5717789"/>
              <a:ext cx="680489" cy="19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网点销量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77932" y="4169039"/>
              <a:ext cx="220579" cy="568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我司销量</a:t>
              </a:r>
              <a:endPara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23743" y="3876892"/>
              <a:ext cx="964507" cy="377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网点总销量高，我司销量低</a:t>
              </a:r>
              <a:endPara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97604" y="3468249"/>
              <a:ext cx="785785" cy="25014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重点提升型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092354" y="3876892"/>
              <a:ext cx="1034991" cy="377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网点总销量高，我司销量份额高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60539" y="3468249"/>
              <a:ext cx="519417" cy="25014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控盘型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23743" y="4773064"/>
              <a:ext cx="964507" cy="377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网点总销量低，我司销量低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125844" y="5235939"/>
              <a:ext cx="519417" cy="25014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谨慎型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092356" y="4773064"/>
              <a:ext cx="1034987" cy="377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网点总销量低，我司销量份额高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260539" y="5235939"/>
              <a:ext cx="519417" cy="25014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indent="0" algn="l">
                <a:buFont typeface="Arial" panose="020B0604020202020204" pitchFamily="34" charset="0"/>
                <a:buNone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维持型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07301" y="4502865"/>
              <a:ext cx="297020" cy="19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166305" y="4379223"/>
              <a:ext cx="170661" cy="19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851846" y="3188291"/>
              <a:ext cx="297020" cy="19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22552" y="5524946"/>
              <a:ext cx="297020" cy="19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</a:p>
          </p:txBody>
        </p:sp>
        <p:sp>
          <p:nvSpPr>
            <p:cNvPr id="22" name="Freeform 36"/>
            <p:cNvSpPr>
              <a:spLocks noEditPoints="1"/>
            </p:cNvSpPr>
            <p:nvPr/>
          </p:nvSpPr>
          <p:spPr bwMode="auto">
            <a:xfrm>
              <a:off x="1785024" y="4271909"/>
              <a:ext cx="183032" cy="198284"/>
            </a:xfrm>
            <a:custGeom>
              <a:avLst/>
              <a:gdLst>
                <a:gd name="T0" fmla="*/ 67 w 120"/>
                <a:gd name="T1" fmla="*/ 53 h 121"/>
                <a:gd name="T2" fmla="*/ 67 w 120"/>
                <a:gd name="T3" fmla="*/ 26 h 121"/>
                <a:gd name="T4" fmla="*/ 53 w 120"/>
                <a:gd name="T5" fmla="*/ 26 h 121"/>
                <a:gd name="T6" fmla="*/ 53 w 120"/>
                <a:gd name="T7" fmla="*/ 53 h 121"/>
                <a:gd name="T8" fmla="*/ 27 w 120"/>
                <a:gd name="T9" fmla="*/ 53 h 121"/>
                <a:gd name="T10" fmla="*/ 27 w 120"/>
                <a:gd name="T11" fmla="*/ 68 h 121"/>
                <a:gd name="T12" fmla="*/ 53 w 120"/>
                <a:gd name="T13" fmla="*/ 68 h 121"/>
                <a:gd name="T14" fmla="*/ 53 w 120"/>
                <a:gd name="T15" fmla="*/ 94 h 121"/>
                <a:gd name="T16" fmla="*/ 67 w 120"/>
                <a:gd name="T17" fmla="*/ 94 h 121"/>
                <a:gd name="T18" fmla="*/ 67 w 120"/>
                <a:gd name="T19" fmla="*/ 68 h 121"/>
                <a:gd name="T20" fmla="*/ 93 w 120"/>
                <a:gd name="T21" fmla="*/ 68 h 121"/>
                <a:gd name="T22" fmla="*/ 93 w 120"/>
                <a:gd name="T23" fmla="*/ 53 h 121"/>
                <a:gd name="T24" fmla="*/ 67 w 120"/>
                <a:gd name="T25" fmla="*/ 53 h 121"/>
                <a:gd name="T26" fmla="*/ 60 w 120"/>
                <a:gd name="T27" fmla="*/ 0 h 121"/>
                <a:gd name="T28" fmla="*/ 0 w 120"/>
                <a:gd name="T29" fmla="*/ 61 h 121"/>
                <a:gd name="T30" fmla="*/ 60 w 120"/>
                <a:gd name="T31" fmla="*/ 121 h 121"/>
                <a:gd name="T32" fmla="*/ 120 w 120"/>
                <a:gd name="T33" fmla="*/ 61 h 121"/>
                <a:gd name="T34" fmla="*/ 60 w 120"/>
                <a:gd name="T35" fmla="*/ 0 h 121"/>
                <a:gd name="T36" fmla="*/ 60 w 120"/>
                <a:gd name="T37" fmla="*/ 107 h 121"/>
                <a:gd name="T38" fmla="*/ 13 w 120"/>
                <a:gd name="T39" fmla="*/ 61 h 121"/>
                <a:gd name="T40" fmla="*/ 60 w 120"/>
                <a:gd name="T41" fmla="*/ 14 h 121"/>
                <a:gd name="T42" fmla="*/ 107 w 120"/>
                <a:gd name="T43" fmla="*/ 61 h 121"/>
                <a:gd name="T44" fmla="*/ 60 w 120"/>
                <a:gd name="T45" fmla="*/ 10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21">
                  <a:moveTo>
                    <a:pt x="67" y="53"/>
                  </a:moveTo>
                  <a:cubicBezTo>
                    <a:pt x="67" y="26"/>
                    <a:pt x="67" y="26"/>
                    <a:pt x="67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53" y="68"/>
                    <a:pt x="53" y="68"/>
                    <a:pt x="53" y="68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93" y="68"/>
                    <a:pt x="93" y="68"/>
                    <a:pt x="93" y="68"/>
                  </a:cubicBezTo>
                  <a:cubicBezTo>
                    <a:pt x="93" y="53"/>
                    <a:pt x="93" y="53"/>
                    <a:pt x="93" y="53"/>
                  </a:cubicBezTo>
                  <a:lnTo>
                    <a:pt x="67" y="53"/>
                  </a:lnTo>
                  <a:close/>
                  <a:moveTo>
                    <a:pt x="60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4"/>
                    <a:pt x="27" y="121"/>
                    <a:pt x="60" y="121"/>
                  </a:cubicBezTo>
                  <a:cubicBezTo>
                    <a:pt x="93" y="121"/>
                    <a:pt x="120" y="94"/>
                    <a:pt x="120" y="61"/>
                  </a:cubicBezTo>
                  <a:cubicBezTo>
                    <a:pt x="120" y="27"/>
                    <a:pt x="93" y="0"/>
                    <a:pt x="60" y="0"/>
                  </a:cubicBezTo>
                  <a:close/>
                  <a:moveTo>
                    <a:pt x="60" y="107"/>
                  </a:moveTo>
                  <a:cubicBezTo>
                    <a:pt x="34" y="107"/>
                    <a:pt x="13" y="86"/>
                    <a:pt x="13" y="61"/>
                  </a:cubicBezTo>
                  <a:cubicBezTo>
                    <a:pt x="13" y="35"/>
                    <a:pt x="34" y="14"/>
                    <a:pt x="60" y="14"/>
                  </a:cubicBezTo>
                  <a:cubicBezTo>
                    <a:pt x="86" y="14"/>
                    <a:pt x="107" y="35"/>
                    <a:pt x="107" y="61"/>
                  </a:cubicBezTo>
                  <a:cubicBezTo>
                    <a:pt x="107" y="86"/>
                    <a:pt x="86" y="107"/>
                    <a:pt x="60" y="107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2055204" y="4509570"/>
              <a:ext cx="213537" cy="183032"/>
              <a:chOff x="555625" y="2511425"/>
              <a:chExt cx="819150" cy="688976"/>
            </a:xfrm>
            <a:solidFill>
              <a:srgbClr val="C00000"/>
            </a:solidFill>
          </p:grpSpPr>
          <p:sp>
            <p:nvSpPr>
              <p:cNvPr id="27" name="Freeform 172"/>
              <p:cNvSpPr/>
              <p:nvPr/>
            </p:nvSpPr>
            <p:spPr bwMode="auto">
              <a:xfrm>
                <a:off x="555625" y="2622550"/>
                <a:ext cx="544513" cy="365125"/>
              </a:xfrm>
              <a:custGeom>
                <a:avLst/>
                <a:gdLst>
                  <a:gd name="T0" fmla="*/ 343 w 343"/>
                  <a:gd name="T1" fmla="*/ 0 h 230"/>
                  <a:gd name="T2" fmla="*/ 0 w 343"/>
                  <a:gd name="T3" fmla="*/ 47 h 230"/>
                  <a:gd name="T4" fmla="*/ 33 w 343"/>
                  <a:gd name="T5" fmla="*/ 230 h 230"/>
                  <a:gd name="T6" fmla="*/ 261 w 343"/>
                  <a:gd name="T7" fmla="*/ 230 h 230"/>
                  <a:gd name="T8" fmla="*/ 343 w 343"/>
                  <a:gd name="T9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3" h="230">
                    <a:moveTo>
                      <a:pt x="343" y="0"/>
                    </a:moveTo>
                    <a:lnTo>
                      <a:pt x="0" y="47"/>
                    </a:lnTo>
                    <a:lnTo>
                      <a:pt x="33" y="230"/>
                    </a:lnTo>
                    <a:lnTo>
                      <a:pt x="261" y="230"/>
                    </a:lnTo>
                    <a:lnTo>
                      <a:pt x="3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28" name="Freeform 173"/>
              <p:cNvSpPr/>
              <p:nvPr/>
            </p:nvSpPr>
            <p:spPr bwMode="auto">
              <a:xfrm>
                <a:off x="619125" y="2511425"/>
                <a:ext cx="755650" cy="557213"/>
              </a:xfrm>
              <a:custGeom>
                <a:avLst/>
                <a:gdLst>
                  <a:gd name="T0" fmla="*/ 290 w 299"/>
                  <a:gd name="T1" fmla="*/ 0 h 221"/>
                  <a:gd name="T2" fmla="*/ 231 w 299"/>
                  <a:gd name="T3" fmla="*/ 0 h 221"/>
                  <a:gd name="T4" fmla="*/ 231 w 299"/>
                  <a:gd name="T5" fmla="*/ 0 h 221"/>
                  <a:gd name="T6" fmla="*/ 229 w 299"/>
                  <a:gd name="T7" fmla="*/ 1 h 221"/>
                  <a:gd name="T8" fmla="*/ 228 w 299"/>
                  <a:gd name="T9" fmla="*/ 1 h 221"/>
                  <a:gd name="T10" fmla="*/ 226 w 299"/>
                  <a:gd name="T11" fmla="*/ 2 h 221"/>
                  <a:gd name="T12" fmla="*/ 225 w 299"/>
                  <a:gd name="T13" fmla="*/ 3 h 221"/>
                  <a:gd name="T14" fmla="*/ 224 w 299"/>
                  <a:gd name="T15" fmla="*/ 4 h 221"/>
                  <a:gd name="T16" fmla="*/ 223 w 299"/>
                  <a:gd name="T17" fmla="*/ 6 h 221"/>
                  <a:gd name="T18" fmla="*/ 223 w 299"/>
                  <a:gd name="T19" fmla="*/ 6 h 221"/>
                  <a:gd name="T20" fmla="*/ 151 w 299"/>
                  <a:gd name="T21" fmla="*/ 203 h 221"/>
                  <a:gd name="T22" fmla="*/ 9 w 299"/>
                  <a:gd name="T23" fmla="*/ 203 h 221"/>
                  <a:gd name="T24" fmla="*/ 0 w 299"/>
                  <a:gd name="T25" fmla="*/ 212 h 221"/>
                  <a:gd name="T26" fmla="*/ 9 w 299"/>
                  <a:gd name="T27" fmla="*/ 221 h 221"/>
                  <a:gd name="T28" fmla="*/ 157 w 299"/>
                  <a:gd name="T29" fmla="*/ 221 h 221"/>
                  <a:gd name="T30" fmla="*/ 160 w 299"/>
                  <a:gd name="T31" fmla="*/ 220 h 221"/>
                  <a:gd name="T32" fmla="*/ 161 w 299"/>
                  <a:gd name="T33" fmla="*/ 220 h 221"/>
                  <a:gd name="T34" fmla="*/ 163 w 299"/>
                  <a:gd name="T35" fmla="*/ 218 h 221"/>
                  <a:gd name="T36" fmla="*/ 163 w 299"/>
                  <a:gd name="T37" fmla="*/ 218 h 221"/>
                  <a:gd name="T38" fmla="*/ 165 w 299"/>
                  <a:gd name="T39" fmla="*/ 216 h 221"/>
                  <a:gd name="T40" fmla="*/ 165 w 299"/>
                  <a:gd name="T41" fmla="*/ 215 h 221"/>
                  <a:gd name="T42" fmla="*/ 165 w 299"/>
                  <a:gd name="T43" fmla="*/ 215 h 221"/>
                  <a:gd name="T44" fmla="*/ 238 w 299"/>
                  <a:gd name="T45" fmla="*/ 18 h 221"/>
                  <a:gd name="T46" fmla="*/ 290 w 299"/>
                  <a:gd name="T47" fmla="*/ 18 h 221"/>
                  <a:gd name="T48" fmla="*/ 299 w 299"/>
                  <a:gd name="T49" fmla="*/ 9 h 221"/>
                  <a:gd name="T50" fmla="*/ 290 w 299"/>
                  <a:gd name="T51" fmla="*/ 0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9" h="221">
                    <a:moveTo>
                      <a:pt x="290" y="0"/>
                    </a:moveTo>
                    <a:cubicBezTo>
                      <a:pt x="231" y="0"/>
                      <a:pt x="231" y="0"/>
                      <a:pt x="231" y="0"/>
                    </a:cubicBezTo>
                    <a:cubicBezTo>
                      <a:pt x="231" y="0"/>
                      <a:pt x="231" y="0"/>
                      <a:pt x="231" y="0"/>
                    </a:cubicBezTo>
                    <a:cubicBezTo>
                      <a:pt x="231" y="0"/>
                      <a:pt x="230" y="0"/>
                      <a:pt x="229" y="1"/>
                    </a:cubicBezTo>
                    <a:cubicBezTo>
                      <a:pt x="229" y="1"/>
                      <a:pt x="228" y="1"/>
                      <a:pt x="228" y="1"/>
                    </a:cubicBezTo>
                    <a:cubicBezTo>
                      <a:pt x="227" y="1"/>
                      <a:pt x="227" y="2"/>
                      <a:pt x="226" y="2"/>
                    </a:cubicBezTo>
                    <a:cubicBezTo>
                      <a:pt x="226" y="2"/>
                      <a:pt x="225" y="2"/>
                      <a:pt x="225" y="3"/>
                    </a:cubicBezTo>
                    <a:cubicBezTo>
                      <a:pt x="225" y="3"/>
                      <a:pt x="224" y="4"/>
                      <a:pt x="224" y="4"/>
                    </a:cubicBezTo>
                    <a:cubicBezTo>
                      <a:pt x="224" y="5"/>
                      <a:pt x="223" y="5"/>
                      <a:pt x="223" y="6"/>
                    </a:cubicBezTo>
                    <a:cubicBezTo>
                      <a:pt x="223" y="6"/>
                      <a:pt x="223" y="6"/>
                      <a:pt x="223" y="6"/>
                    </a:cubicBezTo>
                    <a:cubicBezTo>
                      <a:pt x="151" y="203"/>
                      <a:pt x="151" y="203"/>
                      <a:pt x="151" y="203"/>
                    </a:cubicBezTo>
                    <a:cubicBezTo>
                      <a:pt x="9" y="203"/>
                      <a:pt x="9" y="203"/>
                      <a:pt x="9" y="203"/>
                    </a:cubicBezTo>
                    <a:cubicBezTo>
                      <a:pt x="4" y="203"/>
                      <a:pt x="0" y="207"/>
                      <a:pt x="0" y="212"/>
                    </a:cubicBezTo>
                    <a:cubicBezTo>
                      <a:pt x="0" y="217"/>
                      <a:pt x="4" y="221"/>
                      <a:pt x="9" y="221"/>
                    </a:cubicBezTo>
                    <a:cubicBezTo>
                      <a:pt x="157" y="221"/>
                      <a:pt x="157" y="221"/>
                      <a:pt x="157" y="221"/>
                    </a:cubicBezTo>
                    <a:cubicBezTo>
                      <a:pt x="158" y="221"/>
                      <a:pt x="159" y="221"/>
                      <a:pt x="160" y="220"/>
                    </a:cubicBezTo>
                    <a:cubicBezTo>
                      <a:pt x="161" y="220"/>
                      <a:pt x="161" y="220"/>
                      <a:pt x="161" y="220"/>
                    </a:cubicBezTo>
                    <a:cubicBezTo>
                      <a:pt x="162" y="219"/>
                      <a:pt x="162" y="219"/>
                      <a:pt x="163" y="218"/>
                    </a:cubicBezTo>
                    <a:cubicBezTo>
                      <a:pt x="163" y="218"/>
                      <a:pt x="163" y="218"/>
                      <a:pt x="163" y="218"/>
                    </a:cubicBezTo>
                    <a:cubicBezTo>
                      <a:pt x="164" y="217"/>
                      <a:pt x="164" y="217"/>
                      <a:pt x="165" y="216"/>
                    </a:cubicBezTo>
                    <a:cubicBezTo>
                      <a:pt x="165" y="215"/>
                      <a:pt x="165" y="215"/>
                      <a:pt x="165" y="215"/>
                    </a:cubicBezTo>
                    <a:cubicBezTo>
                      <a:pt x="165" y="215"/>
                      <a:pt x="165" y="215"/>
                      <a:pt x="165" y="215"/>
                    </a:cubicBezTo>
                    <a:cubicBezTo>
                      <a:pt x="238" y="18"/>
                      <a:pt x="238" y="18"/>
                      <a:pt x="238" y="18"/>
                    </a:cubicBezTo>
                    <a:cubicBezTo>
                      <a:pt x="290" y="18"/>
                      <a:pt x="290" y="18"/>
                      <a:pt x="290" y="18"/>
                    </a:cubicBezTo>
                    <a:cubicBezTo>
                      <a:pt x="295" y="18"/>
                      <a:pt x="299" y="14"/>
                      <a:pt x="299" y="9"/>
                    </a:cubicBezTo>
                    <a:cubicBezTo>
                      <a:pt x="299" y="4"/>
                      <a:pt x="295" y="0"/>
                      <a:pt x="29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29" name="Oval 174"/>
              <p:cNvSpPr>
                <a:spLocks noChangeArrowheads="1"/>
              </p:cNvSpPr>
              <p:nvPr/>
            </p:nvSpPr>
            <p:spPr bwMode="auto">
              <a:xfrm>
                <a:off x="644525" y="3097213"/>
                <a:ext cx="103188" cy="1031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30" name="Oval 175"/>
              <p:cNvSpPr>
                <a:spLocks noChangeArrowheads="1"/>
              </p:cNvSpPr>
              <p:nvPr/>
            </p:nvSpPr>
            <p:spPr bwMode="auto">
              <a:xfrm>
                <a:off x="917575" y="3097213"/>
                <a:ext cx="103188" cy="1031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</p:grpSp>
        <p:sp>
          <p:nvSpPr>
            <p:cNvPr id="24" name="Freeform 63"/>
            <p:cNvSpPr>
              <a:spLocks noChangeAspect="1" noEditPoints="1"/>
            </p:cNvSpPr>
            <p:nvPr/>
          </p:nvSpPr>
          <p:spPr bwMode="auto">
            <a:xfrm>
              <a:off x="2053212" y="4272120"/>
              <a:ext cx="161145" cy="183032"/>
            </a:xfrm>
            <a:custGeom>
              <a:avLst/>
              <a:gdLst>
                <a:gd name="T0" fmla="*/ 319 w 352"/>
                <a:gd name="T1" fmla="*/ 209 h 400"/>
                <a:gd name="T2" fmla="*/ 238 w 352"/>
                <a:gd name="T3" fmla="*/ 134 h 400"/>
                <a:gd name="T4" fmla="*/ 251 w 352"/>
                <a:gd name="T5" fmla="*/ 134 h 400"/>
                <a:gd name="T6" fmla="*/ 313 w 352"/>
                <a:gd name="T7" fmla="*/ 114 h 400"/>
                <a:gd name="T8" fmla="*/ 283 w 352"/>
                <a:gd name="T9" fmla="*/ 96 h 400"/>
                <a:gd name="T10" fmla="*/ 292 w 352"/>
                <a:gd name="T11" fmla="*/ 82 h 400"/>
                <a:gd name="T12" fmla="*/ 289 w 352"/>
                <a:gd name="T13" fmla="*/ 75 h 400"/>
                <a:gd name="T14" fmla="*/ 237 w 352"/>
                <a:gd name="T15" fmla="*/ 97 h 400"/>
                <a:gd name="T16" fmla="*/ 231 w 352"/>
                <a:gd name="T17" fmla="*/ 16 h 400"/>
                <a:gd name="T18" fmla="*/ 142 w 352"/>
                <a:gd name="T19" fmla="*/ 17 h 400"/>
                <a:gd name="T20" fmla="*/ 136 w 352"/>
                <a:gd name="T21" fmla="*/ 108 h 400"/>
                <a:gd name="T22" fmla="*/ 121 w 352"/>
                <a:gd name="T23" fmla="*/ 112 h 400"/>
                <a:gd name="T24" fmla="*/ 111 w 352"/>
                <a:gd name="T25" fmla="*/ 119 h 400"/>
                <a:gd name="T26" fmla="*/ 127 w 352"/>
                <a:gd name="T27" fmla="*/ 130 h 400"/>
                <a:gd name="T28" fmla="*/ 34 w 352"/>
                <a:gd name="T29" fmla="*/ 214 h 400"/>
                <a:gd name="T30" fmla="*/ 149 w 352"/>
                <a:gd name="T31" fmla="*/ 391 h 400"/>
                <a:gd name="T32" fmla="*/ 343 w 352"/>
                <a:gd name="T33" fmla="*/ 268 h 400"/>
                <a:gd name="T34" fmla="*/ 303 w 352"/>
                <a:gd name="T35" fmla="*/ 109 h 400"/>
                <a:gd name="T36" fmla="*/ 251 w 352"/>
                <a:gd name="T37" fmla="*/ 123 h 400"/>
                <a:gd name="T38" fmla="*/ 243 w 352"/>
                <a:gd name="T39" fmla="*/ 122 h 400"/>
                <a:gd name="T40" fmla="*/ 280 w 352"/>
                <a:gd name="T41" fmla="*/ 85 h 400"/>
                <a:gd name="T42" fmla="*/ 239 w 352"/>
                <a:gd name="T43" fmla="*/ 111 h 400"/>
                <a:gd name="T44" fmla="*/ 280 w 352"/>
                <a:gd name="T45" fmla="*/ 85 h 400"/>
                <a:gd name="T46" fmla="*/ 218 w 352"/>
                <a:gd name="T47" fmla="*/ 315 h 400"/>
                <a:gd name="T48" fmla="*/ 183 w 352"/>
                <a:gd name="T49" fmla="*/ 326 h 400"/>
                <a:gd name="T50" fmla="*/ 169 w 352"/>
                <a:gd name="T51" fmla="*/ 344 h 400"/>
                <a:gd name="T52" fmla="*/ 147 w 352"/>
                <a:gd name="T53" fmla="*/ 322 h 400"/>
                <a:gd name="T54" fmla="*/ 122 w 352"/>
                <a:gd name="T55" fmla="*/ 300 h 400"/>
                <a:gd name="T56" fmla="*/ 155 w 352"/>
                <a:gd name="T57" fmla="*/ 280 h 400"/>
                <a:gd name="T58" fmla="*/ 169 w 352"/>
                <a:gd name="T59" fmla="*/ 301 h 400"/>
                <a:gd name="T60" fmla="*/ 142 w 352"/>
                <a:gd name="T61" fmla="*/ 258 h 400"/>
                <a:gd name="T62" fmla="*/ 122 w 352"/>
                <a:gd name="T63" fmla="*/ 225 h 400"/>
                <a:gd name="T64" fmla="*/ 169 w 352"/>
                <a:gd name="T65" fmla="*/ 184 h 400"/>
                <a:gd name="T66" fmla="*/ 183 w 352"/>
                <a:gd name="T67" fmla="*/ 175 h 400"/>
                <a:gd name="T68" fmla="*/ 215 w 352"/>
                <a:gd name="T69" fmla="*/ 194 h 400"/>
                <a:gd name="T70" fmla="*/ 195 w 352"/>
                <a:gd name="T71" fmla="*/ 223 h 400"/>
                <a:gd name="T72" fmla="*/ 183 w 352"/>
                <a:gd name="T73" fmla="*/ 209 h 400"/>
                <a:gd name="T74" fmla="*/ 221 w 352"/>
                <a:gd name="T75" fmla="*/ 252 h 400"/>
                <a:gd name="T76" fmla="*/ 230 w 352"/>
                <a:gd name="T77" fmla="*/ 301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2" h="400">
                  <a:moveTo>
                    <a:pt x="343" y="268"/>
                  </a:moveTo>
                  <a:cubicBezTo>
                    <a:pt x="339" y="245"/>
                    <a:pt x="331" y="231"/>
                    <a:pt x="319" y="209"/>
                  </a:cubicBezTo>
                  <a:cubicBezTo>
                    <a:pt x="308" y="192"/>
                    <a:pt x="288" y="172"/>
                    <a:pt x="273" y="160"/>
                  </a:cubicBezTo>
                  <a:cubicBezTo>
                    <a:pt x="262" y="151"/>
                    <a:pt x="249" y="143"/>
                    <a:pt x="238" y="134"/>
                  </a:cubicBezTo>
                  <a:cubicBezTo>
                    <a:pt x="241" y="134"/>
                    <a:pt x="241" y="134"/>
                    <a:pt x="241" y="134"/>
                  </a:cubicBezTo>
                  <a:cubicBezTo>
                    <a:pt x="251" y="134"/>
                    <a:pt x="251" y="134"/>
                    <a:pt x="251" y="134"/>
                  </a:cubicBezTo>
                  <a:cubicBezTo>
                    <a:pt x="258" y="134"/>
                    <a:pt x="266" y="134"/>
                    <a:pt x="274" y="133"/>
                  </a:cubicBezTo>
                  <a:cubicBezTo>
                    <a:pt x="283" y="132"/>
                    <a:pt x="306" y="128"/>
                    <a:pt x="313" y="114"/>
                  </a:cubicBezTo>
                  <a:cubicBezTo>
                    <a:pt x="318" y="104"/>
                    <a:pt x="314" y="99"/>
                    <a:pt x="311" y="97"/>
                  </a:cubicBezTo>
                  <a:cubicBezTo>
                    <a:pt x="306" y="93"/>
                    <a:pt x="295" y="94"/>
                    <a:pt x="283" y="96"/>
                  </a:cubicBezTo>
                  <a:cubicBezTo>
                    <a:pt x="288" y="92"/>
                    <a:pt x="291" y="88"/>
                    <a:pt x="292" y="84"/>
                  </a:cubicBezTo>
                  <a:cubicBezTo>
                    <a:pt x="292" y="84"/>
                    <a:pt x="292" y="83"/>
                    <a:pt x="292" y="82"/>
                  </a:cubicBezTo>
                  <a:cubicBezTo>
                    <a:pt x="292" y="80"/>
                    <a:pt x="292" y="78"/>
                    <a:pt x="290" y="76"/>
                  </a:cubicBezTo>
                  <a:cubicBezTo>
                    <a:pt x="289" y="75"/>
                    <a:pt x="289" y="75"/>
                    <a:pt x="289" y="75"/>
                  </a:cubicBezTo>
                  <a:cubicBezTo>
                    <a:pt x="287" y="74"/>
                    <a:pt x="287" y="74"/>
                    <a:pt x="287" y="74"/>
                  </a:cubicBezTo>
                  <a:cubicBezTo>
                    <a:pt x="272" y="72"/>
                    <a:pt x="251" y="83"/>
                    <a:pt x="237" y="97"/>
                  </a:cubicBezTo>
                  <a:cubicBezTo>
                    <a:pt x="252" y="77"/>
                    <a:pt x="280" y="51"/>
                    <a:pt x="285" y="30"/>
                  </a:cubicBezTo>
                  <a:cubicBezTo>
                    <a:pt x="266" y="29"/>
                    <a:pt x="247" y="25"/>
                    <a:pt x="231" y="16"/>
                  </a:cubicBezTo>
                  <a:cubicBezTo>
                    <a:pt x="216" y="8"/>
                    <a:pt x="209" y="0"/>
                    <a:pt x="191" y="3"/>
                  </a:cubicBezTo>
                  <a:cubicBezTo>
                    <a:pt x="174" y="5"/>
                    <a:pt x="158" y="13"/>
                    <a:pt x="142" y="17"/>
                  </a:cubicBezTo>
                  <a:cubicBezTo>
                    <a:pt x="124" y="22"/>
                    <a:pt x="108" y="15"/>
                    <a:pt x="90" y="18"/>
                  </a:cubicBezTo>
                  <a:cubicBezTo>
                    <a:pt x="87" y="49"/>
                    <a:pt x="125" y="79"/>
                    <a:pt x="136" y="108"/>
                  </a:cubicBezTo>
                  <a:cubicBezTo>
                    <a:pt x="131" y="109"/>
                    <a:pt x="126" y="110"/>
                    <a:pt x="121" y="112"/>
                  </a:cubicBezTo>
                  <a:cubicBezTo>
                    <a:pt x="121" y="112"/>
                    <a:pt x="121" y="112"/>
                    <a:pt x="121" y="112"/>
                  </a:cubicBezTo>
                  <a:cubicBezTo>
                    <a:pt x="118" y="113"/>
                    <a:pt x="115" y="114"/>
                    <a:pt x="114" y="116"/>
                  </a:cubicBezTo>
                  <a:cubicBezTo>
                    <a:pt x="111" y="119"/>
                    <a:pt x="111" y="119"/>
                    <a:pt x="111" y="119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16" y="127"/>
                    <a:pt x="120" y="129"/>
                    <a:pt x="127" y="130"/>
                  </a:cubicBezTo>
                  <a:cubicBezTo>
                    <a:pt x="113" y="139"/>
                    <a:pt x="96" y="149"/>
                    <a:pt x="84" y="159"/>
                  </a:cubicBezTo>
                  <a:cubicBezTo>
                    <a:pt x="69" y="172"/>
                    <a:pt x="46" y="198"/>
                    <a:pt x="34" y="214"/>
                  </a:cubicBezTo>
                  <a:cubicBezTo>
                    <a:pt x="13" y="240"/>
                    <a:pt x="0" y="275"/>
                    <a:pt x="6" y="307"/>
                  </a:cubicBezTo>
                  <a:cubicBezTo>
                    <a:pt x="18" y="370"/>
                    <a:pt x="92" y="391"/>
                    <a:pt x="149" y="391"/>
                  </a:cubicBezTo>
                  <a:cubicBezTo>
                    <a:pt x="212" y="391"/>
                    <a:pt x="293" y="400"/>
                    <a:pt x="335" y="348"/>
                  </a:cubicBezTo>
                  <a:cubicBezTo>
                    <a:pt x="352" y="327"/>
                    <a:pt x="347" y="295"/>
                    <a:pt x="343" y="268"/>
                  </a:cubicBezTo>
                  <a:close/>
                  <a:moveTo>
                    <a:pt x="305" y="105"/>
                  </a:moveTo>
                  <a:cubicBezTo>
                    <a:pt x="305" y="105"/>
                    <a:pt x="305" y="106"/>
                    <a:pt x="303" y="109"/>
                  </a:cubicBezTo>
                  <a:cubicBezTo>
                    <a:pt x="299" y="117"/>
                    <a:pt x="284" y="121"/>
                    <a:pt x="273" y="123"/>
                  </a:cubicBezTo>
                  <a:cubicBezTo>
                    <a:pt x="266" y="124"/>
                    <a:pt x="258" y="124"/>
                    <a:pt x="251" y="123"/>
                  </a:cubicBezTo>
                  <a:cubicBezTo>
                    <a:pt x="243" y="123"/>
                    <a:pt x="243" y="123"/>
                    <a:pt x="243" y="123"/>
                  </a:cubicBezTo>
                  <a:cubicBezTo>
                    <a:pt x="243" y="122"/>
                    <a:pt x="243" y="122"/>
                    <a:pt x="243" y="122"/>
                  </a:cubicBezTo>
                  <a:cubicBezTo>
                    <a:pt x="263" y="112"/>
                    <a:pt x="300" y="101"/>
                    <a:pt x="305" y="105"/>
                  </a:cubicBezTo>
                  <a:close/>
                  <a:moveTo>
                    <a:pt x="280" y="85"/>
                  </a:moveTo>
                  <a:cubicBezTo>
                    <a:pt x="275" y="90"/>
                    <a:pt x="260" y="99"/>
                    <a:pt x="251" y="104"/>
                  </a:cubicBezTo>
                  <a:cubicBezTo>
                    <a:pt x="247" y="106"/>
                    <a:pt x="243" y="108"/>
                    <a:pt x="239" y="111"/>
                  </a:cubicBezTo>
                  <a:cubicBezTo>
                    <a:pt x="239" y="111"/>
                    <a:pt x="239" y="111"/>
                    <a:pt x="239" y="111"/>
                  </a:cubicBezTo>
                  <a:cubicBezTo>
                    <a:pt x="249" y="98"/>
                    <a:pt x="267" y="86"/>
                    <a:pt x="280" y="85"/>
                  </a:cubicBezTo>
                  <a:close/>
                  <a:moveTo>
                    <a:pt x="230" y="301"/>
                  </a:moveTo>
                  <a:cubicBezTo>
                    <a:pt x="227" y="306"/>
                    <a:pt x="223" y="311"/>
                    <a:pt x="218" y="315"/>
                  </a:cubicBezTo>
                  <a:cubicBezTo>
                    <a:pt x="213" y="319"/>
                    <a:pt x="208" y="322"/>
                    <a:pt x="203" y="323"/>
                  </a:cubicBezTo>
                  <a:cubicBezTo>
                    <a:pt x="197" y="325"/>
                    <a:pt x="191" y="326"/>
                    <a:pt x="183" y="326"/>
                  </a:cubicBezTo>
                  <a:cubicBezTo>
                    <a:pt x="183" y="344"/>
                    <a:pt x="183" y="344"/>
                    <a:pt x="183" y="344"/>
                  </a:cubicBezTo>
                  <a:cubicBezTo>
                    <a:pt x="169" y="344"/>
                    <a:pt x="169" y="344"/>
                    <a:pt x="169" y="344"/>
                  </a:cubicBezTo>
                  <a:cubicBezTo>
                    <a:pt x="169" y="326"/>
                    <a:pt x="169" y="326"/>
                    <a:pt x="169" y="326"/>
                  </a:cubicBezTo>
                  <a:cubicBezTo>
                    <a:pt x="160" y="326"/>
                    <a:pt x="152" y="324"/>
                    <a:pt x="147" y="322"/>
                  </a:cubicBezTo>
                  <a:cubicBezTo>
                    <a:pt x="141" y="320"/>
                    <a:pt x="136" y="317"/>
                    <a:pt x="132" y="313"/>
                  </a:cubicBezTo>
                  <a:cubicBezTo>
                    <a:pt x="127" y="309"/>
                    <a:pt x="124" y="305"/>
                    <a:pt x="122" y="300"/>
                  </a:cubicBezTo>
                  <a:cubicBezTo>
                    <a:pt x="120" y="296"/>
                    <a:pt x="118" y="291"/>
                    <a:pt x="117" y="284"/>
                  </a:cubicBezTo>
                  <a:cubicBezTo>
                    <a:pt x="155" y="280"/>
                    <a:pt x="155" y="280"/>
                    <a:pt x="155" y="280"/>
                  </a:cubicBezTo>
                  <a:cubicBezTo>
                    <a:pt x="156" y="286"/>
                    <a:pt x="158" y="291"/>
                    <a:pt x="160" y="293"/>
                  </a:cubicBezTo>
                  <a:cubicBezTo>
                    <a:pt x="162" y="296"/>
                    <a:pt x="165" y="299"/>
                    <a:pt x="169" y="301"/>
                  </a:cubicBezTo>
                  <a:cubicBezTo>
                    <a:pt x="169" y="267"/>
                    <a:pt x="169" y="267"/>
                    <a:pt x="169" y="267"/>
                  </a:cubicBezTo>
                  <a:cubicBezTo>
                    <a:pt x="156" y="264"/>
                    <a:pt x="147" y="261"/>
                    <a:pt x="142" y="258"/>
                  </a:cubicBezTo>
                  <a:cubicBezTo>
                    <a:pt x="137" y="255"/>
                    <a:pt x="132" y="251"/>
                    <a:pt x="128" y="246"/>
                  </a:cubicBezTo>
                  <a:cubicBezTo>
                    <a:pt x="124" y="240"/>
                    <a:pt x="122" y="233"/>
                    <a:pt x="122" y="225"/>
                  </a:cubicBezTo>
                  <a:cubicBezTo>
                    <a:pt x="122" y="213"/>
                    <a:pt x="126" y="204"/>
                    <a:pt x="134" y="196"/>
                  </a:cubicBezTo>
                  <a:cubicBezTo>
                    <a:pt x="142" y="189"/>
                    <a:pt x="154" y="185"/>
                    <a:pt x="169" y="184"/>
                  </a:cubicBezTo>
                  <a:cubicBezTo>
                    <a:pt x="169" y="175"/>
                    <a:pt x="169" y="175"/>
                    <a:pt x="169" y="175"/>
                  </a:cubicBezTo>
                  <a:cubicBezTo>
                    <a:pt x="183" y="175"/>
                    <a:pt x="183" y="175"/>
                    <a:pt x="183" y="175"/>
                  </a:cubicBezTo>
                  <a:cubicBezTo>
                    <a:pt x="183" y="184"/>
                    <a:pt x="183" y="184"/>
                    <a:pt x="183" y="184"/>
                  </a:cubicBezTo>
                  <a:cubicBezTo>
                    <a:pt x="197" y="185"/>
                    <a:pt x="208" y="188"/>
                    <a:pt x="215" y="194"/>
                  </a:cubicBezTo>
                  <a:cubicBezTo>
                    <a:pt x="223" y="200"/>
                    <a:pt x="228" y="208"/>
                    <a:pt x="230" y="218"/>
                  </a:cubicBezTo>
                  <a:cubicBezTo>
                    <a:pt x="195" y="223"/>
                    <a:pt x="195" y="223"/>
                    <a:pt x="195" y="223"/>
                  </a:cubicBezTo>
                  <a:cubicBezTo>
                    <a:pt x="193" y="219"/>
                    <a:pt x="191" y="216"/>
                    <a:pt x="190" y="214"/>
                  </a:cubicBezTo>
                  <a:cubicBezTo>
                    <a:pt x="189" y="212"/>
                    <a:pt x="186" y="211"/>
                    <a:pt x="183" y="209"/>
                  </a:cubicBezTo>
                  <a:cubicBezTo>
                    <a:pt x="183" y="236"/>
                    <a:pt x="183" y="236"/>
                    <a:pt x="183" y="236"/>
                  </a:cubicBezTo>
                  <a:cubicBezTo>
                    <a:pt x="202" y="241"/>
                    <a:pt x="215" y="247"/>
                    <a:pt x="221" y="252"/>
                  </a:cubicBezTo>
                  <a:cubicBezTo>
                    <a:pt x="230" y="260"/>
                    <a:pt x="234" y="270"/>
                    <a:pt x="234" y="282"/>
                  </a:cubicBezTo>
                  <a:cubicBezTo>
                    <a:pt x="234" y="288"/>
                    <a:pt x="233" y="295"/>
                    <a:pt x="230" y="301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/>
            </a:p>
          </p:txBody>
        </p:sp>
        <p:sp>
          <p:nvSpPr>
            <p:cNvPr id="25" name="Freeform 307"/>
            <p:cNvSpPr>
              <a:spLocks noChangeAspect="1" noEditPoints="1"/>
            </p:cNvSpPr>
            <p:nvPr/>
          </p:nvSpPr>
          <p:spPr bwMode="auto">
            <a:xfrm>
              <a:off x="1823471" y="4519870"/>
              <a:ext cx="114846" cy="167779"/>
            </a:xfrm>
            <a:custGeom>
              <a:avLst/>
              <a:gdLst>
                <a:gd name="T0" fmla="*/ 151 w 243"/>
                <a:gd name="T1" fmla="*/ 4 h 354"/>
                <a:gd name="T2" fmla="*/ 236 w 243"/>
                <a:gd name="T3" fmla="*/ 91 h 354"/>
                <a:gd name="T4" fmla="*/ 212 w 243"/>
                <a:gd name="T5" fmla="*/ 202 h 354"/>
                <a:gd name="T6" fmla="*/ 201 w 243"/>
                <a:gd name="T7" fmla="*/ 243 h 354"/>
                <a:gd name="T8" fmla="*/ 199 w 243"/>
                <a:gd name="T9" fmla="*/ 276 h 354"/>
                <a:gd name="T10" fmla="*/ 183 w 243"/>
                <a:gd name="T11" fmla="*/ 322 h 354"/>
                <a:gd name="T12" fmla="*/ 143 w 243"/>
                <a:gd name="T13" fmla="*/ 354 h 354"/>
                <a:gd name="T14" fmla="*/ 63 w 243"/>
                <a:gd name="T15" fmla="*/ 328 h 354"/>
                <a:gd name="T16" fmla="*/ 43 w 243"/>
                <a:gd name="T17" fmla="*/ 281 h 354"/>
                <a:gd name="T18" fmla="*/ 43 w 243"/>
                <a:gd name="T19" fmla="*/ 253 h 354"/>
                <a:gd name="T20" fmla="*/ 39 w 243"/>
                <a:gd name="T21" fmla="*/ 231 h 354"/>
                <a:gd name="T22" fmla="*/ 10 w 243"/>
                <a:gd name="T23" fmla="*/ 163 h 354"/>
                <a:gd name="T24" fmla="*/ 74 w 243"/>
                <a:gd name="T25" fmla="*/ 10 h 354"/>
                <a:gd name="T26" fmla="*/ 114 w 243"/>
                <a:gd name="T27" fmla="*/ 0 h 354"/>
                <a:gd name="T28" fmla="*/ 121 w 243"/>
                <a:gd name="T29" fmla="*/ 245 h 354"/>
                <a:gd name="T30" fmla="*/ 180 w 243"/>
                <a:gd name="T31" fmla="*/ 233 h 354"/>
                <a:gd name="T32" fmla="*/ 205 w 243"/>
                <a:gd name="T33" fmla="*/ 168 h 354"/>
                <a:gd name="T34" fmla="*/ 182 w 243"/>
                <a:gd name="T35" fmla="*/ 44 h 354"/>
                <a:gd name="T36" fmla="*/ 26 w 243"/>
                <a:gd name="T37" fmla="*/ 138 h 354"/>
                <a:gd name="T38" fmla="*/ 62 w 243"/>
                <a:gd name="T39" fmla="*/ 235 h 354"/>
                <a:gd name="T40" fmla="*/ 121 w 243"/>
                <a:gd name="T41" fmla="*/ 245 h 354"/>
                <a:gd name="T42" fmla="*/ 74 w 243"/>
                <a:gd name="T43" fmla="*/ 254 h 354"/>
                <a:gd name="T44" fmla="*/ 74 w 243"/>
                <a:gd name="T45" fmla="*/ 274 h 354"/>
                <a:gd name="T46" fmla="*/ 169 w 243"/>
                <a:gd name="T47" fmla="*/ 274 h 354"/>
                <a:gd name="T48" fmla="*/ 169 w 243"/>
                <a:gd name="T49" fmla="*/ 254 h 354"/>
                <a:gd name="T50" fmla="*/ 121 w 243"/>
                <a:gd name="T51" fmla="*/ 283 h 354"/>
                <a:gd name="T52" fmla="*/ 64 w 243"/>
                <a:gd name="T53" fmla="*/ 289 h 354"/>
                <a:gd name="T54" fmla="*/ 140 w 243"/>
                <a:gd name="T55" fmla="*/ 303 h 354"/>
                <a:gd name="T56" fmla="*/ 178 w 243"/>
                <a:gd name="T57" fmla="*/ 297 h 354"/>
                <a:gd name="T58" fmla="*/ 121 w 243"/>
                <a:gd name="T59" fmla="*/ 283 h 354"/>
                <a:gd name="T60" fmla="*/ 100 w 243"/>
                <a:gd name="T61" fmla="*/ 332 h 354"/>
                <a:gd name="T62" fmla="*/ 159 w 243"/>
                <a:gd name="T63" fmla="*/ 313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3" h="354">
                  <a:moveTo>
                    <a:pt x="128" y="0"/>
                  </a:moveTo>
                  <a:cubicBezTo>
                    <a:pt x="136" y="1"/>
                    <a:pt x="144" y="2"/>
                    <a:pt x="151" y="4"/>
                  </a:cubicBezTo>
                  <a:cubicBezTo>
                    <a:pt x="172" y="9"/>
                    <a:pt x="190" y="20"/>
                    <a:pt x="205" y="35"/>
                  </a:cubicBezTo>
                  <a:cubicBezTo>
                    <a:pt x="221" y="51"/>
                    <a:pt x="231" y="69"/>
                    <a:pt x="236" y="91"/>
                  </a:cubicBezTo>
                  <a:cubicBezTo>
                    <a:pt x="243" y="121"/>
                    <a:pt x="240" y="149"/>
                    <a:pt x="225" y="177"/>
                  </a:cubicBezTo>
                  <a:cubicBezTo>
                    <a:pt x="221" y="185"/>
                    <a:pt x="216" y="194"/>
                    <a:pt x="212" y="202"/>
                  </a:cubicBezTo>
                  <a:cubicBezTo>
                    <a:pt x="206" y="214"/>
                    <a:pt x="203" y="226"/>
                    <a:pt x="202" y="238"/>
                  </a:cubicBezTo>
                  <a:cubicBezTo>
                    <a:pt x="202" y="240"/>
                    <a:pt x="201" y="241"/>
                    <a:pt x="201" y="243"/>
                  </a:cubicBezTo>
                  <a:cubicBezTo>
                    <a:pt x="200" y="246"/>
                    <a:pt x="200" y="255"/>
                    <a:pt x="200" y="258"/>
                  </a:cubicBezTo>
                  <a:cubicBezTo>
                    <a:pt x="202" y="264"/>
                    <a:pt x="201" y="270"/>
                    <a:pt x="199" y="276"/>
                  </a:cubicBezTo>
                  <a:cubicBezTo>
                    <a:pt x="198" y="278"/>
                    <a:pt x="198" y="279"/>
                    <a:pt x="199" y="281"/>
                  </a:cubicBezTo>
                  <a:cubicBezTo>
                    <a:pt x="205" y="297"/>
                    <a:pt x="198" y="314"/>
                    <a:pt x="183" y="322"/>
                  </a:cubicBezTo>
                  <a:cubicBezTo>
                    <a:pt x="181" y="322"/>
                    <a:pt x="180" y="324"/>
                    <a:pt x="180" y="325"/>
                  </a:cubicBezTo>
                  <a:cubicBezTo>
                    <a:pt x="173" y="342"/>
                    <a:pt x="161" y="353"/>
                    <a:pt x="143" y="354"/>
                  </a:cubicBezTo>
                  <a:cubicBezTo>
                    <a:pt x="127" y="354"/>
                    <a:pt x="111" y="354"/>
                    <a:pt x="96" y="353"/>
                  </a:cubicBezTo>
                  <a:cubicBezTo>
                    <a:pt x="80" y="352"/>
                    <a:pt x="69" y="342"/>
                    <a:pt x="63" y="328"/>
                  </a:cubicBezTo>
                  <a:cubicBezTo>
                    <a:pt x="62" y="324"/>
                    <a:pt x="60" y="322"/>
                    <a:pt x="57" y="321"/>
                  </a:cubicBezTo>
                  <a:cubicBezTo>
                    <a:pt x="43" y="313"/>
                    <a:pt x="37" y="296"/>
                    <a:pt x="43" y="281"/>
                  </a:cubicBezTo>
                  <a:cubicBezTo>
                    <a:pt x="44" y="279"/>
                    <a:pt x="44" y="278"/>
                    <a:pt x="43" y="276"/>
                  </a:cubicBezTo>
                  <a:cubicBezTo>
                    <a:pt x="40" y="268"/>
                    <a:pt x="40" y="261"/>
                    <a:pt x="43" y="253"/>
                  </a:cubicBezTo>
                  <a:cubicBezTo>
                    <a:pt x="43" y="252"/>
                    <a:pt x="43" y="250"/>
                    <a:pt x="43" y="248"/>
                  </a:cubicBezTo>
                  <a:cubicBezTo>
                    <a:pt x="41" y="242"/>
                    <a:pt x="40" y="237"/>
                    <a:pt x="39" y="231"/>
                  </a:cubicBezTo>
                  <a:cubicBezTo>
                    <a:pt x="37" y="218"/>
                    <a:pt x="32" y="206"/>
                    <a:pt x="26" y="195"/>
                  </a:cubicBezTo>
                  <a:cubicBezTo>
                    <a:pt x="21" y="184"/>
                    <a:pt x="15" y="174"/>
                    <a:pt x="10" y="163"/>
                  </a:cubicBezTo>
                  <a:cubicBezTo>
                    <a:pt x="2" y="143"/>
                    <a:pt x="0" y="121"/>
                    <a:pt x="4" y="100"/>
                  </a:cubicBezTo>
                  <a:cubicBezTo>
                    <a:pt x="11" y="57"/>
                    <a:pt x="35" y="27"/>
                    <a:pt x="74" y="10"/>
                  </a:cubicBezTo>
                  <a:cubicBezTo>
                    <a:pt x="86" y="4"/>
                    <a:pt x="98" y="1"/>
                    <a:pt x="111" y="1"/>
                  </a:cubicBezTo>
                  <a:cubicBezTo>
                    <a:pt x="112" y="0"/>
                    <a:pt x="113" y="0"/>
                    <a:pt x="114" y="0"/>
                  </a:cubicBezTo>
                  <a:lnTo>
                    <a:pt x="128" y="0"/>
                  </a:lnTo>
                  <a:close/>
                  <a:moveTo>
                    <a:pt x="121" y="245"/>
                  </a:moveTo>
                  <a:cubicBezTo>
                    <a:pt x="136" y="245"/>
                    <a:pt x="151" y="245"/>
                    <a:pt x="167" y="245"/>
                  </a:cubicBezTo>
                  <a:cubicBezTo>
                    <a:pt x="176" y="245"/>
                    <a:pt x="179" y="242"/>
                    <a:pt x="180" y="233"/>
                  </a:cubicBezTo>
                  <a:cubicBezTo>
                    <a:pt x="182" y="223"/>
                    <a:pt x="184" y="213"/>
                    <a:pt x="187" y="203"/>
                  </a:cubicBezTo>
                  <a:cubicBezTo>
                    <a:pt x="192" y="191"/>
                    <a:pt x="199" y="180"/>
                    <a:pt x="205" y="168"/>
                  </a:cubicBezTo>
                  <a:cubicBezTo>
                    <a:pt x="212" y="156"/>
                    <a:pt x="216" y="143"/>
                    <a:pt x="217" y="128"/>
                  </a:cubicBezTo>
                  <a:cubicBezTo>
                    <a:pt x="220" y="94"/>
                    <a:pt x="208" y="66"/>
                    <a:pt x="182" y="44"/>
                  </a:cubicBezTo>
                  <a:cubicBezTo>
                    <a:pt x="149" y="17"/>
                    <a:pt x="106" y="15"/>
                    <a:pt x="70" y="37"/>
                  </a:cubicBezTo>
                  <a:cubicBezTo>
                    <a:pt x="35" y="58"/>
                    <a:pt x="19" y="98"/>
                    <a:pt x="26" y="138"/>
                  </a:cubicBezTo>
                  <a:cubicBezTo>
                    <a:pt x="28" y="152"/>
                    <a:pt x="35" y="165"/>
                    <a:pt x="42" y="177"/>
                  </a:cubicBezTo>
                  <a:cubicBezTo>
                    <a:pt x="52" y="195"/>
                    <a:pt x="60" y="214"/>
                    <a:pt x="62" y="235"/>
                  </a:cubicBezTo>
                  <a:cubicBezTo>
                    <a:pt x="62" y="242"/>
                    <a:pt x="66" y="245"/>
                    <a:pt x="73" y="245"/>
                  </a:cubicBezTo>
                  <a:cubicBezTo>
                    <a:pt x="89" y="245"/>
                    <a:pt x="105" y="245"/>
                    <a:pt x="121" y="245"/>
                  </a:cubicBezTo>
                  <a:moveTo>
                    <a:pt x="121" y="254"/>
                  </a:moveTo>
                  <a:cubicBezTo>
                    <a:pt x="105" y="254"/>
                    <a:pt x="89" y="254"/>
                    <a:pt x="74" y="254"/>
                  </a:cubicBezTo>
                  <a:cubicBezTo>
                    <a:pt x="69" y="254"/>
                    <a:pt x="65" y="256"/>
                    <a:pt x="64" y="260"/>
                  </a:cubicBezTo>
                  <a:cubicBezTo>
                    <a:pt x="61" y="267"/>
                    <a:pt x="66" y="274"/>
                    <a:pt x="74" y="274"/>
                  </a:cubicBezTo>
                  <a:cubicBezTo>
                    <a:pt x="96" y="274"/>
                    <a:pt x="118" y="274"/>
                    <a:pt x="140" y="274"/>
                  </a:cubicBezTo>
                  <a:cubicBezTo>
                    <a:pt x="149" y="274"/>
                    <a:pt x="159" y="274"/>
                    <a:pt x="169" y="274"/>
                  </a:cubicBezTo>
                  <a:cubicBezTo>
                    <a:pt x="173" y="274"/>
                    <a:pt x="176" y="272"/>
                    <a:pt x="178" y="268"/>
                  </a:cubicBezTo>
                  <a:cubicBezTo>
                    <a:pt x="181" y="261"/>
                    <a:pt x="176" y="254"/>
                    <a:pt x="169" y="254"/>
                  </a:cubicBezTo>
                  <a:cubicBezTo>
                    <a:pt x="153" y="254"/>
                    <a:pt x="137" y="254"/>
                    <a:pt x="121" y="254"/>
                  </a:cubicBezTo>
                  <a:moveTo>
                    <a:pt x="121" y="283"/>
                  </a:moveTo>
                  <a:cubicBezTo>
                    <a:pt x="105" y="283"/>
                    <a:pt x="89" y="283"/>
                    <a:pt x="74" y="283"/>
                  </a:cubicBezTo>
                  <a:cubicBezTo>
                    <a:pt x="69" y="283"/>
                    <a:pt x="65" y="285"/>
                    <a:pt x="64" y="289"/>
                  </a:cubicBezTo>
                  <a:cubicBezTo>
                    <a:pt x="61" y="296"/>
                    <a:pt x="66" y="303"/>
                    <a:pt x="74" y="303"/>
                  </a:cubicBezTo>
                  <a:cubicBezTo>
                    <a:pt x="96" y="303"/>
                    <a:pt x="118" y="303"/>
                    <a:pt x="140" y="303"/>
                  </a:cubicBezTo>
                  <a:cubicBezTo>
                    <a:pt x="149" y="303"/>
                    <a:pt x="159" y="303"/>
                    <a:pt x="169" y="303"/>
                  </a:cubicBezTo>
                  <a:cubicBezTo>
                    <a:pt x="173" y="303"/>
                    <a:pt x="176" y="301"/>
                    <a:pt x="178" y="297"/>
                  </a:cubicBezTo>
                  <a:cubicBezTo>
                    <a:pt x="181" y="290"/>
                    <a:pt x="176" y="283"/>
                    <a:pt x="169" y="283"/>
                  </a:cubicBezTo>
                  <a:cubicBezTo>
                    <a:pt x="153" y="283"/>
                    <a:pt x="137" y="283"/>
                    <a:pt x="121" y="283"/>
                  </a:cubicBezTo>
                  <a:moveTo>
                    <a:pt x="82" y="313"/>
                  </a:moveTo>
                  <a:cubicBezTo>
                    <a:pt x="82" y="323"/>
                    <a:pt x="90" y="331"/>
                    <a:pt x="100" y="332"/>
                  </a:cubicBezTo>
                  <a:cubicBezTo>
                    <a:pt x="114" y="332"/>
                    <a:pt x="128" y="332"/>
                    <a:pt x="142" y="332"/>
                  </a:cubicBezTo>
                  <a:cubicBezTo>
                    <a:pt x="152" y="331"/>
                    <a:pt x="159" y="323"/>
                    <a:pt x="159" y="313"/>
                  </a:cubicBezTo>
                  <a:lnTo>
                    <a:pt x="82" y="313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/>
            </a:p>
          </p:txBody>
        </p:sp>
        <p:sp>
          <p:nvSpPr>
            <p:cNvPr id="26" name="圆角矩形 27"/>
            <p:cNvSpPr/>
            <p:nvPr/>
          </p:nvSpPr>
          <p:spPr>
            <a:xfrm>
              <a:off x="798509" y="3381587"/>
              <a:ext cx="2449358" cy="965508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</p:grpSp>
      <p:sp>
        <p:nvSpPr>
          <p:cNvPr id="31" name="圆角矩形 27"/>
          <p:cNvSpPr/>
          <p:nvPr/>
        </p:nvSpPr>
        <p:spPr>
          <a:xfrm>
            <a:off x="604658" y="4571480"/>
            <a:ext cx="3741036" cy="146957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32" name="文本框 31"/>
          <p:cNvSpPr txBox="1"/>
          <p:nvPr/>
        </p:nvSpPr>
        <p:spPr>
          <a:xfrm>
            <a:off x="5673420" y="322057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</a:rPr>
              <a:t>核心网点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569467" y="498134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</a:rPr>
              <a:t>非核心网点</a:t>
            </a:r>
          </a:p>
        </p:txBody>
      </p:sp>
      <p:sp>
        <p:nvSpPr>
          <p:cNvPr id="34" name="三角形 33"/>
          <p:cNvSpPr/>
          <p:nvPr/>
        </p:nvSpPr>
        <p:spPr>
          <a:xfrm rot="5400000">
            <a:off x="4425566" y="3398126"/>
            <a:ext cx="885749" cy="248491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三角形 34"/>
          <p:cNvSpPr/>
          <p:nvPr/>
        </p:nvSpPr>
        <p:spPr>
          <a:xfrm rot="5400000">
            <a:off x="4496342" y="5145390"/>
            <a:ext cx="885749" cy="248491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三角形 45"/>
          <p:cNvSpPr/>
          <p:nvPr/>
        </p:nvSpPr>
        <p:spPr>
          <a:xfrm rot="5400000">
            <a:off x="8303438" y="3421286"/>
            <a:ext cx="1099539" cy="223185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574890" y="2966682"/>
            <a:ext cx="1338828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一店一策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针对性扶持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180295" y="2960223"/>
            <a:ext cx="461665" cy="1246495"/>
          </a:xfrm>
          <a:prstGeom prst="rect">
            <a:avLst/>
          </a:prstGeom>
          <a:solidFill>
            <a:srgbClr val="C00000"/>
          </a:solidFill>
        </p:spPr>
        <p:txBody>
          <a:bodyPr vert="eaVert" wrap="square" rtlCol="0" anchor="ctr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核心网点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9036504" y="5083845"/>
            <a:ext cx="2723824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</a:rPr>
              <a:t>定服务标准，定跟踪机制</a:t>
            </a:r>
          </a:p>
        </p:txBody>
      </p:sp>
      <p:sp>
        <p:nvSpPr>
          <p:cNvPr id="40" name="三角形 45"/>
          <p:cNvSpPr/>
          <p:nvPr/>
        </p:nvSpPr>
        <p:spPr>
          <a:xfrm rot="5400000">
            <a:off x="8232793" y="5201708"/>
            <a:ext cx="1099539" cy="223185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209306" y="4690052"/>
            <a:ext cx="461665" cy="1246495"/>
          </a:xfrm>
          <a:prstGeom prst="rect">
            <a:avLst/>
          </a:prstGeom>
          <a:solidFill>
            <a:srgbClr val="C00000"/>
          </a:solidFill>
        </p:spPr>
        <p:txBody>
          <a:bodyPr vert="eaVert"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非核心网点</a:t>
            </a:r>
          </a:p>
        </p:txBody>
      </p:sp>
      <p:sp>
        <p:nvSpPr>
          <p:cNvPr id="45" name="矩形 44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46" name="矩形 45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47" name="矩形 46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48" name="矩形 47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851974" y="2315084"/>
            <a:ext cx="4202319" cy="3190728"/>
            <a:chOff x="804348" y="2417997"/>
            <a:chExt cx="3357824" cy="2443501"/>
          </a:xfrm>
        </p:grpSpPr>
        <p:sp>
          <p:nvSpPr>
            <p:cNvPr id="2" name="三角形 12"/>
            <p:cNvSpPr/>
            <p:nvPr/>
          </p:nvSpPr>
          <p:spPr>
            <a:xfrm rot="10800000">
              <a:off x="3035509" y="2730817"/>
              <a:ext cx="1126663" cy="2109506"/>
            </a:xfrm>
            <a:prstGeom prst="triangle">
              <a:avLst/>
            </a:prstGeom>
            <a:gradFill>
              <a:gsLst>
                <a:gs pos="100000">
                  <a:srgbClr val="80899C">
                    <a:lumMod val="5000"/>
                    <a:lumOff val="95000"/>
                  </a:srgbClr>
                </a:gs>
                <a:gs pos="5000">
                  <a:srgbClr val="C00000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三角形 12"/>
            <p:cNvSpPr/>
            <p:nvPr/>
          </p:nvSpPr>
          <p:spPr>
            <a:xfrm>
              <a:off x="1377878" y="2709643"/>
              <a:ext cx="1039531" cy="2151855"/>
            </a:xfrm>
            <a:prstGeom prst="triangle">
              <a:avLst/>
            </a:prstGeom>
            <a:gradFill flip="none" rotWithShape="1">
              <a:gsLst>
                <a:gs pos="0">
                  <a:srgbClr val="C00000"/>
                </a:gs>
                <a:gs pos="68000">
                  <a:srgbClr val="C00000">
                    <a:alpha val="33000"/>
                  </a:srgbClr>
                </a:gs>
                <a:gs pos="37000">
                  <a:srgbClr val="C00000">
                    <a:alpha val="81338"/>
                  </a:srgbClr>
                </a:gs>
                <a:gs pos="100000">
                  <a:schemeClr val="bg1">
                    <a:alpha val="67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04348" y="2812267"/>
              <a:ext cx="782816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核心形象店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04348" y="3323645"/>
              <a:ext cx="523114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形象店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4348" y="3852431"/>
              <a:ext cx="782816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核心分销店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4348" y="4375190"/>
              <a:ext cx="523114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分销店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479778" y="2422306"/>
              <a:ext cx="727165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数量占比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015880" y="2417997"/>
              <a:ext cx="102396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销售贡献占比</a:t>
              </a:r>
            </a:p>
          </p:txBody>
        </p:sp>
        <p:cxnSp>
          <p:nvCxnSpPr>
            <p:cNvPr id="10" name="直线箭头连接符 27"/>
            <p:cNvCxnSpPr/>
            <p:nvPr/>
          </p:nvCxnSpPr>
          <p:spPr>
            <a:xfrm>
              <a:off x="2265757" y="2907490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28"/>
            <p:cNvCxnSpPr/>
            <p:nvPr/>
          </p:nvCxnSpPr>
          <p:spPr>
            <a:xfrm>
              <a:off x="2351784" y="3434837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箭头连接符 29"/>
            <p:cNvCxnSpPr/>
            <p:nvPr/>
          </p:nvCxnSpPr>
          <p:spPr>
            <a:xfrm>
              <a:off x="2482600" y="3947653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箭头连接符 30"/>
            <p:cNvCxnSpPr/>
            <p:nvPr/>
          </p:nvCxnSpPr>
          <p:spPr>
            <a:xfrm>
              <a:off x="2588814" y="4497655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2344885" y="2696397"/>
              <a:ext cx="462474" cy="397630"/>
              <a:chOff x="8287352" y="1056889"/>
              <a:chExt cx="896875" cy="771125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8349623" y="1056889"/>
                <a:ext cx="834604" cy="771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33012" y="3226974"/>
              <a:ext cx="454568" cy="397630"/>
              <a:chOff x="8287352" y="1055936"/>
              <a:chExt cx="881544" cy="771125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334292" y="1055936"/>
                <a:ext cx="834604" cy="771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572209" y="3740573"/>
              <a:ext cx="453236" cy="397630"/>
              <a:chOff x="8287352" y="1057455"/>
              <a:chExt cx="878961" cy="771125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8331709" y="1057455"/>
                <a:ext cx="834604" cy="771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2675305" y="4308739"/>
              <a:ext cx="454837" cy="397630"/>
              <a:chOff x="8287352" y="1070171"/>
              <a:chExt cx="882065" cy="771125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334813" y="1070171"/>
                <a:ext cx="834604" cy="771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2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3199985" y="2820409"/>
              <a:ext cx="68542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199985" y="3310766"/>
              <a:ext cx="68542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199985" y="3858586"/>
              <a:ext cx="68542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99985" y="4402433"/>
              <a:ext cx="68542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（   ）</a:t>
              </a:r>
              <a:r>
                <a:rPr kumimoji="1" lang="en-US" altLang="zh-CN" sz="1600" b="1" dirty="0"/>
                <a:t>%</a:t>
              </a:r>
              <a:endParaRPr kumimoji="1" lang="zh-CN" altLang="en-US" sz="1600" b="1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718016" y="2330736"/>
            <a:ext cx="4207434" cy="3051911"/>
            <a:chOff x="7187248" y="2394871"/>
            <a:chExt cx="3497790" cy="2399766"/>
          </a:xfrm>
        </p:grpSpPr>
        <p:sp>
          <p:nvSpPr>
            <p:cNvPr id="30" name="矩形: 剪去左右顶角 65"/>
            <p:cNvSpPr/>
            <p:nvPr/>
          </p:nvSpPr>
          <p:spPr>
            <a:xfrm>
              <a:off x="9418405" y="2642783"/>
              <a:ext cx="1126663" cy="1031588"/>
            </a:xfrm>
            <a:prstGeom prst="snip2SameRect">
              <a:avLst>
                <a:gd name="adj1" fmla="val 25120"/>
                <a:gd name="adj2" fmla="val 0"/>
              </a:avLst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三角形 12"/>
            <p:cNvSpPr/>
            <p:nvPr/>
          </p:nvSpPr>
          <p:spPr>
            <a:xfrm rot="10800000">
              <a:off x="9418405" y="3670576"/>
              <a:ext cx="1126663" cy="1058430"/>
            </a:xfrm>
            <a:prstGeom prst="triangle">
              <a:avLst/>
            </a:prstGeom>
            <a:gradFill>
              <a:gsLst>
                <a:gs pos="100000">
                  <a:srgbClr val="80899C">
                    <a:lumMod val="5000"/>
                    <a:lumOff val="95000"/>
                  </a:srgbClr>
                </a:gs>
                <a:gs pos="5000">
                  <a:srgbClr val="C00000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三角形 12"/>
            <p:cNvSpPr/>
            <p:nvPr/>
          </p:nvSpPr>
          <p:spPr>
            <a:xfrm>
              <a:off x="7760778" y="2642782"/>
              <a:ext cx="1039531" cy="2151855"/>
            </a:xfrm>
            <a:prstGeom prst="triangle">
              <a:avLst/>
            </a:prstGeom>
            <a:gradFill flip="none" rotWithShape="1">
              <a:gsLst>
                <a:gs pos="0">
                  <a:srgbClr val="C00000"/>
                </a:gs>
                <a:gs pos="68000">
                  <a:srgbClr val="C00000">
                    <a:alpha val="33000"/>
                  </a:srgbClr>
                </a:gs>
                <a:gs pos="37000">
                  <a:srgbClr val="C00000">
                    <a:alpha val="81338"/>
                  </a:srgbClr>
                </a:gs>
                <a:gs pos="100000">
                  <a:schemeClr val="bg1">
                    <a:alpha val="67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187248" y="2745406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核心形象店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187248" y="3256784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形象店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187248" y="3785570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核心分销店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187248" y="4308329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分销店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994874" y="24039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/>
                <a:t>数量占比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577042" y="2394871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/>
                <a:t>销售贡献占比</a:t>
              </a:r>
            </a:p>
          </p:txBody>
        </p:sp>
        <p:cxnSp>
          <p:nvCxnSpPr>
            <p:cNvPr id="39" name="直线箭头连接符 27"/>
            <p:cNvCxnSpPr/>
            <p:nvPr/>
          </p:nvCxnSpPr>
          <p:spPr>
            <a:xfrm>
              <a:off x="8658113" y="2840629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箭头连接符 28"/>
            <p:cNvCxnSpPr/>
            <p:nvPr/>
          </p:nvCxnSpPr>
          <p:spPr>
            <a:xfrm>
              <a:off x="8734684" y="3367976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箭头连接符 29"/>
            <p:cNvCxnSpPr/>
            <p:nvPr/>
          </p:nvCxnSpPr>
          <p:spPr>
            <a:xfrm>
              <a:off x="8882261" y="3880792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箭头连接符 30"/>
            <p:cNvCxnSpPr/>
            <p:nvPr/>
          </p:nvCxnSpPr>
          <p:spPr>
            <a:xfrm>
              <a:off x="8971714" y="4430794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组合 42"/>
            <p:cNvGrpSpPr/>
            <p:nvPr/>
          </p:nvGrpSpPr>
          <p:grpSpPr>
            <a:xfrm>
              <a:off x="8727784" y="2660076"/>
              <a:ext cx="531800" cy="466878"/>
              <a:chOff x="8287352" y="1116115"/>
              <a:chExt cx="1031319" cy="905416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8363677" y="1126224"/>
                <a:ext cx="954994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8815915" y="3191145"/>
              <a:ext cx="539662" cy="467515"/>
              <a:chOff x="8287352" y="1116115"/>
              <a:chExt cx="1046566" cy="906652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8378924" y="1127460"/>
                <a:ext cx="954994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8955116" y="3701195"/>
              <a:ext cx="538481" cy="461665"/>
              <a:chOff x="8287352" y="1110750"/>
              <a:chExt cx="1044275" cy="895307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8376633" y="1110750"/>
                <a:ext cx="954994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9058212" y="4265570"/>
              <a:ext cx="534741" cy="464860"/>
              <a:chOff x="8287352" y="1116115"/>
              <a:chExt cx="1037021" cy="901503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8369379" y="1122311"/>
                <a:ext cx="954994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sp>
          <p:nvSpPr>
            <p:cNvPr id="55" name="文本框 54"/>
            <p:cNvSpPr txBox="1"/>
            <p:nvPr/>
          </p:nvSpPr>
          <p:spPr>
            <a:xfrm>
              <a:off x="9631776" y="2753548"/>
              <a:ext cx="805178" cy="26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9626880" y="3243905"/>
              <a:ext cx="805178" cy="26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9620122" y="3791725"/>
              <a:ext cx="805178" cy="26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9638445" y="4335572"/>
              <a:ext cx="805178" cy="26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（   ）</a:t>
              </a:r>
              <a:r>
                <a:rPr kumimoji="1" lang="en-US" altLang="zh-CN" sz="1600" b="1" dirty="0"/>
                <a:t>%</a:t>
              </a:r>
              <a:endParaRPr kumimoji="1" lang="zh-CN" altLang="en-US" sz="1600" b="1" dirty="0"/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2497228" y="1171215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</a:rPr>
              <a:t>请思考，哪种网点结构比较健康，为什么？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5190272" y="48917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互动思考</a:t>
            </a:r>
          </a:p>
        </p:txBody>
      </p:sp>
      <p:sp>
        <p:nvSpPr>
          <p:cNvPr id="66" name="矩形 65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67" name="矩形 66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68" name="矩形 67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69" name="矩形 68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箭头: 右 62"/>
          <p:cNvSpPr/>
          <p:nvPr/>
        </p:nvSpPr>
        <p:spPr>
          <a:xfrm>
            <a:off x="5856837" y="1581024"/>
            <a:ext cx="645226" cy="1025236"/>
          </a:xfrm>
          <a:prstGeom prst="rightArrow">
            <a:avLst/>
          </a:prstGeom>
          <a:solidFill>
            <a:schemeClr val="accent2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7" name="文本框 66"/>
          <p:cNvSpPr txBox="1"/>
          <p:nvPr/>
        </p:nvSpPr>
        <p:spPr>
          <a:xfrm>
            <a:off x="7072212" y="940236"/>
            <a:ext cx="3672800" cy="2266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核心网点销售贡献占比过大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腰部网点数量开发不足、店均产出不足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可能存在抓大放小的问题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导致渠道议价能力弱，毛利上不去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大量网点合作不牢固，份额易被抢夺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7072212" y="3819056"/>
            <a:ext cx="3672800" cy="2266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核心分销解决量的问题，担任推广阵地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带动腰部分销做市场中坚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dirty="0"/>
              <a:t>依靠精细化服务维护渠道根基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endParaRPr lang="en-US" altLang="zh-CN" sz="1600" dirty="0"/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核心做量、做品牌市场地位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腰部用更好的服务谋取更好的毛利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91447" y="583902"/>
            <a:ext cx="3543242" cy="2690305"/>
            <a:chOff x="804348" y="2417997"/>
            <a:chExt cx="3357824" cy="2443501"/>
          </a:xfrm>
        </p:grpSpPr>
        <p:sp>
          <p:nvSpPr>
            <p:cNvPr id="33" name="三角形 12"/>
            <p:cNvSpPr/>
            <p:nvPr/>
          </p:nvSpPr>
          <p:spPr>
            <a:xfrm rot="10800000">
              <a:off x="3035509" y="2730817"/>
              <a:ext cx="1126663" cy="2109506"/>
            </a:xfrm>
            <a:prstGeom prst="triangle">
              <a:avLst/>
            </a:prstGeom>
            <a:gradFill>
              <a:gsLst>
                <a:gs pos="100000">
                  <a:srgbClr val="80899C">
                    <a:lumMod val="5000"/>
                    <a:lumOff val="95000"/>
                  </a:srgbClr>
                </a:gs>
                <a:gs pos="5000">
                  <a:srgbClr val="C00000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三角形 12"/>
            <p:cNvSpPr/>
            <p:nvPr/>
          </p:nvSpPr>
          <p:spPr>
            <a:xfrm>
              <a:off x="1377878" y="2709643"/>
              <a:ext cx="1039531" cy="2151855"/>
            </a:xfrm>
            <a:prstGeom prst="triangle">
              <a:avLst/>
            </a:prstGeom>
            <a:gradFill flip="none" rotWithShape="1">
              <a:gsLst>
                <a:gs pos="0">
                  <a:srgbClr val="C00000"/>
                </a:gs>
                <a:gs pos="68000">
                  <a:srgbClr val="C00000">
                    <a:alpha val="33000"/>
                  </a:srgbClr>
                </a:gs>
                <a:gs pos="37000">
                  <a:srgbClr val="C00000">
                    <a:alpha val="81338"/>
                  </a:srgbClr>
                </a:gs>
                <a:gs pos="100000">
                  <a:schemeClr val="bg1">
                    <a:alpha val="67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04348" y="2812267"/>
              <a:ext cx="782816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核心形象店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804348" y="3323645"/>
              <a:ext cx="523114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形象店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804348" y="3852431"/>
              <a:ext cx="782816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核心分销店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804348" y="4375190"/>
              <a:ext cx="523114" cy="209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/>
                <a:t>分销店</a:t>
              </a: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479778" y="2422306"/>
              <a:ext cx="727165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数量占比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15880" y="2417997"/>
              <a:ext cx="102396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销售贡献占比</a:t>
              </a:r>
            </a:p>
          </p:txBody>
        </p:sp>
        <p:cxnSp>
          <p:nvCxnSpPr>
            <p:cNvPr id="74" name="直线箭头连接符 27"/>
            <p:cNvCxnSpPr/>
            <p:nvPr/>
          </p:nvCxnSpPr>
          <p:spPr>
            <a:xfrm>
              <a:off x="2265757" y="2907490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箭头连接符 28"/>
            <p:cNvCxnSpPr/>
            <p:nvPr/>
          </p:nvCxnSpPr>
          <p:spPr>
            <a:xfrm>
              <a:off x="2351784" y="3434837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29"/>
            <p:cNvCxnSpPr/>
            <p:nvPr/>
          </p:nvCxnSpPr>
          <p:spPr>
            <a:xfrm>
              <a:off x="2482600" y="3947653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箭头连接符 30"/>
            <p:cNvCxnSpPr/>
            <p:nvPr/>
          </p:nvCxnSpPr>
          <p:spPr>
            <a:xfrm>
              <a:off x="2588814" y="4497655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2344889" y="2696397"/>
              <a:ext cx="498784" cy="419313"/>
              <a:chOff x="8287352" y="1056889"/>
              <a:chExt cx="967290" cy="813175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8349623" y="1056889"/>
                <a:ext cx="905019" cy="81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2433016" y="3226974"/>
              <a:ext cx="490879" cy="419313"/>
              <a:chOff x="8287352" y="1055936"/>
              <a:chExt cx="951961" cy="813175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8334292" y="1055936"/>
                <a:ext cx="905021" cy="81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2572213" y="3740573"/>
              <a:ext cx="489547" cy="419313"/>
              <a:chOff x="8287352" y="1057455"/>
              <a:chExt cx="949378" cy="813175"/>
            </a:xfrm>
          </p:grpSpPr>
          <p:sp>
            <p:nvSpPr>
              <p:cNvPr id="88" name="椭圆 87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8331710" y="1057455"/>
                <a:ext cx="905020" cy="81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2675309" y="4308739"/>
              <a:ext cx="491148" cy="419313"/>
              <a:chOff x="8287352" y="1070171"/>
              <a:chExt cx="952482" cy="813175"/>
            </a:xfrm>
          </p:grpSpPr>
          <p:sp>
            <p:nvSpPr>
              <p:cNvPr id="86" name="椭圆 85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8334814" y="1070171"/>
                <a:ext cx="905020" cy="813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sp>
          <p:nvSpPr>
            <p:cNvPr id="82" name="文本框 81"/>
            <p:cNvSpPr txBox="1"/>
            <p:nvPr/>
          </p:nvSpPr>
          <p:spPr>
            <a:xfrm>
              <a:off x="3199985" y="2820409"/>
              <a:ext cx="68542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3199985" y="3310766"/>
              <a:ext cx="68542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6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3199985" y="3858586"/>
              <a:ext cx="898102" cy="3074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（   ）</a:t>
              </a:r>
              <a:r>
                <a:rPr kumimoji="1" lang="en-US" altLang="zh-CN" sz="1600" b="1" dirty="0"/>
                <a:t>%</a:t>
              </a:r>
              <a:endParaRPr kumimoji="1" lang="zh-CN" altLang="en-US" sz="1600" b="1" dirty="0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3199985" y="4402433"/>
              <a:ext cx="685427" cy="2302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600" b="1" dirty="0"/>
                <a:t>（   ）</a:t>
              </a:r>
              <a:r>
                <a:rPr kumimoji="1" lang="en-US" altLang="zh-CN" sz="1600" b="1" dirty="0"/>
                <a:t>%</a:t>
              </a:r>
              <a:endParaRPr kumimoji="1" lang="zh-CN" altLang="en-US" sz="1600" b="1" dirty="0"/>
            </a:p>
          </p:txBody>
        </p:sp>
      </p:grpSp>
      <p:sp>
        <p:nvSpPr>
          <p:cNvPr id="94" name="箭头: 右 62"/>
          <p:cNvSpPr/>
          <p:nvPr/>
        </p:nvSpPr>
        <p:spPr>
          <a:xfrm>
            <a:off x="5891913" y="4512073"/>
            <a:ext cx="645226" cy="1025236"/>
          </a:xfrm>
          <a:prstGeom prst="rightArrow">
            <a:avLst/>
          </a:prstGeom>
          <a:solidFill>
            <a:schemeClr val="accent2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95" name="组合 94"/>
          <p:cNvGrpSpPr/>
          <p:nvPr/>
        </p:nvGrpSpPr>
        <p:grpSpPr>
          <a:xfrm>
            <a:off x="1293760" y="3524838"/>
            <a:ext cx="3926345" cy="2848020"/>
            <a:chOff x="7187248" y="2394871"/>
            <a:chExt cx="3497790" cy="2399766"/>
          </a:xfrm>
        </p:grpSpPr>
        <p:sp>
          <p:nvSpPr>
            <p:cNvPr id="96" name="矩形: 剪去左右顶角 65"/>
            <p:cNvSpPr/>
            <p:nvPr/>
          </p:nvSpPr>
          <p:spPr>
            <a:xfrm>
              <a:off x="9418405" y="2642783"/>
              <a:ext cx="1126663" cy="1031588"/>
            </a:xfrm>
            <a:prstGeom prst="snip2SameRect">
              <a:avLst>
                <a:gd name="adj1" fmla="val 25120"/>
                <a:gd name="adj2" fmla="val 0"/>
              </a:avLst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7" name="三角形 12"/>
            <p:cNvSpPr/>
            <p:nvPr/>
          </p:nvSpPr>
          <p:spPr>
            <a:xfrm rot="10800000">
              <a:off x="9418405" y="3670576"/>
              <a:ext cx="1126663" cy="1058430"/>
            </a:xfrm>
            <a:prstGeom prst="triangle">
              <a:avLst/>
            </a:prstGeom>
            <a:gradFill>
              <a:gsLst>
                <a:gs pos="100000">
                  <a:srgbClr val="80899C">
                    <a:lumMod val="5000"/>
                    <a:lumOff val="95000"/>
                  </a:srgbClr>
                </a:gs>
                <a:gs pos="5000">
                  <a:srgbClr val="C00000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三角形 12"/>
            <p:cNvSpPr/>
            <p:nvPr/>
          </p:nvSpPr>
          <p:spPr>
            <a:xfrm>
              <a:off x="7760778" y="2642782"/>
              <a:ext cx="1039531" cy="2151855"/>
            </a:xfrm>
            <a:prstGeom prst="triangle">
              <a:avLst/>
            </a:prstGeom>
            <a:gradFill flip="none" rotWithShape="1">
              <a:gsLst>
                <a:gs pos="0">
                  <a:srgbClr val="C00000"/>
                </a:gs>
                <a:gs pos="68000">
                  <a:srgbClr val="C00000">
                    <a:alpha val="33000"/>
                  </a:srgbClr>
                </a:gs>
                <a:gs pos="37000">
                  <a:srgbClr val="C00000">
                    <a:alpha val="81338"/>
                  </a:srgbClr>
                </a:gs>
                <a:gs pos="100000">
                  <a:schemeClr val="bg1">
                    <a:alpha val="67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7187248" y="2745406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核心形象店</a:t>
              </a: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7187248" y="3256784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形象店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7187248" y="3785570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核心分销店</a:t>
              </a: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7187248" y="4308329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100" dirty="0"/>
                <a:t>分销店</a:t>
              </a: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7994874" y="24039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/>
                <a:t>数量占比</a:t>
              </a: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9577042" y="2394871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/>
                <a:t>销售贡献占比</a:t>
              </a:r>
            </a:p>
          </p:txBody>
        </p:sp>
        <p:cxnSp>
          <p:nvCxnSpPr>
            <p:cNvPr id="105" name="直线箭头连接符 27"/>
            <p:cNvCxnSpPr/>
            <p:nvPr/>
          </p:nvCxnSpPr>
          <p:spPr>
            <a:xfrm>
              <a:off x="8658113" y="2840629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箭头连接符 28"/>
            <p:cNvCxnSpPr/>
            <p:nvPr/>
          </p:nvCxnSpPr>
          <p:spPr>
            <a:xfrm>
              <a:off x="8734684" y="3367976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箭头连接符 29"/>
            <p:cNvCxnSpPr/>
            <p:nvPr/>
          </p:nvCxnSpPr>
          <p:spPr>
            <a:xfrm>
              <a:off x="8882261" y="3880792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箭头连接符 30"/>
            <p:cNvCxnSpPr/>
            <p:nvPr/>
          </p:nvCxnSpPr>
          <p:spPr>
            <a:xfrm>
              <a:off x="8971714" y="4430794"/>
              <a:ext cx="575740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108"/>
            <p:cNvGrpSpPr/>
            <p:nvPr/>
          </p:nvGrpSpPr>
          <p:grpSpPr>
            <a:xfrm>
              <a:off x="8727784" y="2660076"/>
              <a:ext cx="531800" cy="466878"/>
              <a:chOff x="8287352" y="1116115"/>
              <a:chExt cx="1031319" cy="905416"/>
            </a:xfrm>
          </p:grpSpPr>
          <p:sp>
            <p:nvSpPr>
              <p:cNvPr id="123" name="椭圆 122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24" name="文本框 123"/>
              <p:cNvSpPr txBox="1"/>
              <p:nvPr/>
            </p:nvSpPr>
            <p:spPr>
              <a:xfrm>
                <a:off x="8363677" y="1126224"/>
                <a:ext cx="954994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110" name="组合 109"/>
            <p:cNvGrpSpPr/>
            <p:nvPr/>
          </p:nvGrpSpPr>
          <p:grpSpPr>
            <a:xfrm>
              <a:off x="8815917" y="3185699"/>
              <a:ext cx="523080" cy="461665"/>
              <a:chOff x="8287352" y="1105554"/>
              <a:chExt cx="1014408" cy="895307"/>
            </a:xfrm>
          </p:grpSpPr>
          <p:sp>
            <p:nvSpPr>
              <p:cNvPr id="121" name="椭圆 120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22" name="文本框 121"/>
              <p:cNvSpPr txBox="1"/>
              <p:nvPr/>
            </p:nvSpPr>
            <p:spPr>
              <a:xfrm>
                <a:off x="8346765" y="1105554"/>
                <a:ext cx="954995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111" name="组合 110"/>
            <p:cNvGrpSpPr/>
            <p:nvPr/>
          </p:nvGrpSpPr>
          <p:grpSpPr>
            <a:xfrm>
              <a:off x="8955116" y="3700609"/>
              <a:ext cx="522502" cy="461665"/>
              <a:chOff x="8287352" y="1109614"/>
              <a:chExt cx="1013287" cy="895307"/>
            </a:xfrm>
          </p:grpSpPr>
          <p:sp>
            <p:nvSpPr>
              <p:cNvPr id="119" name="椭圆 118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8345644" y="1109614"/>
                <a:ext cx="954995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9058209" y="4249756"/>
              <a:ext cx="523913" cy="461665"/>
              <a:chOff x="8287352" y="1085447"/>
              <a:chExt cx="1016023" cy="895307"/>
            </a:xfrm>
          </p:grpSpPr>
          <p:sp>
            <p:nvSpPr>
              <p:cNvPr id="117" name="椭圆 116"/>
              <p:cNvSpPr/>
              <p:nvPr/>
            </p:nvSpPr>
            <p:spPr>
              <a:xfrm>
                <a:off x="8287352" y="1116115"/>
                <a:ext cx="660477" cy="6604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8348382" y="1085447"/>
                <a:ext cx="954993" cy="8953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chemeClr val="accent1"/>
                    </a:solidFill>
                  </a:rPr>
                  <a:t>？</a:t>
                </a:r>
              </a:p>
            </p:txBody>
          </p:sp>
        </p:grpSp>
        <p:sp>
          <p:nvSpPr>
            <p:cNvPr id="113" name="文本框 112"/>
            <p:cNvSpPr txBox="1"/>
            <p:nvPr/>
          </p:nvSpPr>
          <p:spPr>
            <a:xfrm>
              <a:off x="9631776" y="2753548"/>
              <a:ext cx="7745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2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9626880" y="3243905"/>
              <a:ext cx="7745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2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9620122" y="3791725"/>
              <a:ext cx="7745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>
                  <a:solidFill>
                    <a:schemeClr val="bg1"/>
                  </a:solidFill>
                </a:rPr>
                <a:t>（   ）</a:t>
              </a:r>
              <a:r>
                <a:rPr kumimoji="1" lang="en-US" altLang="zh-CN" sz="1200" b="1" dirty="0">
                  <a:solidFill>
                    <a:schemeClr val="bg1"/>
                  </a:solidFill>
                </a:rPr>
                <a:t>%</a:t>
              </a:r>
              <a:endParaRPr kumimoji="1"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9638445" y="4335572"/>
              <a:ext cx="7745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b="1" dirty="0"/>
                <a:t>（   ）</a:t>
              </a:r>
              <a:r>
                <a:rPr kumimoji="1" lang="en-US" altLang="zh-CN" sz="1200" b="1" dirty="0"/>
                <a:t>%</a:t>
              </a:r>
              <a:endParaRPr kumimoji="1" lang="zh-CN" altLang="en-US" sz="1200" b="1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7" name="矩形 6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8" name="矩形 7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9" name="矩形 8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00211" y="354327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/>
              <a:t>品类数标准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10443" y="446955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/>
              <a:t>产品组合标准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0443" y="539582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/>
              <a:t>资源投放标准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292952" y="2411391"/>
            <a:ext cx="3491942" cy="561463"/>
          </a:xfrm>
          <a:prstGeom prst="round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对网点的分销要求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4306302" y="2411390"/>
            <a:ext cx="3467616" cy="561463"/>
          </a:xfrm>
          <a:prstGeom prst="round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对网点的激励标准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556771" y="3543276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必须铺进几个品类？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556771" y="4465461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卖哪些主力产品？做多少量？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56771" y="5395827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匹配哪些动销资源？多大投入？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132423" y="3353073"/>
            <a:ext cx="2536634" cy="277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返利政策</a:t>
            </a:r>
            <a:endParaRPr lang="en-US" altLang="zh-CN" dirty="0"/>
          </a:p>
          <a:p>
            <a:pPr marL="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陈列奖励</a:t>
            </a:r>
          </a:p>
          <a:p>
            <a:pPr marL="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授信政策</a:t>
            </a:r>
          </a:p>
          <a:p>
            <a:pPr marL="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专属产品</a:t>
            </a:r>
            <a:endParaRPr lang="en-US" altLang="zh-CN" dirty="0"/>
          </a:p>
          <a:p>
            <a:pPr marL="0" lvl="1">
              <a:lnSpc>
                <a:spcPct val="200000"/>
              </a:lnSpc>
            </a:pP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6" name="矩形: 圆角 13"/>
          <p:cNvSpPr/>
          <p:nvPr/>
        </p:nvSpPr>
        <p:spPr>
          <a:xfrm>
            <a:off x="8295326" y="2407872"/>
            <a:ext cx="3309835" cy="561463"/>
          </a:xfrm>
          <a:prstGeom prst="round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对业务员的标准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546535" y="5395827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完成标准要多久服务时间？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46535" y="3543276"/>
            <a:ext cx="3236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每月至少拜访几次才能完成品类铺市？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546535" y="4465461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给业务员下达明确的品类、产品、销量任务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968237" y="993973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制定分级执行标准</a:t>
            </a:r>
          </a:p>
        </p:txBody>
      </p:sp>
      <p:sp>
        <p:nvSpPr>
          <p:cNvPr id="11" name="左大括号 10"/>
          <p:cNvSpPr/>
          <p:nvPr/>
        </p:nvSpPr>
        <p:spPr>
          <a:xfrm rot="5400000">
            <a:off x="5766963" y="-2406372"/>
            <a:ext cx="280535" cy="87009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2" name="矩形 11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3" name="矩形 12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4" name="矩形 13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00622" y="618514"/>
            <a:ext cx="5673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/>
              <a:t>示例：</a:t>
            </a:r>
            <a:r>
              <a:rPr kumimoji="1" lang="zh-CN" altLang="en-US" sz="2000" b="1" dirty="0"/>
              <a:t>某粮油经销商的网点分级及执行标准</a:t>
            </a:r>
            <a:endParaRPr kumimoji="1" lang="zh-CN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00622" y="1438656"/>
          <a:ext cx="10376979" cy="4878060"/>
        </p:xfrm>
        <a:graphic>
          <a:graphicData uri="http://schemas.openxmlformats.org/drawingml/2006/table">
            <a:tbl>
              <a:tblPr/>
              <a:tblGrid>
                <a:gridCol w="131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25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9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9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具体指标</a:t>
                      </a:r>
                    </a:p>
                  </a:txBody>
                  <a:tcPr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旗舰店</a:t>
                      </a:r>
                    </a:p>
                  </a:txBody>
                  <a:tcPr marL="9298" marR="9298" marT="9298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形象店</a:t>
                      </a:r>
                    </a:p>
                  </a:txBody>
                  <a:tcPr marL="9298" marR="9298" marT="9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标准店</a:t>
                      </a:r>
                    </a:p>
                  </a:txBody>
                  <a:tcPr marL="9298" marR="9298" marT="9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强动销店</a:t>
                      </a:r>
                    </a:p>
                  </a:txBody>
                  <a:tcPr marL="9298" marR="9298" marT="9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强分销店</a:t>
                      </a:r>
                    </a:p>
                  </a:txBody>
                  <a:tcPr marL="9298" marR="9298" marT="9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强覆盖店</a:t>
                      </a:r>
                    </a:p>
                  </a:txBody>
                  <a:tcPr marL="9298" marR="9298" marT="92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备注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81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门店筛选标准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月均销量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》15000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15000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月均销量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》5000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月均销量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&lt;5000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资源投放门店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月度活跃门店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B2B/101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覆盖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不同市场类型自行设定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3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分销标准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胡姬花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金花生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胡姬花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金花生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胡姬花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金花生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胡姬花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金花生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胡姬花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金花生</a:t>
                      </a:r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分公司自行设定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29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陈列标准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整组货架或端架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古法花生油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平米地堆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古法花生油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平米地堆或整组货架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正常货架陈列（紧贴竞品）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门店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整组货架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SKU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不低于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个瓶面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胡姬花维持万店打造标准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81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古法小榨不低于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平米）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（古法小榨不低于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个瓶面）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SKU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不低于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个瓶面）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割箱</a:t>
                      </a: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小货架任</a:t>
                      </a: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种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动销店标准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90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终端生动化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货架形象包装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货架插卡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货架插卡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价格签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货架插纸（海报）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价格签（海报）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万店打造标准等物料明细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5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堆头围板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堆头牌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堆头围板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堆头牌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90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档期活跃要求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胡姬花维持万店打造标准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81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消费者活动场次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店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店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周末促销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343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促销员投入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专促为主，长促为辅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不作要求（用好长促）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不作要求（用好长促）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646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体验营销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158ML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闻香，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50ML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派赠，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158/400/900ML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秒杀、特卖等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有长促的门店要有闻香小油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可选择质量好的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类店投入小油闻香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9298" marR="9298" marT="92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8" name="矩形 7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9" name="矩形 8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0" name="矩形 9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93076" y="1618301"/>
          <a:ext cx="9858705" cy="4170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1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402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核心形象店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普通形象店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核心分销店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普通分销店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02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销量标准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02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资源标准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02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促销标准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02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拜访标准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636397" y="917889"/>
            <a:ext cx="4467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网点分级：确定执行标准</a:t>
            </a:r>
          </a:p>
        </p:txBody>
      </p:sp>
      <p:sp>
        <p:nvSpPr>
          <p:cNvPr id="6" name="矩形 5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7" name="矩形 6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8" name="矩形 7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9" name="矩形 8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6958" y="120184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/>
              <a:t>核心网点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78444" y="2408991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一店一策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16779" y="3992999"/>
            <a:ext cx="5211683" cy="131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/>
              <a:t>每家核心网点都是一处堡垒阵地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都应找到专门打法！</a:t>
            </a:r>
          </a:p>
        </p:txBody>
      </p:sp>
      <p:sp>
        <p:nvSpPr>
          <p:cNvPr id="12" name="矩形 11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3" name="矩形 12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4" name="矩形 13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5" name="矩形 14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885740" y="1215203"/>
            <a:ext cx="842052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黑体" panose="02010609060101010101" charset="-122"/>
              </a:defRPr>
            </a:lvl1pPr>
          </a:lstStyle>
          <a:p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集中优势兵力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抓关键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网点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与时机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6641218" y="2252513"/>
            <a:ext cx="4867648" cy="289023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时间：抓住关键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网点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地点：抓住关键时间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将主要的促销经费与人力投入到这个时间地点，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创造远大于竞争对手的优势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3643639" y="2981153"/>
            <a:ext cx="1933835" cy="2224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052" tIns="47526" rIns="95052" bIns="47526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扬长补短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15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攻其弱点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15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首战必胜</a:t>
            </a:r>
          </a:p>
        </p:txBody>
      </p:sp>
      <p:pic>
        <p:nvPicPr>
          <p:cNvPr id="5" name="Picture 2" descr="F:\天友常温\提案\图片\毛泽东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39" y="2908819"/>
            <a:ext cx="2903414" cy="218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02387" y="2252513"/>
            <a:ext cx="3852310" cy="37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5052" tIns="47526" rIns="95052" bIns="47526">
            <a:spAutoFit/>
          </a:bodyPr>
          <a:lstStyle/>
          <a:p>
            <a:pPr algn="ctr" fontAlgn="base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毛泽东的军事思想</a:t>
            </a:r>
          </a:p>
        </p:txBody>
      </p:sp>
      <p:sp>
        <p:nvSpPr>
          <p:cNvPr id="7" name="矩形 6"/>
          <p:cNvSpPr/>
          <p:nvPr/>
        </p:nvSpPr>
        <p:spPr>
          <a:xfrm>
            <a:off x="959706" y="5574727"/>
            <a:ext cx="4137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粟裕，孟良崮战役，张灵甫整编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74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师；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2" name="矩形 11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3" name="矩形 12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4" name="矩形 13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4187" y="2545988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贴标签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40454" y="3213515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找到核心网点的可发挥优势！</a:t>
            </a:r>
          </a:p>
        </p:txBody>
      </p:sp>
      <p:grpSp>
        <p:nvGrpSpPr>
          <p:cNvPr id="23" name="图形 2"/>
          <p:cNvGrpSpPr>
            <a:grpSpLocks noChangeAspect="1"/>
          </p:cNvGrpSpPr>
          <p:nvPr/>
        </p:nvGrpSpPr>
        <p:grpSpPr>
          <a:xfrm>
            <a:off x="1039583" y="3785859"/>
            <a:ext cx="2795929" cy="2121043"/>
            <a:chOff x="7642506" y="4769335"/>
            <a:chExt cx="932494" cy="707407"/>
          </a:xfrm>
        </p:grpSpPr>
        <p:sp>
          <p:nvSpPr>
            <p:cNvPr id="24" name="任意多边形: 形状 2"/>
            <p:cNvSpPr/>
            <p:nvPr/>
          </p:nvSpPr>
          <p:spPr>
            <a:xfrm>
              <a:off x="7907015" y="4861031"/>
              <a:ext cx="667985" cy="615711"/>
            </a:xfrm>
            <a:custGeom>
              <a:avLst/>
              <a:gdLst>
                <a:gd name="connsiteX0" fmla="*/ 92575 w 667985"/>
                <a:gd name="connsiteY0" fmla="*/ 6552 h 615711"/>
                <a:gd name="connsiteX1" fmla="*/ 39671 w 667985"/>
                <a:gd name="connsiteY1" fmla="*/ 445407 h 615711"/>
                <a:gd name="connsiteX2" fmla="*/ 0 w 667985"/>
                <a:gd name="connsiteY2" fmla="*/ 615711 h 615711"/>
                <a:gd name="connsiteX3" fmla="*/ 471935 w 667985"/>
                <a:gd name="connsiteY3" fmla="*/ 572780 h 615711"/>
                <a:gd name="connsiteX4" fmla="*/ 648016 w 667985"/>
                <a:gd name="connsiteY4" fmla="*/ 556765 h 615711"/>
                <a:gd name="connsiteX5" fmla="*/ 667856 w 667985"/>
                <a:gd name="connsiteY5" fmla="*/ 229259 h 615711"/>
                <a:gd name="connsiteX6" fmla="*/ 661240 w 667985"/>
                <a:gd name="connsiteY6" fmla="*/ 58955 h 615711"/>
                <a:gd name="connsiteX7" fmla="*/ 654633 w 667985"/>
                <a:gd name="connsiteY7" fmla="*/ 0 h 615711"/>
                <a:gd name="connsiteX8" fmla="*/ 469483 w 667985"/>
                <a:gd name="connsiteY8" fmla="*/ 13103 h 615711"/>
                <a:gd name="connsiteX9" fmla="*/ 92575 w 667985"/>
                <a:gd name="connsiteY9" fmla="*/ 6552 h 61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7985" h="615711">
                  <a:moveTo>
                    <a:pt x="92575" y="6552"/>
                  </a:moveTo>
                  <a:cubicBezTo>
                    <a:pt x="86951" y="139435"/>
                    <a:pt x="71452" y="287028"/>
                    <a:pt x="39671" y="445407"/>
                  </a:cubicBezTo>
                  <a:cubicBezTo>
                    <a:pt x="27763" y="504773"/>
                    <a:pt x="14386" y="561574"/>
                    <a:pt x="0" y="615711"/>
                  </a:cubicBezTo>
                  <a:cubicBezTo>
                    <a:pt x="157314" y="601398"/>
                    <a:pt x="314629" y="587093"/>
                    <a:pt x="471935" y="572780"/>
                  </a:cubicBezTo>
                  <a:cubicBezTo>
                    <a:pt x="584617" y="562526"/>
                    <a:pt x="647992" y="556765"/>
                    <a:pt x="648016" y="556765"/>
                  </a:cubicBezTo>
                  <a:cubicBezTo>
                    <a:pt x="648016" y="556732"/>
                    <a:pt x="666041" y="397030"/>
                    <a:pt x="667856" y="229259"/>
                  </a:cubicBezTo>
                  <a:cubicBezTo>
                    <a:pt x="668292" y="189071"/>
                    <a:pt x="667977" y="131294"/>
                    <a:pt x="661240" y="58955"/>
                  </a:cubicBezTo>
                  <a:cubicBezTo>
                    <a:pt x="658941" y="34242"/>
                    <a:pt x="656448" y="13853"/>
                    <a:pt x="654633" y="0"/>
                  </a:cubicBezTo>
                  <a:cubicBezTo>
                    <a:pt x="595581" y="5906"/>
                    <a:pt x="533802" y="10424"/>
                    <a:pt x="469483" y="13103"/>
                  </a:cubicBezTo>
                  <a:cubicBezTo>
                    <a:pt x="333759" y="18751"/>
                    <a:pt x="207539" y="15330"/>
                    <a:pt x="92575" y="6552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ADD9FF"/>
                </a:gs>
                <a:gs pos="100000">
                  <a:srgbClr val="5CB3FF"/>
                </a:gs>
              </a:gsLst>
              <a:lin ang="16421483" scaled="1"/>
            </a:gradFill>
            <a:ln w="8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3"/>
            <p:cNvSpPr/>
            <p:nvPr/>
          </p:nvSpPr>
          <p:spPr>
            <a:xfrm>
              <a:off x="7934625" y="4867582"/>
              <a:ext cx="534851" cy="510323"/>
            </a:xfrm>
            <a:custGeom>
              <a:avLst/>
              <a:gdLst>
                <a:gd name="connsiteX0" fmla="*/ 329136 w 534851"/>
                <a:gd name="connsiteY0" fmla="*/ 510324 h 510323"/>
                <a:gd name="connsiteX1" fmla="*/ 381354 w 534851"/>
                <a:gd name="connsiteY1" fmla="*/ 381442 h 510323"/>
                <a:gd name="connsiteX2" fmla="*/ 479003 w 534851"/>
                <a:gd name="connsiteY2" fmla="*/ 127873 h 510323"/>
                <a:gd name="connsiteX3" fmla="*/ 534851 w 534851"/>
                <a:gd name="connsiteY3" fmla="*/ 1186 h 510323"/>
                <a:gd name="connsiteX4" fmla="*/ 441873 w 534851"/>
                <a:gd name="connsiteY4" fmla="*/ 6552 h 510323"/>
                <a:gd name="connsiteX5" fmla="*/ 64965 w 534851"/>
                <a:gd name="connsiteY5" fmla="*/ 0 h 510323"/>
                <a:gd name="connsiteX6" fmla="*/ 12062 w 534851"/>
                <a:gd name="connsiteY6" fmla="*/ 438856 h 510323"/>
                <a:gd name="connsiteX7" fmla="*/ 0 w 534851"/>
                <a:gd name="connsiteY7" fmla="*/ 495083 h 510323"/>
                <a:gd name="connsiteX8" fmla="*/ 54590 w 534851"/>
                <a:gd name="connsiteY8" fmla="*/ 495793 h 510323"/>
                <a:gd name="connsiteX9" fmla="*/ 209839 w 534851"/>
                <a:gd name="connsiteY9" fmla="*/ 506443 h 510323"/>
                <a:gd name="connsiteX10" fmla="*/ 329136 w 534851"/>
                <a:gd name="connsiteY10" fmla="*/ 510324 h 51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4851" h="510323">
                  <a:moveTo>
                    <a:pt x="329136" y="510324"/>
                  </a:moveTo>
                  <a:cubicBezTo>
                    <a:pt x="346410" y="467312"/>
                    <a:pt x="363764" y="424324"/>
                    <a:pt x="381354" y="381442"/>
                  </a:cubicBezTo>
                  <a:cubicBezTo>
                    <a:pt x="415781" y="297492"/>
                    <a:pt x="446020" y="212348"/>
                    <a:pt x="479003" y="127873"/>
                  </a:cubicBezTo>
                  <a:cubicBezTo>
                    <a:pt x="495495" y="85636"/>
                    <a:pt x="512954" y="42060"/>
                    <a:pt x="534851" y="1186"/>
                  </a:cubicBezTo>
                  <a:cubicBezTo>
                    <a:pt x="504442" y="3357"/>
                    <a:pt x="473557" y="5236"/>
                    <a:pt x="441873" y="6552"/>
                  </a:cubicBezTo>
                  <a:cubicBezTo>
                    <a:pt x="306149" y="12199"/>
                    <a:pt x="179930" y="8778"/>
                    <a:pt x="64965" y="0"/>
                  </a:cubicBezTo>
                  <a:cubicBezTo>
                    <a:pt x="59342" y="132884"/>
                    <a:pt x="43843" y="280476"/>
                    <a:pt x="12062" y="438856"/>
                  </a:cubicBezTo>
                  <a:cubicBezTo>
                    <a:pt x="8230" y="457953"/>
                    <a:pt x="4155" y="476599"/>
                    <a:pt x="0" y="495083"/>
                  </a:cubicBezTo>
                  <a:cubicBezTo>
                    <a:pt x="18888" y="494526"/>
                    <a:pt x="37542" y="495172"/>
                    <a:pt x="54590" y="495793"/>
                  </a:cubicBezTo>
                  <a:cubicBezTo>
                    <a:pt x="106436" y="497689"/>
                    <a:pt x="158000" y="505056"/>
                    <a:pt x="209839" y="506443"/>
                  </a:cubicBezTo>
                  <a:cubicBezTo>
                    <a:pt x="249478" y="507508"/>
                    <a:pt x="289279" y="508944"/>
                    <a:pt x="329136" y="510324"/>
                  </a:cubicBezTo>
                  <a:close/>
                </a:path>
              </a:pathLst>
            </a:custGeom>
            <a:gradFill>
              <a:gsLst>
                <a:gs pos="0">
                  <a:srgbClr val="0F9BFF"/>
                </a:gs>
                <a:gs pos="50000">
                  <a:srgbClr val="3D6AFE"/>
                </a:gs>
                <a:gs pos="100000">
                  <a:srgbClr val="6B3AFE"/>
                </a:gs>
              </a:gsLst>
              <a:lin ang="15765784" scaled="1"/>
            </a:gradFill>
            <a:ln w="8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4"/>
            <p:cNvSpPr/>
            <p:nvPr/>
          </p:nvSpPr>
          <p:spPr>
            <a:xfrm>
              <a:off x="7642506" y="4769335"/>
              <a:ext cx="806718" cy="571040"/>
            </a:xfrm>
            <a:custGeom>
              <a:avLst/>
              <a:gdLst>
                <a:gd name="connsiteX0" fmla="*/ 211606 w 806718"/>
                <a:gd name="connsiteY0" fmla="*/ 0 h 571040"/>
                <a:gd name="connsiteX1" fmla="*/ 145478 w 806718"/>
                <a:gd name="connsiteY1" fmla="*/ 183407 h 571040"/>
                <a:gd name="connsiteX2" fmla="*/ 79351 w 806718"/>
                <a:gd name="connsiteY2" fmla="*/ 360263 h 571040"/>
                <a:gd name="connsiteX3" fmla="*/ 0 w 806718"/>
                <a:gd name="connsiteY3" fmla="*/ 524016 h 571040"/>
                <a:gd name="connsiteX4" fmla="*/ 476098 w 806718"/>
                <a:gd name="connsiteY4" fmla="*/ 569867 h 571040"/>
                <a:gd name="connsiteX5" fmla="*/ 595121 w 806718"/>
                <a:gd name="connsiteY5" fmla="*/ 563316 h 571040"/>
                <a:gd name="connsiteX6" fmla="*/ 681080 w 806718"/>
                <a:gd name="connsiteY6" fmla="*/ 393012 h 571040"/>
                <a:gd name="connsiteX7" fmla="*/ 806718 w 806718"/>
                <a:gd name="connsiteY7" fmla="*/ 6552 h 571040"/>
                <a:gd name="connsiteX8" fmla="*/ 211606 w 806718"/>
                <a:gd name="connsiteY8" fmla="*/ 0 h 57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6718" h="571040">
                  <a:moveTo>
                    <a:pt x="211606" y="0"/>
                  </a:moveTo>
                  <a:cubicBezTo>
                    <a:pt x="211606" y="8"/>
                    <a:pt x="177235" y="96189"/>
                    <a:pt x="145478" y="183407"/>
                  </a:cubicBezTo>
                  <a:cubicBezTo>
                    <a:pt x="109777" y="281468"/>
                    <a:pt x="91921" y="330491"/>
                    <a:pt x="79351" y="360263"/>
                  </a:cubicBezTo>
                  <a:cubicBezTo>
                    <a:pt x="49071" y="431965"/>
                    <a:pt x="19759" y="488161"/>
                    <a:pt x="0" y="524016"/>
                  </a:cubicBezTo>
                  <a:cubicBezTo>
                    <a:pt x="8" y="523999"/>
                    <a:pt x="286656" y="579743"/>
                    <a:pt x="476098" y="569867"/>
                  </a:cubicBezTo>
                  <a:cubicBezTo>
                    <a:pt x="489443" y="569174"/>
                    <a:pt x="595121" y="563308"/>
                    <a:pt x="595121" y="563316"/>
                  </a:cubicBezTo>
                  <a:cubicBezTo>
                    <a:pt x="595121" y="563300"/>
                    <a:pt x="666993" y="421436"/>
                    <a:pt x="681080" y="393012"/>
                  </a:cubicBezTo>
                  <a:cubicBezTo>
                    <a:pt x="719953" y="314580"/>
                    <a:pt x="768386" y="192928"/>
                    <a:pt x="806718" y="6552"/>
                  </a:cubicBezTo>
                  <a:cubicBezTo>
                    <a:pt x="417588" y="2267"/>
                    <a:pt x="211606" y="0"/>
                    <a:pt x="211606" y="0"/>
                  </a:cubicBezTo>
                  <a:close/>
                </a:path>
              </a:pathLst>
            </a:custGeom>
            <a:gradFill>
              <a:gsLst>
                <a:gs pos="0">
                  <a:srgbClr val="FFFBCC"/>
                </a:gs>
                <a:gs pos="50000">
                  <a:srgbClr val="FFE68B"/>
                </a:gs>
                <a:gs pos="100000">
                  <a:srgbClr val="FFD24A"/>
                </a:gs>
              </a:gsLst>
              <a:lin ang="16832351" scaled="1"/>
            </a:gradFill>
            <a:ln w="8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4028768" y="84887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核心网点的运营方法</a:t>
            </a:r>
            <a:r>
              <a:rPr kumimoji="1" lang="en-US" altLang="zh-CN" sz="2800" dirty="0"/>
              <a:t>——</a:t>
            </a:r>
            <a:endParaRPr kumimoji="1" lang="zh-CN" altLang="en-US" sz="2800" dirty="0"/>
          </a:p>
        </p:txBody>
      </p:sp>
      <p:sp>
        <p:nvSpPr>
          <p:cNvPr id="30" name="文本框 29"/>
          <p:cNvSpPr txBox="1"/>
          <p:nvPr/>
        </p:nvSpPr>
        <p:spPr>
          <a:xfrm>
            <a:off x="2034627" y="2019418"/>
            <a:ext cx="1570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第一步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8" name="矩形 7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9" name="矩形 8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0" name="矩形 9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85306" y="1004170"/>
            <a:ext cx="1821039" cy="6361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3200" b="1" dirty="0">
                <a:solidFill>
                  <a:schemeClr val="bg1"/>
                </a:solidFill>
              </a:rPr>
              <a:t>客情店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33470" y="1029851"/>
            <a:ext cx="1821039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认知店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25473" y="1029851"/>
            <a:ext cx="1821039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动销店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93597" y="3541006"/>
            <a:ext cx="3004457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/>
              <a:t>每次新品铺市必须先进入</a:t>
            </a:r>
            <a:endParaRPr lang="en-US" altLang="zh-CN" dirty="0"/>
          </a:p>
          <a:p>
            <a:pPr algn="ctr">
              <a:lnSpc>
                <a:spcPct val="120000"/>
              </a:lnSpc>
            </a:pPr>
            <a:r>
              <a:rPr lang="zh-CN" altLang="en-US" dirty="0"/>
              <a:t>品宣活动优先投入</a:t>
            </a:r>
          </a:p>
        </p:txBody>
      </p:sp>
      <p:sp>
        <p:nvSpPr>
          <p:cNvPr id="7" name="箭头: 右 35"/>
          <p:cNvSpPr/>
          <p:nvPr/>
        </p:nvSpPr>
        <p:spPr>
          <a:xfrm rot="5400000">
            <a:off x="2611158" y="2870388"/>
            <a:ext cx="369334" cy="441231"/>
          </a:xfrm>
          <a:prstGeom prst="rightArrow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779110" y="1757228"/>
            <a:ext cx="3329758" cy="106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/>
              <a:t>客群优势</a:t>
            </a:r>
            <a:endParaRPr lang="en-US" altLang="zh-CN" b="1" dirty="0"/>
          </a:p>
          <a:p>
            <a:pPr algn="ctr">
              <a:lnSpc>
                <a:spcPct val="120000"/>
              </a:lnSpc>
            </a:pPr>
            <a:r>
              <a:rPr lang="zh-CN" altLang="en-US" dirty="0"/>
              <a:t>建材市场重点门面</a:t>
            </a:r>
            <a:r>
              <a:rPr lang="en-US" altLang="zh-CN" dirty="0"/>
              <a:t>……</a:t>
            </a:r>
          </a:p>
          <a:p>
            <a:pPr algn="ctr">
              <a:lnSpc>
                <a:spcPct val="120000"/>
              </a:lnSpc>
            </a:pPr>
            <a:r>
              <a:rPr lang="zh-CN" altLang="en-US" dirty="0"/>
              <a:t>辐射工人、业主</a:t>
            </a:r>
            <a:r>
              <a:rPr lang="en-US" altLang="zh-CN" dirty="0"/>
              <a:t>……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86530" y="1757228"/>
            <a:ext cx="3098925" cy="730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/>
              <a:t>服务优势</a:t>
            </a:r>
            <a:endParaRPr lang="en-US" altLang="zh-CN" b="1" dirty="0"/>
          </a:p>
          <a:p>
            <a:pPr algn="ctr">
              <a:lnSpc>
                <a:spcPct val="120000"/>
              </a:lnSpc>
            </a:pPr>
            <a:r>
              <a:rPr lang="zh-CN" altLang="en-US" dirty="0"/>
              <a:t>自有配送能力</a:t>
            </a:r>
            <a:r>
              <a:rPr lang="en-US" altLang="zh-CN" dirty="0"/>
              <a:t>……</a:t>
            </a:r>
          </a:p>
        </p:txBody>
      </p:sp>
      <p:sp>
        <p:nvSpPr>
          <p:cNvPr id="11" name="箭头: 右 35"/>
          <p:cNvSpPr/>
          <p:nvPr/>
        </p:nvSpPr>
        <p:spPr>
          <a:xfrm rot="5400000">
            <a:off x="6259322" y="2870388"/>
            <a:ext cx="369334" cy="441231"/>
          </a:xfrm>
          <a:prstGeom prst="rightArrow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dirty="0"/>
          </a:p>
        </p:txBody>
      </p:sp>
      <p:sp>
        <p:nvSpPr>
          <p:cNvPr id="12" name="箭头: 右 35"/>
          <p:cNvSpPr/>
          <p:nvPr/>
        </p:nvSpPr>
        <p:spPr>
          <a:xfrm rot="5400000">
            <a:off x="9751325" y="2870388"/>
            <a:ext cx="369334" cy="441231"/>
          </a:xfrm>
          <a:prstGeom prst="rightArrow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868196" y="5334352"/>
            <a:ext cx="1855258" cy="95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新品达成率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发货周期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终端价格控制等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24554" y="3541006"/>
            <a:ext cx="3438871" cy="72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/>
              <a:t>确保产品信息最快到达</a:t>
            </a:r>
            <a:endParaRPr lang="en-US" altLang="zh-CN" dirty="0"/>
          </a:p>
          <a:p>
            <a:pPr algn="ctr">
              <a:lnSpc>
                <a:spcPct val="120000"/>
              </a:lnSpc>
            </a:pPr>
            <a:r>
              <a:rPr lang="zh-CN" altLang="en-US" dirty="0"/>
              <a:t>老板推荐到位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33764" y="3541006"/>
            <a:ext cx="3004457" cy="728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/>
              <a:t>覆盖更多</a:t>
            </a:r>
            <a:endParaRPr lang="en-US" altLang="zh-CN" dirty="0"/>
          </a:p>
          <a:p>
            <a:pPr algn="ctr">
              <a:lnSpc>
                <a:spcPct val="120000"/>
              </a:lnSpc>
            </a:pPr>
            <a:r>
              <a:rPr lang="zh-CN" altLang="en-US" dirty="0"/>
              <a:t>难以直接服务的小区域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395716" y="435748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重点关注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823588" y="5334352"/>
            <a:ext cx="3240803" cy="95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拜访频率、产品推荐率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生动化执行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平台型（流通）产品份额等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43880" y="435748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重点关注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498109" y="5482084"/>
            <a:ext cx="2875766" cy="659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增长率、活跃度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平台型（流通）产品份额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535883" y="435748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重点关注</a:t>
            </a:r>
          </a:p>
        </p:txBody>
      </p:sp>
      <p:sp>
        <p:nvSpPr>
          <p:cNvPr id="28" name="箭头: 右 35"/>
          <p:cNvSpPr/>
          <p:nvPr/>
        </p:nvSpPr>
        <p:spPr>
          <a:xfrm rot="5400000">
            <a:off x="2611158" y="4804121"/>
            <a:ext cx="369334" cy="441231"/>
          </a:xfrm>
          <a:prstGeom prst="rightArrow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箭头: 右 35"/>
          <p:cNvSpPr/>
          <p:nvPr/>
        </p:nvSpPr>
        <p:spPr>
          <a:xfrm rot="5400000">
            <a:off x="6259322" y="4804121"/>
            <a:ext cx="369334" cy="441231"/>
          </a:xfrm>
          <a:prstGeom prst="rightArrow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箭头: 右 35"/>
          <p:cNvSpPr/>
          <p:nvPr/>
        </p:nvSpPr>
        <p:spPr>
          <a:xfrm rot="5400000">
            <a:off x="9751325" y="4804121"/>
            <a:ext cx="369334" cy="441231"/>
          </a:xfrm>
          <a:prstGeom prst="rightArrow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1130946" y="1757228"/>
            <a:ext cx="3329758" cy="730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/>
              <a:t>客群优势</a:t>
            </a:r>
            <a:endParaRPr lang="en-US" altLang="zh-CN" b="1" dirty="0"/>
          </a:p>
          <a:p>
            <a:pPr algn="ctr">
              <a:lnSpc>
                <a:spcPct val="120000"/>
              </a:lnSpc>
            </a:pPr>
            <a:r>
              <a:rPr kumimoji="1" lang="zh-CN" altLang="en-US" sz="1800" dirty="0"/>
              <a:t>具备强动销能力的客情网点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29394" y="151181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网点</a:t>
            </a:r>
            <a:endParaRPr kumimoji="1" lang="en-US" altLang="zh-CN" b="1" dirty="0"/>
          </a:p>
          <a:p>
            <a:r>
              <a:rPr kumimoji="1" lang="zh-CN" altLang="en-US" b="1" dirty="0"/>
              <a:t>类型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66208" y="447178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具体</a:t>
            </a:r>
            <a:endParaRPr kumimoji="1" lang="en-US" altLang="zh-CN" b="1" dirty="0"/>
          </a:p>
          <a:p>
            <a:r>
              <a:rPr kumimoji="1" lang="zh-CN" altLang="en-US" b="1" dirty="0"/>
              <a:t>策略</a:t>
            </a:r>
          </a:p>
        </p:txBody>
      </p:sp>
      <p:sp>
        <p:nvSpPr>
          <p:cNvPr id="34" name="左大括号 33"/>
          <p:cNvSpPr/>
          <p:nvPr/>
        </p:nvSpPr>
        <p:spPr>
          <a:xfrm>
            <a:off x="1054727" y="1080338"/>
            <a:ext cx="164123" cy="15092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左大括号 34"/>
          <p:cNvSpPr/>
          <p:nvPr/>
        </p:nvSpPr>
        <p:spPr>
          <a:xfrm>
            <a:off x="1048885" y="3474484"/>
            <a:ext cx="164123" cy="264496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6216" y="29294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贴标签：找出核心网点可发挥的优势</a:t>
            </a:r>
          </a:p>
        </p:txBody>
      </p:sp>
      <p:sp>
        <p:nvSpPr>
          <p:cNvPr id="19" name="矩形 18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22" name="矩形 21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23" name="矩形 22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24" name="矩形 23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54407" y="84887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核心网点的运营方法</a:t>
            </a:r>
            <a:r>
              <a:rPr kumimoji="1" lang="en-US" altLang="zh-CN" sz="2800" dirty="0"/>
              <a:t>——</a:t>
            </a:r>
            <a:endParaRPr kumimoji="1"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2034627" y="2019418"/>
            <a:ext cx="1570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第二步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任意多边形: 形状 22"/>
          <p:cNvSpPr/>
          <p:nvPr/>
        </p:nvSpPr>
        <p:spPr>
          <a:xfrm>
            <a:off x="1883166" y="2643146"/>
            <a:ext cx="2031325" cy="830997"/>
          </a:xfrm>
          <a:custGeom>
            <a:avLst/>
            <a:gdLst>
              <a:gd name="connsiteX0" fmla="*/ 0 w 1876705"/>
              <a:gd name="connsiteY0" fmla="*/ 87113 h 871133"/>
              <a:gd name="connsiteX1" fmla="*/ 87113 w 1876705"/>
              <a:gd name="connsiteY1" fmla="*/ 0 h 871133"/>
              <a:gd name="connsiteX2" fmla="*/ 1789592 w 1876705"/>
              <a:gd name="connsiteY2" fmla="*/ 0 h 871133"/>
              <a:gd name="connsiteX3" fmla="*/ 1876705 w 1876705"/>
              <a:gd name="connsiteY3" fmla="*/ 87113 h 871133"/>
              <a:gd name="connsiteX4" fmla="*/ 1876705 w 1876705"/>
              <a:gd name="connsiteY4" fmla="*/ 784020 h 871133"/>
              <a:gd name="connsiteX5" fmla="*/ 1789592 w 1876705"/>
              <a:gd name="connsiteY5" fmla="*/ 871133 h 871133"/>
              <a:gd name="connsiteX6" fmla="*/ 87113 w 1876705"/>
              <a:gd name="connsiteY6" fmla="*/ 871133 h 871133"/>
              <a:gd name="connsiteX7" fmla="*/ 0 w 1876705"/>
              <a:gd name="connsiteY7" fmla="*/ 784020 h 871133"/>
              <a:gd name="connsiteX8" fmla="*/ 0 w 1876705"/>
              <a:gd name="connsiteY8" fmla="*/ 87113 h 87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76705" h="871133">
                <a:moveTo>
                  <a:pt x="0" y="87113"/>
                </a:moveTo>
                <a:cubicBezTo>
                  <a:pt x="0" y="39002"/>
                  <a:pt x="39002" y="0"/>
                  <a:pt x="87113" y="0"/>
                </a:cubicBezTo>
                <a:lnTo>
                  <a:pt x="1789592" y="0"/>
                </a:lnTo>
                <a:cubicBezTo>
                  <a:pt x="1837703" y="0"/>
                  <a:pt x="1876705" y="39002"/>
                  <a:pt x="1876705" y="87113"/>
                </a:cubicBezTo>
                <a:lnTo>
                  <a:pt x="1876705" y="784020"/>
                </a:lnTo>
                <a:cubicBezTo>
                  <a:pt x="1876705" y="832131"/>
                  <a:pt x="1837703" y="871133"/>
                  <a:pt x="1789592" y="871133"/>
                </a:cubicBezTo>
                <a:lnTo>
                  <a:pt x="87113" y="871133"/>
                </a:lnTo>
                <a:cubicBezTo>
                  <a:pt x="39002" y="871133"/>
                  <a:pt x="0" y="832131"/>
                  <a:pt x="0" y="784020"/>
                </a:cubicBezTo>
                <a:lnTo>
                  <a:pt x="0" y="87113"/>
                </a:lnTo>
                <a:close/>
              </a:path>
            </a:pathLst>
          </a:cu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solidFill>
                  <a:srgbClr val="C00000"/>
                </a:solidFill>
              </a:rPr>
              <a:t>会算账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40702" y="4173146"/>
            <a:ext cx="8961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站在核心店的</a:t>
            </a:r>
            <a:r>
              <a:rPr kumimoji="1" lang="zh-CN" altLang="en-US" sz="3200" b="1" dirty="0"/>
              <a:t>销售视角和利润视角</a:t>
            </a:r>
            <a:r>
              <a:rPr kumimoji="1" lang="zh-CN" altLang="en-US" sz="2800" dirty="0"/>
              <a:t>，找到其增长点！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02289" y="5333509"/>
            <a:ext cx="10238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根据历史数据测算盈利，从片面销量目标转向销量利润双目标！</a:t>
            </a:r>
          </a:p>
        </p:txBody>
      </p:sp>
      <p:grpSp>
        <p:nvGrpSpPr>
          <p:cNvPr id="7" name="组合 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7362300" y="2071094"/>
            <a:ext cx="1402324" cy="1848548"/>
            <a:chOff x="4676776" y="1141413"/>
            <a:chExt cx="3462338" cy="4564063"/>
          </a:xfrm>
        </p:grpSpPr>
        <p:sp>
          <p:nvSpPr>
            <p:cNvPr id="8" name="îSliḋé"/>
            <p:cNvSpPr/>
            <p:nvPr/>
          </p:nvSpPr>
          <p:spPr bwMode="auto">
            <a:xfrm>
              <a:off x="4860926" y="1141413"/>
              <a:ext cx="3278188" cy="4564063"/>
            </a:xfrm>
            <a:custGeom>
              <a:avLst/>
              <a:gdLst>
                <a:gd name="T0" fmla="*/ 265 w 302"/>
                <a:gd name="T1" fmla="*/ 422 h 422"/>
                <a:gd name="T2" fmla="*/ 37 w 302"/>
                <a:gd name="T3" fmla="*/ 422 h 422"/>
                <a:gd name="T4" fmla="*/ 0 w 302"/>
                <a:gd name="T5" fmla="*/ 385 h 422"/>
                <a:gd name="T6" fmla="*/ 0 w 302"/>
                <a:gd name="T7" fmla="*/ 38 h 422"/>
                <a:gd name="T8" fmla="*/ 37 w 302"/>
                <a:gd name="T9" fmla="*/ 0 h 422"/>
                <a:gd name="T10" fmla="*/ 265 w 302"/>
                <a:gd name="T11" fmla="*/ 0 h 422"/>
                <a:gd name="T12" fmla="*/ 302 w 302"/>
                <a:gd name="T13" fmla="*/ 38 h 422"/>
                <a:gd name="T14" fmla="*/ 302 w 302"/>
                <a:gd name="T15" fmla="*/ 385 h 422"/>
                <a:gd name="T16" fmla="*/ 265 w 302"/>
                <a:gd name="T17" fmla="*/ 422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2" h="422">
                  <a:moveTo>
                    <a:pt x="265" y="422"/>
                  </a:moveTo>
                  <a:cubicBezTo>
                    <a:pt x="37" y="422"/>
                    <a:pt x="37" y="422"/>
                    <a:pt x="37" y="422"/>
                  </a:cubicBezTo>
                  <a:cubicBezTo>
                    <a:pt x="16" y="422"/>
                    <a:pt x="0" y="405"/>
                    <a:pt x="0" y="38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17"/>
                    <a:pt x="16" y="0"/>
                    <a:pt x="37" y="0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285" y="0"/>
                    <a:pt x="302" y="17"/>
                    <a:pt x="302" y="38"/>
                  </a:cubicBezTo>
                  <a:cubicBezTo>
                    <a:pt x="302" y="385"/>
                    <a:pt x="302" y="385"/>
                    <a:pt x="302" y="385"/>
                  </a:cubicBezTo>
                  <a:cubicBezTo>
                    <a:pt x="302" y="405"/>
                    <a:pt x="285" y="422"/>
                    <a:pt x="265" y="422"/>
                  </a:cubicBezTo>
                  <a:close/>
                </a:path>
              </a:pathLst>
            </a:custGeom>
            <a:solidFill>
              <a:srgbClr val="89CD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ṣḷîde"/>
            <p:cNvSpPr/>
            <p:nvPr/>
          </p:nvSpPr>
          <p:spPr bwMode="auto">
            <a:xfrm>
              <a:off x="4676776" y="1141413"/>
              <a:ext cx="574675" cy="4564063"/>
            </a:xfrm>
            <a:custGeom>
              <a:avLst/>
              <a:gdLst>
                <a:gd name="T0" fmla="*/ 17 w 53"/>
                <a:gd name="T1" fmla="*/ 386 h 422"/>
                <a:gd name="T2" fmla="*/ 17 w 53"/>
                <a:gd name="T3" fmla="*/ 37 h 422"/>
                <a:gd name="T4" fmla="*/ 53 w 53"/>
                <a:gd name="T5" fmla="*/ 0 h 422"/>
                <a:gd name="T6" fmla="*/ 36 w 53"/>
                <a:gd name="T7" fmla="*/ 0 h 422"/>
                <a:gd name="T8" fmla="*/ 0 w 53"/>
                <a:gd name="T9" fmla="*/ 37 h 422"/>
                <a:gd name="T10" fmla="*/ 0 w 53"/>
                <a:gd name="T11" fmla="*/ 386 h 422"/>
                <a:gd name="T12" fmla="*/ 36 w 53"/>
                <a:gd name="T13" fmla="*/ 422 h 422"/>
                <a:gd name="T14" fmla="*/ 53 w 53"/>
                <a:gd name="T15" fmla="*/ 422 h 422"/>
                <a:gd name="T16" fmla="*/ 17 w 53"/>
                <a:gd name="T17" fmla="*/ 386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422">
                  <a:moveTo>
                    <a:pt x="17" y="386"/>
                  </a:moveTo>
                  <a:cubicBezTo>
                    <a:pt x="17" y="37"/>
                    <a:pt x="17" y="37"/>
                    <a:pt x="17" y="37"/>
                  </a:cubicBezTo>
                  <a:cubicBezTo>
                    <a:pt x="17" y="17"/>
                    <a:pt x="33" y="0"/>
                    <a:pt x="53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386"/>
                    <a:pt x="0" y="386"/>
                    <a:pt x="0" y="386"/>
                  </a:cubicBezTo>
                  <a:cubicBezTo>
                    <a:pt x="0" y="406"/>
                    <a:pt x="16" y="422"/>
                    <a:pt x="36" y="422"/>
                  </a:cubicBezTo>
                  <a:cubicBezTo>
                    <a:pt x="53" y="422"/>
                    <a:pt x="53" y="422"/>
                    <a:pt x="53" y="422"/>
                  </a:cubicBezTo>
                  <a:cubicBezTo>
                    <a:pt x="33" y="422"/>
                    <a:pt x="17" y="406"/>
                    <a:pt x="17" y="386"/>
                  </a:cubicBezTo>
                  <a:close/>
                </a:path>
              </a:pathLst>
            </a:custGeom>
            <a:solidFill>
              <a:srgbClr val="A7D7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sļïḑê"/>
            <p:cNvSpPr/>
            <p:nvPr/>
          </p:nvSpPr>
          <p:spPr bwMode="auto">
            <a:xfrm>
              <a:off x="5154613" y="1606551"/>
              <a:ext cx="2659063" cy="1038225"/>
            </a:xfrm>
            <a:custGeom>
              <a:avLst/>
              <a:gdLst>
                <a:gd name="T0" fmla="*/ 234 w 245"/>
                <a:gd name="T1" fmla="*/ 96 h 96"/>
                <a:gd name="T2" fmla="*/ 11 w 245"/>
                <a:gd name="T3" fmla="*/ 96 h 96"/>
                <a:gd name="T4" fmla="*/ 0 w 245"/>
                <a:gd name="T5" fmla="*/ 85 h 96"/>
                <a:gd name="T6" fmla="*/ 0 w 245"/>
                <a:gd name="T7" fmla="*/ 11 h 96"/>
                <a:gd name="T8" fmla="*/ 11 w 245"/>
                <a:gd name="T9" fmla="*/ 0 h 96"/>
                <a:gd name="T10" fmla="*/ 234 w 245"/>
                <a:gd name="T11" fmla="*/ 0 h 96"/>
                <a:gd name="T12" fmla="*/ 245 w 245"/>
                <a:gd name="T13" fmla="*/ 11 h 96"/>
                <a:gd name="T14" fmla="*/ 245 w 245"/>
                <a:gd name="T15" fmla="*/ 85 h 96"/>
                <a:gd name="T16" fmla="*/ 234 w 245"/>
                <a:gd name="T1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5" h="96">
                  <a:moveTo>
                    <a:pt x="234" y="96"/>
                  </a:moveTo>
                  <a:cubicBezTo>
                    <a:pt x="11" y="96"/>
                    <a:pt x="11" y="96"/>
                    <a:pt x="11" y="96"/>
                  </a:cubicBezTo>
                  <a:cubicBezTo>
                    <a:pt x="5" y="96"/>
                    <a:pt x="0" y="91"/>
                    <a:pt x="0" y="8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40" y="0"/>
                    <a:pt x="245" y="5"/>
                    <a:pt x="245" y="11"/>
                  </a:cubicBezTo>
                  <a:cubicBezTo>
                    <a:pt x="245" y="85"/>
                    <a:pt x="245" y="85"/>
                    <a:pt x="245" y="85"/>
                  </a:cubicBezTo>
                  <a:cubicBezTo>
                    <a:pt x="245" y="91"/>
                    <a:pt x="240" y="96"/>
                    <a:pt x="234" y="96"/>
                  </a:cubicBezTo>
                  <a:close/>
                </a:path>
              </a:pathLst>
            </a:custGeom>
            <a:solidFill>
              <a:srgbClr val="F575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šļíḍè"/>
            <p:cNvSpPr/>
            <p:nvPr/>
          </p:nvSpPr>
          <p:spPr bwMode="auto">
            <a:xfrm>
              <a:off x="5262563" y="2860676"/>
              <a:ext cx="412750" cy="422275"/>
            </a:xfrm>
            <a:custGeom>
              <a:avLst/>
              <a:gdLst>
                <a:gd name="T0" fmla="*/ 31 w 38"/>
                <a:gd name="T1" fmla="*/ 39 h 39"/>
                <a:gd name="T2" fmla="*/ 7 w 38"/>
                <a:gd name="T3" fmla="*/ 39 h 39"/>
                <a:gd name="T4" fmla="*/ 0 w 38"/>
                <a:gd name="T5" fmla="*/ 31 h 39"/>
                <a:gd name="T6" fmla="*/ 0 w 38"/>
                <a:gd name="T7" fmla="*/ 7 h 39"/>
                <a:gd name="T8" fmla="*/ 7 w 38"/>
                <a:gd name="T9" fmla="*/ 0 h 39"/>
                <a:gd name="T10" fmla="*/ 31 w 38"/>
                <a:gd name="T11" fmla="*/ 0 h 39"/>
                <a:gd name="T12" fmla="*/ 38 w 38"/>
                <a:gd name="T13" fmla="*/ 7 h 39"/>
                <a:gd name="T14" fmla="*/ 38 w 38"/>
                <a:gd name="T15" fmla="*/ 31 h 39"/>
                <a:gd name="T16" fmla="*/ 31 w 38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9">
                  <a:moveTo>
                    <a:pt x="31" y="39"/>
                  </a:moveTo>
                  <a:cubicBezTo>
                    <a:pt x="7" y="39"/>
                    <a:pt x="7" y="39"/>
                    <a:pt x="7" y="39"/>
                  </a:cubicBezTo>
                  <a:cubicBezTo>
                    <a:pt x="3" y="39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8" y="3"/>
                    <a:pt x="38" y="7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5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şḷiḑê"/>
            <p:cNvSpPr/>
            <p:nvPr/>
          </p:nvSpPr>
          <p:spPr bwMode="auto">
            <a:xfrm>
              <a:off x="5262563" y="3552826"/>
              <a:ext cx="412750" cy="422275"/>
            </a:xfrm>
            <a:custGeom>
              <a:avLst/>
              <a:gdLst>
                <a:gd name="T0" fmla="*/ 31 w 38"/>
                <a:gd name="T1" fmla="*/ 39 h 39"/>
                <a:gd name="T2" fmla="*/ 7 w 38"/>
                <a:gd name="T3" fmla="*/ 39 h 39"/>
                <a:gd name="T4" fmla="*/ 0 w 38"/>
                <a:gd name="T5" fmla="*/ 31 h 39"/>
                <a:gd name="T6" fmla="*/ 0 w 38"/>
                <a:gd name="T7" fmla="*/ 8 h 39"/>
                <a:gd name="T8" fmla="*/ 7 w 38"/>
                <a:gd name="T9" fmla="*/ 0 h 39"/>
                <a:gd name="T10" fmla="*/ 31 w 38"/>
                <a:gd name="T11" fmla="*/ 0 h 39"/>
                <a:gd name="T12" fmla="*/ 38 w 38"/>
                <a:gd name="T13" fmla="*/ 8 h 39"/>
                <a:gd name="T14" fmla="*/ 38 w 38"/>
                <a:gd name="T15" fmla="*/ 31 h 39"/>
                <a:gd name="T16" fmla="*/ 31 w 38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9">
                  <a:moveTo>
                    <a:pt x="31" y="39"/>
                  </a:moveTo>
                  <a:cubicBezTo>
                    <a:pt x="7" y="39"/>
                    <a:pt x="7" y="39"/>
                    <a:pt x="7" y="39"/>
                  </a:cubicBezTo>
                  <a:cubicBezTo>
                    <a:pt x="3" y="39"/>
                    <a:pt x="0" y="35"/>
                    <a:pt x="0" y="3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8" y="3"/>
                    <a:pt x="38" y="8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5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ślidè"/>
            <p:cNvSpPr/>
            <p:nvPr/>
          </p:nvSpPr>
          <p:spPr bwMode="auto">
            <a:xfrm>
              <a:off x="5262563" y="4213226"/>
              <a:ext cx="412750" cy="411163"/>
            </a:xfrm>
            <a:custGeom>
              <a:avLst/>
              <a:gdLst>
                <a:gd name="T0" fmla="*/ 31 w 38"/>
                <a:gd name="T1" fmla="*/ 38 h 38"/>
                <a:gd name="T2" fmla="*/ 7 w 38"/>
                <a:gd name="T3" fmla="*/ 38 h 38"/>
                <a:gd name="T4" fmla="*/ 0 w 38"/>
                <a:gd name="T5" fmla="*/ 31 h 38"/>
                <a:gd name="T6" fmla="*/ 0 w 38"/>
                <a:gd name="T7" fmla="*/ 7 h 38"/>
                <a:gd name="T8" fmla="*/ 7 w 38"/>
                <a:gd name="T9" fmla="*/ 0 h 38"/>
                <a:gd name="T10" fmla="*/ 31 w 38"/>
                <a:gd name="T11" fmla="*/ 0 h 38"/>
                <a:gd name="T12" fmla="*/ 38 w 38"/>
                <a:gd name="T13" fmla="*/ 7 h 38"/>
                <a:gd name="T14" fmla="*/ 38 w 38"/>
                <a:gd name="T15" fmla="*/ 31 h 38"/>
                <a:gd name="T16" fmla="*/ 31 w 38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8">
                  <a:moveTo>
                    <a:pt x="31" y="38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3" y="38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8" y="3"/>
                    <a:pt x="38" y="7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5"/>
                    <a:pt x="35" y="38"/>
                    <a:pt x="31" y="38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îślïḓê"/>
            <p:cNvSpPr/>
            <p:nvPr/>
          </p:nvSpPr>
          <p:spPr bwMode="auto">
            <a:xfrm>
              <a:off x="5262563" y="4862513"/>
              <a:ext cx="412750" cy="420688"/>
            </a:xfrm>
            <a:custGeom>
              <a:avLst/>
              <a:gdLst>
                <a:gd name="T0" fmla="*/ 31 w 38"/>
                <a:gd name="T1" fmla="*/ 39 h 39"/>
                <a:gd name="T2" fmla="*/ 7 w 38"/>
                <a:gd name="T3" fmla="*/ 39 h 39"/>
                <a:gd name="T4" fmla="*/ 0 w 38"/>
                <a:gd name="T5" fmla="*/ 32 h 39"/>
                <a:gd name="T6" fmla="*/ 0 w 38"/>
                <a:gd name="T7" fmla="*/ 8 h 39"/>
                <a:gd name="T8" fmla="*/ 7 w 38"/>
                <a:gd name="T9" fmla="*/ 0 h 39"/>
                <a:gd name="T10" fmla="*/ 31 w 38"/>
                <a:gd name="T11" fmla="*/ 0 h 39"/>
                <a:gd name="T12" fmla="*/ 38 w 38"/>
                <a:gd name="T13" fmla="*/ 8 h 39"/>
                <a:gd name="T14" fmla="*/ 38 w 38"/>
                <a:gd name="T15" fmla="*/ 32 h 39"/>
                <a:gd name="T16" fmla="*/ 31 w 38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9">
                  <a:moveTo>
                    <a:pt x="31" y="39"/>
                  </a:moveTo>
                  <a:cubicBezTo>
                    <a:pt x="7" y="39"/>
                    <a:pt x="7" y="39"/>
                    <a:pt x="7" y="39"/>
                  </a:cubicBezTo>
                  <a:cubicBezTo>
                    <a:pt x="3" y="39"/>
                    <a:pt x="0" y="36"/>
                    <a:pt x="0" y="3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8" y="4"/>
                    <a:pt x="38" y="8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6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şľiḍé"/>
            <p:cNvSpPr/>
            <p:nvPr/>
          </p:nvSpPr>
          <p:spPr bwMode="auto">
            <a:xfrm>
              <a:off x="5913438" y="2860676"/>
              <a:ext cx="423863" cy="422275"/>
            </a:xfrm>
            <a:custGeom>
              <a:avLst/>
              <a:gdLst>
                <a:gd name="T0" fmla="*/ 32 w 39"/>
                <a:gd name="T1" fmla="*/ 39 h 39"/>
                <a:gd name="T2" fmla="*/ 8 w 39"/>
                <a:gd name="T3" fmla="*/ 39 h 39"/>
                <a:gd name="T4" fmla="*/ 0 w 39"/>
                <a:gd name="T5" fmla="*/ 31 h 39"/>
                <a:gd name="T6" fmla="*/ 0 w 39"/>
                <a:gd name="T7" fmla="*/ 7 h 39"/>
                <a:gd name="T8" fmla="*/ 8 w 39"/>
                <a:gd name="T9" fmla="*/ 0 h 39"/>
                <a:gd name="T10" fmla="*/ 32 w 39"/>
                <a:gd name="T11" fmla="*/ 0 h 39"/>
                <a:gd name="T12" fmla="*/ 39 w 39"/>
                <a:gd name="T13" fmla="*/ 7 h 39"/>
                <a:gd name="T14" fmla="*/ 39 w 39"/>
                <a:gd name="T15" fmla="*/ 31 h 39"/>
                <a:gd name="T16" fmla="*/ 32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2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39" y="3"/>
                    <a:pt x="39" y="7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6" y="39"/>
                    <a:pt x="32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ṡḻïďé"/>
            <p:cNvSpPr/>
            <p:nvPr/>
          </p:nvSpPr>
          <p:spPr bwMode="auto">
            <a:xfrm>
              <a:off x="5913438" y="3552826"/>
              <a:ext cx="423863" cy="422275"/>
            </a:xfrm>
            <a:custGeom>
              <a:avLst/>
              <a:gdLst>
                <a:gd name="T0" fmla="*/ 32 w 39"/>
                <a:gd name="T1" fmla="*/ 39 h 39"/>
                <a:gd name="T2" fmla="*/ 8 w 39"/>
                <a:gd name="T3" fmla="*/ 39 h 39"/>
                <a:gd name="T4" fmla="*/ 0 w 39"/>
                <a:gd name="T5" fmla="*/ 31 h 39"/>
                <a:gd name="T6" fmla="*/ 0 w 39"/>
                <a:gd name="T7" fmla="*/ 8 h 39"/>
                <a:gd name="T8" fmla="*/ 8 w 39"/>
                <a:gd name="T9" fmla="*/ 0 h 39"/>
                <a:gd name="T10" fmla="*/ 32 w 39"/>
                <a:gd name="T11" fmla="*/ 0 h 39"/>
                <a:gd name="T12" fmla="*/ 39 w 39"/>
                <a:gd name="T13" fmla="*/ 8 h 39"/>
                <a:gd name="T14" fmla="*/ 39 w 39"/>
                <a:gd name="T15" fmla="*/ 31 h 39"/>
                <a:gd name="T16" fmla="*/ 32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2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5"/>
                    <a:pt x="0" y="3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39" y="3"/>
                    <a:pt x="39" y="8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6" y="39"/>
                    <a:pt x="32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ṩļïḓè"/>
            <p:cNvSpPr/>
            <p:nvPr/>
          </p:nvSpPr>
          <p:spPr bwMode="auto">
            <a:xfrm>
              <a:off x="5913438" y="4213226"/>
              <a:ext cx="423863" cy="411163"/>
            </a:xfrm>
            <a:custGeom>
              <a:avLst/>
              <a:gdLst>
                <a:gd name="T0" fmla="*/ 32 w 39"/>
                <a:gd name="T1" fmla="*/ 38 h 38"/>
                <a:gd name="T2" fmla="*/ 8 w 39"/>
                <a:gd name="T3" fmla="*/ 38 h 38"/>
                <a:gd name="T4" fmla="*/ 0 w 39"/>
                <a:gd name="T5" fmla="*/ 31 h 38"/>
                <a:gd name="T6" fmla="*/ 0 w 39"/>
                <a:gd name="T7" fmla="*/ 7 h 38"/>
                <a:gd name="T8" fmla="*/ 8 w 39"/>
                <a:gd name="T9" fmla="*/ 0 h 38"/>
                <a:gd name="T10" fmla="*/ 32 w 39"/>
                <a:gd name="T11" fmla="*/ 0 h 38"/>
                <a:gd name="T12" fmla="*/ 39 w 39"/>
                <a:gd name="T13" fmla="*/ 7 h 38"/>
                <a:gd name="T14" fmla="*/ 39 w 39"/>
                <a:gd name="T15" fmla="*/ 31 h 38"/>
                <a:gd name="T16" fmla="*/ 32 w 39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8" y="38"/>
                    <a:pt x="8" y="38"/>
                    <a:pt x="8" y="38"/>
                  </a:cubicBezTo>
                  <a:cubicBezTo>
                    <a:pt x="4" y="38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39" y="3"/>
                    <a:pt x="39" y="7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6" y="38"/>
                    <a:pt x="32" y="38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ṥ1ïďê"/>
            <p:cNvSpPr/>
            <p:nvPr/>
          </p:nvSpPr>
          <p:spPr bwMode="auto">
            <a:xfrm>
              <a:off x="5913438" y="4862513"/>
              <a:ext cx="423863" cy="420688"/>
            </a:xfrm>
            <a:custGeom>
              <a:avLst/>
              <a:gdLst>
                <a:gd name="T0" fmla="*/ 32 w 39"/>
                <a:gd name="T1" fmla="*/ 39 h 39"/>
                <a:gd name="T2" fmla="*/ 8 w 39"/>
                <a:gd name="T3" fmla="*/ 39 h 39"/>
                <a:gd name="T4" fmla="*/ 0 w 39"/>
                <a:gd name="T5" fmla="*/ 32 h 39"/>
                <a:gd name="T6" fmla="*/ 0 w 39"/>
                <a:gd name="T7" fmla="*/ 8 h 39"/>
                <a:gd name="T8" fmla="*/ 8 w 39"/>
                <a:gd name="T9" fmla="*/ 0 h 39"/>
                <a:gd name="T10" fmla="*/ 32 w 39"/>
                <a:gd name="T11" fmla="*/ 0 h 39"/>
                <a:gd name="T12" fmla="*/ 39 w 39"/>
                <a:gd name="T13" fmla="*/ 8 h 39"/>
                <a:gd name="T14" fmla="*/ 39 w 39"/>
                <a:gd name="T15" fmla="*/ 32 h 39"/>
                <a:gd name="T16" fmla="*/ 32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2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6"/>
                    <a:pt x="0" y="3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39" y="4"/>
                    <a:pt x="39" y="8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6"/>
                    <a:pt x="36" y="39"/>
                    <a:pt x="32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ïs1íḍè"/>
            <p:cNvSpPr/>
            <p:nvPr/>
          </p:nvSpPr>
          <p:spPr bwMode="auto">
            <a:xfrm>
              <a:off x="6575426" y="2860676"/>
              <a:ext cx="423863" cy="422275"/>
            </a:xfrm>
            <a:custGeom>
              <a:avLst/>
              <a:gdLst>
                <a:gd name="T0" fmla="*/ 31 w 39"/>
                <a:gd name="T1" fmla="*/ 39 h 39"/>
                <a:gd name="T2" fmla="*/ 8 w 39"/>
                <a:gd name="T3" fmla="*/ 39 h 39"/>
                <a:gd name="T4" fmla="*/ 0 w 39"/>
                <a:gd name="T5" fmla="*/ 31 h 39"/>
                <a:gd name="T6" fmla="*/ 0 w 39"/>
                <a:gd name="T7" fmla="*/ 7 h 39"/>
                <a:gd name="T8" fmla="*/ 8 w 39"/>
                <a:gd name="T9" fmla="*/ 0 h 39"/>
                <a:gd name="T10" fmla="*/ 31 w 39"/>
                <a:gd name="T11" fmla="*/ 0 h 39"/>
                <a:gd name="T12" fmla="*/ 39 w 39"/>
                <a:gd name="T13" fmla="*/ 7 h 39"/>
                <a:gd name="T14" fmla="*/ 39 w 39"/>
                <a:gd name="T15" fmla="*/ 31 h 39"/>
                <a:gd name="T16" fmla="*/ 31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1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3" y="39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3"/>
                    <a:pt x="39" y="7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S1îḍè"/>
            <p:cNvSpPr/>
            <p:nvPr/>
          </p:nvSpPr>
          <p:spPr bwMode="auto">
            <a:xfrm>
              <a:off x="6575426" y="3552826"/>
              <a:ext cx="423863" cy="422275"/>
            </a:xfrm>
            <a:custGeom>
              <a:avLst/>
              <a:gdLst>
                <a:gd name="T0" fmla="*/ 31 w 39"/>
                <a:gd name="T1" fmla="*/ 39 h 39"/>
                <a:gd name="T2" fmla="*/ 8 w 39"/>
                <a:gd name="T3" fmla="*/ 39 h 39"/>
                <a:gd name="T4" fmla="*/ 0 w 39"/>
                <a:gd name="T5" fmla="*/ 31 h 39"/>
                <a:gd name="T6" fmla="*/ 0 w 39"/>
                <a:gd name="T7" fmla="*/ 8 h 39"/>
                <a:gd name="T8" fmla="*/ 8 w 39"/>
                <a:gd name="T9" fmla="*/ 0 h 39"/>
                <a:gd name="T10" fmla="*/ 31 w 39"/>
                <a:gd name="T11" fmla="*/ 0 h 39"/>
                <a:gd name="T12" fmla="*/ 39 w 39"/>
                <a:gd name="T13" fmla="*/ 8 h 39"/>
                <a:gd name="T14" fmla="*/ 39 w 39"/>
                <a:gd name="T15" fmla="*/ 31 h 39"/>
                <a:gd name="T16" fmla="*/ 31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1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3" y="39"/>
                    <a:pt x="0" y="35"/>
                    <a:pt x="0" y="3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3"/>
                    <a:pt x="39" y="8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ïśľiḓe"/>
            <p:cNvSpPr/>
            <p:nvPr/>
          </p:nvSpPr>
          <p:spPr bwMode="auto">
            <a:xfrm>
              <a:off x="6575426" y="4213226"/>
              <a:ext cx="423863" cy="411163"/>
            </a:xfrm>
            <a:custGeom>
              <a:avLst/>
              <a:gdLst>
                <a:gd name="T0" fmla="*/ 31 w 39"/>
                <a:gd name="T1" fmla="*/ 38 h 38"/>
                <a:gd name="T2" fmla="*/ 8 w 39"/>
                <a:gd name="T3" fmla="*/ 38 h 38"/>
                <a:gd name="T4" fmla="*/ 0 w 39"/>
                <a:gd name="T5" fmla="*/ 31 h 38"/>
                <a:gd name="T6" fmla="*/ 0 w 39"/>
                <a:gd name="T7" fmla="*/ 7 h 38"/>
                <a:gd name="T8" fmla="*/ 8 w 39"/>
                <a:gd name="T9" fmla="*/ 0 h 38"/>
                <a:gd name="T10" fmla="*/ 31 w 39"/>
                <a:gd name="T11" fmla="*/ 0 h 38"/>
                <a:gd name="T12" fmla="*/ 39 w 39"/>
                <a:gd name="T13" fmla="*/ 7 h 38"/>
                <a:gd name="T14" fmla="*/ 39 w 39"/>
                <a:gd name="T15" fmla="*/ 31 h 38"/>
                <a:gd name="T16" fmla="*/ 31 w 39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8">
                  <a:moveTo>
                    <a:pt x="31" y="38"/>
                  </a:moveTo>
                  <a:cubicBezTo>
                    <a:pt x="8" y="38"/>
                    <a:pt x="8" y="38"/>
                    <a:pt x="8" y="38"/>
                  </a:cubicBezTo>
                  <a:cubicBezTo>
                    <a:pt x="3" y="38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3"/>
                    <a:pt x="39" y="7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5" y="38"/>
                    <a:pt x="31" y="38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ṧľîdé"/>
            <p:cNvSpPr/>
            <p:nvPr/>
          </p:nvSpPr>
          <p:spPr bwMode="auto">
            <a:xfrm>
              <a:off x="6575426" y="4862513"/>
              <a:ext cx="423863" cy="420688"/>
            </a:xfrm>
            <a:custGeom>
              <a:avLst/>
              <a:gdLst>
                <a:gd name="T0" fmla="*/ 31 w 39"/>
                <a:gd name="T1" fmla="*/ 39 h 39"/>
                <a:gd name="T2" fmla="*/ 8 w 39"/>
                <a:gd name="T3" fmla="*/ 39 h 39"/>
                <a:gd name="T4" fmla="*/ 0 w 39"/>
                <a:gd name="T5" fmla="*/ 32 h 39"/>
                <a:gd name="T6" fmla="*/ 0 w 39"/>
                <a:gd name="T7" fmla="*/ 8 h 39"/>
                <a:gd name="T8" fmla="*/ 8 w 39"/>
                <a:gd name="T9" fmla="*/ 0 h 39"/>
                <a:gd name="T10" fmla="*/ 31 w 39"/>
                <a:gd name="T11" fmla="*/ 0 h 39"/>
                <a:gd name="T12" fmla="*/ 39 w 39"/>
                <a:gd name="T13" fmla="*/ 8 h 39"/>
                <a:gd name="T14" fmla="*/ 39 w 39"/>
                <a:gd name="T15" fmla="*/ 32 h 39"/>
                <a:gd name="T16" fmla="*/ 31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1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3" y="39"/>
                    <a:pt x="0" y="36"/>
                    <a:pt x="0" y="3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4"/>
                    <a:pt x="39" y="8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6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ṣļïde"/>
            <p:cNvSpPr/>
            <p:nvPr/>
          </p:nvSpPr>
          <p:spPr bwMode="auto">
            <a:xfrm>
              <a:off x="7239001" y="2860676"/>
              <a:ext cx="422275" cy="422275"/>
            </a:xfrm>
            <a:custGeom>
              <a:avLst/>
              <a:gdLst>
                <a:gd name="T0" fmla="*/ 31 w 39"/>
                <a:gd name="T1" fmla="*/ 39 h 39"/>
                <a:gd name="T2" fmla="*/ 7 w 39"/>
                <a:gd name="T3" fmla="*/ 39 h 39"/>
                <a:gd name="T4" fmla="*/ 0 w 39"/>
                <a:gd name="T5" fmla="*/ 31 h 39"/>
                <a:gd name="T6" fmla="*/ 0 w 39"/>
                <a:gd name="T7" fmla="*/ 7 h 39"/>
                <a:gd name="T8" fmla="*/ 7 w 39"/>
                <a:gd name="T9" fmla="*/ 0 h 39"/>
                <a:gd name="T10" fmla="*/ 31 w 39"/>
                <a:gd name="T11" fmla="*/ 0 h 39"/>
                <a:gd name="T12" fmla="*/ 39 w 39"/>
                <a:gd name="T13" fmla="*/ 7 h 39"/>
                <a:gd name="T14" fmla="*/ 39 w 39"/>
                <a:gd name="T15" fmla="*/ 31 h 39"/>
                <a:gd name="T16" fmla="*/ 31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1" y="39"/>
                  </a:moveTo>
                  <a:cubicBezTo>
                    <a:pt x="7" y="39"/>
                    <a:pt x="7" y="39"/>
                    <a:pt x="7" y="39"/>
                  </a:cubicBezTo>
                  <a:cubicBezTo>
                    <a:pt x="3" y="39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3"/>
                    <a:pt x="39" y="7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ïS1îḋè"/>
            <p:cNvSpPr/>
            <p:nvPr/>
          </p:nvSpPr>
          <p:spPr bwMode="auto">
            <a:xfrm>
              <a:off x="7239001" y="3552826"/>
              <a:ext cx="422275" cy="422275"/>
            </a:xfrm>
            <a:custGeom>
              <a:avLst/>
              <a:gdLst>
                <a:gd name="T0" fmla="*/ 31 w 39"/>
                <a:gd name="T1" fmla="*/ 39 h 39"/>
                <a:gd name="T2" fmla="*/ 7 w 39"/>
                <a:gd name="T3" fmla="*/ 39 h 39"/>
                <a:gd name="T4" fmla="*/ 0 w 39"/>
                <a:gd name="T5" fmla="*/ 31 h 39"/>
                <a:gd name="T6" fmla="*/ 0 w 39"/>
                <a:gd name="T7" fmla="*/ 8 h 39"/>
                <a:gd name="T8" fmla="*/ 7 w 39"/>
                <a:gd name="T9" fmla="*/ 0 h 39"/>
                <a:gd name="T10" fmla="*/ 31 w 39"/>
                <a:gd name="T11" fmla="*/ 0 h 39"/>
                <a:gd name="T12" fmla="*/ 39 w 39"/>
                <a:gd name="T13" fmla="*/ 8 h 39"/>
                <a:gd name="T14" fmla="*/ 39 w 39"/>
                <a:gd name="T15" fmla="*/ 31 h 39"/>
                <a:gd name="T16" fmla="*/ 31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1" y="39"/>
                  </a:moveTo>
                  <a:cubicBezTo>
                    <a:pt x="7" y="39"/>
                    <a:pt x="7" y="39"/>
                    <a:pt x="7" y="39"/>
                  </a:cubicBezTo>
                  <a:cubicBezTo>
                    <a:pt x="3" y="39"/>
                    <a:pt x="0" y="35"/>
                    <a:pt x="0" y="3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3"/>
                    <a:pt x="39" y="8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ísḻîḋê"/>
            <p:cNvSpPr/>
            <p:nvPr/>
          </p:nvSpPr>
          <p:spPr bwMode="auto">
            <a:xfrm>
              <a:off x="7239001" y="4213226"/>
              <a:ext cx="422275" cy="411163"/>
            </a:xfrm>
            <a:custGeom>
              <a:avLst/>
              <a:gdLst>
                <a:gd name="T0" fmla="*/ 31 w 39"/>
                <a:gd name="T1" fmla="*/ 38 h 38"/>
                <a:gd name="T2" fmla="*/ 7 w 39"/>
                <a:gd name="T3" fmla="*/ 38 h 38"/>
                <a:gd name="T4" fmla="*/ 0 w 39"/>
                <a:gd name="T5" fmla="*/ 31 h 38"/>
                <a:gd name="T6" fmla="*/ 0 w 39"/>
                <a:gd name="T7" fmla="*/ 7 h 38"/>
                <a:gd name="T8" fmla="*/ 7 w 39"/>
                <a:gd name="T9" fmla="*/ 0 h 38"/>
                <a:gd name="T10" fmla="*/ 31 w 39"/>
                <a:gd name="T11" fmla="*/ 0 h 38"/>
                <a:gd name="T12" fmla="*/ 39 w 39"/>
                <a:gd name="T13" fmla="*/ 7 h 38"/>
                <a:gd name="T14" fmla="*/ 39 w 39"/>
                <a:gd name="T15" fmla="*/ 31 h 38"/>
                <a:gd name="T16" fmla="*/ 31 w 39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8">
                  <a:moveTo>
                    <a:pt x="31" y="38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3" y="38"/>
                    <a:pt x="0" y="35"/>
                    <a:pt x="0" y="3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3"/>
                    <a:pt x="39" y="7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5"/>
                    <a:pt x="35" y="38"/>
                    <a:pt x="31" y="38"/>
                  </a:cubicBezTo>
                  <a:close/>
                </a:path>
              </a:pathLst>
            </a:custGeom>
            <a:solidFill>
              <a:srgbClr val="DDF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ṥ1idè"/>
            <p:cNvSpPr/>
            <p:nvPr/>
          </p:nvSpPr>
          <p:spPr bwMode="auto">
            <a:xfrm>
              <a:off x="7239001" y="4862513"/>
              <a:ext cx="422275" cy="420688"/>
            </a:xfrm>
            <a:custGeom>
              <a:avLst/>
              <a:gdLst>
                <a:gd name="T0" fmla="*/ 31 w 39"/>
                <a:gd name="T1" fmla="*/ 39 h 39"/>
                <a:gd name="T2" fmla="*/ 7 w 39"/>
                <a:gd name="T3" fmla="*/ 39 h 39"/>
                <a:gd name="T4" fmla="*/ 0 w 39"/>
                <a:gd name="T5" fmla="*/ 32 h 39"/>
                <a:gd name="T6" fmla="*/ 0 w 39"/>
                <a:gd name="T7" fmla="*/ 8 h 39"/>
                <a:gd name="T8" fmla="*/ 7 w 39"/>
                <a:gd name="T9" fmla="*/ 0 h 39"/>
                <a:gd name="T10" fmla="*/ 31 w 39"/>
                <a:gd name="T11" fmla="*/ 0 h 39"/>
                <a:gd name="T12" fmla="*/ 39 w 39"/>
                <a:gd name="T13" fmla="*/ 8 h 39"/>
                <a:gd name="T14" fmla="*/ 39 w 39"/>
                <a:gd name="T15" fmla="*/ 32 h 39"/>
                <a:gd name="T16" fmla="*/ 31 w 39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9">
                  <a:moveTo>
                    <a:pt x="31" y="39"/>
                  </a:moveTo>
                  <a:cubicBezTo>
                    <a:pt x="7" y="39"/>
                    <a:pt x="7" y="39"/>
                    <a:pt x="7" y="39"/>
                  </a:cubicBezTo>
                  <a:cubicBezTo>
                    <a:pt x="3" y="39"/>
                    <a:pt x="0" y="36"/>
                    <a:pt x="0" y="3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9" y="4"/>
                    <a:pt x="39" y="8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6"/>
                    <a:pt x="35" y="39"/>
                    <a:pt x="31" y="39"/>
                  </a:cubicBezTo>
                  <a:close/>
                </a:path>
              </a:pathLst>
            </a:custGeom>
            <a:solidFill>
              <a:srgbClr val="E1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ïṥḷïďe"/>
            <p:cNvSpPr/>
            <p:nvPr/>
          </p:nvSpPr>
          <p:spPr bwMode="auto">
            <a:xfrm>
              <a:off x="5154613" y="1606551"/>
              <a:ext cx="1497013" cy="1038225"/>
            </a:xfrm>
            <a:custGeom>
              <a:avLst/>
              <a:gdLst>
                <a:gd name="T0" fmla="*/ 87 w 138"/>
                <a:gd name="T1" fmla="*/ 0 h 96"/>
                <a:gd name="T2" fmla="*/ 0 w 138"/>
                <a:gd name="T3" fmla="*/ 74 h 96"/>
                <a:gd name="T4" fmla="*/ 0 w 138"/>
                <a:gd name="T5" fmla="*/ 85 h 96"/>
                <a:gd name="T6" fmla="*/ 11 w 138"/>
                <a:gd name="T7" fmla="*/ 96 h 96"/>
                <a:gd name="T8" fmla="*/ 25 w 138"/>
                <a:gd name="T9" fmla="*/ 96 h 96"/>
                <a:gd name="T10" fmla="*/ 138 w 138"/>
                <a:gd name="T11" fmla="*/ 0 h 96"/>
                <a:gd name="T12" fmla="*/ 87 w 138"/>
                <a:gd name="T1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96">
                  <a:moveTo>
                    <a:pt x="87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1"/>
                    <a:pt x="5" y="96"/>
                    <a:pt x="11" y="96"/>
                  </a:cubicBezTo>
                  <a:cubicBezTo>
                    <a:pt x="25" y="96"/>
                    <a:pt x="25" y="96"/>
                    <a:pt x="25" y="96"/>
                  </a:cubicBezTo>
                  <a:cubicBezTo>
                    <a:pt x="138" y="0"/>
                    <a:pt x="138" y="0"/>
                    <a:pt x="138" y="0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rgbClr val="F583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íś1îḑê"/>
            <p:cNvSpPr/>
            <p:nvPr/>
          </p:nvSpPr>
          <p:spPr bwMode="auto">
            <a:xfrm>
              <a:off x="6043613" y="1606551"/>
              <a:ext cx="1736725" cy="1038225"/>
            </a:xfrm>
            <a:custGeom>
              <a:avLst/>
              <a:gdLst>
                <a:gd name="T0" fmla="*/ 152 w 160"/>
                <a:gd name="T1" fmla="*/ 0 h 96"/>
                <a:gd name="T2" fmla="*/ 113 w 160"/>
                <a:gd name="T3" fmla="*/ 0 h 96"/>
                <a:gd name="T4" fmla="*/ 0 w 160"/>
                <a:gd name="T5" fmla="*/ 96 h 96"/>
                <a:gd name="T6" fmla="*/ 51 w 160"/>
                <a:gd name="T7" fmla="*/ 96 h 96"/>
                <a:gd name="T8" fmla="*/ 160 w 160"/>
                <a:gd name="T9" fmla="*/ 3 h 96"/>
                <a:gd name="T10" fmla="*/ 152 w 160"/>
                <a:gd name="T1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96">
                  <a:moveTo>
                    <a:pt x="152" y="0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51" y="96"/>
                    <a:pt x="51" y="96"/>
                    <a:pt x="51" y="96"/>
                  </a:cubicBezTo>
                  <a:cubicBezTo>
                    <a:pt x="160" y="3"/>
                    <a:pt x="160" y="3"/>
                    <a:pt x="160" y="3"/>
                  </a:cubicBezTo>
                  <a:cubicBezTo>
                    <a:pt x="158" y="1"/>
                    <a:pt x="155" y="0"/>
                    <a:pt x="152" y="0"/>
                  </a:cubicBezTo>
                  <a:close/>
                </a:path>
              </a:pathLst>
            </a:custGeom>
            <a:solidFill>
              <a:srgbClr val="F583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2" name="矩形 31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33" name="矩形 32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34" name="矩形 33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35" name="矩形 34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00252" y="4043249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历史收入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30709" y="46795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合作月份</a:t>
            </a:r>
          </a:p>
        </p:txBody>
      </p:sp>
      <p:cxnSp>
        <p:nvCxnSpPr>
          <p:cNvPr id="8" name="直接连接符 4"/>
          <p:cNvCxnSpPr/>
          <p:nvPr/>
        </p:nvCxnSpPr>
        <p:spPr>
          <a:xfrm>
            <a:off x="638654" y="4561094"/>
            <a:ext cx="249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号 7"/>
          <p:cNvSpPr/>
          <p:nvPr/>
        </p:nvSpPr>
        <p:spPr>
          <a:xfrm>
            <a:off x="3249248" y="4241746"/>
            <a:ext cx="803563" cy="593766"/>
          </a:xfrm>
          <a:prstGeom prst="mathEqual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52811" y="4307796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月均销售额</a:t>
            </a:r>
          </a:p>
        </p:txBody>
      </p:sp>
      <p:sp>
        <p:nvSpPr>
          <p:cNvPr id="11" name="左大括号 10"/>
          <p:cNvSpPr/>
          <p:nvPr/>
        </p:nvSpPr>
        <p:spPr>
          <a:xfrm>
            <a:off x="5981823" y="2221231"/>
            <a:ext cx="308394" cy="31370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505152" y="2901974"/>
            <a:ext cx="581441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现有在售产品组合有没有优化机会？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做哪种投入更合适？（促销、套餐、返利</a:t>
            </a:r>
            <a:r>
              <a:rPr lang="en-US" altLang="zh-CN" sz="2000" b="1" dirty="0"/>
              <a:t>……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/>
              <a:t>做哪些产品能够快速增加销量？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sz="20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750422" y="2377941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历史收入 </a:t>
            </a:r>
            <a:r>
              <a:rPr lang="en-US" altLang="zh-CN" dirty="0"/>
              <a:t>– </a:t>
            </a:r>
            <a:r>
              <a:rPr lang="zh-CN" altLang="en-US" dirty="0"/>
              <a:t>历史投入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30709" y="28957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合作月份</a:t>
            </a:r>
          </a:p>
        </p:txBody>
      </p:sp>
      <p:cxnSp>
        <p:nvCxnSpPr>
          <p:cNvPr id="15" name="直接连接符 4"/>
          <p:cNvCxnSpPr/>
          <p:nvPr/>
        </p:nvCxnSpPr>
        <p:spPr>
          <a:xfrm>
            <a:off x="671140" y="2814751"/>
            <a:ext cx="2427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等号 7"/>
          <p:cNvSpPr/>
          <p:nvPr/>
        </p:nvSpPr>
        <p:spPr>
          <a:xfrm>
            <a:off x="3249248" y="2516316"/>
            <a:ext cx="803563" cy="593766"/>
          </a:xfrm>
          <a:prstGeom prst="mathEqual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52811" y="2562607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月均毛利额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79405" y="977465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销量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C00000"/>
                </a:solidFill>
              </a:rPr>
              <a:t>利润</a:t>
            </a:r>
            <a:r>
              <a:rPr lang="zh-CN" altLang="en-US" sz="2400" b="1" dirty="0"/>
              <a:t>双视角，找到</a:t>
            </a:r>
            <a:r>
              <a:rPr lang="zh-CN" altLang="en-US" sz="2400" b="1" dirty="0">
                <a:solidFill>
                  <a:srgbClr val="C00000"/>
                </a:solidFill>
              </a:rPr>
              <a:t>核心网点增长点</a:t>
            </a:r>
          </a:p>
        </p:txBody>
      </p:sp>
      <p:sp>
        <p:nvSpPr>
          <p:cNvPr id="5" name="矩形 4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8" name="矩形 17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20" name="矩形 19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21" name="矩形 20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4538" y="318107"/>
            <a:ext cx="321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+mn-ea"/>
              </a:rPr>
              <a:t>案例分享</a:t>
            </a:r>
            <a:r>
              <a:rPr kumimoji="1" lang="en-US" altLang="zh-CN" sz="2000" b="1" dirty="0">
                <a:latin typeface="+mn-ea"/>
              </a:rPr>
              <a:t>——</a:t>
            </a:r>
            <a:r>
              <a:rPr kumimoji="1" lang="zh-CN" altLang="en-US" sz="2000" b="1" dirty="0">
                <a:latin typeface="+mn-ea"/>
              </a:rPr>
              <a:t>网点分级管理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4538" y="718217"/>
            <a:ext cx="53763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根据市场实际情况和销售数据，制定策略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3408" y="1267391"/>
          <a:ext cx="10695024" cy="1737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销售额贡献占比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网点问题洞察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核心网点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68%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费用投入不精准、转化率低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非核心网点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500+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32%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数量大、类型多、缺标准化管理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等腰三角形 5"/>
          <p:cNvSpPr/>
          <p:nvPr/>
        </p:nvSpPr>
        <p:spPr>
          <a:xfrm rot="10800000">
            <a:off x="4511506" y="3181493"/>
            <a:ext cx="2818827" cy="247507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C00000"/>
              </a:gs>
            </a:gsLst>
            <a:lin ang="16200000" scaled="1"/>
            <a:tileRect/>
          </a:gra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4670326" y="3421369"/>
            <a:ext cx="281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23</a:t>
            </a:r>
            <a:r>
              <a:rPr lang="zh-CN" altLang="en-US" dirty="0"/>
              <a:t>年网点分级战略策略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1488849" y="3608507"/>
            <a:ext cx="2513417" cy="468479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/>
              <a:t>核心网点</a:t>
            </a:r>
            <a:endParaRPr kumimoji="1" 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7839572" y="3608507"/>
            <a:ext cx="2513417" cy="468479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/>
              <a:t>非核心网点</a:t>
            </a:r>
            <a:endParaRPr kumimoji="1" lang="en-US" sz="2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1849775" y="4153879"/>
            <a:ext cx="1791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稳增长、调结构 </a:t>
            </a:r>
            <a:endParaRPr 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8200497" y="4153879"/>
            <a:ext cx="1791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扩大盘、抢份额</a:t>
            </a:r>
            <a:endParaRPr lang="en-US" b="1" dirty="0"/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7379261" y="4542883"/>
            <a:ext cx="3434033" cy="7963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动销店：重质量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分销店：重培育</a:t>
            </a:r>
            <a:endParaRPr lang="en-US" altLang="zh-CN" sz="1600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覆盖店：扩大盘，过盈亏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791708" y="4475162"/>
            <a:ext cx="1907697" cy="7963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建立成本中心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一店一策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050821" y="5805134"/>
            <a:ext cx="3389467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一店一策，针对性投入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956262" y="5805134"/>
            <a:ext cx="228003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网点分级精细化运营</a:t>
            </a:r>
          </a:p>
        </p:txBody>
      </p:sp>
      <p:sp>
        <p:nvSpPr>
          <p:cNvPr id="18" name="箭头: 下 17"/>
          <p:cNvSpPr/>
          <p:nvPr/>
        </p:nvSpPr>
        <p:spPr>
          <a:xfrm>
            <a:off x="2542684" y="5405943"/>
            <a:ext cx="405743" cy="369332"/>
          </a:xfrm>
          <a:prstGeom prst="downArrow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19" name="箭头: 下 18"/>
          <p:cNvSpPr/>
          <p:nvPr/>
        </p:nvSpPr>
        <p:spPr>
          <a:xfrm>
            <a:off x="8893407" y="5435802"/>
            <a:ext cx="405743" cy="369332"/>
          </a:xfrm>
          <a:prstGeom prst="downArrow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4538" y="318107"/>
            <a:ext cx="321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+mn-ea"/>
              </a:rPr>
              <a:t>案例分享</a:t>
            </a:r>
            <a:r>
              <a:rPr kumimoji="1" lang="en-US" altLang="zh-CN" sz="2000" b="1" dirty="0">
                <a:latin typeface="+mn-ea"/>
              </a:rPr>
              <a:t>——</a:t>
            </a:r>
            <a:r>
              <a:rPr kumimoji="1" lang="zh-CN" altLang="en-US" sz="2000" b="1" dirty="0">
                <a:latin typeface="+mn-ea"/>
              </a:rPr>
              <a:t>网点分级管理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4538" y="718217"/>
            <a:ext cx="2501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核心网点策略分析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309574" y="1861425"/>
            <a:ext cx="2643112" cy="2759237"/>
            <a:chOff x="5255103" y="3755233"/>
            <a:chExt cx="1548020" cy="1616032"/>
          </a:xfrm>
        </p:grpSpPr>
        <p:sp>
          <p:nvSpPr>
            <p:cNvPr id="10" name="Freeform 9"/>
            <p:cNvSpPr/>
            <p:nvPr>
              <p:custDataLst>
                <p:tags r:id="rId3"/>
              </p:custDataLst>
            </p:nvPr>
          </p:nvSpPr>
          <p:spPr bwMode="auto">
            <a:xfrm>
              <a:off x="5831055" y="4364791"/>
              <a:ext cx="400917" cy="400917"/>
            </a:xfrm>
            <a:custGeom>
              <a:avLst/>
              <a:gdLst>
                <a:gd name="T0" fmla="*/ 638 w 638"/>
                <a:gd name="T1" fmla="*/ 319 h 638"/>
                <a:gd name="T2" fmla="*/ 638 w 638"/>
                <a:gd name="T3" fmla="*/ 319 h 638"/>
                <a:gd name="T4" fmla="*/ 637 w 638"/>
                <a:gd name="T5" fmla="*/ 349 h 638"/>
                <a:gd name="T6" fmla="*/ 632 w 638"/>
                <a:gd name="T7" fmla="*/ 382 h 638"/>
                <a:gd name="T8" fmla="*/ 632 w 638"/>
                <a:gd name="T9" fmla="*/ 382 h 638"/>
                <a:gd name="T10" fmla="*/ 545 w 638"/>
                <a:gd name="T11" fmla="*/ 545 h 638"/>
                <a:gd name="T12" fmla="*/ 428 w 638"/>
                <a:gd name="T13" fmla="*/ 619 h 638"/>
                <a:gd name="T14" fmla="*/ 319 w 638"/>
                <a:gd name="T15" fmla="*/ 638 h 638"/>
                <a:gd name="T16" fmla="*/ 0 w 638"/>
                <a:gd name="T17" fmla="*/ 319 h 638"/>
                <a:gd name="T18" fmla="*/ 0 w 638"/>
                <a:gd name="T19" fmla="*/ 319 h 638"/>
                <a:gd name="T20" fmla="*/ 124 w 638"/>
                <a:gd name="T21" fmla="*/ 67 h 638"/>
                <a:gd name="T22" fmla="*/ 319 w 638"/>
                <a:gd name="T23" fmla="*/ 0 h 638"/>
                <a:gd name="T24" fmla="*/ 319 w 638"/>
                <a:gd name="T25" fmla="*/ 0 h 638"/>
                <a:gd name="T26" fmla="*/ 605 w 638"/>
                <a:gd name="T27" fmla="*/ 178 h 638"/>
                <a:gd name="T28" fmla="*/ 624 w 638"/>
                <a:gd name="T29" fmla="*/ 224 h 638"/>
                <a:gd name="T30" fmla="*/ 638 w 638"/>
                <a:gd name="T31" fmla="*/ 319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8" h="638">
                  <a:moveTo>
                    <a:pt x="638" y="319"/>
                  </a:moveTo>
                  <a:cubicBezTo>
                    <a:pt x="638" y="319"/>
                    <a:pt x="638" y="319"/>
                    <a:pt x="638" y="319"/>
                  </a:cubicBezTo>
                  <a:cubicBezTo>
                    <a:pt x="638" y="329"/>
                    <a:pt x="638" y="339"/>
                    <a:pt x="637" y="349"/>
                  </a:cubicBezTo>
                  <a:cubicBezTo>
                    <a:pt x="636" y="360"/>
                    <a:pt x="634" y="371"/>
                    <a:pt x="632" y="382"/>
                  </a:cubicBezTo>
                  <a:cubicBezTo>
                    <a:pt x="632" y="382"/>
                    <a:pt x="632" y="382"/>
                    <a:pt x="632" y="382"/>
                  </a:cubicBezTo>
                  <a:cubicBezTo>
                    <a:pt x="620" y="445"/>
                    <a:pt x="589" y="501"/>
                    <a:pt x="545" y="545"/>
                  </a:cubicBezTo>
                  <a:cubicBezTo>
                    <a:pt x="512" y="577"/>
                    <a:pt x="473" y="603"/>
                    <a:pt x="428" y="619"/>
                  </a:cubicBezTo>
                  <a:cubicBezTo>
                    <a:pt x="394" y="632"/>
                    <a:pt x="358" y="638"/>
                    <a:pt x="319" y="638"/>
                  </a:cubicBezTo>
                  <a:cubicBezTo>
                    <a:pt x="143" y="638"/>
                    <a:pt x="0" y="496"/>
                    <a:pt x="0" y="319"/>
                  </a:cubicBezTo>
                  <a:cubicBezTo>
                    <a:pt x="0" y="319"/>
                    <a:pt x="0" y="319"/>
                    <a:pt x="0" y="319"/>
                  </a:cubicBezTo>
                  <a:cubicBezTo>
                    <a:pt x="0" y="216"/>
                    <a:pt x="49" y="125"/>
                    <a:pt x="124" y="67"/>
                  </a:cubicBezTo>
                  <a:cubicBezTo>
                    <a:pt x="178" y="25"/>
                    <a:pt x="246" y="0"/>
                    <a:pt x="319" y="0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445" y="0"/>
                    <a:pt x="553" y="73"/>
                    <a:pt x="605" y="178"/>
                  </a:cubicBezTo>
                  <a:cubicBezTo>
                    <a:pt x="613" y="193"/>
                    <a:pt x="619" y="208"/>
                    <a:pt x="624" y="224"/>
                  </a:cubicBezTo>
                  <a:cubicBezTo>
                    <a:pt x="633" y="254"/>
                    <a:pt x="638" y="286"/>
                    <a:pt x="638" y="319"/>
                  </a:cubicBezTo>
                  <a:close/>
                </a:path>
              </a:pathLst>
            </a:custGeom>
            <a:noFill/>
            <a:ln w="58738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5"/>
            <p:cNvSpPr/>
            <p:nvPr>
              <p:custDataLst>
                <p:tags r:id="rId4"/>
              </p:custDataLst>
            </p:nvPr>
          </p:nvSpPr>
          <p:spPr bwMode="auto">
            <a:xfrm>
              <a:off x="5255103" y="3755233"/>
              <a:ext cx="940993" cy="1616032"/>
            </a:xfrm>
            <a:custGeom>
              <a:avLst/>
              <a:gdLst>
                <a:gd name="T0" fmla="*/ 641 w 783"/>
                <a:gd name="T1" fmla="*/ 1225 h 1345"/>
                <a:gd name="T2" fmla="*/ 646 w 783"/>
                <a:gd name="T3" fmla="*/ 1166 h 1345"/>
                <a:gd name="T4" fmla="*/ 633 w 783"/>
                <a:gd name="T5" fmla="*/ 1149 h 1345"/>
                <a:gd name="T6" fmla="*/ 618 w 783"/>
                <a:gd name="T7" fmla="*/ 1147 h 1345"/>
                <a:gd name="T8" fmla="*/ 598 w 783"/>
                <a:gd name="T9" fmla="*/ 1152 h 1345"/>
                <a:gd name="T10" fmla="*/ 554 w 783"/>
                <a:gd name="T11" fmla="*/ 1151 h 1345"/>
                <a:gd name="T12" fmla="*/ 525 w 783"/>
                <a:gd name="T13" fmla="*/ 1130 h 1345"/>
                <a:gd name="T14" fmla="*/ 515 w 783"/>
                <a:gd name="T15" fmla="*/ 1105 h 1345"/>
                <a:gd name="T16" fmla="*/ 520 w 783"/>
                <a:gd name="T17" fmla="*/ 1069 h 1345"/>
                <a:gd name="T18" fmla="*/ 550 w 783"/>
                <a:gd name="T19" fmla="*/ 1040 h 1345"/>
                <a:gd name="T20" fmla="*/ 600 w 783"/>
                <a:gd name="T21" fmla="*/ 1038 h 1345"/>
                <a:gd name="T22" fmla="*/ 640 w 783"/>
                <a:gd name="T23" fmla="*/ 1040 h 1345"/>
                <a:gd name="T24" fmla="*/ 651 w 783"/>
                <a:gd name="T25" fmla="*/ 1010 h 1345"/>
                <a:gd name="T26" fmla="*/ 648 w 783"/>
                <a:gd name="T27" fmla="*/ 954 h 1345"/>
                <a:gd name="T28" fmla="*/ 641 w 783"/>
                <a:gd name="T29" fmla="*/ 882 h 1345"/>
                <a:gd name="T30" fmla="*/ 637 w 783"/>
                <a:gd name="T31" fmla="*/ 861 h 1345"/>
                <a:gd name="T32" fmla="*/ 456 w 783"/>
                <a:gd name="T33" fmla="*/ 672 h 1345"/>
                <a:gd name="T34" fmla="*/ 644 w 783"/>
                <a:gd name="T35" fmla="*/ 484 h 1345"/>
                <a:gd name="T36" fmla="*/ 666 w 783"/>
                <a:gd name="T37" fmla="*/ 485 h 1345"/>
                <a:gd name="T38" fmla="*/ 664 w 783"/>
                <a:gd name="T39" fmla="*/ 468 h 1345"/>
                <a:gd name="T40" fmla="*/ 654 w 783"/>
                <a:gd name="T41" fmla="*/ 374 h 1345"/>
                <a:gd name="T42" fmla="*/ 650 w 783"/>
                <a:gd name="T43" fmla="*/ 315 h 1345"/>
                <a:gd name="T44" fmla="*/ 663 w 783"/>
                <a:gd name="T45" fmla="*/ 298 h 1345"/>
                <a:gd name="T46" fmla="*/ 678 w 783"/>
                <a:gd name="T47" fmla="*/ 296 h 1345"/>
                <a:gd name="T48" fmla="*/ 698 w 783"/>
                <a:gd name="T49" fmla="*/ 301 h 1345"/>
                <a:gd name="T50" fmla="*/ 741 w 783"/>
                <a:gd name="T51" fmla="*/ 300 h 1345"/>
                <a:gd name="T52" fmla="*/ 771 w 783"/>
                <a:gd name="T53" fmla="*/ 279 h 1345"/>
                <a:gd name="T54" fmla="*/ 781 w 783"/>
                <a:gd name="T55" fmla="*/ 254 h 1345"/>
                <a:gd name="T56" fmla="*/ 776 w 783"/>
                <a:gd name="T57" fmla="*/ 218 h 1345"/>
                <a:gd name="T58" fmla="*/ 746 w 783"/>
                <a:gd name="T59" fmla="*/ 189 h 1345"/>
                <a:gd name="T60" fmla="*/ 696 w 783"/>
                <a:gd name="T61" fmla="*/ 187 h 1345"/>
                <a:gd name="T62" fmla="*/ 655 w 783"/>
                <a:gd name="T63" fmla="*/ 189 h 1345"/>
                <a:gd name="T64" fmla="*/ 644 w 783"/>
                <a:gd name="T65" fmla="*/ 159 h 1345"/>
                <a:gd name="T66" fmla="*/ 647 w 783"/>
                <a:gd name="T67" fmla="*/ 103 h 1345"/>
                <a:gd name="T68" fmla="*/ 654 w 783"/>
                <a:gd name="T69" fmla="*/ 31 h 1345"/>
                <a:gd name="T70" fmla="*/ 660 w 783"/>
                <a:gd name="T71" fmla="*/ 4 h 1345"/>
                <a:gd name="T72" fmla="*/ 660 w 783"/>
                <a:gd name="T73" fmla="*/ 0 h 1345"/>
                <a:gd name="T74" fmla="*/ 522 w 783"/>
                <a:gd name="T75" fmla="*/ 0 h 1345"/>
                <a:gd name="T76" fmla="*/ 445 w 783"/>
                <a:gd name="T77" fmla="*/ 173 h 1345"/>
                <a:gd name="T78" fmla="*/ 310 w 783"/>
                <a:gd name="T79" fmla="*/ 252 h 1345"/>
                <a:gd name="T80" fmla="*/ 121 w 783"/>
                <a:gd name="T81" fmla="*/ 231 h 1345"/>
                <a:gd name="T82" fmla="*/ 0 w 783"/>
                <a:gd name="T83" fmla="*/ 441 h 1345"/>
                <a:gd name="T84" fmla="*/ 113 w 783"/>
                <a:gd name="T85" fmla="*/ 594 h 1345"/>
                <a:gd name="T86" fmla="*/ 112 w 783"/>
                <a:gd name="T87" fmla="*/ 751 h 1345"/>
                <a:gd name="T88" fmla="*/ 0 w 783"/>
                <a:gd name="T89" fmla="*/ 904 h 1345"/>
                <a:gd name="T90" fmla="*/ 122 w 783"/>
                <a:gd name="T91" fmla="*/ 1114 h 1345"/>
                <a:gd name="T92" fmla="*/ 311 w 783"/>
                <a:gd name="T93" fmla="*/ 1093 h 1345"/>
                <a:gd name="T94" fmla="*/ 446 w 783"/>
                <a:gd name="T95" fmla="*/ 1171 h 1345"/>
                <a:gd name="T96" fmla="*/ 523 w 783"/>
                <a:gd name="T97" fmla="*/ 1345 h 1345"/>
                <a:gd name="T98" fmla="*/ 629 w 783"/>
                <a:gd name="T99" fmla="*/ 1345 h 1345"/>
                <a:gd name="T100" fmla="*/ 631 w 783"/>
                <a:gd name="T101" fmla="*/ 1319 h 1345"/>
                <a:gd name="T102" fmla="*/ 641 w 783"/>
                <a:gd name="T103" fmla="*/ 122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3" h="1345">
                  <a:moveTo>
                    <a:pt x="641" y="1225"/>
                  </a:moveTo>
                  <a:cubicBezTo>
                    <a:pt x="644" y="1208"/>
                    <a:pt x="648" y="1176"/>
                    <a:pt x="646" y="1166"/>
                  </a:cubicBezTo>
                  <a:cubicBezTo>
                    <a:pt x="644" y="1156"/>
                    <a:pt x="636" y="1151"/>
                    <a:pt x="633" y="1149"/>
                  </a:cubicBezTo>
                  <a:cubicBezTo>
                    <a:pt x="630" y="1147"/>
                    <a:pt x="622" y="1147"/>
                    <a:pt x="618" y="1147"/>
                  </a:cubicBezTo>
                  <a:cubicBezTo>
                    <a:pt x="613" y="1148"/>
                    <a:pt x="615" y="1147"/>
                    <a:pt x="598" y="1152"/>
                  </a:cubicBezTo>
                  <a:cubicBezTo>
                    <a:pt x="580" y="1157"/>
                    <a:pt x="565" y="1153"/>
                    <a:pt x="554" y="1151"/>
                  </a:cubicBezTo>
                  <a:cubicBezTo>
                    <a:pt x="544" y="1150"/>
                    <a:pt x="529" y="1134"/>
                    <a:pt x="525" y="1130"/>
                  </a:cubicBezTo>
                  <a:cubicBezTo>
                    <a:pt x="521" y="1125"/>
                    <a:pt x="515" y="1110"/>
                    <a:pt x="515" y="1105"/>
                  </a:cubicBezTo>
                  <a:cubicBezTo>
                    <a:pt x="514" y="1099"/>
                    <a:pt x="513" y="1083"/>
                    <a:pt x="520" y="1069"/>
                  </a:cubicBezTo>
                  <a:cubicBezTo>
                    <a:pt x="526" y="1055"/>
                    <a:pt x="544" y="1042"/>
                    <a:pt x="550" y="1040"/>
                  </a:cubicBezTo>
                  <a:cubicBezTo>
                    <a:pt x="556" y="1039"/>
                    <a:pt x="580" y="1030"/>
                    <a:pt x="600" y="1038"/>
                  </a:cubicBezTo>
                  <a:cubicBezTo>
                    <a:pt x="620" y="1047"/>
                    <a:pt x="630" y="1044"/>
                    <a:pt x="640" y="1040"/>
                  </a:cubicBezTo>
                  <a:cubicBezTo>
                    <a:pt x="651" y="1036"/>
                    <a:pt x="652" y="1019"/>
                    <a:pt x="651" y="1010"/>
                  </a:cubicBezTo>
                  <a:cubicBezTo>
                    <a:pt x="650" y="1001"/>
                    <a:pt x="649" y="978"/>
                    <a:pt x="648" y="954"/>
                  </a:cubicBezTo>
                  <a:cubicBezTo>
                    <a:pt x="647" y="931"/>
                    <a:pt x="643" y="890"/>
                    <a:pt x="641" y="882"/>
                  </a:cubicBezTo>
                  <a:cubicBezTo>
                    <a:pt x="640" y="876"/>
                    <a:pt x="638" y="867"/>
                    <a:pt x="637" y="861"/>
                  </a:cubicBezTo>
                  <a:cubicBezTo>
                    <a:pt x="536" y="857"/>
                    <a:pt x="456" y="774"/>
                    <a:pt x="456" y="672"/>
                  </a:cubicBezTo>
                  <a:cubicBezTo>
                    <a:pt x="456" y="568"/>
                    <a:pt x="540" y="484"/>
                    <a:pt x="644" y="484"/>
                  </a:cubicBezTo>
                  <a:cubicBezTo>
                    <a:pt x="651" y="484"/>
                    <a:pt x="659" y="484"/>
                    <a:pt x="666" y="485"/>
                  </a:cubicBezTo>
                  <a:cubicBezTo>
                    <a:pt x="664" y="468"/>
                    <a:pt x="664" y="468"/>
                    <a:pt x="664" y="468"/>
                  </a:cubicBezTo>
                  <a:cubicBezTo>
                    <a:pt x="660" y="423"/>
                    <a:pt x="658" y="391"/>
                    <a:pt x="654" y="374"/>
                  </a:cubicBezTo>
                  <a:cubicBezTo>
                    <a:pt x="651" y="357"/>
                    <a:pt x="648" y="325"/>
                    <a:pt x="650" y="315"/>
                  </a:cubicBezTo>
                  <a:cubicBezTo>
                    <a:pt x="652" y="305"/>
                    <a:pt x="659" y="300"/>
                    <a:pt x="663" y="298"/>
                  </a:cubicBezTo>
                  <a:cubicBezTo>
                    <a:pt x="666" y="297"/>
                    <a:pt x="674" y="296"/>
                    <a:pt x="678" y="296"/>
                  </a:cubicBezTo>
                  <a:cubicBezTo>
                    <a:pt x="682" y="297"/>
                    <a:pt x="681" y="297"/>
                    <a:pt x="698" y="301"/>
                  </a:cubicBezTo>
                  <a:cubicBezTo>
                    <a:pt x="715" y="306"/>
                    <a:pt x="731" y="302"/>
                    <a:pt x="741" y="300"/>
                  </a:cubicBezTo>
                  <a:cubicBezTo>
                    <a:pt x="752" y="299"/>
                    <a:pt x="767" y="283"/>
                    <a:pt x="771" y="279"/>
                  </a:cubicBezTo>
                  <a:cubicBezTo>
                    <a:pt x="775" y="274"/>
                    <a:pt x="781" y="259"/>
                    <a:pt x="781" y="254"/>
                  </a:cubicBezTo>
                  <a:cubicBezTo>
                    <a:pt x="781" y="248"/>
                    <a:pt x="783" y="232"/>
                    <a:pt x="776" y="218"/>
                  </a:cubicBezTo>
                  <a:cubicBezTo>
                    <a:pt x="769" y="204"/>
                    <a:pt x="752" y="191"/>
                    <a:pt x="746" y="189"/>
                  </a:cubicBezTo>
                  <a:cubicBezTo>
                    <a:pt x="739" y="188"/>
                    <a:pt x="716" y="179"/>
                    <a:pt x="696" y="187"/>
                  </a:cubicBezTo>
                  <a:cubicBezTo>
                    <a:pt x="676" y="196"/>
                    <a:pt x="666" y="193"/>
                    <a:pt x="655" y="189"/>
                  </a:cubicBezTo>
                  <a:cubicBezTo>
                    <a:pt x="645" y="185"/>
                    <a:pt x="643" y="169"/>
                    <a:pt x="644" y="159"/>
                  </a:cubicBezTo>
                  <a:cubicBezTo>
                    <a:pt x="645" y="150"/>
                    <a:pt x="646" y="127"/>
                    <a:pt x="647" y="103"/>
                  </a:cubicBezTo>
                  <a:cubicBezTo>
                    <a:pt x="649" y="80"/>
                    <a:pt x="653" y="39"/>
                    <a:pt x="654" y="31"/>
                  </a:cubicBezTo>
                  <a:cubicBezTo>
                    <a:pt x="656" y="22"/>
                    <a:pt x="659" y="8"/>
                    <a:pt x="660" y="4"/>
                  </a:cubicBezTo>
                  <a:cubicBezTo>
                    <a:pt x="660" y="3"/>
                    <a:pt x="660" y="2"/>
                    <a:pt x="660" y="0"/>
                  </a:cubicBezTo>
                  <a:cubicBezTo>
                    <a:pt x="522" y="0"/>
                    <a:pt x="522" y="0"/>
                    <a:pt x="522" y="0"/>
                  </a:cubicBezTo>
                  <a:cubicBezTo>
                    <a:pt x="445" y="173"/>
                    <a:pt x="445" y="173"/>
                    <a:pt x="445" y="173"/>
                  </a:cubicBezTo>
                  <a:cubicBezTo>
                    <a:pt x="310" y="252"/>
                    <a:pt x="310" y="252"/>
                    <a:pt x="310" y="252"/>
                  </a:cubicBezTo>
                  <a:cubicBezTo>
                    <a:pt x="121" y="231"/>
                    <a:pt x="121" y="231"/>
                    <a:pt x="121" y="231"/>
                  </a:cubicBezTo>
                  <a:cubicBezTo>
                    <a:pt x="0" y="441"/>
                    <a:pt x="0" y="441"/>
                    <a:pt x="0" y="441"/>
                  </a:cubicBezTo>
                  <a:cubicBezTo>
                    <a:pt x="113" y="594"/>
                    <a:pt x="113" y="594"/>
                    <a:pt x="113" y="594"/>
                  </a:cubicBezTo>
                  <a:cubicBezTo>
                    <a:pt x="112" y="751"/>
                    <a:pt x="112" y="751"/>
                    <a:pt x="112" y="751"/>
                  </a:cubicBezTo>
                  <a:cubicBezTo>
                    <a:pt x="0" y="904"/>
                    <a:pt x="0" y="904"/>
                    <a:pt x="0" y="904"/>
                  </a:cubicBezTo>
                  <a:cubicBezTo>
                    <a:pt x="122" y="1114"/>
                    <a:pt x="122" y="1114"/>
                    <a:pt x="122" y="1114"/>
                  </a:cubicBezTo>
                  <a:cubicBezTo>
                    <a:pt x="311" y="1093"/>
                    <a:pt x="311" y="1093"/>
                    <a:pt x="311" y="1093"/>
                  </a:cubicBezTo>
                  <a:cubicBezTo>
                    <a:pt x="446" y="1171"/>
                    <a:pt x="446" y="1171"/>
                    <a:pt x="446" y="1171"/>
                  </a:cubicBezTo>
                  <a:cubicBezTo>
                    <a:pt x="523" y="1345"/>
                    <a:pt x="523" y="1345"/>
                    <a:pt x="523" y="1345"/>
                  </a:cubicBezTo>
                  <a:cubicBezTo>
                    <a:pt x="629" y="1345"/>
                    <a:pt x="629" y="1345"/>
                    <a:pt x="629" y="1345"/>
                  </a:cubicBezTo>
                  <a:cubicBezTo>
                    <a:pt x="631" y="1319"/>
                    <a:pt x="631" y="1319"/>
                    <a:pt x="631" y="1319"/>
                  </a:cubicBezTo>
                  <a:cubicBezTo>
                    <a:pt x="635" y="1274"/>
                    <a:pt x="638" y="1242"/>
                    <a:pt x="641" y="122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solidFill>
                <a:sysClr val="window" lastClr="FFFFFF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Freeform 6"/>
            <p:cNvSpPr/>
            <p:nvPr>
              <p:custDataLst>
                <p:tags r:id="rId5"/>
              </p:custDataLst>
            </p:nvPr>
          </p:nvSpPr>
          <p:spPr bwMode="auto">
            <a:xfrm>
              <a:off x="5871773" y="3755233"/>
              <a:ext cx="931350" cy="1616032"/>
            </a:xfrm>
            <a:custGeom>
              <a:avLst/>
              <a:gdLst>
                <a:gd name="T0" fmla="*/ 662 w 775"/>
                <a:gd name="T1" fmla="*/ 593 h 1345"/>
                <a:gd name="T2" fmla="*/ 775 w 775"/>
                <a:gd name="T3" fmla="*/ 440 h 1345"/>
                <a:gd name="T4" fmla="*/ 653 w 775"/>
                <a:gd name="T5" fmla="*/ 231 h 1345"/>
                <a:gd name="T6" fmla="*/ 464 w 775"/>
                <a:gd name="T7" fmla="*/ 251 h 1345"/>
                <a:gd name="T8" fmla="*/ 329 w 775"/>
                <a:gd name="T9" fmla="*/ 173 h 1345"/>
                <a:gd name="T10" fmla="*/ 252 w 775"/>
                <a:gd name="T11" fmla="*/ 0 h 1345"/>
                <a:gd name="T12" fmla="*/ 147 w 775"/>
                <a:gd name="T13" fmla="*/ 0 h 1345"/>
                <a:gd name="T14" fmla="*/ 147 w 775"/>
                <a:gd name="T15" fmla="*/ 4 h 1345"/>
                <a:gd name="T16" fmla="*/ 141 w 775"/>
                <a:gd name="T17" fmla="*/ 31 h 1345"/>
                <a:gd name="T18" fmla="*/ 134 w 775"/>
                <a:gd name="T19" fmla="*/ 103 h 1345"/>
                <a:gd name="T20" fmla="*/ 131 w 775"/>
                <a:gd name="T21" fmla="*/ 159 h 1345"/>
                <a:gd name="T22" fmla="*/ 142 w 775"/>
                <a:gd name="T23" fmla="*/ 189 h 1345"/>
                <a:gd name="T24" fmla="*/ 183 w 775"/>
                <a:gd name="T25" fmla="*/ 187 h 1345"/>
                <a:gd name="T26" fmla="*/ 233 w 775"/>
                <a:gd name="T27" fmla="*/ 189 h 1345"/>
                <a:gd name="T28" fmla="*/ 263 w 775"/>
                <a:gd name="T29" fmla="*/ 218 h 1345"/>
                <a:gd name="T30" fmla="*/ 268 w 775"/>
                <a:gd name="T31" fmla="*/ 254 h 1345"/>
                <a:gd name="T32" fmla="*/ 258 w 775"/>
                <a:gd name="T33" fmla="*/ 279 h 1345"/>
                <a:gd name="T34" fmla="*/ 228 w 775"/>
                <a:gd name="T35" fmla="*/ 300 h 1345"/>
                <a:gd name="T36" fmla="*/ 185 w 775"/>
                <a:gd name="T37" fmla="*/ 301 h 1345"/>
                <a:gd name="T38" fmla="*/ 165 w 775"/>
                <a:gd name="T39" fmla="*/ 296 h 1345"/>
                <a:gd name="T40" fmla="*/ 150 w 775"/>
                <a:gd name="T41" fmla="*/ 298 h 1345"/>
                <a:gd name="T42" fmla="*/ 137 w 775"/>
                <a:gd name="T43" fmla="*/ 315 h 1345"/>
                <a:gd name="T44" fmla="*/ 141 w 775"/>
                <a:gd name="T45" fmla="*/ 374 h 1345"/>
                <a:gd name="T46" fmla="*/ 151 w 775"/>
                <a:gd name="T47" fmla="*/ 468 h 1345"/>
                <a:gd name="T48" fmla="*/ 153 w 775"/>
                <a:gd name="T49" fmla="*/ 485 h 1345"/>
                <a:gd name="T50" fmla="*/ 319 w 775"/>
                <a:gd name="T51" fmla="*/ 672 h 1345"/>
                <a:gd name="T52" fmla="*/ 131 w 775"/>
                <a:gd name="T53" fmla="*/ 861 h 1345"/>
                <a:gd name="T54" fmla="*/ 124 w 775"/>
                <a:gd name="T55" fmla="*/ 861 h 1345"/>
                <a:gd name="T56" fmla="*/ 128 w 775"/>
                <a:gd name="T57" fmla="*/ 882 h 1345"/>
                <a:gd name="T58" fmla="*/ 135 w 775"/>
                <a:gd name="T59" fmla="*/ 954 h 1345"/>
                <a:gd name="T60" fmla="*/ 138 w 775"/>
                <a:gd name="T61" fmla="*/ 1010 h 1345"/>
                <a:gd name="T62" fmla="*/ 127 w 775"/>
                <a:gd name="T63" fmla="*/ 1040 h 1345"/>
                <a:gd name="T64" fmla="*/ 87 w 775"/>
                <a:gd name="T65" fmla="*/ 1038 h 1345"/>
                <a:gd name="T66" fmla="*/ 37 w 775"/>
                <a:gd name="T67" fmla="*/ 1040 h 1345"/>
                <a:gd name="T68" fmla="*/ 7 w 775"/>
                <a:gd name="T69" fmla="*/ 1069 h 1345"/>
                <a:gd name="T70" fmla="*/ 2 w 775"/>
                <a:gd name="T71" fmla="*/ 1105 h 1345"/>
                <a:gd name="T72" fmla="*/ 12 w 775"/>
                <a:gd name="T73" fmla="*/ 1130 h 1345"/>
                <a:gd name="T74" fmla="*/ 41 w 775"/>
                <a:gd name="T75" fmla="*/ 1151 h 1345"/>
                <a:gd name="T76" fmla="*/ 85 w 775"/>
                <a:gd name="T77" fmla="*/ 1152 h 1345"/>
                <a:gd name="T78" fmla="*/ 105 w 775"/>
                <a:gd name="T79" fmla="*/ 1147 h 1345"/>
                <a:gd name="T80" fmla="*/ 120 w 775"/>
                <a:gd name="T81" fmla="*/ 1149 h 1345"/>
                <a:gd name="T82" fmla="*/ 133 w 775"/>
                <a:gd name="T83" fmla="*/ 1166 h 1345"/>
                <a:gd name="T84" fmla="*/ 128 w 775"/>
                <a:gd name="T85" fmla="*/ 1225 h 1345"/>
                <a:gd name="T86" fmla="*/ 118 w 775"/>
                <a:gd name="T87" fmla="*/ 1319 h 1345"/>
                <a:gd name="T88" fmla="*/ 116 w 775"/>
                <a:gd name="T89" fmla="*/ 1345 h 1345"/>
                <a:gd name="T90" fmla="*/ 253 w 775"/>
                <a:gd name="T91" fmla="*/ 1345 h 1345"/>
                <a:gd name="T92" fmla="*/ 329 w 775"/>
                <a:gd name="T93" fmla="*/ 1171 h 1345"/>
                <a:gd name="T94" fmla="*/ 465 w 775"/>
                <a:gd name="T95" fmla="*/ 1093 h 1345"/>
                <a:gd name="T96" fmla="*/ 654 w 775"/>
                <a:gd name="T97" fmla="*/ 1113 h 1345"/>
                <a:gd name="T98" fmla="*/ 775 w 775"/>
                <a:gd name="T99" fmla="*/ 903 h 1345"/>
                <a:gd name="T100" fmla="*/ 663 w 775"/>
                <a:gd name="T101" fmla="*/ 750 h 1345"/>
                <a:gd name="T102" fmla="*/ 662 w 775"/>
                <a:gd name="T103" fmla="*/ 593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75" h="1345">
                  <a:moveTo>
                    <a:pt x="662" y="593"/>
                  </a:moveTo>
                  <a:cubicBezTo>
                    <a:pt x="775" y="440"/>
                    <a:pt x="775" y="440"/>
                    <a:pt x="775" y="440"/>
                  </a:cubicBezTo>
                  <a:cubicBezTo>
                    <a:pt x="653" y="231"/>
                    <a:pt x="653" y="231"/>
                    <a:pt x="653" y="231"/>
                  </a:cubicBezTo>
                  <a:cubicBezTo>
                    <a:pt x="464" y="251"/>
                    <a:pt x="464" y="251"/>
                    <a:pt x="464" y="251"/>
                  </a:cubicBezTo>
                  <a:cubicBezTo>
                    <a:pt x="329" y="173"/>
                    <a:pt x="329" y="173"/>
                    <a:pt x="329" y="173"/>
                  </a:cubicBezTo>
                  <a:cubicBezTo>
                    <a:pt x="252" y="0"/>
                    <a:pt x="252" y="0"/>
                    <a:pt x="252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2"/>
                    <a:pt x="147" y="3"/>
                    <a:pt x="147" y="4"/>
                  </a:cubicBezTo>
                  <a:cubicBezTo>
                    <a:pt x="146" y="8"/>
                    <a:pt x="143" y="22"/>
                    <a:pt x="141" y="31"/>
                  </a:cubicBezTo>
                  <a:cubicBezTo>
                    <a:pt x="140" y="39"/>
                    <a:pt x="136" y="80"/>
                    <a:pt x="134" y="103"/>
                  </a:cubicBezTo>
                  <a:cubicBezTo>
                    <a:pt x="133" y="127"/>
                    <a:pt x="132" y="150"/>
                    <a:pt x="131" y="159"/>
                  </a:cubicBezTo>
                  <a:cubicBezTo>
                    <a:pt x="130" y="169"/>
                    <a:pt x="132" y="185"/>
                    <a:pt x="142" y="189"/>
                  </a:cubicBezTo>
                  <a:cubicBezTo>
                    <a:pt x="153" y="193"/>
                    <a:pt x="163" y="196"/>
                    <a:pt x="183" y="187"/>
                  </a:cubicBezTo>
                  <a:cubicBezTo>
                    <a:pt x="203" y="179"/>
                    <a:pt x="226" y="188"/>
                    <a:pt x="233" y="189"/>
                  </a:cubicBezTo>
                  <a:cubicBezTo>
                    <a:pt x="239" y="191"/>
                    <a:pt x="256" y="204"/>
                    <a:pt x="263" y="218"/>
                  </a:cubicBezTo>
                  <a:cubicBezTo>
                    <a:pt x="270" y="232"/>
                    <a:pt x="268" y="248"/>
                    <a:pt x="268" y="254"/>
                  </a:cubicBezTo>
                  <a:cubicBezTo>
                    <a:pt x="268" y="259"/>
                    <a:pt x="262" y="274"/>
                    <a:pt x="258" y="279"/>
                  </a:cubicBezTo>
                  <a:cubicBezTo>
                    <a:pt x="254" y="283"/>
                    <a:pt x="239" y="299"/>
                    <a:pt x="228" y="300"/>
                  </a:cubicBezTo>
                  <a:cubicBezTo>
                    <a:pt x="218" y="302"/>
                    <a:pt x="202" y="306"/>
                    <a:pt x="185" y="301"/>
                  </a:cubicBezTo>
                  <a:cubicBezTo>
                    <a:pt x="168" y="297"/>
                    <a:pt x="169" y="297"/>
                    <a:pt x="165" y="296"/>
                  </a:cubicBezTo>
                  <a:cubicBezTo>
                    <a:pt x="161" y="296"/>
                    <a:pt x="153" y="297"/>
                    <a:pt x="150" y="298"/>
                  </a:cubicBezTo>
                  <a:cubicBezTo>
                    <a:pt x="146" y="300"/>
                    <a:pt x="139" y="305"/>
                    <a:pt x="137" y="315"/>
                  </a:cubicBezTo>
                  <a:cubicBezTo>
                    <a:pt x="135" y="325"/>
                    <a:pt x="138" y="357"/>
                    <a:pt x="141" y="374"/>
                  </a:cubicBezTo>
                  <a:cubicBezTo>
                    <a:pt x="145" y="391"/>
                    <a:pt x="147" y="423"/>
                    <a:pt x="151" y="468"/>
                  </a:cubicBezTo>
                  <a:cubicBezTo>
                    <a:pt x="153" y="485"/>
                    <a:pt x="153" y="485"/>
                    <a:pt x="153" y="485"/>
                  </a:cubicBezTo>
                  <a:cubicBezTo>
                    <a:pt x="247" y="496"/>
                    <a:pt x="319" y="576"/>
                    <a:pt x="319" y="672"/>
                  </a:cubicBezTo>
                  <a:cubicBezTo>
                    <a:pt x="319" y="776"/>
                    <a:pt x="235" y="861"/>
                    <a:pt x="131" y="861"/>
                  </a:cubicBezTo>
                  <a:cubicBezTo>
                    <a:pt x="129" y="861"/>
                    <a:pt x="126" y="861"/>
                    <a:pt x="124" y="861"/>
                  </a:cubicBezTo>
                  <a:cubicBezTo>
                    <a:pt x="125" y="867"/>
                    <a:pt x="127" y="876"/>
                    <a:pt x="128" y="882"/>
                  </a:cubicBezTo>
                  <a:cubicBezTo>
                    <a:pt x="130" y="890"/>
                    <a:pt x="134" y="931"/>
                    <a:pt x="135" y="954"/>
                  </a:cubicBezTo>
                  <a:cubicBezTo>
                    <a:pt x="136" y="978"/>
                    <a:pt x="137" y="1001"/>
                    <a:pt x="138" y="1010"/>
                  </a:cubicBezTo>
                  <a:cubicBezTo>
                    <a:pt x="139" y="1019"/>
                    <a:pt x="138" y="1036"/>
                    <a:pt x="127" y="1040"/>
                  </a:cubicBezTo>
                  <a:cubicBezTo>
                    <a:pt x="117" y="1044"/>
                    <a:pt x="107" y="1047"/>
                    <a:pt x="87" y="1038"/>
                  </a:cubicBezTo>
                  <a:cubicBezTo>
                    <a:pt x="67" y="1030"/>
                    <a:pt x="43" y="1039"/>
                    <a:pt x="37" y="1040"/>
                  </a:cubicBezTo>
                  <a:cubicBezTo>
                    <a:pt x="31" y="1042"/>
                    <a:pt x="13" y="1055"/>
                    <a:pt x="7" y="1069"/>
                  </a:cubicBezTo>
                  <a:cubicBezTo>
                    <a:pt x="0" y="1083"/>
                    <a:pt x="1" y="1099"/>
                    <a:pt x="2" y="1105"/>
                  </a:cubicBezTo>
                  <a:cubicBezTo>
                    <a:pt x="2" y="1110"/>
                    <a:pt x="8" y="1125"/>
                    <a:pt x="12" y="1130"/>
                  </a:cubicBezTo>
                  <a:cubicBezTo>
                    <a:pt x="16" y="1134"/>
                    <a:pt x="31" y="1150"/>
                    <a:pt x="41" y="1151"/>
                  </a:cubicBezTo>
                  <a:cubicBezTo>
                    <a:pt x="52" y="1153"/>
                    <a:pt x="67" y="1157"/>
                    <a:pt x="85" y="1152"/>
                  </a:cubicBezTo>
                  <a:cubicBezTo>
                    <a:pt x="102" y="1147"/>
                    <a:pt x="100" y="1148"/>
                    <a:pt x="105" y="1147"/>
                  </a:cubicBezTo>
                  <a:cubicBezTo>
                    <a:pt x="109" y="1147"/>
                    <a:pt x="117" y="1147"/>
                    <a:pt x="120" y="1149"/>
                  </a:cubicBezTo>
                  <a:cubicBezTo>
                    <a:pt x="123" y="1151"/>
                    <a:pt x="131" y="1156"/>
                    <a:pt x="133" y="1166"/>
                  </a:cubicBezTo>
                  <a:cubicBezTo>
                    <a:pt x="135" y="1176"/>
                    <a:pt x="131" y="1208"/>
                    <a:pt x="128" y="1225"/>
                  </a:cubicBezTo>
                  <a:cubicBezTo>
                    <a:pt x="125" y="1242"/>
                    <a:pt x="122" y="1274"/>
                    <a:pt x="118" y="1319"/>
                  </a:cubicBezTo>
                  <a:cubicBezTo>
                    <a:pt x="116" y="1345"/>
                    <a:pt x="116" y="1345"/>
                    <a:pt x="116" y="1345"/>
                  </a:cubicBezTo>
                  <a:cubicBezTo>
                    <a:pt x="253" y="1345"/>
                    <a:pt x="253" y="1345"/>
                    <a:pt x="253" y="1345"/>
                  </a:cubicBezTo>
                  <a:cubicBezTo>
                    <a:pt x="329" y="1171"/>
                    <a:pt x="329" y="1171"/>
                    <a:pt x="329" y="1171"/>
                  </a:cubicBezTo>
                  <a:cubicBezTo>
                    <a:pt x="465" y="1093"/>
                    <a:pt x="465" y="1093"/>
                    <a:pt x="465" y="1093"/>
                  </a:cubicBezTo>
                  <a:cubicBezTo>
                    <a:pt x="654" y="1113"/>
                    <a:pt x="654" y="1113"/>
                    <a:pt x="654" y="1113"/>
                  </a:cubicBezTo>
                  <a:cubicBezTo>
                    <a:pt x="775" y="903"/>
                    <a:pt x="775" y="903"/>
                    <a:pt x="775" y="903"/>
                  </a:cubicBezTo>
                  <a:cubicBezTo>
                    <a:pt x="663" y="750"/>
                    <a:pt x="663" y="750"/>
                    <a:pt x="663" y="750"/>
                  </a:cubicBezTo>
                  <a:lnTo>
                    <a:pt x="662" y="593"/>
                  </a:lnTo>
                  <a:close/>
                </a:path>
              </a:pathLst>
            </a:custGeom>
            <a:solidFill>
              <a:srgbClr val="C00000"/>
            </a:solidFill>
            <a:ln w="12700" cap="flat">
              <a:solidFill>
                <a:sysClr val="window" lastClr="FFFFFF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441436" y="4416858"/>
              <a:ext cx="333641" cy="51752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过去</a:t>
              </a:r>
            </a:p>
          </p:txBody>
        </p:sp>
        <p:sp>
          <p:nvSpPr>
            <p:cNvPr id="14" name="文本框 13"/>
            <p:cNvSpPr txBox="1"/>
            <p:nvPr>
              <p:custDataLst>
                <p:tags r:id="rId6"/>
              </p:custDataLst>
            </p:nvPr>
          </p:nvSpPr>
          <p:spPr>
            <a:xfrm>
              <a:off x="6282785" y="4364791"/>
              <a:ext cx="324466" cy="51752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现在</a:t>
              </a:r>
            </a:p>
          </p:txBody>
        </p:sp>
      </p:grp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1108230" y="2126125"/>
            <a:ext cx="3027797" cy="193059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noAutofit/>
          </a:bodyPr>
          <a:lstStyle/>
          <a:p>
            <a:pPr marL="0" marR="0" lvl="1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只关注销量目标：</a:t>
            </a:r>
          </a:p>
          <a:p>
            <a:pPr marL="114300" marR="0" lvl="1" indent="-1143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以同比增长为销量目标</a:t>
            </a:r>
          </a:p>
          <a:p>
            <a:pPr marL="114300" marR="0" lvl="1" indent="-1143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按统一标准销售</a:t>
            </a:r>
          </a:p>
          <a:p>
            <a:pPr marL="114300" marR="0" lvl="1" indent="-1143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以区域为单位考核销量</a:t>
            </a: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7385685" y="1861425"/>
            <a:ext cx="4806315" cy="245999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noAutofit/>
          </a:bodyPr>
          <a:lstStyle/>
          <a:p>
            <a:pPr marL="0" marR="0" lvl="1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销量、利润双目标：</a:t>
            </a:r>
          </a:p>
          <a:p>
            <a:pPr marL="114300" marR="0" lvl="1" indent="-1143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以历史销售数据制定销量、利润目标</a:t>
            </a:r>
          </a:p>
          <a:p>
            <a:pPr marL="114300" marR="0" lvl="1" indent="-1143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以实际情况制定销售标准</a:t>
            </a:r>
          </a:p>
          <a:p>
            <a:pPr marL="114300" marR="0" lvl="1" indent="-1143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以单店以作战单元，费用精准投入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4538" y="318107"/>
            <a:ext cx="321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+mn-ea"/>
              </a:rPr>
              <a:t>案例分享</a:t>
            </a:r>
            <a:r>
              <a:rPr kumimoji="1" lang="en-US" altLang="zh-CN" sz="2000" b="1" dirty="0">
                <a:latin typeface="+mn-ea"/>
              </a:rPr>
              <a:t>——</a:t>
            </a:r>
            <a:r>
              <a:rPr kumimoji="1" lang="zh-CN" altLang="en-US" sz="2000" b="1" dirty="0">
                <a:latin typeface="+mn-ea"/>
              </a:rPr>
              <a:t>网点分级管理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4538" y="718217"/>
            <a:ext cx="17692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核心网点策略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91185" y="2383244"/>
          <a:ext cx="10818075" cy="3619772"/>
        </p:xfrm>
        <a:graphic>
          <a:graphicData uri="http://schemas.openxmlformats.org/drawingml/2006/table">
            <a:tbl>
              <a:tblPr/>
              <a:tblGrid>
                <a:gridCol w="93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0317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网点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网点</a:t>
                      </a: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年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销售收入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年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销售成本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年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总费用投入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年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总费用投入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年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销售利润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合作时长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（个月）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月均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销售利润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57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机会门店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1371856.81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1204924.49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146018.96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138533.59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86005.94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7167.16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52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机会门店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1024055.36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925948.84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107474.46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85038.37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36949.7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3694.97 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57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优势门店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1151079.33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1001033.72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78821.13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67476.21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119098.4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9925.8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34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优势门店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459168.81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408306.32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31368.17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27848.74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44546.75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5568.34 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57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提升门店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131343.8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116164.34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12272.53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6606.4</a:t>
                      </a:r>
                      <a:endParaRPr lang="en-US" altLang="en-US" sz="10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12243.16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1020.26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4965700" y="3132816"/>
            <a:ext cx="2730499" cy="2870200"/>
          </a:xfrm>
          <a:prstGeom prst="rect">
            <a:avLst/>
          </a:prstGeom>
          <a:noFill/>
          <a:ln w="38100" cmpd="sng">
            <a:solidFill>
              <a:srgbClr val="E50112">
                <a:alpha val="99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箭头: 下 20"/>
          <p:cNvSpPr/>
          <p:nvPr/>
        </p:nvSpPr>
        <p:spPr>
          <a:xfrm>
            <a:off x="7293619" y="3249252"/>
            <a:ext cx="235285" cy="294585"/>
          </a:xfrm>
          <a:prstGeom prst="downArrow">
            <a:avLst/>
          </a:prstGeom>
          <a:solidFill>
            <a:srgbClr val="00B05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22" name="箭头: 下 21"/>
          <p:cNvSpPr/>
          <p:nvPr/>
        </p:nvSpPr>
        <p:spPr>
          <a:xfrm>
            <a:off x="7293619" y="3825947"/>
            <a:ext cx="235285" cy="294585"/>
          </a:xfrm>
          <a:prstGeom prst="downArrow">
            <a:avLst/>
          </a:prstGeom>
          <a:solidFill>
            <a:srgbClr val="00B05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23" name="箭头: 下 22"/>
          <p:cNvSpPr/>
          <p:nvPr/>
        </p:nvSpPr>
        <p:spPr>
          <a:xfrm>
            <a:off x="7293619" y="4402642"/>
            <a:ext cx="235285" cy="294585"/>
          </a:xfrm>
          <a:prstGeom prst="downArrow">
            <a:avLst/>
          </a:prstGeom>
          <a:solidFill>
            <a:srgbClr val="00B05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24" name="箭头: 下 23"/>
          <p:cNvSpPr/>
          <p:nvPr/>
        </p:nvSpPr>
        <p:spPr>
          <a:xfrm>
            <a:off x="7293619" y="4979337"/>
            <a:ext cx="235285" cy="294585"/>
          </a:xfrm>
          <a:prstGeom prst="downArrow">
            <a:avLst/>
          </a:prstGeom>
          <a:solidFill>
            <a:srgbClr val="00B05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25" name="箭头: 下 24"/>
          <p:cNvSpPr/>
          <p:nvPr/>
        </p:nvSpPr>
        <p:spPr>
          <a:xfrm>
            <a:off x="7293619" y="5556031"/>
            <a:ext cx="235285" cy="294585"/>
          </a:xfrm>
          <a:prstGeom prst="downArrow">
            <a:avLst/>
          </a:prstGeom>
          <a:solidFill>
            <a:srgbClr val="00B05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6" name="矩形 5"/>
          <p:cNvSpPr/>
          <p:nvPr/>
        </p:nvSpPr>
        <p:spPr>
          <a:xfrm>
            <a:off x="591185" y="1296051"/>
            <a:ext cx="10818075" cy="712407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/>
              <a:t>以单店为利润中心，分级管理，以一店一策管理方法，私人定制！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4538" y="318107"/>
            <a:ext cx="321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+mn-ea"/>
              </a:rPr>
              <a:t>案例分享</a:t>
            </a:r>
            <a:r>
              <a:rPr kumimoji="1" lang="en-US" altLang="zh-CN" sz="2000" b="1" dirty="0">
                <a:latin typeface="+mn-ea"/>
              </a:rPr>
              <a:t>——</a:t>
            </a:r>
            <a:r>
              <a:rPr kumimoji="1" lang="zh-CN" altLang="en-US" sz="2000" b="1" dirty="0">
                <a:latin typeface="+mn-ea"/>
              </a:rPr>
              <a:t>网点分级管理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4538" y="718217"/>
            <a:ext cx="19782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非核心网点策略</a:t>
            </a:r>
          </a:p>
        </p:txBody>
      </p:sp>
      <p:sp>
        <p:nvSpPr>
          <p:cNvPr id="4" name="矩形 3"/>
          <p:cNvSpPr/>
          <p:nvPr/>
        </p:nvSpPr>
        <p:spPr>
          <a:xfrm>
            <a:off x="1236793" y="1362130"/>
            <a:ext cx="2371951" cy="716095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 dirty="0"/>
              <a:t>动销店</a:t>
            </a:r>
            <a:endParaRPr kumimoji="1" 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5039959" y="1362130"/>
            <a:ext cx="2371951" cy="716095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 dirty="0"/>
              <a:t>分销店</a:t>
            </a:r>
            <a:endParaRPr kumimoji="1" lang="en-US" sz="3200" b="1" dirty="0"/>
          </a:p>
        </p:txBody>
      </p:sp>
      <p:sp>
        <p:nvSpPr>
          <p:cNvPr id="6" name="矩形 5"/>
          <p:cNvSpPr/>
          <p:nvPr/>
        </p:nvSpPr>
        <p:spPr>
          <a:xfrm>
            <a:off x="8843126" y="1362130"/>
            <a:ext cx="2371951" cy="716095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 dirty="0"/>
              <a:t>覆盖店</a:t>
            </a:r>
            <a:endParaRPr kumimoji="1" lang="en-US" sz="3200" b="1" dirty="0"/>
          </a:p>
        </p:txBody>
      </p:sp>
      <p:sp>
        <p:nvSpPr>
          <p:cNvPr id="7" name="矩形: 圆角 6"/>
          <p:cNvSpPr/>
          <p:nvPr/>
        </p:nvSpPr>
        <p:spPr>
          <a:xfrm rot="5400000" flipH="1" flipV="1">
            <a:off x="3348215" y="3617289"/>
            <a:ext cx="2004157" cy="64817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accent5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矩形: 圆角 7"/>
          <p:cNvSpPr/>
          <p:nvPr/>
        </p:nvSpPr>
        <p:spPr>
          <a:xfrm rot="5400000" flipH="1" flipV="1">
            <a:off x="7142584" y="3617289"/>
            <a:ext cx="2004157" cy="64817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accent5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0680" y="2317784"/>
            <a:ext cx="33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增加网点数量、提升单网点产出</a:t>
            </a:r>
            <a:endParaRPr 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827652" y="2746253"/>
            <a:ext cx="32842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为动销网点专项制定销售标准，并匹配专项市场资源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实施</a:t>
            </a:r>
            <a:r>
              <a:rPr lang="en-US" altLang="zh-CN" sz="1400" dirty="0"/>
              <a:t>17</a:t>
            </a:r>
            <a:r>
              <a:rPr lang="zh-CN" altLang="en-US" sz="1400" dirty="0"/>
              <a:t>场厂商协同专项拉练帮扶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老板</a:t>
            </a:r>
            <a:r>
              <a:rPr lang="en-US" altLang="zh-CN" sz="1400" dirty="0"/>
              <a:t>&amp;</a:t>
            </a:r>
            <a:r>
              <a:rPr lang="zh-CN" altLang="en-US" sz="1400" dirty="0"/>
              <a:t>业务主管每两个月至少对网点进行一次拜访，并与网点进行生意沟通</a:t>
            </a:r>
            <a:endParaRPr 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630818" y="2961697"/>
            <a:ext cx="32842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定制拜访路线，每月对拜访效率进行考核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每月考核</a:t>
            </a:r>
            <a:r>
              <a:rPr lang="en-US" altLang="zh-CN" sz="1400" dirty="0"/>
              <a:t>3</a:t>
            </a:r>
            <a:r>
              <a:rPr lang="zh-CN" altLang="en-US" sz="1400" dirty="0"/>
              <a:t>个产线月活标准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每月给予一个爆品政策活动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50095" y="2317784"/>
            <a:ext cx="2951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通过固定拜访提高月度成交</a:t>
            </a:r>
            <a:endParaRPr 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1078489" y="4798554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战略网点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优质量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4928685" y="4788168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潜力网点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重培育</a:t>
            </a:r>
            <a:endParaRPr lang="zh-CN" altLang="en-US" sz="2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8433984" y="2317784"/>
            <a:ext cx="3190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覆盖空白区域、迅速做大体量</a:t>
            </a:r>
            <a:endParaRPr lang="en-US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8433984" y="2853975"/>
            <a:ext cx="32842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规划快带慢、老带新产品组合，快速铺货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设置产品专项返利政策，激活一线业务动力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陈列资源</a:t>
            </a:r>
            <a:r>
              <a:rPr lang="en-US" altLang="zh-CN" sz="1400" dirty="0"/>
              <a:t>&amp;</a:t>
            </a:r>
            <a:r>
              <a:rPr lang="zh-CN" altLang="en-US" sz="1400" dirty="0"/>
              <a:t>促销资源支持</a:t>
            </a:r>
          </a:p>
        </p:txBody>
      </p:sp>
      <p:sp>
        <p:nvSpPr>
          <p:cNvPr id="18" name="矩形 17"/>
          <p:cNvSpPr/>
          <p:nvPr/>
        </p:nvSpPr>
        <p:spPr>
          <a:xfrm>
            <a:off x="8684821" y="4788168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基础网点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扩大盘</a:t>
            </a:r>
            <a:endParaRPr lang="zh-CN" altLang="en-US" sz="2000" dirty="0"/>
          </a:p>
        </p:txBody>
      </p:sp>
      <p:sp>
        <p:nvSpPr>
          <p:cNvPr id="19" name="等腰三角形 18"/>
          <p:cNvSpPr/>
          <p:nvPr/>
        </p:nvSpPr>
        <p:spPr>
          <a:xfrm rot="10800000">
            <a:off x="2485090" y="5414311"/>
            <a:ext cx="7481686" cy="257637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C00000"/>
              </a:gs>
            </a:gsLst>
            <a:lin ang="16200000" scaled="1"/>
            <a:tileRect/>
          </a:gra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20" name="矩形 19"/>
          <p:cNvSpPr/>
          <p:nvPr/>
        </p:nvSpPr>
        <p:spPr>
          <a:xfrm>
            <a:off x="2532838" y="5888990"/>
            <a:ext cx="6941771" cy="490021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非核心网点精细化运营，优质量、重培育、扩大盘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4538" y="318107"/>
            <a:ext cx="3457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+mn-ea"/>
              </a:rPr>
              <a:t>案例分享 </a:t>
            </a:r>
            <a:r>
              <a:rPr kumimoji="1" lang="en-US" altLang="zh-CN" sz="2000" b="1" dirty="0">
                <a:latin typeface="+mn-ea"/>
              </a:rPr>
              <a:t>——</a:t>
            </a:r>
            <a:r>
              <a:rPr kumimoji="1" lang="zh-CN" altLang="en-US" sz="2000" b="1" dirty="0">
                <a:latin typeface="+mn-ea"/>
              </a:rPr>
              <a:t> 网点分级管理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4537" y="842785"/>
            <a:ext cx="6299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分销渠道总销售额：</a:t>
            </a:r>
            <a:r>
              <a:rPr lang="zh-CN" altLang="en-US" sz="2800" b="1" dirty="0">
                <a:solidFill>
                  <a:srgbClr val="C00000"/>
                </a:solidFill>
              </a:rPr>
              <a:t>提升</a:t>
            </a:r>
            <a:r>
              <a:rPr lang="en-US" altLang="zh-CN" sz="2800" b="1" dirty="0">
                <a:solidFill>
                  <a:srgbClr val="C00000"/>
                </a:solidFill>
              </a:rPr>
              <a:t>22%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8038" y="1945603"/>
          <a:ext cx="6552284" cy="1219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r>
                        <a:rPr lang="zh-CN" altLang="en-US" dirty="0"/>
                        <a:t>年高毛利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产品占比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r>
                        <a:rPr lang="zh-CN" altLang="en-US" dirty="0"/>
                        <a:t>年高毛利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产品占比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提升率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核心网点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35%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  <a:endParaRPr lang="zh-CN" alt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23%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08038" y="1545493"/>
            <a:ext cx="250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核心网点策略调整成果：</a:t>
            </a:r>
            <a:endParaRPr 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08038" y="4212603"/>
          <a:ext cx="6552284" cy="1219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r>
                        <a:rPr lang="zh-CN" altLang="en-US" dirty="0"/>
                        <a:t>年销售额贡献占比占比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r>
                        <a:rPr lang="zh-CN" altLang="en-US" dirty="0"/>
                        <a:t>年销售额贡献占比占比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提升率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2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非核心网点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32%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41%</a:t>
                      </a:r>
                      <a:endParaRPr lang="zh-CN" altLang="en-US" sz="2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9%</a:t>
                      </a:r>
                      <a:endParaRPr lang="zh-CN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08037" y="3812493"/>
            <a:ext cx="274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非核心网点策略调整成果：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941975" y="4181825"/>
            <a:ext cx="3838331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非核心网点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整体份额持续加大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758881" y="1739948"/>
            <a:ext cx="4204520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核心网点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高毛利产品销量占比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稳步提升</a:t>
            </a:r>
          </a:p>
        </p:txBody>
      </p:sp>
      <p:sp>
        <p:nvSpPr>
          <p:cNvPr id="12" name="等腰三角形 5"/>
          <p:cNvSpPr/>
          <p:nvPr/>
        </p:nvSpPr>
        <p:spPr>
          <a:xfrm rot="5400000">
            <a:off x="7158122" y="2430622"/>
            <a:ext cx="1268872" cy="298834"/>
          </a:xfrm>
          <a:prstGeom prst="triangle">
            <a:avLst/>
          </a:prstGeom>
          <a:gradFill flip="none" rotWithShape="1">
            <a:gsLst>
              <a:gs pos="43000">
                <a:srgbClr val="E38C8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C00000"/>
              </a:gs>
            </a:gsLst>
            <a:lin ang="16200000" scaled="1"/>
            <a:tileRect/>
          </a:gra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  <p:sp>
        <p:nvSpPr>
          <p:cNvPr id="13" name="等腰三角形 5"/>
          <p:cNvSpPr/>
          <p:nvPr/>
        </p:nvSpPr>
        <p:spPr>
          <a:xfrm rot="5400000">
            <a:off x="7158122" y="4647852"/>
            <a:ext cx="1268872" cy="298834"/>
          </a:xfrm>
          <a:prstGeom prst="triangle">
            <a:avLst/>
          </a:prstGeom>
          <a:gradFill flip="none" rotWithShape="1">
            <a:gsLst>
              <a:gs pos="43000">
                <a:srgbClr val="E38C8B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C00000"/>
              </a:gs>
            </a:gsLst>
            <a:lin ang="16200000" scaled="1"/>
            <a:tileRect/>
          </a:gra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2400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49020" y="2800737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/>
              <a:t>你觉得核心网点如何拓展和销售提升？</a:t>
            </a:r>
          </a:p>
        </p:txBody>
      </p:sp>
      <p:sp>
        <p:nvSpPr>
          <p:cNvPr id="7" name="矩形 6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8" name="矩形 7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9" name="矩形 8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0" name="矩形 9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  <p:pic>
        <p:nvPicPr>
          <p:cNvPr id="11" name="图片 10" descr="图标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00" y="420165"/>
            <a:ext cx="1005403" cy="100540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703785" y="92286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/>
              <a:t>共创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003931" y="2187879"/>
          <a:ext cx="9254415" cy="3735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0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95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核心店名称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网点策略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9818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店的属性视角的策略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（销量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利润）双视角的策略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490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4901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98827" y="9345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核心网点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9442" y="1374598"/>
            <a:ext cx="684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……</a:t>
            </a:r>
            <a:endParaRPr kumimoji="1"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898827" y="15612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参考要素：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237655" y="1473345"/>
            <a:ext cx="1177158" cy="472966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产品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634012" y="1473345"/>
            <a:ext cx="1177158" cy="472966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服务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030369" y="1473345"/>
            <a:ext cx="1177158" cy="472966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拜访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6426726" y="1473345"/>
            <a:ext cx="1177158" cy="472966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陈列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823084" y="1473345"/>
            <a:ext cx="1177158" cy="472966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</a:rPr>
              <a:t>资源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30620" y="2916038"/>
            <a:ext cx="3210941" cy="7694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400" b="1"/>
            </a:lvl1pPr>
          </a:lstStyle>
          <a:p>
            <a:pPr algn="ctr"/>
            <a:r>
              <a:rPr lang="zh-CN" altLang="en-US" dirty="0"/>
              <a:t>线路规划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36270" y="1297332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</a:rPr>
              <a:t>渠道精耕补充内容（选讲）：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49387" y="2916038"/>
            <a:ext cx="3210942" cy="769441"/>
          </a:xfrm>
          <a:prstGeom prst="rect">
            <a:avLst/>
          </a:prstGeom>
          <a:gradFill>
            <a:gsLst>
              <a:gs pos="0">
                <a:schemeClr val="accent1"/>
              </a:gs>
              <a:gs pos="7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400" b="1"/>
            </a:lvl1pPr>
          </a:lstStyle>
          <a:p>
            <a:pPr algn="ctr"/>
            <a:r>
              <a:rPr lang="zh-CN" altLang="en-US" dirty="0"/>
              <a:t>新网点开发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下箭头 10"/>
          <p:cNvSpPr/>
          <p:nvPr/>
        </p:nvSpPr>
        <p:spPr>
          <a:xfrm rot="10800000">
            <a:off x="2968508" y="2256162"/>
            <a:ext cx="774930" cy="3651409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8" name="下箭头 6"/>
          <p:cNvSpPr/>
          <p:nvPr/>
        </p:nvSpPr>
        <p:spPr>
          <a:xfrm>
            <a:off x="1083490" y="2304166"/>
            <a:ext cx="775053" cy="3651409"/>
          </a:xfrm>
          <a:prstGeom prst="down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9" name="矩形 38"/>
          <p:cNvSpPr/>
          <p:nvPr/>
        </p:nvSpPr>
        <p:spPr>
          <a:xfrm>
            <a:off x="740611" y="2751298"/>
            <a:ext cx="3270088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空白乡镇</a:t>
            </a:r>
          </a:p>
        </p:txBody>
      </p:sp>
      <p:sp>
        <p:nvSpPr>
          <p:cNvPr id="41" name="矩形 40"/>
          <p:cNvSpPr/>
          <p:nvPr/>
        </p:nvSpPr>
        <p:spPr>
          <a:xfrm>
            <a:off x="740611" y="3867000"/>
            <a:ext cx="3270088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空白建材市场</a:t>
            </a:r>
          </a:p>
        </p:txBody>
      </p:sp>
      <p:sp>
        <p:nvSpPr>
          <p:cNvPr id="42" name="矩形 41"/>
          <p:cNvSpPr/>
          <p:nvPr/>
        </p:nvSpPr>
        <p:spPr>
          <a:xfrm>
            <a:off x="740611" y="4982703"/>
            <a:ext cx="3270088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空白网点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492128" y="1824520"/>
            <a:ext cx="196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从上往下排</a:t>
            </a:r>
            <a:endParaRPr lang="en-US" altLang="zh-CN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1556362" y="5981791"/>
            <a:ext cx="3599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从下往上摸</a:t>
            </a:r>
            <a:endParaRPr lang="en-US" altLang="zh-CN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397514" y="1216712"/>
            <a:ext cx="7385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通过摸排走访确定主战场、主阵地、精准聚焦播种子</a:t>
            </a:r>
          </a:p>
        </p:txBody>
      </p:sp>
      <p:sp>
        <p:nvSpPr>
          <p:cNvPr id="27" name="箭头: 右 26"/>
          <p:cNvSpPr/>
          <p:nvPr/>
        </p:nvSpPr>
        <p:spPr>
          <a:xfrm>
            <a:off x="4272280" y="2853000"/>
            <a:ext cx="434340" cy="332193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110982" y="2748729"/>
            <a:ext cx="3270088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主战场（找好地）</a:t>
            </a:r>
          </a:p>
        </p:txBody>
      </p:sp>
      <p:sp>
        <p:nvSpPr>
          <p:cNvPr id="55" name="箭头: 右 54"/>
          <p:cNvSpPr/>
          <p:nvPr/>
        </p:nvSpPr>
        <p:spPr>
          <a:xfrm>
            <a:off x="4272280" y="3943789"/>
            <a:ext cx="434340" cy="332193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5110982" y="3867000"/>
            <a:ext cx="3270088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主战场（找好地）</a:t>
            </a:r>
          </a:p>
        </p:txBody>
      </p:sp>
      <p:sp>
        <p:nvSpPr>
          <p:cNvPr id="57" name="箭头: 右 56"/>
          <p:cNvSpPr/>
          <p:nvPr/>
        </p:nvSpPr>
        <p:spPr>
          <a:xfrm>
            <a:off x="4259780" y="5036907"/>
            <a:ext cx="434340" cy="332193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110982" y="4919038"/>
            <a:ext cx="3270088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主堡垒（播种子）</a:t>
            </a:r>
          </a:p>
        </p:txBody>
      </p:sp>
      <p:sp>
        <p:nvSpPr>
          <p:cNvPr id="59" name="箭头: 右 58"/>
          <p:cNvSpPr/>
          <p:nvPr/>
        </p:nvSpPr>
        <p:spPr>
          <a:xfrm>
            <a:off x="8642651" y="2777320"/>
            <a:ext cx="434340" cy="332193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9481353" y="2673049"/>
            <a:ext cx="2374647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分主次</a:t>
            </a:r>
          </a:p>
        </p:txBody>
      </p:sp>
      <p:sp>
        <p:nvSpPr>
          <p:cNvPr id="61" name="箭头: 右 60"/>
          <p:cNvSpPr/>
          <p:nvPr/>
        </p:nvSpPr>
        <p:spPr>
          <a:xfrm>
            <a:off x="8642651" y="3868109"/>
            <a:ext cx="434340" cy="332193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9481353" y="3791320"/>
            <a:ext cx="2374647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分主次</a:t>
            </a:r>
          </a:p>
        </p:txBody>
      </p:sp>
      <p:sp>
        <p:nvSpPr>
          <p:cNvPr id="63" name="箭头: 右 62"/>
          <p:cNvSpPr/>
          <p:nvPr/>
        </p:nvSpPr>
        <p:spPr>
          <a:xfrm>
            <a:off x="8630151" y="4961227"/>
            <a:ext cx="434340" cy="332193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481353" y="4843358"/>
            <a:ext cx="2374647" cy="52574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分先后</a:t>
            </a:r>
          </a:p>
        </p:txBody>
      </p:sp>
      <p:sp>
        <p:nvSpPr>
          <p:cNvPr id="2" name="矩形 1"/>
          <p:cNvSpPr/>
          <p:nvPr/>
        </p:nvSpPr>
        <p:spPr>
          <a:xfrm>
            <a:off x="336000" y="2538417"/>
            <a:ext cx="11736000" cy="204515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37668" y="328222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/>
              <a:t>+</a:t>
            </a:r>
            <a:endParaRPr kumimoji="1"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81878" y="3817497"/>
            <a:ext cx="434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城区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1878" y="2733468"/>
            <a:ext cx="434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乡镇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9053" y="386508"/>
            <a:ext cx="298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新网点开发：</a:t>
            </a:r>
            <a:r>
              <a:rPr lang="zh-CN" altLang="en-US" sz="2000" b="1" dirty="0">
                <a:solidFill>
                  <a:srgbClr val="C00000"/>
                </a:solidFill>
              </a:rPr>
              <a:t>市场摸排</a:t>
            </a:r>
          </a:p>
        </p:txBody>
      </p:sp>
      <p:sp>
        <p:nvSpPr>
          <p:cNvPr id="12" name="矩形 11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3" name="矩形 12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4" name="矩形 13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5" name="矩形 14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/>
          <p:cNvCxnSpPr/>
          <p:nvPr>
            <p:custDataLst>
              <p:tags r:id="rId1"/>
            </p:custDataLst>
          </p:nvPr>
        </p:nvCxnSpPr>
        <p:spPr>
          <a:xfrm flipV="1">
            <a:off x="492215" y="4193356"/>
            <a:ext cx="4372610" cy="381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2"/>
            </p:custDataLst>
          </p:nvPr>
        </p:nvCxnSpPr>
        <p:spPr>
          <a:xfrm flipV="1">
            <a:off x="2670265" y="2655386"/>
            <a:ext cx="0" cy="302196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750910" y="2897321"/>
            <a:ext cx="193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人口多，经济高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必须开发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主战场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782411" y="2897321"/>
            <a:ext cx="193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人口少，经济高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优先开发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一级战场</a:t>
            </a: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2693760" y="4477795"/>
            <a:ext cx="193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人口多，经济低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优先开发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一级战场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782411" y="4477796"/>
            <a:ext cx="193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人口少，经济低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次级开发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二级战场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4095288" y="3854423"/>
            <a:ext cx="84772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人口多</a:t>
            </a: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087051" y="2219346"/>
            <a:ext cx="140829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经济水平高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6113427" y="2444102"/>
            <a:ext cx="5442228" cy="3433039"/>
            <a:chOff x="3266525" y="2303290"/>
            <a:chExt cx="8417238" cy="3785792"/>
          </a:xfrm>
        </p:grpSpPr>
        <p:sp>
          <p:nvSpPr>
            <p:cNvPr id="28" name="文本框 27"/>
            <p:cNvSpPr txBox="1"/>
            <p:nvPr/>
          </p:nvSpPr>
          <p:spPr>
            <a:xfrm>
              <a:off x="3351652" y="2303290"/>
              <a:ext cx="1398270" cy="916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</a:rPr>
                <a:t>人口数量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664794" y="2364425"/>
              <a:ext cx="6944995" cy="712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公开资料查找收集；与周边乡镇人口数量比较，优先开发人口多，人均</a:t>
              </a:r>
              <a:r>
                <a:rPr lang="en-US" altLang="zh-CN" b="1" dirty="0"/>
                <a:t>GDP</a:t>
              </a:r>
              <a:r>
                <a:rPr lang="zh-CN" altLang="en-US" b="1" dirty="0"/>
                <a:t>高的乡镇</a:t>
              </a:r>
            </a:p>
          </p:txBody>
        </p:sp>
        <p:sp>
          <p:nvSpPr>
            <p:cNvPr id="30" name="文本框 29"/>
            <p:cNvSpPr txBox="1"/>
            <p:nvPr>
              <p:custDataLst>
                <p:tags r:id="rId15"/>
              </p:custDataLst>
            </p:nvPr>
          </p:nvSpPr>
          <p:spPr>
            <a:xfrm>
              <a:off x="5695713" y="3519541"/>
              <a:ext cx="5988050" cy="407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b="1" dirty="0">
                  <a:sym typeface="+mn-ea"/>
                </a:rPr>
                <a:t>是否有高速路出入口，是否为高铁沿线县城</a:t>
              </a:r>
            </a:p>
          </p:txBody>
        </p: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5549833" y="5163887"/>
              <a:ext cx="5873115" cy="9251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b="1" dirty="0">
                  <a:sym typeface="+mn-ea"/>
                </a:rPr>
                <a:t>乡镇是否具备特定的消费场所，例如电影院、大型商场、桑拿房等</a:t>
              </a:r>
            </a:p>
          </p:txBody>
        </p:sp>
        <p:sp>
          <p:nvSpPr>
            <p:cNvPr id="32" name="文本框 31"/>
            <p:cNvSpPr txBox="1"/>
            <p:nvPr>
              <p:custDataLst>
                <p:tags r:id="rId17"/>
              </p:custDataLst>
            </p:nvPr>
          </p:nvSpPr>
          <p:spPr>
            <a:xfrm>
              <a:off x="3266525" y="4302344"/>
              <a:ext cx="1398269" cy="916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</a:rPr>
                <a:t>经济水平</a:t>
              </a:r>
            </a:p>
          </p:txBody>
        </p:sp>
        <p:sp>
          <p:nvSpPr>
            <p:cNvPr id="33" name="左大括号 32"/>
            <p:cNvSpPr/>
            <p:nvPr>
              <p:custDataLst>
                <p:tags r:id="rId18"/>
              </p:custDataLst>
            </p:nvPr>
          </p:nvSpPr>
          <p:spPr>
            <a:xfrm>
              <a:off x="4434576" y="3541654"/>
              <a:ext cx="259715" cy="2437764"/>
            </a:xfrm>
            <a:prstGeom prst="lef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4" name="文本框 33"/>
            <p:cNvSpPr txBox="1"/>
            <p:nvPr>
              <p:custDataLst>
                <p:tags r:id="rId19"/>
              </p:custDataLst>
            </p:nvPr>
          </p:nvSpPr>
          <p:spPr>
            <a:xfrm>
              <a:off x="4749923" y="3519541"/>
              <a:ext cx="996315" cy="712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</a:rPr>
                <a:t>交通网络</a:t>
              </a:r>
            </a:p>
          </p:txBody>
        </p:sp>
        <p:sp>
          <p:nvSpPr>
            <p:cNvPr id="35" name="文本框 34"/>
            <p:cNvSpPr txBox="1"/>
            <p:nvPr>
              <p:custDataLst>
                <p:tags r:id="rId20"/>
              </p:custDataLst>
            </p:nvPr>
          </p:nvSpPr>
          <p:spPr>
            <a:xfrm>
              <a:off x="4699399" y="5198574"/>
              <a:ext cx="996315" cy="712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</a:rPr>
                <a:t>娱乐场所</a:t>
              </a:r>
            </a:p>
          </p:txBody>
        </p:sp>
      </p:grpSp>
      <p:sp>
        <p:nvSpPr>
          <p:cNvPr id="36" name="文本框 35"/>
          <p:cNvSpPr txBox="1"/>
          <p:nvPr>
            <p:custDataLst>
              <p:tags r:id="rId9"/>
            </p:custDataLst>
          </p:nvPr>
        </p:nvSpPr>
        <p:spPr>
          <a:xfrm>
            <a:off x="1966117" y="5742866"/>
            <a:ext cx="140829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经济水平低</a:t>
            </a: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461183" y="3860138"/>
            <a:ext cx="92583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人口少</a:t>
            </a:r>
          </a:p>
        </p:txBody>
      </p:sp>
      <p:sp>
        <p:nvSpPr>
          <p:cNvPr id="38" name="流程图: 合并 8"/>
          <p:cNvSpPr/>
          <p:nvPr>
            <p:custDataLst>
              <p:tags r:id="rId11"/>
            </p:custDataLst>
          </p:nvPr>
        </p:nvSpPr>
        <p:spPr>
          <a:xfrm rot="5400000">
            <a:off x="4080655" y="3881137"/>
            <a:ext cx="2772410" cy="282575"/>
          </a:xfrm>
          <a:prstGeom prst="flowChartMerge">
            <a:avLst/>
          </a:prstGeom>
          <a:gradFill>
            <a:gsLst>
              <a:gs pos="0">
                <a:srgbClr val="E30000">
                  <a:alpha val="0"/>
                </a:srgbClr>
              </a:gs>
              <a:gs pos="59000">
                <a:srgbClr val="AD0202">
                  <a:alpha val="100000"/>
                </a:srgbClr>
              </a:gs>
              <a:gs pos="93000">
                <a:srgbClr val="760303">
                  <a:alpha val="78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9" name="文本框 38"/>
          <p:cNvSpPr txBox="1"/>
          <p:nvPr/>
        </p:nvSpPr>
        <p:spPr>
          <a:xfrm>
            <a:off x="5578869" y="3567078"/>
            <a:ext cx="417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定乡镇</a:t>
            </a:r>
            <a:endParaRPr kumimoji="1" lang="en-US" altLang="zh-CN" dirty="0"/>
          </a:p>
        </p:txBody>
      </p:sp>
      <p:sp>
        <p:nvSpPr>
          <p:cNvPr id="41" name="文本框 40"/>
          <p:cNvSpPr txBox="1"/>
          <p:nvPr>
            <p:custDataLst>
              <p:tags r:id="rId12"/>
            </p:custDataLst>
          </p:nvPr>
        </p:nvSpPr>
        <p:spPr>
          <a:xfrm>
            <a:off x="6868639" y="1504160"/>
            <a:ext cx="440658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sz="2800" b="1" dirty="0">
                <a:solidFill>
                  <a:srgbClr val="C00000"/>
                </a:solidFill>
                <a:sym typeface="+mn-ea"/>
              </a:rPr>
              <a:t>看人口数量，</a:t>
            </a:r>
            <a:r>
              <a:rPr kumimoji="1" lang="zh-CN" altLang="en-US" sz="2800" b="1" dirty="0">
                <a:solidFill>
                  <a:srgbClr val="C00000"/>
                </a:solidFill>
                <a:sym typeface="+mn-ea"/>
              </a:rPr>
              <a:t>看经济水平</a:t>
            </a:r>
            <a:endParaRPr kumimoji="1" lang="zh-CN" sz="28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963192" y="2222204"/>
            <a:ext cx="5815263" cy="39874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6075436" y="15696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乡镇：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12276" y="993233"/>
            <a:ext cx="4837157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2000" b="1" dirty="0">
                <a:latin typeface="+mn-ea"/>
                <a:cs typeface="+mn-ea"/>
                <a:sym typeface="+mn-ea"/>
              </a:rPr>
              <a:t>定战场 </a:t>
            </a:r>
            <a:r>
              <a:rPr kumimoji="1" lang="en-US" altLang="zh-CN" sz="2000" b="1" dirty="0">
                <a:latin typeface="+mn-ea"/>
                <a:cs typeface="+mn-ea"/>
                <a:sym typeface="+mn-ea"/>
              </a:rPr>
              <a:t>—— </a:t>
            </a:r>
            <a:r>
              <a:rPr kumimoji="1" lang="zh-CN" altLang="en-US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定乡镇</a:t>
            </a:r>
            <a:r>
              <a:rPr kumimoji="1" lang="en-US" altLang="zh-CN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&amp;</a:t>
            </a:r>
            <a:r>
              <a:rPr kumimoji="1" lang="zh-CN" altLang="en-US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街道（空白市场）</a:t>
            </a:r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7069516" y="4316317"/>
            <a:ext cx="64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产业发展</a:t>
            </a:r>
          </a:p>
        </p:txBody>
      </p:sp>
      <p:sp>
        <p:nvSpPr>
          <p:cNvPr id="45" name="文本框 44"/>
          <p:cNvSpPr txBox="1"/>
          <p:nvPr>
            <p:custDataLst>
              <p:tags r:id="rId14"/>
            </p:custDataLst>
          </p:nvPr>
        </p:nvSpPr>
        <p:spPr>
          <a:xfrm>
            <a:off x="7665865" y="4303054"/>
            <a:ext cx="4145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ym typeface="+mn-ea"/>
              </a:rPr>
              <a:t>是否有大型的工厂或企事业单位</a:t>
            </a:r>
            <a:endParaRPr lang="en-US" altLang="zh-CN" b="1" dirty="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b="1" dirty="0">
                <a:sym typeface="+mn-ea"/>
              </a:rPr>
              <a:t>人均工资及地方纳税金额排名是否靠前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0023" y="1754050"/>
            <a:ext cx="471917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选择合适的空白市场中定阵地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9053" y="386508"/>
            <a:ext cx="298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新网点开发：</a:t>
            </a:r>
            <a:r>
              <a:rPr lang="zh-CN" altLang="en-US" sz="2000" b="1" dirty="0">
                <a:solidFill>
                  <a:srgbClr val="C00000"/>
                </a:solidFill>
              </a:rPr>
              <a:t>市场摸排</a:t>
            </a:r>
          </a:p>
        </p:txBody>
      </p:sp>
      <p:sp>
        <p:nvSpPr>
          <p:cNvPr id="4" name="矩形 3"/>
          <p:cNvSpPr/>
          <p:nvPr/>
        </p:nvSpPr>
        <p:spPr>
          <a:xfrm>
            <a:off x="310023" y="2124720"/>
            <a:ext cx="4715690" cy="40849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6" name="矩形 5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7" name="矩形 6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8" name="矩形 7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/>
          <p:cNvCxnSpPr/>
          <p:nvPr>
            <p:custDataLst>
              <p:tags r:id="rId1"/>
            </p:custDataLst>
          </p:nvPr>
        </p:nvCxnSpPr>
        <p:spPr>
          <a:xfrm flipV="1">
            <a:off x="886248" y="4089023"/>
            <a:ext cx="4477385" cy="1714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2"/>
            </p:custDataLst>
          </p:nvPr>
        </p:nvCxnSpPr>
        <p:spPr>
          <a:xfrm flipH="1" flipV="1">
            <a:off x="3157008" y="2528193"/>
            <a:ext cx="29845" cy="310959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610273" y="2132588"/>
            <a:ext cx="11252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规模大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4681643" y="3708658"/>
            <a:ext cx="1252855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存在年限长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51978" y="2792988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年头长，规模大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必须开发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主要阵地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67858" y="2792988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年头短，规模大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必须开发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主要阵地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91353" y="4505583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年头短，规模小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选择开发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次要阵地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550073" y="4492248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年头长，规模小</a:t>
            </a:r>
            <a:endParaRPr lang="en-US" altLang="zh-CN" sz="1600" dirty="0"/>
          </a:p>
          <a:p>
            <a:pPr algn="ctr"/>
            <a:r>
              <a:rPr lang="zh-CN" altLang="en-US" sz="1600" b="1" dirty="0"/>
              <a:t>必须开发</a:t>
            </a:r>
            <a:endParaRPr lang="en-US" altLang="zh-CN" sz="1600" b="1" dirty="0"/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</a:rPr>
              <a:t>次要阵地</a:t>
            </a: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84928" y="3711187"/>
            <a:ext cx="1252855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存在年限短</a:t>
            </a: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706793" y="5781933"/>
            <a:ext cx="11252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规模小</a:t>
            </a: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8074395" y="1518073"/>
            <a:ext cx="3137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C00000"/>
                </a:solidFill>
                <a:sym typeface="+mn-ea"/>
              </a:rPr>
              <a:t>时间</a:t>
            </a:r>
            <a:r>
              <a:rPr kumimoji="1" lang="zh-CN" sz="2800" b="1" dirty="0">
                <a:solidFill>
                  <a:srgbClr val="C00000"/>
                </a:solidFill>
                <a:sym typeface="+mn-ea"/>
              </a:rPr>
              <a:t>久，</a:t>
            </a:r>
            <a:r>
              <a:rPr kumimoji="1" lang="zh-CN" altLang="en-US" sz="2800" b="1" dirty="0">
                <a:solidFill>
                  <a:srgbClr val="C00000"/>
                </a:solidFill>
                <a:sym typeface="+mn-ea"/>
              </a:rPr>
              <a:t>规模大</a:t>
            </a:r>
            <a:endParaRPr kumimoji="1" lang="zh-CN" sz="28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18" name="流程图: 合并 8"/>
          <p:cNvSpPr/>
          <p:nvPr>
            <p:custDataLst>
              <p:tags r:id="rId8"/>
            </p:custDataLst>
          </p:nvPr>
        </p:nvSpPr>
        <p:spPr>
          <a:xfrm rot="16200000">
            <a:off x="5037313" y="3947735"/>
            <a:ext cx="2772410" cy="282575"/>
          </a:xfrm>
          <a:prstGeom prst="flowChartMerge">
            <a:avLst/>
          </a:prstGeom>
          <a:gradFill>
            <a:gsLst>
              <a:gs pos="0">
                <a:srgbClr val="E30000">
                  <a:alpha val="0"/>
                </a:srgbClr>
              </a:gs>
              <a:gs pos="59000">
                <a:srgbClr val="AD0202">
                  <a:alpha val="100000"/>
                </a:srgbClr>
              </a:gs>
              <a:gs pos="93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" name="文本框 18"/>
          <p:cNvSpPr txBox="1"/>
          <p:nvPr/>
        </p:nvSpPr>
        <p:spPr>
          <a:xfrm>
            <a:off x="5950201" y="3605788"/>
            <a:ext cx="417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定阵地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400041" y="16239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阵地：</a:t>
            </a:r>
          </a:p>
        </p:txBody>
      </p:sp>
      <p:sp>
        <p:nvSpPr>
          <p:cNvPr id="36" name="文本框 35"/>
          <p:cNvSpPr txBox="1"/>
          <p:nvPr>
            <p:custDataLst>
              <p:tags r:id="rId9"/>
            </p:custDataLst>
          </p:nvPr>
        </p:nvSpPr>
        <p:spPr>
          <a:xfrm>
            <a:off x="599053" y="972643"/>
            <a:ext cx="456646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2000" b="1" dirty="0">
                <a:latin typeface="+mn-ea"/>
                <a:cs typeface="+mn-ea"/>
                <a:sym typeface="+mn-ea"/>
              </a:rPr>
              <a:t>定战场 </a:t>
            </a:r>
            <a:r>
              <a:rPr kumimoji="1" lang="en-US" altLang="zh-CN" sz="2000" b="1" dirty="0">
                <a:latin typeface="+mn-ea"/>
                <a:cs typeface="+mn-ea"/>
                <a:sym typeface="+mn-ea"/>
              </a:rPr>
              <a:t>—— </a:t>
            </a:r>
            <a:r>
              <a:rPr kumimoji="1" lang="zh-CN" altLang="en-US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定建材市场 </a:t>
            </a:r>
            <a:r>
              <a:rPr kumimoji="1" lang="en-US" altLang="zh-CN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&amp;</a:t>
            </a:r>
            <a:r>
              <a:rPr kumimoji="1" lang="zh-CN" altLang="en-US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 核心街道</a:t>
            </a:r>
          </a:p>
        </p:txBody>
      </p:sp>
      <p:pic>
        <p:nvPicPr>
          <p:cNvPr id="3" name="图片 2" descr="男人站在商店前&#10;&#10;描述已自动生成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310" y="2468297"/>
            <a:ext cx="4257659" cy="319324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9053" y="386508"/>
            <a:ext cx="298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新网点开发：</a:t>
            </a:r>
            <a:r>
              <a:rPr lang="zh-CN" altLang="en-US" sz="2000" b="1" dirty="0">
                <a:solidFill>
                  <a:srgbClr val="C00000"/>
                </a:solidFill>
              </a:rPr>
              <a:t>市场摸排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0023" y="1754050"/>
            <a:ext cx="554623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打造建材销售的氛围</a:t>
            </a:r>
          </a:p>
        </p:txBody>
      </p:sp>
      <p:sp>
        <p:nvSpPr>
          <p:cNvPr id="6" name="矩形 5"/>
          <p:cNvSpPr/>
          <p:nvPr/>
        </p:nvSpPr>
        <p:spPr>
          <a:xfrm>
            <a:off x="310022" y="2124720"/>
            <a:ext cx="5542137" cy="40849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8" name="矩形 7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6" name="矩形 15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7" name="矩形 16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/>
          <p:cNvCxnSpPr/>
          <p:nvPr>
            <p:custDataLst>
              <p:tags r:id="rId1"/>
            </p:custDataLst>
          </p:nvPr>
        </p:nvCxnSpPr>
        <p:spPr>
          <a:xfrm flipV="1">
            <a:off x="886248" y="4089023"/>
            <a:ext cx="4477385" cy="1714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2"/>
            </p:custDataLst>
          </p:nvPr>
        </p:nvCxnSpPr>
        <p:spPr>
          <a:xfrm flipH="1" flipV="1">
            <a:off x="3157008" y="2528193"/>
            <a:ext cx="29845" cy="310959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610273" y="2132588"/>
            <a:ext cx="11252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销售额高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4681643" y="3708658"/>
            <a:ext cx="1252855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经营年限长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50073" y="2754136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年头长，销额高</a:t>
            </a:r>
            <a:endParaRPr lang="en-US" altLang="zh-CN" sz="1600" dirty="0"/>
          </a:p>
          <a:p>
            <a:pPr algn="ctr"/>
            <a:endParaRPr lang="en-US" altLang="zh-CN" sz="1600" b="1" dirty="0"/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必须开发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67858" y="2792988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年头短，销额高</a:t>
            </a:r>
            <a:endParaRPr lang="en-US" altLang="zh-CN" sz="1600" dirty="0"/>
          </a:p>
          <a:p>
            <a:pPr algn="ctr"/>
            <a:endParaRPr lang="en-US" altLang="zh-CN" sz="1600" b="1" dirty="0"/>
          </a:p>
          <a:p>
            <a:pPr algn="ctr"/>
            <a:r>
              <a:rPr lang="zh-CN" altLang="en-US" sz="1600" b="1" dirty="0"/>
              <a:t>优先开发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91353" y="4505583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年头短，销额低</a:t>
            </a:r>
            <a:endParaRPr lang="en-US" altLang="zh-CN" sz="1600" dirty="0"/>
          </a:p>
          <a:p>
            <a:pPr algn="ctr"/>
            <a:endParaRPr lang="en-US" altLang="zh-CN" sz="1600" b="1" dirty="0"/>
          </a:p>
          <a:p>
            <a:pPr algn="ctr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选开网点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550073" y="4492248"/>
            <a:ext cx="1615440" cy="812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/>
              <a:t>年头长，销额低</a:t>
            </a:r>
            <a:endParaRPr lang="en-US" altLang="zh-CN" sz="1600" dirty="0"/>
          </a:p>
          <a:p>
            <a:pPr algn="ctr"/>
            <a:endParaRPr lang="en-US" altLang="zh-CN" sz="1600" b="1" dirty="0"/>
          </a:p>
          <a:p>
            <a:pPr algn="ctr"/>
            <a:r>
              <a:rPr lang="zh-CN" altLang="en-US" sz="1600" b="1" dirty="0"/>
              <a:t>优先开发</a:t>
            </a: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84928" y="3711187"/>
            <a:ext cx="1252855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经营年限短</a:t>
            </a: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706793" y="5781933"/>
            <a:ext cx="112522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销售额低</a:t>
            </a: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8074395" y="1518073"/>
            <a:ext cx="3137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C00000"/>
                </a:solidFill>
                <a:sym typeface="+mn-ea"/>
              </a:rPr>
              <a:t>时间</a:t>
            </a:r>
            <a:r>
              <a:rPr kumimoji="1" lang="zh-CN" sz="2800" b="1" dirty="0">
                <a:solidFill>
                  <a:srgbClr val="C00000"/>
                </a:solidFill>
                <a:sym typeface="+mn-ea"/>
              </a:rPr>
              <a:t>久，业绩高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129959" y="2132588"/>
            <a:ext cx="4257358" cy="3955417"/>
            <a:chOff x="6526532" y="1485900"/>
            <a:chExt cx="5033645" cy="473456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330567" y="1485900"/>
              <a:ext cx="3223260" cy="2502535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3"/>
            <a:srcRect t="23639"/>
            <a:stretch>
              <a:fillRect/>
            </a:stretch>
          </p:blipFill>
          <p:spPr>
            <a:xfrm>
              <a:off x="6526532" y="1485900"/>
              <a:ext cx="1675765" cy="2502535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4"/>
            <a:srcRect r="17517"/>
            <a:stretch>
              <a:fillRect/>
            </a:stretch>
          </p:blipFill>
          <p:spPr>
            <a:xfrm>
              <a:off x="6526532" y="4124960"/>
              <a:ext cx="3450590" cy="2092325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5"/>
            <a:srcRect t="15932"/>
            <a:stretch>
              <a:fillRect/>
            </a:stretch>
          </p:blipFill>
          <p:spPr>
            <a:xfrm>
              <a:off x="10066022" y="4124960"/>
              <a:ext cx="1494155" cy="2095500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</p:pic>
      </p:grpSp>
      <p:sp>
        <p:nvSpPr>
          <p:cNvPr id="2" name="文本框 1"/>
          <p:cNvSpPr txBox="1"/>
          <p:nvPr/>
        </p:nvSpPr>
        <p:spPr>
          <a:xfrm>
            <a:off x="8393314" y="6224609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（参考网点类型）</a:t>
            </a:r>
          </a:p>
        </p:txBody>
      </p:sp>
      <p:sp>
        <p:nvSpPr>
          <p:cNvPr id="18" name="流程图: 合并 8"/>
          <p:cNvSpPr/>
          <p:nvPr>
            <p:custDataLst>
              <p:tags r:id="rId8"/>
            </p:custDataLst>
          </p:nvPr>
        </p:nvSpPr>
        <p:spPr>
          <a:xfrm rot="16200000">
            <a:off x="5293436" y="3964880"/>
            <a:ext cx="2772410" cy="282575"/>
          </a:xfrm>
          <a:prstGeom prst="flowChartMerge">
            <a:avLst/>
          </a:prstGeom>
          <a:gradFill>
            <a:gsLst>
              <a:gs pos="0">
                <a:srgbClr val="E30000">
                  <a:alpha val="0"/>
                </a:srgbClr>
              </a:gs>
              <a:gs pos="59000">
                <a:srgbClr val="AD0202">
                  <a:alpha val="100000"/>
                </a:srgbClr>
              </a:gs>
              <a:gs pos="93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" name="文本框 18"/>
          <p:cNvSpPr txBox="1"/>
          <p:nvPr/>
        </p:nvSpPr>
        <p:spPr>
          <a:xfrm>
            <a:off x="6206324" y="3622933"/>
            <a:ext cx="417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定网点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400041" y="16239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网点：</a:t>
            </a:r>
          </a:p>
        </p:txBody>
      </p:sp>
      <p:sp>
        <p:nvSpPr>
          <p:cNvPr id="36" name="文本框 35"/>
          <p:cNvSpPr txBox="1"/>
          <p:nvPr>
            <p:custDataLst>
              <p:tags r:id="rId9"/>
            </p:custDataLst>
          </p:nvPr>
        </p:nvSpPr>
        <p:spPr>
          <a:xfrm>
            <a:off x="599053" y="998073"/>
            <a:ext cx="28803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2000" b="1" dirty="0">
                <a:latin typeface="+mn-ea"/>
                <a:cs typeface="+mn-ea"/>
                <a:sym typeface="+mn-ea"/>
              </a:rPr>
              <a:t>摸网点 </a:t>
            </a:r>
            <a:r>
              <a:rPr kumimoji="1" lang="en-US" altLang="zh-CN" sz="2000" b="1" dirty="0">
                <a:latin typeface="+mn-ea"/>
                <a:cs typeface="+mn-ea"/>
                <a:sym typeface="+mn-ea"/>
              </a:rPr>
              <a:t>—— </a:t>
            </a:r>
            <a:r>
              <a:rPr kumimoji="1" lang="zh-CN" altLang="en-US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再定网点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9053" y="386508"/>
            <a:ext cx="298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新网点开发：</a:t>
            </a:r>
            <a:r>
              <a:rPr lang="zh-CN" altLang="en-US" sz="2000" b="1" dirty="0">
                <a:solidFill>
                  <a:srgbClr val="C00000"/>
                </a:solidFill>
              </a:rPr>
              <a:t>市场摸排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5158" y="1693017"/>
            <a:ext cx="554623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找出优先开发的网点</a:t>
            </a:r>
          </a:p>
        </p:txBody>
      </p:sp>
      <p:sp>
        <p:nvSpPr>
          <p:cNvPr id="22" name="矩形 21"/>
          <p:cNvSpPr/>
          <p:nvPr/>
        </p:nvSpPr>
        <p:spPr>
          <a:xfrm>
            <a:off x="355157" y="2063687"/>
            <a:ext cx="5542137" cy="40849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26" name="矩形 25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27" name="矩形 26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28" name="矩形 27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613149" y="1343378"/>
          <a:ext cx="8517096" cy="496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9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598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</a:rPr>
                        <a:t>定网点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1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</a:rPr>
                        <a:t>空白市场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</a:rPr>
                        <a:t>优先级别排序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</a:rPr>
                        <a:t>选拓网点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92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/>
                        <a:t>乡镇</a:t>
                      </a:r>
                      <a:endParaRPr lang="en-US" altLang="zh-CN" sz="1800" b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/>
                        <a:t>街道</a:t>
                      </a:r>
                      <a:endParaRPr lang="en-US" altLang="zh-CN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名称：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必开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**</a:t>
                      </a:r>
                      <a:r>
                        <a:rPr lang="zh-CN" altLang="en-US" sz="1400" dirty="0"/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0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名称：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07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…….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073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0" dirty="0"/>
                        <a:t>城区</a:t>
                      </a:r>
                      <a:endParaRPr lang="en-US" altLang="zh-CN" sz="1800" b="0" dirty="0"/>
                    </a:p>
                    <a:p>
                      <a:pPr algn="ctr">
                        <a:buNone/>
                      </a:pPr>
                      <a:r>
                        <a:rPr lang="zh-CN" altLang="en-US" sz="1800" b="1" dirty="0"/>
                        <a:t>建材市场</a:t>
                      </a:r>
                      <a:endParaRPr lang="en-US" altLang="zh-CN" sz="1800" b="1" dirty="0"/>
                    </a:p>
                    <a:p>
                      <a:pPr algn="ctr">
                        <a:buNone/>
                      </a:pPr>
                      <a:r>
                        <a:rPr lang="en-US" altLang="zh-CN" sz="1800" b="1" dirty="0"/>
                        <a:t>&amp;</a:t>
                      </a:r>
                      <a:br>
                        <a:rPr lang="en-US" altLang="zh-CN" sz="1800" b="1" dirty="0"/>
                      </a:br>
                      <a:r>
                        <a:rPr lang="zh-CN" altLang="en-US" sz="1800" b="1" dirty="0"/>
                        <a:t>核心街道</a:t>
                      </a:r>
                      <a:endParaRPr lang="en-US" altLang="zh-CN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/>
                        <a:t>名称：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优开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**</a:t>
                      </a:r>
                      <a:r>
                        <a:rPr lang="zh-CN" altLang="en-US" sz="1400" dirty="0"/>
                        <a:t>个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6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名称：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选开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**</a:t>
                      </a:r>
                      <a:r>
                        <a:rPr lang="zh-CN" altLang="en-US" sz="1400" dirty="0"/>
                        <a:t>个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36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………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901040" y="772862"/>
            <a:ext cx="794131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新网点开发策略</a:t>
            </a:r>
          </a:p>
        </p:txBody>
      </p:sp>
      <p:sp>
        <p:nvSpPr>
          <p:cNvPr id="2" name="矩形 1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3" name="矩形 2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4" name="矩形 3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6" name="矩形 5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36270" y="1304827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</a:rPr>
              <a:t>渠道精耕补充内容（选讲）：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0" y="3166416"/>
            <a:ext cx="3210942" cy="769441"/>
          </a:xfrm>
          <a:prstGeom prst="rect">
            <a:avLst/>
          </a:prstGeom>
          <a:gradFill>
            <a:gsLst>
              <a:gs pos="0">
                <a:schemeClr val="accent1"/>
              </a:gs>
              <a:gs pos="7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400" b="1"/>
            </a:lvl1pPr>
          </a:lstStyle>
          <a:p>
            <a:pPr algn="ctr"/>
            <a:r>
              <a:rPr lang="zh-CN" altLang="en-US" dirty="0"/>
              <a:t>路线规划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14771" y="3166416"/>
            <a:ext cx="3210941" cy="7694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4400" b="1"/>
            </a:lvl1pPr>
          </a:lstStyle>
          <a:p>
            <a:pPr algn="ctr"/>
            <a:r>
              <a:rPr lang="zh-CN" altLang="en-US" dirty="0"/>
              <a:t>新网点开发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15059" y="452805"/>
            <a:ext cx="3682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路线规划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——</a:t>
            </a:r>
            <a:r>
              <a:rPr kumimoji="1" lang="zh-CN" altLang="en-US" sz="2400" b="1" dirty="0"/>
              <a:t> 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网点扫描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48249" y="3206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50325" y="1540423"/>
          <a:ext cx="9910128" cy="4747642"/>
        </p:xfrm>
        <a:graphic>
          <a:graphicData uri="http://schemas.openxmlformats.org/drawingml/2006/table">
            <a:tbl>
              <a:tblPr/>
              <a:tblGrid>
                <a:gridCol w="619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28145">
                <a:tc gridSpan="16">
                  <a:txBody>
                    <a:bodyPr/>
                    <a:lstStyle/>
                    <a:p>
                      <a:pPr algn="l" rtl="0" fontAlgn="ctr"/>
                      <a:r>
                        <a:rPr lang="zh-CN" alt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</a:t>
                      </a:r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业务员：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0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星期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</a:t>
                      </a:r>
                      <a:endParaRPr lang="en-US" altLang="zh-CN" sz="1200" b="0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</a:t>
                      </a:r>
                      <a:endParaRPr lang="en-US" altLang="zh-CN" sz="1200" b="0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</a:t>
                      </a:r>
                      <a:endParaRPr lang="en-US" altLang="zh-CN" sz="1200" b="0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老板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电话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是否合作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我司合作品类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2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防水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砂浆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美缝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卷材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胶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13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惠华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形象店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泰安路苍山路交叉口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3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顺心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分销店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吉昌路双鸳路交叉口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得利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好运来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妞妞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佳佳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01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惠惠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泰安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宏发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50325" y="104172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按照业务人员梳理现有的网点清单</a:t>
            </a:r>
          </a:p>
        </p:txBody>
      </p:sp>
      <p:sp>
        <p:nvSpPr>
          <p:cNvPr id="10" name="矩形 9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1" name="矩形 10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2" name="矩形 11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3" name="矩形 12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19405" y="1746153"/>
            <a:ext cx="10177681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微软雅黑" panose="020B0503020204020204" pitchFamily="34" charset="-122"/>
              </a:rPr>
              <a:t>根据总工作量，分配每个人应该负责的网点数量，依据实际网点分布进行区域切块分配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0418" y="4348303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C00000"/>
                </a:solidFill>
              </a:rPr>
              <a:t>保证各区域切块之间的均衡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423871" y="5614567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服务网点总数、路线内各等级网点数量均衡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23871" y="4501071"/>
            <a:ext cx="2877711" cy="905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400" dirty="0"/>
              <a:t>依据网点间距离进行路程时间预估</a:t>
            </a:r>
            <a:endParaRPr kumimoji="1" lang="en-US" altLang="zh-CN" sz="1400" dirty="0"/>
          </a:p>
          <a:p>
            <a:pPr>
              <a:lnSpc>
                <a:spcPct val="130000"/>
              </a:lnSpc>
            </a:pPr>
            <a:r>
              <a:rPr kumimoji="1" lang="zh-CN" altLang="en-US" sz="1400" dirty="0"/>
              <a:t>控制各路线路程时间</a:t>
            </a:r>
            <a:endParaRPr kumimoji="1" lang="en-US" altLang="zh-CN" sz="1400" dirty="0"/>
          </a:p>
          <a:p>
            <a:pPr>
              <a:lnSpc>
                <a:spcPct val="130000"/>
              </a:lnSpc>
            </a:pPr>
            <a:r>
              <a:rPr kumimoji="1" lang="zh-CN" altLang="en-US" sz="1400" dirty="0"/>
              <a:t>保证在店工作时间均衡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23871" y="3987771"/>
            <a:ext cx="4493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控制各路线相距最远的网点距离，避免过长的路程时间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19405" y="2281198"/>
            <a:ext cx="6104466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要求以主干道、街路为分界点（注明街道左右区域归属）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圆角矩形 199"/>
          <p:cNvSpPr/>
          <p:nvPr/>
        </p:nvSpPr>
        <p:spPr>
          <a:xfrm>
            <a:off x="4328646" y="3871820"/>
            <a:ext cx="1834761" cy="53967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路线活动半径</a:t>
            </a:r>
          </a:p>
        </p:txBody>
      </p:sp>
      <p:sp>
        <p:nvSpPr>
          <p:cNvPr id="10" name="圆角矩形 200"/>
          <p:cNvSpPr/>
          <p:nvPr/>
        </p:nvSpPr>
        <p:spPr>
          <a:xfrm>
            <a:off x="4328646" y="5498616"/>
            <a:ext cx="1834761" cy="53967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服务网点数量</a:t>
            </a:r>
          </a:p>
        </p:txBody>
      </p:sp>
      <p:sp>
        <p:nvSpPr>
          <p:cNvPr id="11" name="圆角矩形 201"/>
          <p:cNvSpPr/>
          <p:nvPr/>
        </p:nvSpPr>
        <p:spPr>
          <a:xfrm>
            <a:off x="4328646" y="4685218"/>
            <a:ext cx="1834761" cy="53967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时间分配</a:t>
            </a:r>
            <a:endParaRPr kumimoji="1" lang="en-US" altLang="zh-CN" sz="1600" b="1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（路程时间</a:t>
            </a:r>
            <a:r>
              <a:rPr kumimoji="1" lang="en-US" altLang="zh-CN" sz="1200" dirty="0">
                <a:solidFill>
                  <a:schemeClr val="tx1"/>
                </a:solidFill>
              </a:rPr>
              <a:t>&amp;</a:t>
            </a:r>
            <a:r>
              <a:rPr kumimoji="1" lang="zh-CN" altLang="en-US" sz="1200" dirty="0">
                <a:solidFill>
                  <a:schemeClr val="tx1"/>
                </a:solidFill>
              </a:rPr>
              <a:t>在店时间）</a:t>
            </a:r>
          </a:p>
        </p:txBody>
      </p:sp>
      <p:sp>
        <p:nvSpPr>
          <p:cNvPr id="16" name="圆角矩形 199"/>
          <p:cNvSpPr/>
          <p:nvPr/>
        </p:nvSpPr>
        <p:spPr>
          <a:xfrm>
            <a:off x="4328646" y="3058422"/>
            <a:ext cx="1834761" cy="53967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产出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423871" y="3174373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各区域产出均衡</a:t>
            </a:r>
          </a:p>
        </p:txBody>
      </p:sp>
      <p:sp>
        <p:nvSpPr>
          <p:cNvPr id="18" name="左大括号 17"/>
          <p:cNvSpPr/>
          <p:nvPr/>
        </p:nvSpPr>
        <p:spPr>
          <a:xfrm>
            <a:off x="3825003" y="3075905"/>
            <a:ext cx="238019" cy="2944906"/>
          </a:xfrm>
          <a:prstGeom prst="leftBrace">
            <a:avLst>
              <a:gd name="adj1" fmla="val 64828"/>
              <a:gd name="adj2" fmla="val 50000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92445" y="690447"/>
            <a:ext cx="3682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路线规划</a:t>
            </a:r>
            <a:r>
              <a:rPr kumimoji="1" lang="en-US" altLang="zh-CN" sz="2400" b="1" dirty="0"/>
              <a:t>2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——</a:t>
            </a:r>
            <a:r>
              <a:rPr kumimoji="1" lang="zh-CN" altLang="en-US" sz="2400" b="1" dirty="0"/>
              <a:t> 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划分区域</a:t>
            </a:r>
          </a:p>
        </p:txBody>
      </p:sp>
      <p:sp>
        <p:nvSpPr>
          <p:cNvPr id="19" name="矩形 18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20" name="矩形 19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21" name="矩形 20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22" name="矩形 21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31030" y="4646250"/>
            <a:ext cx="4358573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每日的拜访路线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31030" y="1721885"/>
            <a:ext cx="4448346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每月的拜访统计表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31030" y="3008346"/>
            <a:ext cx="4448346" cy="58477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每日的拜访清单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71597" y="708296"/>
            <a:ext cx="3374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路线规划</a:t>
            </a:r>
            <a:r>
              <a:rPr kumimoji="1" lang="en-US" altLang="zh-CN" sz="2400" b="1" dirty="0"/>
              <a:t>3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——</a:t>
            </a:r>
            <a:r>
              <a:rPr kumimoji="1" lang="zh-CN" altLang="en-US" sz="2400" b="1" dirty="0"/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定计划</a:t>
            </a:r>
          </a:p>
        </p:txBody>
      </p:sp>
      <p:sp>
        <p:nvSpPr>
          <p:cNvPr id="6" name="流程图: 合并 8"/>
          <p:cNvSpPr/>
          <p:nvPr>
            <p:custDataLst>
              <p:tags r:id="rId1"/>
            </p:custDataLst>
          </p:nvPr>
        </p:nvSpPr>
        <p:spPr>
          <a:xfrm rot="16200000">
            <a:off x="1297030" y="3592403"/>
            <a:ext cx="4086488" cy="416511"/>
          </a:xfrm>
          <a:prstGeom prst="flowChartMerge">
            <a:avLst/>
          </a:prstGeom>
          <a:gradFill>
            <a:gsLst>
              <a:gs pos="0">
                <a:srgbClr val="E30000">
                  <a:alpha val="0"/>
                </a:srgbClr>
              </a:gs>
              <a:gs pos="93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4224621" y="4401312"/>
            <a:ext cx="5675284" cy="1030480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92849" y="56703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具体见后页</a:t>
            </a:r>
          </a:p>
        </p:txBody>
      </p:sp>
      <p:sp>
        <p:nvSpPr>
          <p:cNvPr id="10" name="person-shape_44463"/>
          <p:cNvSpPr>
            <a:spLocks noChangeAspect="1"/>
          </p:cNvSpPr>
          <p:nvPr/>
        </p:nvSpPr>
        <p:spPr>
          <a:xfrm>
            <a:off x="1113019" y="3972222"/>
            <a:ext cx="1140551" cy="1459570"/>
          </a:xfrm>
          <a:custGeom>
            <a:avLst/>
            <a:gdLst>
              <a:gd name="connsiteX0" fmla="*/ 118658 w 474552"/>
              <a:gd name="connsiteY0" fmla="*/ 330881 h 607286"/>
              <a:gd name="connsiteX1" fmla="*/ 128808 w 474552"/>
              <a:gd name="connsiteY1" fmla="*/ 330881 h 607286"/>
              <a:gd name="connsiteX2" fmla="*/ 138880 w 474552"/>
              <a:gd name="connsiteY2" fmla="*/ 340467 h 607286"/>
              <a:gd name="connsiteX3" fmla="*/ 237316 w 474552"/>
              <a:gd name="connsiteY3" fmla="*/ 429642 h 607286"/>
              <a:gd name="connsiteX4" fmla="*/ 335672 w 474552"/>
              <a:gd name="connsiteY4" fmla="*/ 340467 h 607286"/>
              <a:gd name="connsiteX5" fmla="*/ 345823 w 474552"/>
              <a:gd name="connsiteY5" fmla="*/ 330881 h 607286"/>
              <a:gd name="connsiteX6" fmla="*/ 355973 w 474552"/>
              <a:gd name="connsiteY6" fmla="*/ 330881 h 607286"/>
              <a:gd name="connsiteX7" fmla="*/ 474552 w 474552"/>
              <a:gd name="connsiteY7" fmla="*/ 449363 h 607286"/>
              <a:gd name="connsiteX8" fmla="*/ 474552 w 474552"/>
              <a:gd name="connsiteY8" fmla="*/ 567845 h 607286"/>
              <a:gd name="connsiteX9" fmla="*/ 435052 w 474552"/>
              <a:gd name="connsiteY9" fmla="*/ 607286 h 607286"/>
              <a:gd name="connsiteX10" fmla="*/ 39579 w 474552"/>
              <a:gd name="connsiteY10" fmla="*/ 607286 h 607286"/>
              <a:gd name="connsiteX11" fmla="*/ 0 w 474552"/>
              <a:gd name="connsiteY11" fmla="*/ 567845 h 607286"/>
              <a:gd name="connsiteX12" fmla="*/ 0 w 474552"/>
              <a:gd name="connsiteY12" fmla="*/ 449363 h 607286"/>
              <a:gd name="connsiteX13" fmla="*/ 118658 w 474552"/>
              <a:gd name="connsiteY13" fmla="*/ 330881 h 607286"/>
              <a:gd name="connsiteX14" fmla="*/ 315130 w 474552"/>
              <a:gd name="connsiteY14" fmla="*/ 118095 h 607286"/>
              <a:gd name="connsiteX15" fmla="*/ 237312 w 474552"/>
              <a:gd name="connsiteY15" fmla="*/ 162332 h 607286"/>
              <a:gd name="connsiteX16" fmla="*/ 135653 w 474552"/>
              <a:gd name="connsiteY16" fmla="*/ 182682 h 607286"/>
              <a:gd name="connsiteX17" fmla="*/ 237312 w 474552"/>
              <a:gd name="connsiteY17" fmla="*/ 284120 h 607286"/>
              <a:gd name="connsiteX18" fmla="*/ 338893 w 474552"/>
              <a:gd name="connsiteY18" fmla="*/ 182682 h 607286"/>
              <a:gd name="connsiteX19" fmla="*/ 315130 w 474552"/>
              <a:gd name="connsiteY19" fmla="*/ 118095 h 607286"/>
              <a:gd name="connsiteX20" fmla="*/ 237312 w 474552"/>
              <a:gd name="connsiteY20" fmla="*/ 0 h 607286"/>
              <a:gd name="connsiteX21" fmla="*/ 379572 w 474552"/>
              <a:gd name="connsiteY21" fmla="*/ 162332 h 607286"/>
              <a:gd name="connsiteX22" fmla="*/ 237312 w 474552"/>
              <a:gd name="connsiteY22" fmla="*/ 324742 h 607286"/>
              <a:gd name="connsiteX23" fmla="*/ 95052 w 474552"/>
              <a:gd name="connsiteY23" fmla="*/ 162332 h 607286"/>
              <a:gd name="connsiteX24" fmla="*/ 237312 w 474552"/>
              <a:gd name="connsiteY24" fmla="*/ 0 h 607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4552" h="607286">
                <a:moveTo>
                  <a:pt x="118658" y="330881"/>
                </a:moveTo>
                <a:lnTo>
                  <a:pt x="128808" y="330881"/>
                </a:lnTo>
                <a:cubicBezTo>
                  <a:pt x="134080" y="330881"/>
                  <a:pt x="138329" y="335203"/>
                  <a:pt x="138880" y="340467"/>
                </a:cubicBezTo>
                <a:cubicBezTo>
                  <a:pt x="143680" y="390515"/>
                  <a:pt x="185934" y="429642"/>
                  <a:pt x="237316" y="429642"/>
                </a:cubicBezTo>
                <a:cubicBezTo>
                  <a:pt x="288618" y="429642"/>
                  <a:pt x="330873" y="390515"/>
                  <a:pt x="335672" y="340467"/>
                </a:cubicBezTo>
                <a:cubicBezTo>
                  <a:pt x="336223" y="335203"/>
                  <a:pt x="340472" y="330881"/>
                  <a:pt x="345823" y="330881"/>
                </a:cubicBezTo>
                <a:lnTo>
                  <a:pt x="355973" y="330881"/>
                </a:lnTo>
                <a:cubicBezTo>
                  <a:pt x="421518" y="330881"/>
                  <a:pt x="474552" y="383915"/>
                  <a:pt x="474552" y="449363"/>
                </a:cubicBezTo>
                <a:lnTo>
                  <a:pt x="474552" y="567845"/>
                </a:lnTo>
                <a:cubicBezTo>
                  <a:pt x="474552" y="589687"/>
                  <a:pt x="456927" y="607286"/>
                  <a:pt x="435052" y="607286"/>
                </a:cubicBezTo>
                <a:lnTo>
                  <a:pt x="39579" y="607286"/>
                </a:lnTo>
                <a:cubicBezTo>
                  <a:pt x="17704" y="607286"/>
                  <a:pt x="0" y="589687"/>
                  <a:pt x="0" y="567845"/>
                </a:cubicBezTo>
                <a:lnTo>
                  <a:pt x="0" y="449363"/>
                </a:lnTo>
                <a:cubicBezTo>
                  <a:pt x="0" y="383915"/>
                  <a:pt x="53112" y="330881"/>
                  <a:pt x="118658" y="330881"/>
                </a:cubicBezTo>
                <a:close/>
                <a:moveTo>
                  <a:pt x="315130" y="118095"/>
                </a:moveTo>
                <a:cubicBezTo>
                  <a:pt x="305374" y="143632"/>
                  <a:pt x="274372" y="162332"/>
                  <a:pt x="237312" y="162332"/>
                </a:cubicBezTo>
                <a:cubicBezTo>
                  <a:pt x="200174" y="162332"/>
                  <a:pt x="135653" y="158010"/>
                  <a:pt x="135653" y="182682"/>
                </a:cubicBezTo>
                <a:cubicBezTo>
                  <a:pt x="135653" y="238705"/>
                  <a:pt x="181132" y="284120"/>
                  <a:pt x="237312" y="284120"/>
                </a:cubicBezTo>
                <a:cubicBezTo>
                  <a:pt x="293335" y="284120"/>
                  <a:pt x="338893" y="238705"/>
                  <a:pt x="338893" y="182682"/>
                </a:cubicBezTo>
                <a:cubicBezTo>
                  <a:pt x="338893" y="158010"/>
                  <a:pt x="329766" y="135696"/>
                  <a:pt x="315130" y="118095"/>
                </a:cubicBezTo>
                <a:close/>
                <a:moveTo>
                  <a:pt x="237312" y="0"/>
                </a:moveTo>
                <a:cubicBezTo>
                  <a:pt x="315839" y="0"/>
                  <a:pt x="379572" y="72680"/>
                  <a:pt x="379572" y="162332"/>
                </a:cubicBezTo>
                <a:cubicBezTo>
                  <a:pt x="379572" y="251984"/>
                  <a:pt x="315839" y="324742"/>
                  <a:pt x="237312" y="324742"/>
                </a:cubicBezTo>
                <a:cubicBezTo>
                  <a:pt x="158707" y="324742"/>
                  <a:pt x="95052" y="251984"/>
                  <a:pt x="95052" y="162332"/>
                </a:cubicBezTo>
                <a:cubicBezTo>
                  <a:pt x="95052" y="72680"/>
                  <a:pt x="158707" y="0"/>
                  <a:pt x="237312" y="0"/>
                </a:cubicBezTo>
                <a:close/>
              </a:path>
            </a:pathLst>
          </a:custGeom>
          <a:solidFill>
            <a:srgbClr val="D81D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下箭头 11"/>
          <p:cNvSpPr/>
          <p:nvPr/>
        </p:nvSpPr>
        <p:spPr>
          <a:xfrm>
            <a:off x="1499861" y="3489085"/>
            <a:ext cx="424338" cy="288839"/>
          </a:xfrm>
          <a:prstGeom prst="downArrow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158032" y="3012410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业务经理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273449" y="5626090"/>
            <a:ext cx="87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业务员</a:t>
            </a:r>
          </a:p>
        </p:txBody>
      </p:sp>
      <p:pic>
        <p:nvPicPr>
          <p:cNvPr id="19" name="图片 18" descr="图标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7" y="1490659"/>
            <a:ext cx="1468729" cy="1468729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22" name="矩形 21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23" name="矩形 22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24" name="矩形 23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338880" y="3022661"/>
            <a:ext cx="144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拜访路线图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226299" y="3022661"/>
            <a:ext cx="144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网点档案表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404518" y="3022661"/>
            <a:ext cx="144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进货登记表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94460" y="1592198"/>
            <a:ext cx="6521662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</a:t>
            </a:r>
            <a:r>
              <a:rPr lang="zh-CN" altLang="en-US" b="1" dirty="0">
                <a:solidFill>
                  <a:srgbClr val="C00000"/>
                </a:solidFill>
              </a:rPr>
              <a:t>每个业务员</a:t>
            </a:r>
            <a:r>
              <a:rPr lang="zh-CN" altLang="en-US" dirty="0"/>
              <a:t>建立线路手册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Helvetica Neue"/>
              </a:rPr>
              <a:t>按周</a:t>
            </a:r>
            <a:r>
              <a:rPr lang="zh-CN" altLang="en-US" dirty="0">
                <a:latin typeface="Helvetica Neue"/>
              </a:rPr>
              <a:t>填写计划，</a:t>
            </a:r>
            <a:r>
              <a:rPr lang="zh-CN" altLang="en-US" b="1" dirty="0">
                <a:solidFill>
                  <a:srgbClr val="C00000"/>
                </a:solidFill>
                <a:latin typeface="Helvetica Neue"/>
              </a:rPr>
              <a:t>每日</a:t>
            </a:r>
            <a:r>
              <a:rPr lang="zh-CN" altLang="en-US" dirty="0">
                <a:latin typeface="Helvetica Neue"/>
              </a:rPr>
              <a:t>记录反馈，有异常及时上报</a:t>
            </a:r>
            <a:endParaRPr lang="zh-CN" alt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Helvetica Neue"/>
              </a:rPr>
              <a:t>按日</a:t>
            </a:r>
            <a:r>
              <a:rPr lang="zh-CN" altLang="en-US" dirty="0"/>
              <a:t>分类整理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5828306" y="1362210"/>
            <a:ext cx="4806647" cy="1401054"/>
            <a:chOff x="6917266" y="1139793"/>
            <a:chExt cx="4806647" cy="1401054"/>
          </a:xfrm>
        </p:grpSpPr>
        <p:sp>
          <p:nvSpPr>
            <p:cNvPr id="4" name="矩形 3"/>
            <p:cNvSpPr/>
            <p:nvPr/>
          </p:nvSpPr>
          <p:spPr>
            <a:xfrm>
              <a:off x="6917266" y="1139793"/>
              <a:ext cx="4806647" cy="14010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957456" y="1139793"/>
              <a:ext cx="27262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/>
                <a:t>线路手册存放区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7042307" y="1499680"/>
              <a:ext cx="4556565" cy="986732"/>
              <a:chOff x="7062058" y="1499680"/>
              <a:chExt cx="4556565" cy="986732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9645164" y="1808380"/>
                <a:ext cx="681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……</a:t>
                </a:r>
                <a:endParaRPr lang="zh-CN" altLang="en-US" dirty="0"/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7062058" y="1499680"/>
                <a:ext cx="1086921" cy="986732"/>
                <a:chOff x="7062058" y="1481521"/>
                <a:chExt cx="1086921" cy="986732"/>
              </a:xfrm>
            </p:grpSpPr>
            <p:sp>
              <p:nvSpPr>
                <p:cNvPr id="7" name="矩形 6"/>
                <p:cNvSpPr/>
                <p:nvPr/>
              </p:nvSpPr>
              <p:spPr>
                <a:xfrm>
                  <a:off x="7062058" y="1481521"/>
                  <a:ext cx="1086921" cy="9867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7097041" y="1566927"/>
                  <a:ext cx="1016955" cy="815920"/>
                  <a:chOff x="7097041" y="1566927"/>
                  <a:chExt cx="1016955" cy="815920"/>
                </a:xfrm>
              </p:grpSpPr>
              <p:sp>
                <p:nvSpPr>
                  <p:cNvPr id="21" name="矩形 20"/>
                  <p:cNvSpPr/>
                  <p:nvPr/>
                </p:nvSpPr>
                <p:spPr>
                  <a:xfrm>
                    <a:off x="7470407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矩形 21"/>
                  <p:cNvSpPr/>
                  <p:nvPr/>
                </p:nvSpPr>
                <p:spPr>
                  <a:xfrm>
                    <a:off x="7283724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矩形 22"/>
                  <p:cNvSpPr/>
                  <p:nvPr/>
                </p:nvSpPr>
                <p:spPr>
                  <a:xfrm>
                    <a:off x="7097041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800" dirty="0"/>
                      <a:t>线路手册</a:t>
                    </a:r>
                  </a:p>
                </p:txBody>
              </p:sp>
              <p:sp>
                <p:nvSpPr>
                  <p:cNvPr id="24" name="矩形 23"/>
                  <p:cNvSpPr/>
                  <p:nvPr/>
                </p:nvSpPr>
                <p:spPr>
                  <a:xfrm>
                    <a:off x="8030458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矩形 24"/>
                  <p:cNvSpPr/>
                  <p:nvPr/>
                </p:nvSpPr>
                <p:spPr>
                  <a:xfrm>
                    <a:off x="7843773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矩形 25"/>
                  <p:cNvSpPr/>
                  <p:nvPr/>
                </p:nvSpPr>
                <p:spPr>
                  <a:xfrm>
                    <a:off x="7657090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30" name="组合 29"/>
              <p:cNvGrpSpPr/>
              <p:nvPr/>
            </p:nvGrpSpPr>
            <p:grpSpPr>
              <a:xfrm>
                <a:off x="8353611" y="1499680"/>
                <a:ext cx="1086921" cy="986732"/>
                <a:chOff x="7062058" y="1481521"/>
                <a:chExt cx="1086921" cy="986732"/>
              </a:xfrm>
            </p:grpSpPr>
            <p:sp>
              <p:nvSpPr>
                <p:cNvPr id="31" name="矩形 30"/>
                <p:cNvSpPr/>
                <p:nvPr/>
              </p:nvSpPr>
              <p:spPr>
                <a:xfrm>
                  <a:off x="7062058" y="1481521"/>
                  <a:ext cx="1086921" cy="9867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2" name="组合 31"/>
                <p:cNvGrpSpPr/>
                <p:nvPr/>
              </p:nvGrpSpPr>
              <p:grpSpPr>
                <a:xfrm>
                  <a:off x="7097041" y="1566927"/>
                  <a:ext cx="1016955" cy="815920"/>
                  <a:chOff x="7097041" y="1566927"/>
                  <a:chExt cx="1016955" cy="815920"/>
                </a:xfrm>
              </p:grpSpPr>
              <p:sp>
                <p:nvSpPr>
                  <p:cNvPr id="33" name="矩形 32"/>
                  <p:cNvSpPr/>
                  <p:nvPr/>
                </p:nvSpPr>
                <p:spPr>
                  <a:xfrm>
                    <a:off x="7470407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矩形 33"/>
                  <p:cNvSpPr/>
                  <p:nvPr/>
                </p:nvSpPr>
                <p:spPr>
                  <a:xfrm>
                    <a:off x="7283724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" name="矩形 34"/>
                  <p:cNvSpPr/>
                  <p:nvPr/>
                </p:nvSpPr>
                <p:spPr>
                  <a:xfrm>
                    <a:off x="7097041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" name="矩形 35"/>
                  <p:cNvSpPr/>
                  <p:nvPr/>
                </p:nvSpPr>
                <p:spPr>
                  <a:xfrm>
                    <a:off x="8030458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" name="矩形 36"/>
                  <p:cNvSpPr/>
                  <p:nvPr/>
                </p:nvSpPr>
                <p:spPr>
                  <a:xfrm>
                    <a:off x="7843773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" name="矩形 37"/>
                  <p:cNvSpPr/>
                  <p:nvPr/>
                </p:nvSpPr>
                <p:spPr>
                  <a:xfrm>
                    <a:off x="7657090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39" name="组合 38"/>
              <p:cNvGrpSpPr/>
              <p:nvPr/>
            </p:nvGrpSpPr>
            <p:grpSpPr>
              <a:xfrm>
                <a:off x="10531702" y="1499680"/>
                <a:ext cx="1086921" cy="986732"/>
                <a:chOff x="7062058" y="1481521"/>
                <a:chExt cx="1086921" cy="986732"/>
              </a:xfrm>
            </p:grpSpPr>
            <p:sp>
              <p:nvSpPr>
                <p:cNvPr id="40" name="矩形 39"/>
                <p:cNvSpPr/>
                <p:nvPr/>
              </p:nvSpPr>
              <p:spPr>
                <a:xfrm>
                  <a:off x="7062058" y="1481521"/>
                  <a:ext cx="1086921" cy="9867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1" name="组合 40"/>
                <p:cNvGrpSpPr/>
                <p:nvPr/>
              </p:nvGrpSpPr>
              <p:grpSpPr>
                <a:xfrm>
                  <a:off x="7097041" y="1566927"/>
                  <a:ext cx="1016955" cy="815920"/>
                  <a:chOff x="7097041" y="1566927"/>
                  <a:chExt cx="1016955" cy="815920"/>
                </a:xfrm>
              </p:grpSpPr>
              <p:sp>
                <p:nvSpPr>
                  <p:cNvPr id="42" name="矩形 41"/>
                  <p:cNvSpPr/>
                  <p:nvPr/>
                </p:nvSpPr>
                <p:spPr>
                  <a:xfrm>
                    <a:off x="7470407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" name="矩形 42"/>
                  <p:cNvSpPr/>
                  <p:nvPr/>
                </p:nvSpPr>
                <p:spPr>
                  <a:xfrm>
                    <a:off x="7283724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矩形 43"/>
                  <p:cNvSpPr/>
                  <p:nvPr/>
                </p:nvSpPr>
                <p:spPr>
                  <a:xfrm>
                    <a:off x="7097041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" name="矩形 44"/>
                  <p:cNvSpPr/>
                  <p:nvPr/>
                </p:nvSpPr>
                <p:spPr>
                  <a:xfrm>
                    <a:off x="8030458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" name="矩形 45"/>
                  <p:cNvSpPr/>
                  <p:nvPr/>
                </p:nvSpPr>
                <p:spPr>
                  <a:xfrm>
                    <a:off x="7843773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" name="矩形 46"/>
                  <p:cNvSpPr/>
                  <p:nvPr/>
                </p:nvSpPr>
                <p:spPr>
                  <a:xfrm>
                    <a:off x="7657090" y="1566927"/>
                    <a:ext cx="83538" cy="815920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48" name="矩形 47"/>
              <p:cNvSpPr/>
              <p:nvPr/>
            </p:nvSpPr>
            <p:spPr>
              <a:xfrm>
                <a:off x="7079549" y="1764992"/>
                <a:ext cx="1051938" cy="456109"/>
              </a:xfrm>
              <a:prstGeom prst="rect">
                <a:avLst/>
              </a:prstGeom>
              <a:solidFill>
                <a:srgbClr val="C00000">
                  <a:alpha val="50196"/>
                </a:srgb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周一区</a:t>
                </a: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8371102" y="1764992"/>
                <a:ext cx="1051938" cy="456109"/>
              </a:xfrm>
              <a:prstGeom prst="rect">
                <a:avLst/>
              </a:prstGeom>
              <a:solidFill>
                <a:srgbClr val="C00000">
                  <a:alpha val="50196"/>
                </a:srgb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周二区</a:t>
                </a: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0549193" y="1764992"/>
                <a:ext cx="1051938" cy="456109"/>
              </a:xfrm>
              <a:prstGeom prst="rect">
                <a:avLst/>
              </a:prstGeom>
              <a:solidFill>
                <a:srgbClr val="C00000">
                  <a:alpha val="50196"/>
                </a:srgbClr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周五区</a:t>
                </a:r>
              </a:p>
            </p:txBody>
          </p:sp>
        </p:grpSp>
      </p:grp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204099" y="3503014"/>
          <a:ext cx="3783802" cy="2895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39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1081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客户编号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客户名称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地址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联系人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电话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渠道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信用额度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信用期限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面积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83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83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83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83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83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8231630" y="3503014"/>
          <a:ext cx="3783803" cy="2895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7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895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日期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摘要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品种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拜访时间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分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51">
                <a:tc row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库存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进货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51">
                <a:tc row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库存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进货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951">
                <a:tc row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库存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9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进货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1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进货量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09" name="组合 108"/>
          <p:cNvGrpSpPr/>
          <p:nvPr/>
        </p:nvGrpSpPr>
        <p:grpSpPr>
          <a:xfrm>
            <a:off x="319405" y="3642448"/>
            <a:ext cx="2826467" cy="2650301"/>
            <a:chOff x="485549" y="3758268"/>
            <a:chExt cx="2525354" cy="2483141"/>
          </a:xfrm>
        </p:grpSpPr>
        <p:sp>
          <p:nvSpPr>
            <p:cNvPr id="16" name="矩形 15"/>
            <p:cNvSpPr/>
            <p:nvPr/>
          </p:nvSpPr>
          <p:spPr>
            <a:xfrm>
              <a:off x="486561" y="3758268"/>
              <a:ext cx="310393" cy="248314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 rot="4980734">
              <a:off x="1582327" y="2750604"/>
              <a:ext cx="308386" cy="248083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2654973" y="3804622"/>
              <a:ext cx="331507" cy="243678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 rot="5400000">
              <a:off x="1571771" y="4846801"/>
              <a:ext cx="308386" cy="248083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 rot="5400000">
              <a:off x="1571771" y="4146848"/>
              <a:ext cx="308386" cy="248083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 rot="5400000">
              <a:off x="1571771" y="3519292"/>
              <a:ext cx="308386" cy="248083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 flipH="1">
              <a:off x="2268801" y="5305467"/>
              <a:ext cx="190526" cy="84705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/>
            <p:cNvCxnSpPr/>
            <p:nvPr/>
          </p:nvCxnSpPr>
          <p:spPr>
            <a:xfrm flipH="1">
              <a:off x="2459327" y="6087216"/>
              <a:ext cx="486561" cy="0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stCxn id="56" idx="1"/>
            </p:cNvCxnSpPr>
            <p:nvPr/>
          </p:nvCxnSpPr>
          <p:spPr>
            <a:xfrm>
              <a:off x="2459327" y="5728995"/>
              <a:ext cx="0" cy="358221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>
              <a:stCxn id="56" idx="3"/>
              <a:endCxn id="56" idx="1"/>
            </p:cNvCxnSpPr>
            <p:nvPr/>
          </p:nvCxnSpPr>
          <p:spPr>
            <a:xfrm>
              <a:off x="2268801" y="5728995"/>
              <a:ext cx="190526" cy="0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endCxn id="56" idx="3"/>
            </p:cNvCxnSpPr>
            <p:nvPr/>
          </p:nvCxnSpPr>
          <p:spPr>
            <a:xfrm flipV="1">
              <a:off x="2268801" y="5728995"/>
              <a:ext cx="0" cy="288860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730805" y="5941656"/>
              <a:ext cx="1537996" cy="76199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V="1">
              <a:off x="730805" y="5467284"/>
              <a:ext cx="0" cy="465739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730805" y="5305467"/>
              <a:ext cx="2050917" cy="16181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V="1">
              <a:off x="2781722" y="4868568"/>
              <a:ext cx="0" cy="436898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710704" y="4651904"/>
              <a:ext cx="2071018" cy="21666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V="1">
              <a:off x="730805" y="4151440"/>
              <a:ext cx="66149" cy="49357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796954" y="3963901"/>
              <a:ext cx="1905653" cy="196062"/>
            </a:xfrm>
            <a:prstGeom prst="line">
              <a:avLst/>
            </a:prstGeom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/>
            <p:nvPr/>
          </p:nvCxnSpPr>
          <p:spPr>
            <a:xfrm flipH="1">
              <a:off x="1090569" y="6152522"/>
              <a:ext cx="1057832" cy="0"/>
            </a:xfrm>
            <a:prstGeom prst="straightConnector1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/>
            <p:nvPr/>
          </p:nvCxnSpPr>
          <p:spPr>
            <a:xfrm flipV="1">
              <a:off x="641757" y="5386375"/>
              <a:ext cx="0" cy="625148"/>
            </a:xfrm>
            <a:prstGeom prst="straightConnector1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/>
            <p:nvPr/>
          </p:nvCxnSpPr>
          <p:spPr>
            <a:xfrm flipV="1">
              <a:off x="2896906" y="4759561"/>
              <a:ext cx="0" cy="625148"/>
            </a:xfrm>
            <a:prstGeom prst="straightConnector1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>
            <a:xfrm flipV="1">
              <a:off x="641757" y="4131460"/>
              <a:ext cx="0" cy="625148"/>
            </a:xfrm>
            <a:prstGeom prst="straightConnector1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椭圆 99"/>
            <p:cNvSpPr/>
            <p:nvPr/>
          </p:nvSpPr>
          <p:spPr>
            <a:xfrm>
              <a:off x="2765759" y="5941656"/>
              <a:ext cx="245144" cy="245144"/>
            </a:xfrm>
            <a:prstGeom prst="ellipse">
              <a:avLst/>
            </a:prstGeom>
            <a:solidFill>
              <a:srgbClr val="C00000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等腰三角形 100"/>
            <p:cNvSpPr/>
            <p:nvPr/>
          </p:nvSpPr>
          <p:spPr>
            <a:xfrm>
              <a:off x="2056122" y="5728994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等腰三角形 101"/>
            <p:cNvSpPr/>
            <p:nvPr/>
          </p:nvSpPr>
          <p:spPr>
            <a:xfrm>
              <a:off x="1081218" y="5728994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等腰三角形 102"/>
            <p:cNvSpPr/>
            <p:nvPr/>
          </p:nvSpPr>
          <p:spPr>
            <a:xfrm>
              <a:off x="2484468" y="5610922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等腰三角形 103"/>
            <p:cNvSpPr/>
            <p:nvPr/>
          </p:nvSpPr>
          <p:spPr>
            <a:xfrm>
              <a:off x="2484468" y="5074645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等腰三角形 104"/>
            <p:cNvSpPr/>
            <p:nvPr/>
          </p:nvSpPr>
          <p:spPr>
            <a:xfrm>
              <a:off x="1627189" y="5074645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等腰三角形 105"/>
            <p:cNvSpPr/>
            <p:nvPr/>
          </p:nvSpPr>
          <p:spPr>
            <a:xfrm>
              <a:off x="2499777" y="4418715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等腰三角形 106"/>
            <p:cNvSpPr/>
            <p:nvPr/>
          </p:nvSpPr>
          <p:spPr>
            <a:xfrm>
              <a:off x="1023457" y="4418715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等腰三角形 107"/>
            <p:cNvSpPr/>
            <p:nvPr/>
          </p:nvSpPr>
          <p:spPr>
            <a:xfrm>
              <a:off x="2398885" y="4060153"/>
              <a:ext cx="134224" cy="142613"/>
            </a:xfrm>
            <a:prstGeom prst="triangle">
              <a:avLst/>
            </a:prstGeom>
            <a:solidFill>
              <a:srgbClr val="C00000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矩形 109"/>
          <p:cNvSpPr/>
          <p:nvPr/>
        </p:nvSpPr>
        <p:spPr>
          <a:xfrm>
            <a:off x="176568" y="3503014"/>
            <a:ext cx="3783802" cy="289561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3231115" y="594275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起点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3231115" y="366862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终点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95923" y="556951"/>
            <a:ext cx="5032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拜访路线线路化作业 </a:t>
            </a:r>
            <a:r>
              <a:rPr kumimoji="1" lang="en-US" altLang="zh-CN" sz="2400" b="1" dirty="0"/>
              <a:t>——</a:t>
            </a:r>
            <a:r>
              <a:rPr kumimoji="1" lang="zh-CN" altLang="en-US" sz="2400" b="1" dirty="0"/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一图两表</a:t>
            </a:r>
          </a:p>
        </p:txBody>
      </p:sp>
      <p:sp>
        <p:nvSpPr>
          <p:cNvPr id="53" name="矩形 52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54" name="矩形 53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57" name="矩形 56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58" name="矩形 57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43267" y="444335"/>
            <a:ext cx="3698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/>
              <a:t>拜访 </a:t>
            </a:r>
            <a:r>
              <a:rPr kumimoji="1" lang="en-US" altLang="zh-CN" sz="3200" b="1" dirty="0"/>
              <a:t>——</a:t>
            </a:r>
            <a:r>
              <a:rPr kumimoji="1" lang="zh-CN" altLang="en-US" sz="3200" b="1" dirty="0"/>
              <a:t> 路线规划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74752" y="1567008"/>
            <a:ext cx="3262432" cy="1323439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kumimoji="1" lang="zh-CN" altLang="en-US" sz="8000" b="1" dirty="0">
                <a:solidFill>
                  <a:srgbClr val="C00000"/>
                </a:solidFill>
                <a:effectLst>
                  <a:reflection blurRad="6350" stA="55000" endA="300" endPos="45500" dir="5400000" sy="-100000" algn="bl" rotWithShape="0"/>
                </a:effectLst>
              </a:rPr>
              <a:t>标准性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164321" y="1588624"/>
            <a:ext cx="3262432" cy="1323439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kumimoji="1" lang="zh-CN" altLang="en-US" sz="8000" b="1" dirty="0">
                <a:solidFill>
                  <a:srgbClr val="C00000"/>
                </a:solidFill>
                <a:effectLst>
                  <a:reflection blurRad="6350" stA="55000" endA="300" endPos="45500" dir="5400000" sy="-100000" algn="bl" rotWithShape="0"/>
                </a:effectLst>
              </a:rPr>
              <a:t>灵活性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79423" y="116386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需要兼备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46848" y="3235184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有坚决的底线和原则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18471" y="3504695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需要每一位伙伴依照统一的标准执行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25698" y="3237946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需要依据市场发展阶段灵活设计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615470" y="3507457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对市场动态变化做出敏捷响应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050268" y="4769368"/>
            <a:ext cx="4942223" cy="371513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ffectLst/>
                <a:latin typeface="Calibri" panose="020F0502020204030204" charset="0"/>
              </a:rPr>
              <a:t>频率原则：</a:t>
            </a:r>
            <a:r>
              <a:rPr lang="zh-CN" altLang="en-US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固定拜访频率，打造思维定势，巩固客情</a:t>
            </a:r>
            <a:endParaRPr lang="en-US" altLang="ko-KR" sz="1400" b="0" dirty="0">
              <a:solidFill>
                <a:schemeClr val="tx1"/>
              </a:solidFill>
              <a:effectLst/>
              <a:latin typeface="Calibri" panose="020F050202020403020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 flipH="1">
            <a:off x="1050268" y="4180823"/>
            <a:ext cx="4497787" cy="371513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ffectLst/>
                <a:latin typeface="Calibri" panose="020F0502020204030204" charset="0"/>
              </a:rPr>
              <a:t>均衡原则：</a:t>
            </a:r>
            <a:r>
              <a:rPr lang="zh-CN" altLang="en-US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保证每条路线的工作量基本均衡</a:t>
            </a:r>
            <a:endParaRPr lang="en-US" altLang="zh-CN" sz="1400" b="0" dirty="0">
              <a:solidFill>
                <a:schemeClr val="tx1"/>
              </a:solidFill>
              <a:effectLst/>
              <a:latin typeface="Calibri" panose="020F0502020204030204" charset="0"/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1050268" y="5357912"/>
            <a:ext cx="4942223" cy="371513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ffectLst/>
                <a:latin typeface="Calibri" panose="020F0502020204030204" charset="0"/>
              </a:rPr>
              <a:t>顺路原则：</a:t>
            </a:r>
            <a:r>
              <a:rPr lang="zh-CN" altLang="en-US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严禁出现折返、绕路的现象，提高拜访效率</a:t>
            </a:r>
            <a:endParaRPr lang="en-US" altLang="ko-KR" sz="1400" b="0" dirty="0">
              <a:solidFill>
                <a:schemeClr val="tx1"/>
              </a:solidFill>
              <a:effectLst/>
              <a:latin typeface="Calibri" panose="020F0502020204030204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6593375" y="4763525"/>
            <a:ext cx="4942223" cy="371513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ffectLst/>
                <a:latin typeface="Calibri" panose="020F0502020204030204" charset="0"/>
              </a:rPr>
              <a:t>每日路线原则：</a:t>
            </a:r>
            <a:r>
              <a:rPr lang="zh-CN" altLang="en-US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以周为单位，每日一条路线</a:t>
            </a:r>
            <a:endParaRPr lang="en-US" altLang="ko-KR" sz="1400" b="0" dirty="0">
              <a:solidFill>
                <a:schemeClr val="tx1"/>
              </a:solidFill>
              <a:effectLst/>
              <a:latin typeface="Calibri" panose="020F0502020204030204" charset="0"/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 flipH="1">
            <a:off x="6593374" y="4174980"/>
            <a:ext cx="6442141" cy="371513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ffectLst/>
                <a:latin typeface="Calibri" panose="020F0502020204030204" charset="0"/>
              </a:rPr>
              <a:t>及时更新原则：</a:t>
            </a:r>
            <a:r>
              <a:rPr lang="zh-CN" altLang="en-US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及时同步路线信息，如新开</a:t>
            </a:r>
            <a:r>
              <a:rPr lang="en-US" altLang="zh-CN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&amp;</a:t>
            </a:r>
            <a:r>
              <a:rPr lang="zh-CN" altLang="en-US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关闭、竞品打入等</a:t>
            </a:r>
            <a:endParaRPr lang="en-US" altLang="zh-CN" sz="1400" b="0" dirty="0">
              <a:solidFill>
                <a:schemeClr val="tx1"/>
              </a:solidFill>
              <a:effectLst/>
              <a:latin typeface="Calibri" panose="020F0502020204030204" charset="0"/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6593375" y="5352069"/>
            <a:ext cx="4942223" cy="371513"/>
          </a:xfrm>
          <a:prstGeom prst="rect">
            <a:avLst/>
          </a:prstGeom>
          <a:noFill/>
        </p:spPr>
        <p:txBody>
          <a:bodyPr wrap="square" lIns="90000" tIns="46800" rIns="90000" bIns="4680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chemeClr val="tx1"/>
                </a:solidFill>
                <a:effectLst/>
                <a:latin typeface="Calibri" panose="020F0502020204030204" charset="0"/>
              </a:rPr>
              <a:t>肥瘦搭配原则：</a:t>
            </a:r>
            <a:r>
              <a:rPr lang="zh-CN" altLang="en-US" sz="1400" b="0" dirty="0">
                <a:solidFill>
                  <a:schemeClr val="tx1"/>
                </a:solidFill>
                <a:effectLst/>
                <a:latin typeface="Calibri" panose="020F0502020204030204" charset="0"/>
              </a:rPr>
              <a:t>各等级网点时间精力投入存在差异</a:t>
            </a:r>
            <a:endParaRPr lang="en-US" altLang="ko-KR" sz="1400" b="0" dirty="0">
              <a:solidFill>
                <a:schemeClr val="tx1"/>
              </a:solidFill>
              <a:effectLst/>
              <a:latin typeface="Calibri" panose="020F050202020403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7" name="矩形 16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8" name="矩形 17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9" name="矩形 18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4317" y="2905780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案例：一个线路规划的实操案例</a:t>
            </a:r>
          </a:p>
        </p:txBody>
      </p:sp>
      <p:grpSp>
        <p:nvGrpSpPr>
          <p:cNvPr id="3" name="组合 10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7282026" y="1505278"/>
            <a:ext cx="3836243" cy="4208392"/>
            <a:chOff x="4177879" y="1324804"/>
            <a:chExt cx="3836243" cy="4208392"/>
          </a:xfrm>
        </p:grpSpPr>
        <p:grpSp>
          <p:nvGrpSpPr>
            <p:cNvPr id="4" name="ïśľíďê"/>
            <p:cNvGrpSpPr/>
            <p:nvPr/>
          </p:nvGrpSpPr>
          <p:grpSpPr>
            <a:xfrm>
              <a:off x="6282824" y="3875330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101" name="ïšļíďe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ï$líḑe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" name="íṩḻíḋè"/>
            <p:cNvGrpSpPr/>
            <p:nvPr/>
          </p:nvGrpSpPr>
          <p:grpSpPr>
            <a:xfrm>
              <a:off x="6887603" y="4440913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99" name="iṩļíḓè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îṡļïďé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" name="ï$ľíḓê"/>
            <p:cNvGrpSpPr/>
            <p:nvPr/>
          </p:nvGrpSpPr>
          <p:grpSpPr>
            <a:xfrm>
              <a:off x="4913376" y="1566939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97" name="îṧļîḑé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iṩḻïde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íŝ1îḍè"/>
            <p:cNvGrpSpPr/>
            <p:nvPr/>
          </p:nvGrpSpPr>
          <p:grpSpPr>
            <a:xfrm>
              <a:off x="5866550" y="2945654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95" name="ïšḻïḓ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íṡḷiḋe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" name="í$ḻîďe"/>
            <p:cNvGrpSpPr/>
            <p:nvPr/>
          </p:nvGrpSpPr>
          <p:grpSpPr>
            <a:xfrm>
              <a:off x="4177879" y="2842283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93" name="ïṧļïḍê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îşḻïḓe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" name="íṥḷíḑê"/>
            <p:cNvGrpSpPr/>
            <p:nvPr/>
          </p:nvGrpSpPr>
          <p:grpSpPr>
            <a:xfrm>
              <a:off x="4488063" y="4055312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91" name="îśļîḍe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íSlîḋê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" name="ïṩlïḓé"/>
            <p:cNvGrpSpPr/>
            <p:nvPr/>
          </p:nvGrpSpPr>
          <p:grpSpPr>
            <a:xfrm>
              <a:off x="5383185" y="4716901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89" name="îŝļiḍé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ïṣļîḓê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" name="iŝľïḋé"/>
            <p:cNvGrpSpPr/>
            <p:nvPr/>
          </p:nvGrpSpPr>
          <p:grpSpPr>
            <a:xfrm>
              <a:off x="5101750" y="3503391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87" name="ï$1ïḋe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iS1îḍè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îṩ1îḓe"/>
            <p:cNvGrpSpPr/>
            <p:nvPr/>
          </p:nvGrpSpPr>
          <p:grpSpPr>
            <a:xfrm>
              <a:off x="5140848" y="2482305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85" name="ïŝḻîḓe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ïśľîḋé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" name="ïśḷidé"/>
            <p:cNvGrpSpPr/>
            <p:nvPr/>
          </p:nvGrpSpPr>
          <p:grpSpPr>
            <a:xfrm>
              <a:off x="6301599" y="2179545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83" name="íṥļíde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îSľïḓe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ïṧļïďé"/>
            <p:cNvGrpSpPr/>
            <p:nvPr/>
          </p:nvGrpSpPr>
          <p:grpSpPr>
            <a:xfrm>
              <a:off x="5857762" y="1333997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81" name="iṡḷiḍè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2" name="ïşľiḋé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" name="îṩļîḍe"/>
            <p:cNvGrpSpPr/>
            <p:nvPr/>
          </p:nvGrpSpPr>
          <p:grpSpPr>
            <a:xfrm>
              <a:off x="7433395" y="3494514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79" name="îśḷíḓè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0" name="íśḻíḑé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" name="îṩḻíḍê"/>
            <p:cNvGrpSpPr/>
            <p:nvPr/>
          </p:nvGrpSpPr>
          <p:grpSpPr>
            <a:xfrm>
              <a:off x="4294242" y="3503391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77" name="îṧḻïd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ïs1îḍè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ïṥḻídè"/>
            <p:cNvGrpSpPr/>
            <p:nvPr/>
          </p:nvGrpSpPr>
          <p:grpSpPr>
            <a:xfrm>
              <a:off x="4898760" y="2964328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75" name="íŝḻiď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í$lïḓê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8" name="ïṣḷíḋè"/>
            <p:cNvGrpSpPr/>
            <p:nvPr/>
          </p:nvGrpSpPr>
          <p:grpSpPr>
            <a:xfrm>
              <a:off x="4594087" y="1895710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73" name="í$liḍ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íṧḷiḍé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" name="išľîdê"/>
            <p:cNvGrpSpPr/>
            <p:nvPr/>
          </p:nvGrpSpPr>
          <p:grpSpPr>
            <a:xfrm>
              <a:off x="5300642" y="1392128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71" name="íšḷiḋe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îšḻídê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" name="i$ḷîdé"/>
            <p:cNvGrpSpPr/>
            <p:nvPr/>
          </p:nvGrpSpPr>
          <p:grpSpPr>
            <a:xfrm>
              <a:off x="5867553" y="2142968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69" name="îsľîď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íṧ1iḍê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ïS1ïdè"/>
            <p:cNvGrpSpPr/>
            <p:nvPr/>
          </p:nvGrpSpPr>
          <p:grpSpPr>
            <a:xfrm>
              <a:off x="5436404" y="2122144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67" name="işļîḍé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î$líḓê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2" name="íṥḻidé"/>
            <p:cNvGrpSpPr/>
            <p:nvPr/>
          </p:nvGrpSpPr>
          <p:grpSpPr>
            <a:xfrm>
              <a:off x="6641777" y="3472769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65" name="íṡ1idê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ïS1íḍè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îṣḷiďè"/>
            <p:cNvGrpSpPr/>
            <p:nvPr/>
          </p:nvGrpSpPr>
          <p:grpSpPr>
            <a:xfrm>
              <a:off x="7129837" y="1861081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63" name="ïṣḻíḓé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íṡľïďè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" name="ï$1íḑé"/>
            <p:cNvGrpSpPr/>
            <p:nvPr/>
          </p:nvGrpSpPr>
          <p:grpSpPr>
            <a:xfrm>
              <a:off x="5836714" y="3939799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61" name="îSľíḓê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îslíḋé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5" name="îSľïḍe"/>
            <p:cNvGrpSpPr/>
            <p:nvPr/>
          </p:nvGrpSpPr>
          <p:grpSpPr>
            <a:xfrm>
              <a:off x="4928966" y="4443006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59" name="íśḷid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ïŝľiḓê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6" name="iṡľíḍe"/>
            <p:cNvGrpSpPr/>
            <p:nvPr/>
          </p:nvGrpSpPr>
          <p:grpSpPr>
            <a:xfrm>
              <a:off x="5920973" y="4781713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57" name="îsľîď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îṣľîḑe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7" name="ísļîdê"/>
            <p:cNvGrpSpPr/>
            <p:nvPr/>
          </p:nvGrpSpPr>
          <p:grpSpPr>
            <a:xfrm>
              <a:off x="5455613" y="3854249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55" name="îŝliḑè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iṩľídé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8" name="íSḷïďè"/>
            <p:cNvGrpSpPr/>
            <p:nvPr/>
          </p:nvGrpSpPr>
          <p:grpSpPr>
            <a:xfrm>
              <a:off x="6364670" y="4728739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53" name="ïṡľïdè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ïśľíḑé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9" name="íSlíḓê"/>
            <p:cNvGrpSpPr/>
            <p:nvPr/>
          </p:nvGrpSpPr>
          <p:grpSpPr>
            <a:xfrm>
              <a:off x="7250571" y="4041946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51" name="í$1ïďé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iṣḷîḑè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0" name="îṣľíde"/>
            <p:cNvGrpSpPr/>
            <p:nvPr/>
          </p:nvGrpSpPr>
          <p:grpSpPr>
            <a:xfrm>
              <a:off x="6641777" y="2399390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49" name="íṣ1id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íṩḻïḑé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1" name="ïś1îďé"/>
            <p:cNvGrpSpPr/>
            <p:nvPr/>
          </p:nvGrpSpPr>
          <p:grpSpPr>
            <a:xfrm>
              <a:off x="7443981" y="2319408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47" name="iṣļiďe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îs1îḓè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2" name="iṡlîḑê"/>
            <p:cNvGrpSpPr/>
            <p:nvPr/>
          </p:nvGrpSpPr>
          <p:grpSpPr>
            <a:xfrm>
              <a:off x="6921653" y="2926538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45" name="íśļïdé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ïśḷiḓè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" name="ïṡ1íďé"/>
            <p:cNvGrpSpPr/>
            <p:nvPr/>
          </p:nvGrpSpPr>
          <p:grpSpPr>
            <a:xfrm>
              <a:off x="7703938" y="2926538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43" name="iṧliďe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îṣļîḓè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" name="ïṧ1iḑè"/>
            <p:cNvGrpSpPr/>
            <p:nvPr/>
          </p:nvGrpSpPr>
          <p:grpSpPr>
            <a:xfrm>
              <a:off x="4262119" y="2106563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41" name="ïSḷîďè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ṧḻîḓê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" name="iṣļíḓê"/>
            <p:cNvGrpSpPr/>
            <p:nvPr/>
          </p:nvGrpSpPr>
          <p:grpSpPr>
            <a:xfrm>
              <a:off x="6851055" y="1576925"/>
              <a:ext cx="310184" cy="726401"/>
              <a:chOff x="5481404" y="1426062"/>
              <a:chExt cx="341669" cy="778503"/>
            </a:xfrm>
            <a:solidFill>
              <a:schemeClr val="accent4"/>
            </a:solidFill>
          </p:grpSpPr>
          <p:sp>
            <p:nvSpPr>
              <p:cNvPr id="39" name="ïṣľídè"/>
              <p:cNvSpPr/>
              <p:nvPr/>
            </p:nvSpPr>
            <p:spPr bwMode="auto">
              <a:xfrm>
                <a:off x="5481404" y="1565664"/>
                <a:ext cx="341669" cy="638901"/>
              </a:xfrm>
              <a:custGeom>
                <a:avLst/>
                <a:gdLst>
                  <a:gd name="T0" fmla="*/ 3593 w 3594"/>
                  <a:gd name="T1" fmla="*/ 2874 h 6719"/>
                  <a:gd name="T2" fmla="*/ 3593 w 3594"/>
                  <a:gd name="T3" fmla="*/ 2874 h 6719"/>
                  <a:gd name="T4" fmla="*/ 3000 w 3594"/>
                  <a:gd name="T5" fmla="*/ 625 h 6719"/>
                  <a:gd name="T6" fmla="*/ 2250 w 3594"/>
                  <a:gd name="T7" fmla="*/ 0 h 6719"/>
                  <a:gd name="T8" fmla="*/ 1375 w 3594"/>
                  <a:gd name="T9" fmla="*/ 0 h 6719"/>
                  <a:gd name="T10" fmla="*/ 625 w 3594"/>
                  <a:gd name="T11" fmla="*/ 625 h 6719"/>
                  <a:gd name="T12" fmla="*/ 0 w 3594"/>
                  <a:gd name="T13" fmla="*/ 2874 h 6719"/>
                  <a:gd name="T14" fmla="*/ 125 w 3594"/>
                  <a:gd name="T15" fmla="*/ 3249 h 6719"/>
                  <a:gd name="T16" fmla="*/ 500 w 3594"/>
                  <a:gd name="T17" fmla="*/ 2999 h 6719"/>
                  <a:gd name="T18" fmla="*/ 1000 w 3594"/>
                  <a:gd name="T19" fmla="*/ 1000 h 6719"/>
                  <a:gd name="T20" fmla="*/ 1250 w 3594"/>
                  <a:gd name="T21" fmla="*/ 1000 h 6719"/>
                  <a:gd name="T22" fmla="*/ 375 w 3594"/>
                  <a:gd name="T23" fmla="*/ 4093 h 6719"/>
                  <a:gd name="T24" fmla="*/ 1125 w 3594"/>
                  <a:gd name="T25" fmla="*/ 4093 h 6719"/>
                  <a:gd name="T26" fmla="*/ 1125 w 3594"/>
                  <a:gd name="T27" fmla="*/ 6343 h 6719"/>
                  <a:gd name="T28" fmla="*/ 1375 w 3594"/>
                  <a:gd name="T29" fmla="*/ 6718 h 6719"/>
                  <a:gd name="T30" fmla="*/ 1750 w 3594"/>
                  <a:gd name="T31" fmla="*/ 6343 h 6719"/>
                  <a:gd name="T32" fmla="*/ 1750 w 3594"/>
                  <a:gd name="T33" fmla="*/ 4093 h 6719"/>
                  <a:gd name="T34" fmla="*/ 2000 w 3594"/>
                  <a:gd name="T35" fmla="*/ 4093 h 6719"/>
                  <a:gd name="T36" fmla="*/ 2000 w 3594"/>
                  <a:gd name="T37" fmla="*/ 6343 h 6719"/>
                  <a:gd name="T38" fmla="*/ 2250 w 3594"/>
                  <a:gd name="T39" fmla="*/ 6718 h 6719"/>
                  <a:gd name="T40" fmla="*/ 2500 w 3594"/>
                  <a:gd name="T41" fmla="*/ 6343 h 6719"/>
                  <a:gd name="T42" fmla="*/ 2500 w 3594"/>
                  <a:gd name="T43" fmla="*/ 4093 h 6719"/>
                  <a:gd name="T44" fmla="*/ 3218 w 3594"/>
                  <a:gd name="T45" fmla="*/ 4093 h 6719"/>
                  <a:gd name="T46" fmla="*/ 2375 w 3594"/>
                  <a:gd name="T47" fmla="*/ 1000 h 6719"/>
                  <a:gd name="T48" fmla="*/ 2625 w 3594"/>
                  <a:gd name="T49" fmla="*/ 1000 h 6719"/>
                  <a:gd name="T50" fmla="*/ 3093 w 3594"/>
                  <a:gd name="T51" fmla="*/ 2999 h 6719"/>
                  <a:gd name="T52" fmla="*/ 3468 w 3594"/>
                  <a:gd name="T53" fmla="*/ 3249 h 6719"/>
                  <a:gd name="T54" fmla="*/ 3593 w 3594"/>
                  <a:gd name="T55" fmla="*/ 2874 h 67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594" h="6719">
                    <a:moveTo>
                      <a:pt x="3593" y="2874"/>
                    </a:moveTo>
                    <a:lnTo>
                      <a:pt x="3593" y="2874"/>
                    </a:lnTo>
                    <a:cubicBezTo>
                      <a:pt x="3000" y="625"/>
                      <a:pt x="3000" y="625"/>
                      <a:pt x="3000" y="625"/>
                    </a:cubicBezTo>
                    <a:cubicBezTo>
                      <a:pt x="2875" y="250"/>
                      <a:pt x="2625" y="0"/>
                      <a:pt x="2250" y="0"/>
                    </a:cubicBezTo>
                    <a:cubicBezTo>
                      <a:pt x="1375" y="0"/>
                      <a:pt x="1375" y="0"/>
                      <a:pt x="1375" y="0"/>
                    </a:cubicBezTo>
                    <a:cubicBezTo>
                      <a:pt x="1000" y="0"/>
                      <a:pt x="750" y="250"/>
                      <a:pt x="625" y="625"/>
                    </a:cubicBezTo>
                    <a:cubicBezTo>
                      <a:pt x="0" y="2874"/>
                      <a:pt x="0" y="2874"/>
                      <a:pt x="0" y="2874"/>
                    </a:cubicBezTo>
                    <a:cubicBezTo>
                      <a:pt x="0" y="2999"/>
                      <a:pt x="0" y="3124"/>
                      <a:pt x="125" y="3249"/>
                    </a:cubicBezTo>
                    <a:cubicBezTo>
                      <a:pt x="250" y="3249"/>
                      <a:pt x="500" y="3124"/>
                      <a:pt x="500" y="2999"/>
                    </a:cubicBezTo>
                    <a:cubicBezTo>
                      <a:pt x="1000" y="1000"/>
                      <a:pt x="1000" y="1000"/>
                      <a:pt x="1000" y="1000"/>
                    </a:cubicBezTo>
                    <a:cubicBezTo>
                      <a:pt x="1250" y="1000"/>
                      <a:pt x="1250" y="1000"/>
                      <a:pt x="1250" y="1000"/>
                    </a:cubicBezTo>
                    <a:cubicBezTo>
                      <a:pt x="375" y="4093"/>
                      <a:pt x="375" y="4093"/>
                      <a:pt x="375" y="4093"/>
                    </a:cubicBezTo>
                    <a:cubicBezTo>
                      <a:pt x="1125" y="4093"/>
                      <a:pt x="1125" y="4093"/>
                      <a:pt x="1125" y="4093"/>
                    </a:cubicBezTo>
                    <a:cubicBezTo>
                      <a:pt x="1125" y="6343"/>
                      <a:pt x="1125" y="6343"/>
                      <a:pt x="1125" y="6343"/>
                    </a:cubicBezTo>
                    <a:cubicBezTo>
                      <a:pt x="1125" y="6468"/>
                      <a:pt x="1250" y="6718"/>
                      <a:pt x="1375" y="6718"/>
                    </a:cubicBezTo>
                    <a:cubicBezTo>
                      <a:pt x="1625" y="6718"/>
                      <a:pt x="1750" y="6468"/>
                      <a:pt x="1750" y="6343"/>
                    </a:cubicBezTo>
                    <a:cubicBezTo>
                      <a:pt x="1750" y="4093"/>
                      <a:pt x="1750" y="4093"/>
                      <a:pt x="1750" y="4093"/>
                    </a:cubicBezTo>
                    <a:cubicBezTo>
                      <a:pt x="2000" y="4093"/>
                      <a:pt x="2000" y="4093"/>
                      <a:pt x="2000" y="4093"/>
                    </a:cubicBezTo>
                    <a:cubicBezTo>
                      <a:pt x="2000" y="6343"/>
                      <a:pt x="2000" y="6343"/>
                      <a:pt x="2000" y="6343"/>
                    </a:cubicBezTo>
                    <a:cubicBezTo>
                      <a:pt x="2000" y="6468"/>
                      <a:pt x="2125" y="6718"/>
                      <a:pt x="2250" y="6718"/>
                    </a:cubicBezTo>
                    <a:cubicBezTo>
                      <a:pt x="2375" y="6718"/>
                      <a:pt x="2500" y="6468"/>
                      <a:pt x="2500" y="6343"/>
                    </a:cubicBezTo>
                    <a:cubicBezTo>
                      <a:pt x="2500" y="4093"/>
                      <a:pt x="2500" y="4093"/>
                      <a:pt x="2500" y="4093"/>
                    </a:cubicBezTo>
                    <a:cubicBezTo>
                      <a:pt x="3218" y="4093"/>
                      <a:pt x="3218" y="4093"/>
                      <a:pt x="3218" y="4093"/>
                    </a:cubicBezTo>
                    <a:cubicBezTo>
                      <a:pt x="2375" y="1000"/>
                      <a:pt x="2375" y="1000"/>
                      <a:pt x="2375" y="1000"/>
                    </a:cubicBezTo>
                    <a:cubicBezTo>
                      <a:pt x="2625" y="1000"/>
                      <a:pt x="2625" y="1000"/>
                      <a:pt x="2625" y="1000"/>
                    </a:cubicBezTo>
                    <a:cubicBezTo>
                      <a:pt x="3093" y="2999"/>
                      <a:pt x="3093" y="2999"/>
                      <a:pt x="3093" y="2999"/>
                    </a:cubicBezTo>
                    <a:cubicBezTo>
                      <a:pt x="3218" y="3124"/>
                      <a:pt x="3343" y="3249"/>
                      <a:pt x="3468" y="3249"/>
                    </a:cubicBezTo>
                    <a:cubicBezTo>
                      <a:pt x="3593" y="3124"/>
                      <a:pt x="3593" y="2999"/>
                      <a:pt x="3593" y="287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ïSḻide"/>
              <p:cNvSpPr/>
              <p:nvPr/>
            </p:nvSpPr>
            <p:spPr bwMode="auto">
              <a:xfrm>
                <a:off x="5588307" y="1426062"/>
                <a:ext cx="130798" cy="130799"/>
              </a:xfrm>
              <a:custGeom>
                <a:avLst/>
                <a:gdLst>
                  <a:gd name="T0" fmla="*/ 750 w 1376"/>
                  <a:gd name="T1" fmla="*/ 1375 h 1376"/>
                  <a:gd name="T2" fmla="*/ 750 w 1376"/>
                  <a:gd name="T3" fmla="*/ 1375 h 1376"/>
                  <a:gd name="T4" fmla="*/ 1375 w 1376"/>
                  <a:gd name="T5" fmla="*/ 625 h 1376"/>
                  <a:gd name="T6" fmla="*/ 750 w 1376"/>
                  <a:gd name="T7" fmla="*/ 0 h 1376"/>
                  <a:gd name="T8" fmla="*/ 0 w 1376"/>
                  <a:gd name="T9" fmla="*/ 625 h 1376"/>
                  <a:gd name="T10" fmla="*/ 750 w 1376"/>
                  <a:gd name="T11" fmla="*/ 1375 h 1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6" h="1376">
                    <a:moveTo>
                      <a:pt x="750" y="1375"/>
                    </a:moveTo>
                    <a:lnTo>
                      <a:pt x="750" y="1375"/>
                    </a:lnTo>
                    <a:cubicBezTo>
                      <a:pt x="1125" y="1375"/>
                      <a:pt x="1375" y="1125"/>
                      <a:pt x="1375" y="625"/>
                    </a:cubicBezTo>
                    <a:cubicBezTo>
                      <a:pt x="1375" y="250"/>
                      <a:pt x="1125" y="0"/>
                      <a:pt x="750" y="0"/>
                    </a:cubicBezTo>
                    <a:cubicBezTo>
                      <a:pt x="250" y="0"/>
                      <a:pt x="0" y="250"/>
                      <a:pt x="0" y="625"/>
                    </a:cubicBezTo>
                    <a:cubicBezTo>
                      <a:pt x="0" y="1125"/>
                      <a:pt x="250" y="1375"/>
                      <a:pt x="750" y="137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" name="îş1íḑê"/>
            <p:cNvGrpSpPr/>
            <p:nvPr/>
          </p:nvGrpSpPr>
          <p:grpSpPr>
            <a:xfrm>
              <a:off x="6447608" y="1324804"/>
              <a:ext cx="279876" cy="751483"/>
              <a:chOff x="1006475" y="1212850"/>
              <a:chExt cx="585788" cy="1530350"/>
            </a:xfrm>
            <a:solidFill>
              <a:schemeClr val="accent2"/>
            </a:solidFill>
          </p:grpSpPr>
          <p:sp>
            <p:nvSpPr>
              <p:cNvPr id="37" name="iṣ1iḓe"/>
              <p:cNvSpPr/>
              <p:nvPr/>
            </p:nvSpPr>
            <p:spPr bwMode="auto">
              <a:xfrm>
                <a:off x="1006475" y="1516063"/>
                <a:ext cx="585788" cy="1227137"/>
              </a:xfrm>
              <a:custGeom>
                <a:avLst/>
                <a:gdLst>
                  <a:gd name="T0" fmla="*/ 1250 w 1626"/>
                  <a:gd name="T1" fmla="*/ 0 h 3408"/>
                  <a:gd name="T2" fmla="*/ 1250 w 1626"/>
                  <a:gd name="T3" fmla="*/ 0 h 3408"/>
                  <a:gd name="T4" fmla="*/ 375 w 1626"/>
                  <a:gd name="T5" fmla="*/ 0 h 3408"/>
                  <a:gd name="T6" fmla="*/ 0 w 1626"/>
                  <a:gd name="T7" fmla="*/ 407 h 3408"/>
                  <a:gd name="T8" fmla="*/ 0 w 1626"/>
                  <a:gd name="T9" fmla="*/ 1500 h 3408"/>
                  <a:gd name="T10" fmla="*/ 156 w 1626"/>
                  <a:gd name="T11" fmla="*/ 1625 h 3408"/>
                  <a:gd name="T12" fmla="*/ 281 w 1626"/>
                  <a:gd name="T13" fmla="*/ 1500 h 3408"/>
                  <a:gd name="T14" fmla="*/ 281 w 1626"/>
                  <a:gd name="T15" fmla="*/ 625 h 3408"/>
                  <a:gd name="T16" fmla="*/ 313 w 1626"/>
                  <a:gd name="T17" fmla="*/ 563 h 3408"/>
                  <a:gd name="T18" fmla="*/ 375 w 1626"/>
                  <a:gd name="T19" fmla="*/ 625 h 3408"/>
                  <a:gd name="T20" fmla="*/ 375 w 1626"/>
                  <a:gd name="T21" fmla="*/ 1688 h 3408"/>
                  <a:gd name="T22" fmla="*/ 375 w 1626"/>
                  <a:gd name="T23" fmla="*/ 1875 h 3408"/>
                  <a:gd name="T24" fmla="*/ 375 w 1626"/>
                  <a:gd name="T25" fmla="*/ 3188 h 3408"/>
                  <a:gd name="T26" fmla="*/ 563 w 1626"/>
                  <a:gd name="T27" fmla="*/ 3407 h 3408"/>
                  <a:gd name="T28" fmla="*/ 563 w 1626"/>
                  <a:gd name="T29" fmla="*/ 3407 h 3408"/>
                  <a:gd name="T30" fmla="*/ 719 w 1626"/>
                  <a:gd name="T31" fmla="*/ 3188 h 3408"/>
                  <a:gd name="T32" fmla="*/ 719 w 1626"/>
                  <a:gd name="T33" fmla="*/ 1875 h 3408"/>
                  <a:gd name="T34" fmla="*/ 813 w 1626"/>
                  <a:gd name="T35" fmla="*/ 1813 h 3408"/>
                  <a:gd name="T36" fmla="*/ 906 w 1626"/>
                  <a:gd name="T37" fmla="*/ 1875 h 3408"/>
                  <a:gd name="T38" fmla="*/ 906 w 1626"/>
                  <a:gd name="T39" fmla="*/ 3188 h 3408"/>
                  <a:gd name="T40" fmla="*/ 1062 w 1626"/>
                  <a:gd name="T41" fmla="*/ 3407 h 3408"/>
                  <a:gd name="T42" fmla="*/ 1062 w 1626"/>
                  <a:gd name="T43" fmla="*/ 3407 h 3408"/>
                  <a:gd name="T44" fmla="*/ 1250 w 1626"/>
                  <a:gd name="T45" fmla="*/ 3188 h 3408"/>
                  <a:gd name="T46" fmla="*/ 1250 w 1626"/>
                  <a:gd name="T47" fmla="*/ 1875 h 3408"/>
                  <a:gd name="T48" fmla="*/ 1250 w 1626"/>
                  <a:gd name="T49" fmla="*/ 1688 h 3408"/>
                  <a:gd name="T50" fmla="*/ 1250 w 1626"/>
                  <a:gd name="T51" fmla="*/ 625 h 3408"/>
                  <a:gd name="T52" fmla="*/ 1313 w 1626"/>
                  <a:gd name="T53" fmla="*/ 563 h 3408"/>
                  <a:gd name="T54" fmla="*/ 1344 w 1626"/>
                  <a:gd name="T55" fmla="*/ 625 h 3408"/>
                  <a:gd name="T56" fmla="*/ 1344 w 1626"/>
                  <a:gd name="T57" fmla="*/ 1500 h 3408"/>
                  <a:gd name="T58" fmla="*/ 1469 w 1626"/>
                  <a:gd name="T59" fmla="*/ 1625 h 3408"/>
                  <a:gd name="T60" fmla="*/ 1625 w 1626"/>
                  <a:gd name="T61" fmla="*/ 1500 h 3408"/>
                  <a:gd name="T62" fmla="*/ 1625 w 1626"/>
                  <a:gd name="T63" fmla="*/ 407 h 3408"/>
                  <a:gd name="T64" fmla="*/ 1250 w 1626"/>
                  <a:gd name="T65" fmla="*/ 0 h 3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26" h="3408">
                    <a:moveTo>
                      <a:pt x="1250" y="0"/>
                    </a:moveTo>
                    <a:lnTo>
                      <a:pt x="1250" y="0"/>
                    </a:lnTo>
                    <a:cubicBezTo>
                      <a:pt x="375" y="0"/>
                      <a:pt x="375" y="0"/>
                      <a:pt x="375" y="0"/>
                    </a:cubicBezTo>
                    <a:cubicBezTo>
                      <a:pt x="125" y="0"/>
                      <a:pt x="0" y="157"/>
                      <a:pt x="0" y="407"/>
                    </a:cubicBezTo>
                    <a:cubicBezTo>
                      <a:pt x="0" y="1500"/>
                      <a:pt x="0" y="1500"/>
                      <a:pt x="0" y="1500"/>
                    </a:cubicBezTo>
                    <a:cubicBezTo>
                      <a:pt x="0" y="1563"/>
                      <a:pt x="94" y="1625"/>
                      <a:pt x="156" y="1625"/>
                    </a:cubicBezTo>
                    <a:cubicBezTo>
                      <a:pt x="219" y="1625"/>
                      <a:pt x="281" y="1563"/>
                      <a:pt x="281" y="1500"/>
                    </a:cubicBezTo>
                    <a:cubicBezTo>
                      <a:pt x="281" y="1500"/>
                      <a:pt x="281" y="719"/>
                      <a:pt x="281" y="625"/>
                    </a:cubicBezTo>
                    <a:cubicBezTo>
                      <a:pt x="281" y="594"/>
                      <a:pt x="313" y="563"/>
                      <a:pt x="313" y="563"/>
                    </a:cubicBezTo>
                    <a:cubicBezTo>
                      <a:pt x="344" y="563"/>
                      <a:pt x="375" y="594"/>
                      <a:pt x="375" y="625"/>
                    </a:cubicBezTo>
                    <a:cubicBezTo>
                      <a:pt x="375" y="719"/>
                      <a:pt x="375" y="1375"/>
                      <a:pt x="375" y="1688"/>
                    </a:cubicBezTo>
                    <a:cubicBezTo>
                      <a:pt x="375" y="1875"/>
                      <a:pt x="375" y="1875"/>
                      <a:pt x="375" y="1875"/>
                    </a:cubicBezTo>
                    <a:cubicBezTo>
                      <a:pt x="375" y="3188"/>
                      <a:pt x="375" y="3188"/>
                      <a:pt x="375" y="3188"/>
                    </a:cubicBezTo>
                    <a:cubicBezTo>
                      <a:pt x="375" y="3282"/>
                      <a:pt x="469" y="3407"/>
                      <a:pt x="563" y="3407"/>
                    </a:cubicBezTo>
                    <a:lnTo>
                      <a:pt x="563" y="3407"/>
                    </a:lnTo>
                    <a:cubicBezTo>
                      <a:pt x="688" y="3407"/>
                      <a:pt x="719" y="3282"/>
                      <a:pt x="719" y="3188"/>
                    </a:cubicBezTo>
                    <a:cubicBezTo>
                      <a:pt x="719" y="3188"/>
                      <a:pt x="719" y="1969"/>
                      <a:pt x="719" y="1875"/>
                    </a:cubicBezTo>
                    <a:cubicBezTo>
                      <a:pt x="719" y="1844"/>
                      <a:pt x="781" y="1813"/>
                      <a:pt x="813" y="1813"/>
                    </a:cubicBezTo>
                    <a:cubicBezTo>
                      <a:pt x="875" y="1813"/>
                      <a:pt x="906" y="1844"/>
                      <a:pt x="906" y="1875"/>
                    </a:cubicBezTo>
                    <a:cubicBezTo>
                      <a:pt x="906" y="1969"/>
                      <a:pt x="906" y="3188"/>
                      <a:pt x="906" y="3188"/>
                    </a:cubicBezTo>
                    <a:cubicBezTo>
                      <a:pt x="906" y="3282"/>
                      <a:pt x="969" y="3407"/>
                      <a:pt x="1062" y="3407"/>
                    </a:cubicBezTo>
                    <a:lnTo>
                      <a:pt x="1062" y="3407"/>
                    </a:lnTo>
                    <a:cubicBezTo>
                      <a:pt x="1156" y="3407"/>
                      <a:pt x="1250" y="3282"/>
                      <a:pt x="1250" y="3188"/>
                    </a:cubicBezTo>
                    <a:cubicBezTo>
                      <a:pt x="1250" y="1875"/>
                      <a:pt x="1250" y="1875"/>
                      <a:pt x="1250" y="1875"/>
                    </a:cubicBezTo>
                    <a:cubicBezTo>
                      <a:pt x="1250" y="1688"/>
                      <a:pt x="1250" y="1688"/>
                      <a:pt x="1250" y="1688"/>
                    </a:cubicBezTo>
                    <a:cubicBezTo>
                      <a:pt x="1250" y="1375"/>
                      <a:pt x="1250" y="719"/>
                      <a:pt x="1250" y="625"/>
                    </a:cubicBezTo>
                    <a:cubicBezTo>
                      <a:pt x="1250" y="594"/>
                      <a:pt x="1281" y="563"/>
                      <a:pt x="1313" y="563"/>
                    </a:cubicBezTo>
                    <a:cubicBezTo>
                      <a:pt x="1313" y="563"/>
                      <a:pt x="1344" y="594"/>
                      <a:pt x="1344" y="625"/>
                    </a:cubicBezTo>
                    <a:cubicBezTo>
                      <a:pt x="1344" y="719"/>
                      <a:pt x="1344" y="1500"/>
                      <a:pt x="1344" y="1500"/>
                    </a:cubicBezTo>
                    <a:cubicBezTo>
                      <a:pt x="1344" y="1563"/>
                      <a:pt x="1406" y="1625"/>
                      <a:pt x="1469" y="1625"/>
                    </a:cubicBezTo>
                    <a:cubicBezTo>
                      <a:pt x="1563" y="1625"/>
                      <a:pt x="1625" y="1563"/>
                      <a:pt x="1625" y="1500"/>
                    </a:cubicBezTo>
                    <a:cubicBezTo>
                      <a:pt x="1625" y="407"/>
                      <a:pt x="1625" y="407"/>
                      <a:pt x="1625" y="407"/>
                    </a:cubicBezTo>
                    <a:cubicBezTo>
                      <a:pt x="1625" y="157"/>
                      <a:pt x="1500" y="0"/>
                      <a:pt x="12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ŝľiďe"/>
              <p:cNvSpPr/>
              <p:nvPr/>
            </p:nvSpPr>
            <p:spPr bwMode="auto">
              <a:xfrm>
                <a:off x="1185863" y="1212850"/>
                <a:ext cx="225425" cy="225425"/>
              </a:xfrm>
              <a:custGeom>
                <a:avLst/>
                <a:gdLst>
                  <a:gd name="T0" fmla="*/ 313 w 626"/>
                  <a:gd name="T1" fmla="*/ 0 h 626"/>
                  <a:gd name="T2" fmla="*/ 313 w 626"/>
                  <a:gd name="T3" fmla="*/ 0 h 626"/>
                  <a:gd name="T4" fmla="*/ 0 w 626"/>
                  <a:gd name="T5" fmla="*/ 312 h 626"/>
                  <a:gd name="T6" fmla="*/ 313 w 626"/>
                  <a:gd name="T7" fmla="*/ 625 h 626"/>
                  <a:gd name="T8" fmla="*/ 625 w 626"/>
                  <a:gd name="T9" fmla="*/ 312 h 626"/>
                  <a:gd name="T10" fmla="*/ 313 w 626"/>
                  <a:gd name="T11" fmla="*/ 0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6" h="626">
                    <a:moveTo>
                      <a:pt x="313" y="0"/>
                    </a:moveTo>
                    <a:lnTo>
                      <a:pt x="313" y="0"/>
                    </a:lnTo>
                    <a:cubicBezTo>
                      <a:pt x="156" y="0"/>
                      <a:pt x="0" y="156"/>
                      <a:pt x="0" y="312"/>
                    </a:cubicBezTo>
                    <a:cubicBezTo>
                      <a:pt x="0" y="500"/>
                      <a:pt x="156" y="625"/>
                      <a:pt x="313" y="625"/>
                    </a:cubicBezTo>
                    <a:cubicBezTo>
                      <a:pt x="500" y="625"/>
                      <a:pt x="625" y="500"/>
                      <a:pt x="625" y="312"/>
                    </a:cubicBezTo>
                    <a:cubicBezTo>
                      <a:pt x="625" y="156"/>
                      <a:pt x="500" y="0"/>
                      <a:pt x="313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7" name="矩形 106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08" name="矩形 107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09" name="矩形 108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10" name="矩形 109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3174" y="1745330"/>
          <a:ext cx="11265652" cy="4204362"/>
        </p:xfrm>
        <a:graphic>
          <a:graphicData uri="http://schemas.openxmlformats.org/drawingml/2006/table">
            <a:tbl>
              <a:tblPr/>
              <a:tblGrid>
                <a:gridCol w="2190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7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70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县级市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人口数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乡镇数量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渠道网点数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昌宁县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346888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165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242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龙陵县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280001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陇川县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183336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147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3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大理州</a:t>
                      </a:r>
                    </a:p>
                  </a:txBody>
                  <a:tcPr marL="7373" marR="7373" marT="7374" marB="0"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1013553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179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2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418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永德县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373277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149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河口瑶族自治县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105621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景东彝族自治县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363004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富源县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729628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46308135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1184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9614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19864</a:t>
                      </a:r>
                    </a:p>
                  </a:txBody>
                  <a:tcPr marL="7373" marR="7373" marT="73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上箭头标注 8"/>
          <p:cNvSpPr/>
          <p:nvPr/>
        </p:nvSpPr>
        <p:spPr>
          <a:xfrm>
            <a:off x="4358389" y="3737783"/>
            <a:ext cx="5086057" cy="2044993"/>
          </a:xfrm>
          <a:prstGeom prst="upArrowCallou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依据网点数量配置人员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3174" y="77286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第一步：网点梳理</a:t>
            </a:r>
          </a:p>
        </p:txBody>
      </p:sp>
      <p:sp>
        <p:nvSpPr>
          <p:cNvPr id="10" name="矩形 9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1" name="矩形 10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2" name="矩形 11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3" name="矩形 12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 bwMode="auto">
          <a:xfrm>
            <a:off x="1050325" y="1346533"/>
            <a:ext cx="82915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defTabSz="3429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cap="all">
                <a:solidFill>
                  <a:schemeClr val="tx1"/>
                </a:solidFill>
                <a:latin typeface="+mj-lt"/>
                <a:ea typeface="+mj-ea"/>
                <a:cs typeface="宋体" panose="02010600030101010101" pitchFamily="2" charset="-122"/>
              </a:defRPr>
            </a:lvl1pPr>
            <a:lvl2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3429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6858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0287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3716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429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网点扫街调查表举例：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050325" y="1865276"/>
          <a:ext cx="9910128" cy="4207128"/>
        </p:xfrm>
        <a:graphic>
          <a:graphicData uri="http://schemas.openxmlformats.org/drawingml/2006/table">
            <a:tbl>
              <a:tblPr/>
              <a:tblGrid>
                <a:gridCol w="619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1938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07560">
                <a:tc gridSpan="1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业务员：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40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星期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</a:t>
                      </a:r>
                      <a:endParaRPr lang="en-US" altLang="zh-CN" sz="1200" b="0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</a:t>
                      </a:r>
                      <a:endParaRPr lang="en-US" altLang="zh-CN" sz="1200" b="0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终端</a:t>
                      </a:r>
                      <a:endParaRPr lang="en-US" altLang="zh-CN" sz="1200" b="0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老板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电话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</a:t>
                      </a:r>
                      <a:endParaRPr lang="en-US" altLang="zh-CN" sz="1200" b="0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我司合作品类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4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防水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砂浆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美缝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卷材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胶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1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惠华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形象店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泰安路苍山路交叉口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1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顺心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分销店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吉昌路双鸳路交叉口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得利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好运来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妞妞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佳佳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惠惠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吉昌路下段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泰安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宏发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吉昌路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58571" y="64831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第一步：网点梳理</a:t>
            </a:r>
          </a:p>
        </p:txBody>
      </p:sp>
      <p:sp>
        <p:nvSpPr>
          <p:cNvPr id="9" name="矩形 8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0" name="矩形 9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1" name="矩形 10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2" name="矩形 11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 descr="C:\Users\Administrator\Desktop\大理州地图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0" t="12726" r="21641"/>
          <a:stretch>
            <a:fillRect/>
          </a:stretch>
        </p:blipFill>
        <p:spPr bwMode="auto">
          <a:xfrm>
            <a:off x="1178589" y="1712323"/>
            <a:ext cx="5337681" cy="4152029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065710" y="58124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第二步：</a:t>
            </a:r>
            <a:r>
              <a:rPr kumimoji="0" lang="zh-CN" alt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区块切分</a:t>
            </a: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78589" y="1481490"/>
            <a:ext cx="5337681" cy="461665"/>
          </a:xfrm>
          <a:prstGeom prst="rect">
            <a:avLst/>
          </a:prstGeom>
          <a:solidFill>
            <a:srgbClr val="C00000"/>
          </a:solidFill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bg1"/>
                </a:solidFill>
              </a:rPr>
              <a:t>划定每位业务人员的区域</a:t>
            </a:r>
          </a:p>
        </p:txBody>
      </p:sp>
      <p:sp>
        <p:nvSpPr>
          <p:cNvPr id="7" name="流程图: 合并 8"/>
          <p:cNvSpPr/>
          <p:nvPr>
            <p:custDataLst>
              <p:tags r:id="rId1"/>
            </p:custDataLst>
          </p:nvPr>
        </p:nvSpPr>
        <p:spPr>
          <a:xfrm rot="16200000">
            <a:off x="5283815" y="3547310"/>
            <a:ext cx="4086488" cy="416511"/>
          </a:xfrm>
          <a:prstGeom prst="flowChartMerge">
            <a:avLst/>
          </a:prstGeom>
          <a:gradFill>
            <a:gsLst>
              <a:gs pos="0">
                <a:srgbClr val="E30000">
                  <a:alpha val="0"/>
                </a:srgbClr>
              </a:gs>
              <a:gs pos="93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圆角矩形 7"/>
          <p:cNvSpPr/>
          <p:nvPr/>
        </p:nvSpPr>
        <p:spPr>
          <a:xfrm>
            <a:off x="7851648" y="2621280"/>
            <a:ext cx="3352800" cy="914400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rgbClr val="C00000"/>
                </a:solidFill>
              </a:rPr>
              <a:t>拜访区域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851648" y="3907537"/>
            <a:ext cx="3352800" cy="914400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rgbClr val="C00000"/>
                </a:solidFill>
              </a:rPr>
              <a:t>车销区域</a:t>
            </a:r>
          </a:p>
        </p:txBody>
      </p:sp>
      <p:sp>
        <p:nvSpPr>
          <p:cNvPr id="10" name="矩形 9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1" name="矩形 10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2" name="矩形 11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3" name="矩形 12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 descr="C:\Users\Administrator\Desktop\I@NZGMN482{PE(0K2X)[VT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05" y="1708844"/>
            <a:ext cx="9382877" cy="453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106905" y="879565"/>
            <a:ext cx="835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第三步：做规划 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确定月线路（每位业务人员</a:t>
            </a:r>
            <a:r>
              <a:rPr kumimoji="1" lang="zh-CN" alt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2800" b="1" i="0" u="none" strike="noStrike" kern="120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user_125737"/>
          <p:cNvSpPr>
            <a:spLocks noChangeAspect="1"/>
          </p:cNvSpPr>
          <p:nvPr/>
        </p:nvSpPr>
        <p:spPr>
          <a:xfrm>
            <a:off x="9309419" y="866866"/>
            <a:ext cx="609685" cy="535919"/>
          </a:xfrm>
          <a:custGeom>
            <a:avLst/>
            <a:gdLst>
              <a:gd name="connsiteX0" fmla="*/ 545691 w 609473"/>
              <a:gd name="connsiteY0" fmla="*/ 364574 h 535733"/>
              <a:gd name="connsiteX1" fmla="*/ 475455 w 609473"/>
              <a:gd name="connsiteY1" fmla="*/ 434700 h 535733"/>
              <a:gd name="connsiteX2" fmla="*/ 447399 w 609473"/>
              <a:gd name="connsiteY2" fmla="*/ 406687 h 535733"/>
              <a:gd name="connsiteX3" fmla="*/ 424112 w 609473"/>
              <a:gd name="connsiteY3" fmla="*/ 429937 h 535733"/>
              <a:gd name="connsiteX4" fmla="*/ 452168 w 609473"/>
              <a:gd name="connsiteY4" fmla="*/ 457950 h 535733"/>
              <a:gd name="connsiteX5" fmla="*/ 475455 w 609473"/>
              <a:gd name="connsiteY5" fmla="*/ 481201 h 535733"/>
              <a:gd name="connsiteX6" fmla="*/ 498743 w 609473"/>
              <a:gd name="connsiteY6" fmla="*/ 457950 h 535733"/>
              <a:gd name="connsiteX7" fmla="*/ 568978 w 609473"/>
              <a:gd name="connsiteY7" fmla="*/ 387825 h 535733"/>
              <a:gd name="connsiteX8" fmla="*/ 496498 w 609473"/>
              <a:gd name="connsiteY8" fmla="*/ 310135 h 535733"/>
              <a:gd name="connsiteX9" fmla="*/ 609473 w 609473"/>
              <a:gd name="connsiteY9" fmla="*/ 422934 h 535733"/>
              <a:gd name="connsiteX10" fmla="*/ 496498 w 609473"/>
              <a:gd name="connsiteY10" fmla="*/ 535733 h 535733"/>
              <a:gd name="connsiteX11" fmla="*/ 383523 w 609473"/>
              <a:gd name="connsiteY11" fmla="*/ 422934 h 535733"/>
              <a:gd name="connsiteX12" fmla="*/ 496498 w 609473"/>
              <a:gd name="connsiteY12" fmla="*/ 310135 h 535733"/>
              <a:gd name="connsiteX13" fmla="*/ 237429 w 609473"/>
              <a:gd name="connsiteY13" fmla="*/ 0 h 535733"/>
              <a:gd name="connsiteX14" fmla="*/ 248370 w 609473"/>
              <a:gd name="connsiteY14" fmla="*/ 0 h 535733"/>
              <a:gd name="connsiteX15" fmla="*/ 259311 w 609473"/>
              <a:gd name="connsiteY15" fmla="*/ 0 h 535733"/>
              <a:gd name="connsiteX16" fmla="*/ 351327 w 609473"/>
              <a:gd name="connsiteY16" fmla="*/ 91888 h 535733"/>
              <a:gd name="connsiteX17" fmla="*/ 351327 w 609473"/>
              <a:gd name="connsiteY17" fmla="*/ 193861 h 535733"/>
              <a:gd name="connsiteX18" fmla="*/ 330754 w 609473"/>
              <a:gd name="connsiteY18" fmla="*/ 232054 h 535733"/>
              <a:gd name="connsiteX19" fmla="*/ 330754 w 609473"/>
              <a:gd name="connsiteY19" fmla="*/ 330479 h 535733"/>
              <a:gd name="connsiteX20" fmla="*/ 333279 w 609473"/>
              <a:gd name="connsiteY20" fmla="*/ 334588 h 535733"/>
              <a:gd name="connsiteX21" fmla="*/ 367224 w 609473"/>
              <a:gd name="connsiteY21" fmla="*/ 352518 h 535733"/>
              <a:gd name="connsiteX22" fmla="*/ 349270 w 609473"/>
              <a:gd name="connsiteY22" fmla="*/ 422928 h 535733"/>
              <a:gd name="connsiteX23" fmla="*/ 392379 w 609473"/>
              <a:gd name="connsiteY23" fmla="*/ 526955 h 535733"/>
              <a:gd name="connsiteX24" fmla="*/ 402011 w 609473"/>
              <a:gd name="connsiteY24" fmla="*/ 535733 h 535733"/>
              <a:gd name="connsiteX25" fmla="*/ 248276 w 609473"/>
              <a:gd name="connsiteY25" fmla="*/ 535733 h 535733"/>
              <a:gd name="connsiteX26" fmla="*/ 0 w 609473"/>
              <a:gd name="connsiteY26" fmla="*/ 535733 h 535733"/>
              <a:gd name="connsiteX27" fmla="*/ 0 w 609473"/>
              <a:gd name="connsiteY27" fmla="*/ 465883 h 535733"/>
              <a:gd name="connsiteX28" fmla="*/ 17954 w 609473"/>
              <a:gd name="connsiteY28" fmla="*/ 427690 h 535733"/>
              <a:gd name="connsiteX29" fmla="*/ 163460 w 609473"/>
              <a:gd name="connsiteY29" fmla="*/ 334588 h 535733"/>
              <a:gd name="connsiteX30" fmla="*/ 165985 w 609473"/>
              <a:gd name="connsiteY30" fmla="*/ 330479 h 535733"/>
              <a:gd name="connsiteX31" fmla="*/ 165985 w 609473"/>
              <a:gd name="connsiteY31" fmla="*/ 232054 h 535733"/>
              <a:gd name="connsiteX32" fmla="*/ 145412 w 609473"/>
              <a:gd name="connsiteY32" fmla="*/ 193861 h 535733"/>
              <a:gd name="connsiteX33" fmla="*/ 145412 w 609473"/>
              <a:gd name="connsiteY33" fmla="*/ 91888 h 535733"/>
              <a:gd name="connsiteX34" fmla="*/ 237429 w 609473"/>
              <a:gd name="connsiteY34" fmla="*/ 0 h 53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9473" h="535733">
                <a:moveTo>
                  <a:pt x="545691" y="364574"/>
                </a:moveTo>
                <a:lnTo>
                  <a:pt x="475455" y="434700"/>
                </a:lnTo>
                <a:lnTo>
                  <a:pt x="447399" y="406687"/>
                </a:lnTo>
                <a:lnTo>
                  <a:pt x="424112" y="429937"/>
                </a:lnTo>
                <a:lnTo>
                  <a:pt x="452168" y="457950"/>
                </a:lnTo>
                <a:lnTo>
                  <a:pt x="475455" y="481201"/>
                </a:lnTo>
                <a:lnTo>
                  <a:pt x="498743" y="457950"/>
                </a:lnTo>
                <a:lnTo>
                  <a:pt x="568978" y="387825"/>
                </a:lnTo>
                <a:close/>
                <a:moveTo>
                  <a:pt x="496498" y="310135"/>
                </a:moveTo>
                <a:cubicBezTo>
                  <a:pt x="558971" y="310135"/>
                  <a:pt x="609473" y="360745"/>
                  <a:pt x="609473" y="422934"/>
                </a:cubicBezTo>
                <a:cubicBezTo>
                  <a:pt x="609473" y="485216"/>
                  <a:pt x="558877" y="535733"/>
                  <a:pt x="496498" y="535733"/>
                </a:cubicBezTo>
                <a:cubicBezTo>
                  <a:pt x="434212" y="535733"/>
                  <a:pt x="383523" y="485216"/>
                  <a:pt x="383523" y="422934"/>
                </a:cubicBezTo>
                <a:cubicBezTo>
                  <a:pt x="383523" y="360745"/>
                  <a:pt x="434212" y="310135"/>
                  <a:pt x="496498" y="310135"/>
                </a:cubicBezTo>
                <a:close/>
                <a:moveTo>
                  <a:pt x="237429" y="0"/>
                </a:moveTo>
                <a:lnTo>
                  <a:pt x="248370" y="0"/>
                </a:lnTo>
                <a:lnTo>
                  <a:pt x="259311" y="0"/>
                </a:lnTo>
                <a:cubicBezTo>
                  <a:pt x="310182" y="0"/>
                  <a:pt x="351327" y="41181"/>
                  <a:pt x="351327" y="91888"/>
                </a:cubicBezTo>
                <a:lnTo>
                  <a:pt x="351327" y="193861"/>
                </a:lnTo>
                <a:cubicBezTo>
                  <a:pt x="351327" y="209829"/>
                  <a:pt x="343098" y="223837"/>
                  <a:pt x="330754" y="232054"/>
                </a:cubicBezTo>
                <a:lnTo>
                  <a:pt x="330754" y="330479"/>
                </a:lnTo>
                <a:cubicBezTo>
                  <a:pt x="330754" y="332160"/>
                  <a:pt x="331689" y="333841"/>
                  <a:pt x="333279" y="334588"/>
                </a:cubicBezTo>
                <a:cubicBezTo>
                  <a:pt x="338422" y="337016"/>
                  <a:pt x="350579" y="343179"/>
                  <a:pt x="367224" y="352518"/>
                </a:cubicBezTo>
                <a:cubicBezTo>
                  <a:pt x="355442" y="373902"/>
                  <a:pt x="349270" y="397901"/>
                  <a:pt x="349270" y="422928"/>
                </a:cubicBezTo>
                <a:cubicBezTo>
                  <a:pt x="349270" y="462148"/>
                  <a:pt x="364606" y="499127"/>
                  <a:pt x="392379" y="526955"/>
                </a:cubicBezTo>
                <a:cubicBezTo>
                  <a:pt x="395465" y="530037"/>
                  <a:pt x="398645" y="533025"/>
                  <a:pt x="402011" y="535733"/>
                </a:cubicBezTo>
                <a:lnTo>
                  <a:pt x="248276" y="535733"/>
                </a:lnTo>
                <a:lnTo>
                  <a:pt x="0" y="535733"/>
                </a:lnTo>
                <a:lnTo>
                  <a:pt x="0" y="465883"/>
                </a:lnTo>
                <a:cubicBezTo>
                  <a:pt x="0" y="451129"/>
                  <a:pt x="6452" y="437028"/>
                  <a:pt x="17954" y="427690"/>
                </a:cubicBezTo>
                <a:cubicBezTo>
                  <a:pt x="81169" y="375770"/>
                  <a:pt x="149340" y="341405"/>
                  <a:pt x="163460" y="334588"/>
                </a:cubicBezTo>
                <a:cubicBezTo>
                  <a:pt x="164956" y="333841"/>
                  <a:pt x="165985" y="332160"/>
                  <a:pt x="165985" y="330479"/>
                </a:cubicBezTo>
                <a:lnTo>
                  <a:pt x="165985" y="232054"/>
                </a:lnTo>
                <a:cubicBezTo>
                  <a:pt x="153641" y="223837"/>
                  <a:pt x="145412" y="209829"/>
                  <a:pt x="145412" y="193861"/>
                </a:cubicBezTo>
                <a:lnTo>
                  <a:pt x="145412" y="91888"/>
                </a:lnTo>
                <a:cubicBezTo>
                  <a:pt x="145412" y="41088"/>
                  <a:pt x="186651" y="0"/>
                  <a:pt x="2374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9" name="矩形 8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0" name="矩形 9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1" name="矩形 10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 descr="C:\Users\Administrator\Desktop\洱源县地图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13" y="2067747"/>
            <a:ext cx="3976676" cy="423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/>
          <p:cNvSpPr txBox="1"/>
          <p:nvPr/>
        </p:nvSpPr>
        <p:spPr bwMode="auto">
          <a:xfrm>
            <a:off x="1070812" y="1375729"/>
            <a:ext cx="49276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defTabSz="3429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cap="all">
                <a:solidFill>
                  <a:schemeClr val="tx1"/>
                </a:solidFill>
                <a:latin typeface="+mj-lt"/>
                <a:ea typeface="+mj-ea"/>
                <a:cs typeface="宋体" panose="02010600030101010101" pitchFamily="2" charset="-122"/>
              </a:defRPr>
            </a:lvl1pPr>
            <a:lvl2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3429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6858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0287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3716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0" lang="zh-CN" altLang="en-US" sz="2000" b="0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划分区块确定周线路举例：洱源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路线拜访</a:t>
            </a:r>
          </a:p>
        </p:txBody>
      </p:sp>
      <p:sp>
        <p:nvSpPr>
          <p:cNvPr id="2" name="五角星 1"/>
          <p:cNvSpPr/>
          <p:nvPr/>
        </p:nvSpPr>
        <p:spPr>
          <a:xfrm>
            <a:off x="4119699" y="5582380"/>
            <a:ext cx="598605" cy="434138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user_125737"/>
          <p:cNvSpPr>
            <a:spLocks noChangeAspect="1"/>
          </p:cNvSpPr>
          <p:nvPr/>
        </p:nvSpPr>
        <p:spPr>
          <a:xfrm>
            <a:off x="5949698" y="1318841"/>
            <a:ext cx="473719" cy="400110"/>
          </a:xfrm>
          <a:custGeom>
            <a:avLst/>
            <a:gdLst>
              <a:gd name="connsiteX0" fmla="*/ 545691 w 609473"/>
              <a:gd name="connsiteY0" fmla="*/ 364574 h 535733"/>
              <a:gd name="connsiteX1" fmla="*/ 475455 w 609473"/>
              <a:gd name="connsiteY1" fmla="*/ 434700 h 535733"/>
              <a:gd name="connsiteX2" fmla="*/ 447399 w 609473"/>
              <a:gd name="connsiteY2" fmla="*/ 406687 h 535733"/>
              <a:gd name="connsiteX3" fmla="*/ 424112 w 609473"/>
              <a:gd name="connsiteY3" fmla="*/ 429937 h 535733"/>
              <a:gd name="connsiteX4" fmla="*/ 452168 w 609473"/>
              <a:gd name="connsiteY4" fmla="*/ 457950 h 535733"/>
              <a:gd name="connsiteX5" fmla="*/ 475455 w 609473"/>
              <a:gd name="connsiteY5" fmla="*/ 481201 h 535733"/>
              <a:gd name="connsiteX6" fmla="*/ 498743 w 609473"/>
              <a:gd name="connsiteY6" fmla="*/ 457950 h 535733"/>
              <a:gd name="connsiteX7" fmla="*/ 568978 w 609473"/>
              <a:gd name="connsiteY7" fmla="*/ 387825 h 535733"/>
              <a:gd name="connsiteX8" fmla="*/ 496498 w 609473"/>
              <a:gd name="connsiteY8" fmla="*/ 310135 h 535733"/>
              <a:gd name="connsiteX9" fmla="*/ 609473 w 609473"/>
              <a:gd name="connsiteY9" fmla="*/ 422934 h 535733"/>
              <a:gd name="connsiteX10" fmla="*/ 496498 w 609473"/>
              <a:gd name="connsiteY10" fmla="*/ 535733 h 535733"/>
              <a:gd name="connsiteX11" fmla="*/ 383523 w 609473"/>
              <a:gd name="connsiteY11" fmla="*/ 422934 h 535733"/>
              <a:gd name="connsiteX12" fmla="*/ 496498 w 609473"/>
              <a:gd name="connsiteY12" fmla="*/ 310135 h 535733"/>
              <a:gd name="connsiteX13" fmla="*/ 237429 w 609473"/>
              <a:gd name="connsiteY13" fmla="*/ 0 h 535733"/>
              <a:gd name="connsiteX14" fmla="*/ 248370 w 609473"/>
              <a:gd name="connsiteY14" fmla="*/ 0 h 535733"/>
              <a:gd name="connsiteX15" fmla="*/ 259311 w 609473"/>
              <a:gd name="connsiteY15" fmla="*/ 0 h 535733"/>
              <a:gd name="connsiteX16" fmla="*/ 351327 w 609473"/>
              <a:gd name="connsiteY16" fmla="*/ 91888 h 535733"/>
              <a:gd name="connsiteX17" fmla="*/ 351327 w 609473"/>
              <a:gd name="connsiteY17" fmla="*/ 193861 h 535733"/>
              <a:gd name="connsiteX18" fmla="*/ 330754 w 609473"/>
              <a:gd name="connsiteY18" fmla="*/ 232054 h 535733"/>
              <a:gd name="connsiteX19" fmla="*/ 330754 w 609473"/>
              <a:gd name="connsiteY19" fmla="*/ 330479 h 535733"/>
              <a:gd name="connsiteX20" fmla="*/ 333279 w 609473"/>
              <a:gd name="connsiteY20" fmla="*/ 334588 h 535733"/>
              <a:gd name="connsiteX21" fmla="*/ 367224 w 609473"/>
              <a:gd name="connsiteY21" fmla="*/ 352518 h 535733"/>
              <a:gd name="connsiteX22" fmla="*/ 349270 w 609473"/>
              <a:gd name="connsiteY22" fmla="*/ 422928 h 535733"/>
              <a:gd name="connsiteX23" fmla="*/ 392379 w 609473"/>
              <a:gd name="connsiteY23" fmla="*/ 526955 h 535733"/>
              <a:gd name="connsiteX24" fmla="*/ 402011 w 609473"/>
              <a:gd name="connsiteY24" fmla="*/ 535733 h 535733"/>
              <a:gd name="connsiteX25" fmla="*/ 248276 w 609473"/>
              <a:gd name="connsiteY25" fmla="*/ 535733 h 535733"/>
              <a:gd name="connsiteX26" fmla="*/ 0 w 609473"/>
              <a:gd name="connsiteY26" fmla="*/ 535733 h 535733"/>
              <a:gd name="connsiteX27" fmla="*/ 0 w 609473"/>
              <a:gd name="connsiteY27" fmla="*/ 465883 h 535733"/>
              <a:gd name="connsiteX28" fmla="*/ 17954 w 609473"/>
              <a:gd name="connsiteY28" fmla="*/ 427690 h 535733"/>
              <a:gd name="connsiteX29" fmla="*/ 163460 w 609473"/>
              <a:gd name="connsiteY29" fmla="*/ 334588 h 535733"/>
              <a:gd name="connsiteX30" fmla="*/ 165985 w 609473"/>
              <a:gd name="connsiteY30" fmla="*/ 330479 h 535733"/>
              <a:gd name="connsiteX31" fmla="*/ 165985 w 609473"/>
              <a:gd name="connsiteY31" fmla="*/ 232054 h 535733"/>
              <a:gd name="connsiteX32" fmla="*/ 145412 w 609473"/>
              <a:gd name="connsiteY32" fmla="*/ 193861 h 535733"/>
              <a:gd name="connsiteX33" fmla="*/ 145412 w 609473"/>
              <a:gd name="connsiteY33" fmla="*/ 91888 h 535733"/>
              <a:gd name="connsiteX34" fmla="*/ 237429 w 609473"/>
              <a:gd name="connsiteY34" fmla="*/ 0 h 53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9473" h="535733">
                <a:moveTo>
                  <a:pt x="545691" y="364574"/>
                </a:moveTo>
                <a:lnTo>
                  <a:pt x="475455" y="434700"/>
                </a:lnTo>
                <a:lnTo>
                  <a:pt x="447399" y="406687"/>
                </a:lnTo>
                <a:lnTo>
                  <a:pt x="424112" y="429937"/>
                </a:lnTo>
                <a:lnTo>
                  <a:pt x="452168" y="457950"/>
                </a:lnTo>
                <a:lnTo>
                  <a:pt x="475455" y="481201"/>
                </a:lnTo>
                <a:lnTo>
                  <a:pt x="498743" y="457950"/>
                </a:lnTo>
                <a:lnTo>
                  <a:pt x="568978" y="387825"/>
                </a:lnTo>
                <a:close/>
                <a:moveTo>
                  <a:pt x="496498" y="310135"/>
                </a:moveTo>
                <a:cubicBezTo>
                  <a:pt x="558971" y="310135"/>
                  <a:pt x="609473" y="360745"/>
                  <a:pt x="609473" y="422934"/>
                </a:cubicBezTo>
                <a:cubicBezTo>
                  <a:pt x="609473" y="485216"/>
                  <a:pt x="558877" y="535733"/>
                  <a:pt x="496498" y="535733"/>
                </a:cubicBezTo>
                <a:cubicBezTo>
                  <a:pt x="434212" y="535733"/>
                  <a:pt x="383523" y="485216"/>
                  <a:pt x="383523" y="422934"/>
                </a:cubicBezTo>
                <a:cubicBezTo>
                  <a:pt x="383523" y="360745"/>
                  <a:pt x="434212" y="310135"/>
                  <a:pt x="496498" y="310135"/>
                </a:cubicBezTo>
                <a:close/>
                <a:moveTo>
                  <a:pt x="237429" y="0"/>
                </a:moveTo>
                <a:lnTo>
                  <a:pt x="248370" y="0"/>
                </a:lnTo>
                <a:lnTo>
                  <a:pt x="259311" y="0"/>
                </a:lnTo>
                <a:cubicBezTo>
                  <a:pt x="310182" y="0"/>
                  <a:pt x="351327" y="41181"/>
                  <a:pt x="351327" y="91888"/>
                </a:cubicBezTo>
                <a:lnTo>
                  <a:pt x="351327" y="193861"/>
                </a:lnTo>
                <a:cubicBezTo>
                  <a:pt x="351327" y="209829"/>
                  <a:pt x="343098" y="223837"/>
                  <a:pt x="330754" y="232054"/>
                </a:cubicBezTo>
                <a:lnTo>
                  <a:pt x="330754" y="330479"/>
                </a:lnTo>
                <a:cubicBezTo>
                  <a:pt x="330754" y="332160"/>
                  <a:pt x="331689" y="333841"/>
                  <a:pt x="333279" y="334588"/>
                </a:cubicBezTo>
                <a:cubicBezTo>
                  <a:pt x="338422" y="337016"/>
                  <a:pt x="350579" y="343179"/>
                  <a:pt x="367224" y="352518"/>
                </a:cubicBezTo>
                <a:cubicBezTo>
                  <a:pt x="355442" y="373902"/>
                  <a:pt x="349270" y="397901"/>
                  <a:pt x="349270" y="422928"/>
                </a:cubicBezTo>
                <a:cubicBezTo>
                  <a:pt x="349270" y="462148"/>
                  <a:pt x="364606" y="499127"/>
                  <a:pt x="392379" y="526955"/>
                </a:cubicBezTo>
                <a:cubicBezTo>
                  <a:pt x="395465" y="530037"/>
                  <a:pt x="398645" y="533025"/>
                  <a:pt x="402011" y="535733"/>
                </a:cubicBezTo>
                <a:lnTo>
                  <a:pt x="248276" y="535733"/>
                </a:lnTo>
                <a:lnTo>
                  <a:pt x="0" y="535733"/>
                </a:lnTo>
                <a:lnTo>
                  <a:pt x="0" y="465883"/>
                </a:lnTo>
                <a:cubicBezTo>
                  <a:pt x="0" y="451129"/>
                  <a:pt x="6452" y="437028"/>
                  <a:pt x="17954" y="427690"/>
                </a:cubicBezTo>
                <a:cubicBezTo>
                  <a:pt x="81169" y="375770"/>
                  <a:pt x="149340" y="341405"/>
                  <a:pt x="163460" y="334588"/>
                </a:cubicBezTo>
                <a:cubicBezTo>
                  <a:pt x="164956" y="333841"/>
                  <a:pt x="165985" y="332160"/>
                  <a:pt x="165985" y="330479"/>
                </a:cubicBezTo>
                <a:lnTo>
                  <a:pt x="165985" y="232054"/>
                </a:lnTo>
                <a:cubicBezTo>
                  <a:pt x="153641" y="223837"/>
                  <a:pt x="145412" y="209829"/>
                  <a:pt x="145412" y="193861"/>
                </a:cubicBezTo>
                <a:lnTo>
                  <a:pt x="145412" y="91888"/>
                </a:lnTo>
                <a:cubicBezTo>
                  <a:pt x="145412" y="41088"/>
                  <a:pt x="186651" y="0"/>
                  <a:pt x="2374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1070812" y="635780"/>
            <a:ext cx="7014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第三步：做规划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周路线</a:t>
            </a:r>
            <a:r>
              <a:rPr kumimoji="0" lang="zh-CN" alt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（每位业务人员</a:t>
            </a:r>
            <a:r>
              <a:rPr kumimoji="1" lang="zh-CN" alt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dirty="0"/>
          </a:p>
        </p:txBody>
      </p:sp>
      <p:sp>
        <p:nvSpPr>
          <p:cNvPr id="12" name="圆角矩形 11"/>
          <p:cNvSpPr/>
          <p:nvPr/>
        </p:nvSpPr>
        <p:spPr>
          <a:xfrm>
            <a:off x="3952439" y="5500745"/>
            <a:ext cx="933124" cy="597408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C00000"/>
                </a:solidFill>
              </a:rPr>
              <a:t>仓库</a:t>
            </a:r>
          </a:p>
        </p:txBody>
      </p:sp>
      <p:sp>
        <p:nvSpPr>
          <p:cNvPr id="13" name="流程图: 合并 8"/>
          <p:cNvSpPr/>
          <p:nvPr>
            <p:custDataLst>
              <p:tags r:id="rId1"/>
            </p:custDataLst>
          </p:nvPr>
        </p:nvSpPr>
        <p:spPr>
          <a:xfrm rot="16200000">
            <a:off x="3523202" y="3846653"/>
            <a:ext cx="4086488" cy="416511"/>
          </a:xfrm>
          <a:prstGeom prst="flowChartMerge">
            <a:avLst/>
          </a:prstGeom>
          <a:gradFill>
            <a:gsLst>
              <a:gs pos="0">
                <a:srgbClr val="E30000">
                  <a:alpha val="0"/>
                </a:srgbClr>
              </a:gs>
              <a:gs pos="93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文本框 14"/>
          <p:cNvSpPr txBox="1"/>
          <p:nvPr/>
        </p:nvSpPr>
        <p:spPr>
          <a:xfrm>
            <a:off x="6653223" y="2478190"/>
            <a:ext cx="4263097" cy="307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每周线路要考虑：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、乡镇远近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、网点均衡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、仓库远近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、每日路线的远点与近点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417300" y="2264930"/>
            <a:ext cx="4059935" cy="3579955"/>
          </a:xfrm>
          <a:prstGeom prst="roundRect">
            <a:avLst>
              <a:gd name="adj" fmla="val 5769"/>
            </a:avLst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9" name="矩形 18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20" name="矩形 19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21" name="矩形 20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38464" y="1347537"/>
            <a:ext cx="9769642" cy="4812631"/>
            <a:chOff x="0" y="1035050"/>
            <a:chExt cx="12192000" cy="5822950"/>
          </a:xfrm>
        </p:grpSpPr>
        <p:pic>
          <p:nvPicPr>
            <p:cNvPr id="115714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35050"/>
              <a:ext cx="12192000" cy="582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椭圆 1"/>
            <p:cNvSpPr/>
            <p:nvPr/>
          </p:nvSpPr>
          <p:spPr>
            <a:xfrm>
              <a:off x="1371600" y="3946525"/>
              <a:ext cx="293688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2879725" y="5207000"/>
              <a:ext cx="293688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054475" y="5916613"/>
              <a:ext cx="293688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849813" y="6353175"/>
              <a:ext cx="293687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340475" y="6437313"/>
              <a:ext cx="293688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7424738" y="6134100"/>
              <a:ext cx="293687" cy="300038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571038" y="5505450"/>
              <a:ext cx="293687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1577638" y="3881438"/>
              <a:ext cx="293687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1430000" y="2243138"/>
              <a:ext cx="293688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1136313" y="3062288"/>
              <a:ext cx="293687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9571038" y="4708525"/>
              <a:ext cx="293687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467600" y="5616575"/>
              <a:ext cx="293688" cy="300038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243763" y="4800600"/>
              <a:ext cx="295275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059613" y="4030663"/>
              <a:ext cx="293687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8093075" y="2986088"/>
              <a:ext cx="293688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322888" y="2836863"/>
              <a:ext cx="293687" cy="29845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2165350" y="4672013"/>
              <a:ext cx="293688" cy="300037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1" name="直接连接符 20"/>
            <p:cNvCxnSpPr>
              <a:stCxn id="2" idx="5"/>
              <a:endCxn id="20" idx="1"/>
            </p:cNvCxnSpPr>
            <p:nvPr/>
          </p:nvCxnSpPr>
          <p:spPr>
            <a:xfrm>
              <a:off x="1622425" y="4202113"/>
              <a:ext cx="585788" cy="5143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20" idx="4"/>
              <a:endCxn id="5" idx="2"/>
            </p:cNvCxnSpPr>
            <p:nvPr/>
          </p:nvCxnSpPr>
          <p:spPr>
            <a:xfrm>
              <a:off x="2311400" y="4972050"/>
              <a:ext cx="568325" cy="384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5" idx="5"/>
              <a:endCxn id="6" idx="2"/>
            </p:cNvCxnSpPr>
            <p:nvPr/>
          </p:nvCxnSpPr>
          <p:spPr>
            <a:xfrm>
              <a:off x="3130550" y="5461000"/>
              <a:ext cx="923925" cy="6048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6" idx="5"/>
              <a:endCxn id="7" idx="2"/>
            </p:cNvCxnSpPr>
            <p:nvPr/>
          </p:nvCxnSpPr>
          <p:spPr>
            <a:xfrm>
              <a:off x="4305300" y="6170613"/>
              <a:ext cx="544513" cy="33178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7" idx="6"/>
              <a:endCxn id="8" idx="2"/>
            </p:cNvCxnSpPr>
            <p:nvPr/>
          </p:nvCxnSpPr>
          <p:spPr>
            <a:xfrm>
              <a:off x="5143500" y="6502400"/>
              <a:ext cx="1196975" cy="841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8" idx="7"/>
              <a:endCxn id="9" idx="4"/>
            </p:cNvCxnSpPr>
            <p:nvPr/>
          </p:nvCxnSpPr>
          <p:spPr>
            <a:xfrm flipV="1">
              <a:off x="6591300" y="6434138"/>
              <a:ext cx="979488" cy="4603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85" name="直接连接符 118784"/>
            <p:cNvCxnSpPr>
              <a:stCxn id="9" idx="6"/>
              <a:endCxn id="10" idx="4"/>
            </p:cNvCxnSpPr>
            <p:nvPr/>
          </p:nvCxnSpPr>
          <p:spPr>
            <a:xfrm flipV="1">
              <a:off x="7718425" y="5803900"/>
              <a:ext cx="2000250" cy="4794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88" name="直接连接符 118787"/>
            <p:cNvCxnSpPr>
              <a:stCxn id="10" idx="6"/>
              <a:endCxn id="11" idx="4"/>
            </p:cNvCxnSpPr>
            <p:nvPr/>
          </p:nvCxnSpPr>
          <p:spPr>
            <a:xfrm flipV="1">
              <a:off x="9864725" y="4179888"/>
              <a:ext cx="1858963" cy="147478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90" name="直接连接符 118789"/>
            <p:cNvCxnSpPr>
              <a:stCxn id="11" idx="0"/>
              <a:endCxn id="12" idx="5"/>
            </p:cNvCxnSpPr>
            <p:nvPr/>
          </p:nvCxnSpPr>
          <p:spPr>
            <a:xfrm flipH="1" flipV="1">
              <a:off x="11680825" y="2498725"/>
              <a:ext cx="42863" cy="138271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93" name="直接连接符 118792"/>
            <p:cNvCxnSpPr>
              <a:stCxn id="12" idx="2"/>
              <a:endCxn id="13" idx="0"/>
            </p:cNvCxnSpPr>
            <p:nvPr/>
          </p:nvCxnSpPr>
          <p:spPr>
            <a:xfrm flipH="1">
              <a:off x="11282363" y="2392363"/>
              <a:ext cx="147637" cy="6699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95" name="直接连接符 118794"/>
            <p:cNvCxnSpPr>
              <a:stCxn id="13" idx="3"/>
              <a:endCxn id="14" idx="7"/>
            </p:cNvCxnSpPr>
            <p:nvPr/>
          </p:nvCxnSpPr>
          <p:spPr>
            <a:xfrm flipH="1">
              <a:off x="9821863" y="3317875"/>
              <a:ext cx="1357312" cy="14351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97" name="直接连接符 118796"/>
            <p:cNvCxnSpPr>
              <a:stCxn id="14" idx="2"/>
              <a:endCxn id="15" idx="6"/>
            </p:cNvCxnSpPr>
            <p:nvPr/>
          </p:nvCxnSpPr>
          <p:spPr>
            <a:xfrm flipH="1">
              <a:off x="7761288" y="4857750"/>
              <a:ext cx="1809750" cy="9080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99" name="直接连接符 118798"/>
            <p:cNvCxnSpPr>
              <a:stCxn id="15" idx="0"/>
              <a:endCxn id="16" idx="4"/>
            </p:cNvCxnSpPr>
            <p:nvPr/>
          </p:nvCxnSpPr>
          <p:spPr>
            <a:xfrm flipH="1" flipV="1">
              <a:off x="7391400" y="5099050"/>
              <a:ext cx="223838" cy="51752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01" name="直接连接符 118800"/>
            <p:cNvCxnSpPr>
              <a:stCxn id="16" idx="0"/>
              <a:endCxn id="17" idx="5"/>
            </p:cNvCxnSpPr>
            <p:nvPr/>
          </p:nvCxnSpPr>
          <p:spPr>
            <a:xfrm flipH="1" flipV="1">
              <a:off x="7310438" y="4286250"/>
              <a:ext cx="80962" cy="5143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03" name="直接连接符 118802"/>
            <p:cNvCxnSpPr>
              <a:stCxn id="17" idx="7"/>
              <a:endCxn id="18" idx="4"/>
            </p:cNvCxnSpPr>
            <p:nvPr/>
          </p:nvCxnSpPr>
          <p:spPr>
            <a:xfrm flipV="1">
              <a:off x="7310438" y="3284538"/>
              <a:ext cx="930275" cy="7905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05" name="直接连接符 118804"/>
            <p:cNvCxnSpPr>
              <a:stCxn id="18" idx="1"/>
              <a:endCxn id="19" idx="6"/>
            </p:cNvCxnSpPr>
            <p:nvPr/>
          </p:nvCxnSpPr>
          <p:spPr>
            <a:xfrm flipH="1" flipV="1">
              <a:off x="5616575" y="2986088"/>
              <a:ext cx="2519363" cy="4286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/>
          <p:cNvSpPr txBox="1"/>
          <p:nvPr/>
        </p:nvSpPr>
        <p:spPr>
          <a:xfrm>
            <a:off x="921470" y="591988"/>
            <a:ext cx="6426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第三步：做规划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0" lang="zh-CN" altLang="en-US" sz="24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制定日线路（每位业务人员</a:t>
            </a:r>
            <a:r>
              <a:rPr kumimoji="1" lang="zh-CN" altLang="en-US" sz="24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2400" b="1" i="0" u="none" strike="noStrike" kern="1200" cap="all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user_125737"/>
          <p:cNvSpPr>
            <a:spLocks noChangeAspect="1"/>
          </p:cNvSpPr>
          <p:nvPr/>
        </p:nvSpPr>
        <p:spPr>
          <a:xfrm>
            <a:off x="7423573" y="505891"/>
            <a:ext cx="609685" cy="535919"/>
          </a:xfrm>
          <a:custGeom>
            <a:avLst/>
            <a:gdLst>
              <a:gd name="connsiteX0" fmla="*/ 545691 w 609473"/>
              <a:gd name="connsiteY0" fmla="*/ 364574 h 535733"/>
              <a:gd name="connsiteX1" fmla="*/ 475455 w 609473"/>
              <a:gd name="connsiteY1" fmla="*/ 434700 h 535733"/>
              <a:gd name="connsiteX2" fmla="*/ 447399 w 609473"/>
              <a:gd name="connsiteY2" fmla="*/ 406687 h 535733"/>
              <a:gd name="connsiteX3" fmla="*/ 424112 w 609473"/>
              <a:gd name="connsiteY3" fmla="*/ 429937 h 535733"/>
              <a:gd name="connsiteX4" fmla="*/ 452168 w 609473"/>
              <a:gd name="connsiteY4" fmla="*/ 457950 h 535733"/>
              <a:gd name="connsiteX5" fmla="*/ 475455 w 609473"/>
              <a:gd name="connsiteY5" fmla="*/ 481201 h 535733"/>
              <a:gd name="connsiteX6" fmla="*/ 498743 w 609473"/>
              <a:gd name="connsiteY6" fmla="*/ 457950 h 535733"/>
              <a:gd name="connsiteX7" fmla="*/ 568978 w 609473"/>
              <a:gd name="connsiteY7" fmla="*/ 387825 h 535733"/>
              <a:gd name="connsiteX8" fmla="*/ 496498 w 609473"/>
              <a:gd name="connsiteY8" fmla="*/ 310135 h 535733"/>
              <a:gd name="connsiteX9" fmla="*/ 609473 w 609473"/>
              <a:gd name="connsiteY9" fmla="*/ 422934 h 535733"/>
              <a:gd name="connsiteX10" fmla="*/ 496498 w 609473"/>
              <a:gd name="connsiteY10" fmla="*/ 535733 h 535733"/>
              <a:gd name="connsiteX11" fmla="*/ 383523 w 609473"/>
              <a:gd name="connsiteY11" fmla="*/ 422934 h 535733"/>
              <a:gd name="connsiteX12" fmla="*/ 496498 w 609473"/>
              <a:gd name="connsiteY12" fmla="*/ 310135 h 535733"/>
              <a:gd name="connsiteX13" fmla="*/ 237429 w 609473"/>
              <a:gd name="connsiteY13" fmla="*/ 0 h 535733"/>
              <a:gd name="connsiteX14" fmla="*/ 248370 w 609473"/>
              <a:gd name="connsiteY14" fmla="*/ 0 h 535733"/>
              <a:gd name="connsiteX15" fmla="*/ 259311 w 609473"/>
              <a:gd name="connsiteY15" fmla="*/ 0 h 535733"/>
              <a:gd name="connsiteX16" fmla="*/ 351327 w 609473"/>
              <a:gd name="connsiteY16" fmla="*/ 91888 h 535733"/>
              <a:gd name="connsiteX17" fmla="*/ 351327 w 609473"/>
              <a:gd name="connsiteY17" fmla="*/ 193861 h 535733"/>
              <a:gd name="connsiteX18" fmla="*/ 330754 w 609473"/>
              <a:gd name="connsiteY18" fmla="*/ 232054 h 535733"/>
              <a:gd name="connsiteX19" fmla="*/ 330754 w 609473"/>
              <a:gd name="connsiteY19" fmla="*/ 330479 h 535733"/>
              <a:gd name="connsiteX20" fmla="*/ 333279 w 609473"/>
              <a:gd name="connsiteY20" fmla="*/ 334588 h 535733"/>
              <a:gd name="connsiteX21" fmla="*/ 367224 w 609473"/>
              <a:gd name="connsiteY21" fmla="*/ 352518 h 535733"/>
              <a:gd name="connsiteX22" fmla="*/ 349270 w 609473"/>
              <a:gd name="connsiteY22" fmla="*/ 422928 h 535733"/>
              <a:gd name="connsiteX23" fmla="*/ 392379 w 609473"/>
              <a:gd name="connsiteY23" fmla="*/ 526955 h 535733"/>
              <a:gd name="connsiteX24" fmla="*/ 402011 w 609473"/>
              <a:gd name="connsiteY24" fmla="*/ 535733 h 535733"/>
              <a:gd name="connsiteX25" fmla="*/ 248276 w 609473"/>
              <a:gd name="connsiteY25" fmla="*/ 535733 h 535733"/>
              <a:gd name="connsiteX26" fmla="*/ 0 w 609473"/>
              <a:gd name="connsiteY26" fmla="*/ 535733 h 535733"/>
              <a:gd name="connsiteX27" fmla="*/ 0 w 609473"/>
              <a:gd name="connsiteY27" fmla="*/ 465883 h 535733"/>
              <a:gd name="connsiteX28" fmla="*/ 17954 w 609473"/>
              <a:gd name="connsiteY28" fmla="*/ 427690 h 535733"/>
              <a:gd name="connsiteX29" fmla="*/ 163460 w 609473"/>
              <a:gd name="connsiteY29" fmla="*/ 334588 h 535733"/>
              <a:gd name="connsiteX30" fmla="*/ 165985 w 609473"/>
              <a:gd name="connsiteY30" fmla="*/ 330479 h 535733"/>
              <a:gd name="connsiteX31" fmla="*/ 165985 w 609473"/>
              <a:gd name="connsiteY31" fmla="*/ 232054 h 535733"/>
              <a:gd name="connsiteX32" fmla="*/ 145412 w 609473"/>
              <a:gd name="connsiteY32" fmla="*/ 193861 h 535733"/>
              <a:gd name="connsiteX33" fmla="*/ 145412 w 609473"/>
              <a:gd name="connsiteY33" fmla="*/ 91888 h 535733"/>
              <a:gd name="connsiteX34" fmla="*/ 237429 w 609473"/>
              <a:gd name="connsiteY34" fmla="*/ 0 h 53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9473" h="535733">
                <a:moveTo>
                  <a:pt x="545691" y="364574"/>
                </a:moveTo>
                <a:lnTo>
                  <a:pt x="475455" y="434700"/>
                </a:lnTo>
                <a:lnTo>
                  <a:pt x="447399" y="406687"/>
                </a:lnTo>
                <a:lnTo>
                  <a:pt x="424112" y="429937"/>
                </a:lnTo>
                <a:lnTo>
                  <a:pt x="452168" y="457950"/>
                </a:lnTo>
                <a:lnTo>
                  <a:pt x="475455" y="481201"/>
                </a:lnTo>
                <a:lnTo>
                  <a:pt x="498743" y="457950"/>
                </a:lnTo>
                <a:lnTo>
                  <a:pt x="568978" y="387825"/>
                </a:lnTo>
                <a:close/>
                <a:moveTo>
                  <a:pt x="496498" y="310135"/>
                </a:moveTo>
                <a:cubicBezTo>
                  <a:pt x="558971" y="310135"/>
                  <a:pt x="609473" y="360745"/>
                  <a:pt x="609473" y="422934"/>
                </a:cubicBezTo>
                <a:cubicBezTo>
                  <a:pt x="609473" y="485216"/>
                  <a:pt x="558877" y="535733"/>
                  <a:pt x="496498" y="535733"/>
                </a:cubicBezTo>
                <a:cubicBezTo>
                  <a:pt x="434212" y="535733"/>
                  <a:pt x="383523" y="485216"/>
                  <a:pt x="383523" y="422934"/>
                </a:cubicBezTo>
                <a:cubicBezTo>
                  <a:pt x="383523" y="360745"/>
                  <a:pt x="434212" y="310135"/>
                  <a:pt x="496498" y="310135"/>
                </a:cubicBezTo>
                <a:close/>
                <a:moveTo>
                  <a:pt x="237429" y="0"/>
                </a:moveTo>
                <a:lnTo>
                  <a:pt x="248370" y="0"/>
                </a:lnTo>
                <a:lnTo>
                  <a:pt x="259311" y="0"/>
                </a:lnTo>
                <a:cubicBezTo>
                  <a:pt x="310182" y="0"/>
                  <a:pt x="351327" y="41181"/>
                  <a:pt x="351327" y="91888"/>
                </a:cubicBezTo>
                <a:lnTo>
                  <a:pt x="351327" y="193861"/>
                </a:lnTo>
                <a:cubicBezTo>
                  <a:pt x="351327" y="209829"/>
                  <a:pt x="343098" y="223837"/>
                  <a:pt x="330754" y="232054"/>
                </a:cubicBezTo>
                <a:lnTo>
                  <a:pt x="330754" y="330479"/>
                </a:lnTo>
                <a:cubicBezTo>
                  <a:pt x="330754" y="332160"/>
                  <a:pt x="331689" y="333841"/>
                  <a:pt x="333279" y="334588"/>
                </a:cubicBezTo>
                <a:cubicBezTo>
                  <a:pt x="338422" y="337016"/>
                  <a:pt x="350579" y="343179"/>
                  <a:pt x="367224" y="352518"/>
                </a:cubicBezTo>
                <a:cubicBezTo>
                  <a:pt x="355442" y="373902"/>
                  <a:pt x="349270" y="397901"/>
                  <a:pt x="349270" y="422928"/>
                </a:cubicBezTo>
                <a:cubicBezTo>
                  <a:pt x="349270" y="462148"/>
                  <a:pt x="364606" y="499127"/>
                  <a:pt x="392379" y="526955"/>
                </a:cubicBezTo>
                <a:cubicBezTo>
                  <a:pt x="395465" y="530037"/>
                  <a:pt x="398645" y="533025"/>
                  <a:pt x="402011" y="535733"/>
                </a:cubicBezTo>
                <a:lnTo>
                  <a:pt x="248276" y="535733"/>
                </a:lnTo>
                <a:lnTo>
                  <a:pt x="0" y="535733"/>
                </a:lnTo>
                <a:lnTo>
                  <a:pt x="0" y="465883"/>
                </a:lnTo>
                <a:cubicBezTo>
                  <a:pt x="0" y="451129"/>
                  <a:pt x="6452" y="437028"/>
                  <a:pt x="17954" y="427690"/>
                </a:cubicBezTo>
                <a:cubicBezTo>
                  <a:pt x="81169" y="375770"/>
                  <a:pt x="149340" y="341405"/>
                  <a:pt x="163460" y="334588"/>
                </a:cubicBezTo>
                <a:cubicBezTo>
                  <a:pt x="164956" y="333841"/>
                  <a:pt x="165985" y="332160"/>
                  <a:pt x="165985" y="330479"/>
                </a:cubicBezTo>
                <a:lnTo>
                  <a:pt x="165985" y="232054"/>
                </a:lnTo>
                <a:cubicBezTo>
                  <a:pt x="153641" y="223837"/>
                  <a:pt x="145412" y="209829"/>
                  <a:pt x="145412" y="193861"/>
                </a:cubicBezTo>
                <a:lnTo>
                  <a:pt x="145412" y="91888"/>
                </a:lnTo>
                <a:cubicBezTo>
                  <a:pt x="145412" y="41088"/>
                  <a:pt x="186651" y="0"/>
                  <a:pt x="2374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矩形 32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34" name="矩形 33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35" name="矩形 34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36" name="矩形 35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85763" y="1282700"/>
          <a:ext cx="11164890" cy="4926016"/>
        </p:xfrm>
        <a:graphic>
          <a:graphicData uri="http://schemas.openxmlformats.org/drawingml/2006/table">
            <a:tbl>
              <a:tblPr/>
              <a:tblGrid>
                <a:gridCol w="922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1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42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67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52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7774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业务员：王</a:t>
                      </a:r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rtl="0" fontAlgn="ctr"/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7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拜访顺序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网点名称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联系人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陈列形式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特陈数量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拜访频次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作业时间（分钟）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喜洲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一镇一店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华丰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光辉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通达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小货架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欣欣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如超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清清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小货架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63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宝芳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/>
          <p:nvPr/>
        </p:nvSpPr>
        <p:spPr bwMode="auto">
          <a:xfrm>
            <a:off x="285081" y="649284"/>
            <a:ext cx="8291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defTabSz="342900" rtl="0" eaLnBrk="0" fontAlgn="base" hangingPunct="0">
              <a:spcBef>
                <a:spcPct val="0"/>
              </a:spcBef>
              <a:spcAft>
                <a:spcPct val="0"/>
              </a:spcAft>
              <a:defRPr sz="3000" b="1" kern="1200" cap="all">
                <a:solidFill>
                  <a:schemeClr val="tx1"/>
                </a:solidFill>
                <a:latin typeface="+mj-lt"/>
                <a:ea typeface="+mj-ea"/>
                <a:cs typeface="宋体" panose="02010600030101010101" pitchFamily="2" charset="-122"/>
              </a:defRPr>
            </a:lvl1pPr>
            <a:lvl2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342900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3429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6858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10287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1371600" algn="ctr" defTabSz="342900" rtl="0" eaLnBrk="1" fontAlgn="base" hangingPunct="1">
              <a:spcBef>
                <a:spcPct val="0"/>
              </a:spcBef>
              <a:spcAft>
                <a:spcPct val="0"/>
              </a:spcAft>
              <a:defRPr kumimoji="1" sz="3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3429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制定日线路拜访卡</a:t>
            </a:r>
          </a:p>
        </p:txBody>
      </p:sp>
      <p:sp>
        <p:nvSpPr>
          <p:cNvPr id="9" name="矩形 8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0" name="矩形 9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1" name="矩形 10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12" name="矩形 11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95321" y="5302247"/>
            <a:ext cx="3086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交通费用</a:t>
            </a:r>
            <a:r>
              <a:rPr lang="en-US" altLang="zh-CN" sz="2000" b="1" dirty="0"/>
              <a:t>+</a:t>
            </a:r>
            <a:r>
              <a:rPr lang="zh-CN" altLang="en-US" sz="2000" b="1" dirty="0"/>
              <a:t>人员工资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31721" y="4788522"/>
            <a:ext cx="2095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线路</a:t>
            </a:r>
            <a:r>
              <a:rPr lang="en-US" altLang="zh-CN" sz="3200" b="1" dirty="0">
                <a:solidFill>
                  <a:srgbClr val="C00000"/>
                </a:solidFill>
              </a:rPr>
              <a:t>ROI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0778" y="4828794"/>
            <a:ext cx="78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=</a:t>
            </a:r>
            <a:endParaRPr lang="zh-CN" altLang="en-US" sz="3200" b="1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4885771" y="5157854"/>
            <a:ext cx="3505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95321" y="4588467"/>
            <a:ext cx="3086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线路利润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31721" y="2154118"/>
            <a:ext cx="3020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线路销售额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331721" y="3491456"/>
            <a:ext cx="2095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线路利润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790778" y="2141315"/>
            <a:ext cx="78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=</a:t>
            </a:r>
            <a:endParaRPr lang="zh-CN" altLang="en-US" sz="32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737696" y="2246450"/>
            <a:ext cx="380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单条线路各网点销售额之和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790778" y="3511592"/>
            <a:ext cx="78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=</a:t>
            </a:r>
            <a:endParaRPr lang="zh-CN" altLang="en-US" sz="32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4737696" y="3637649"/>
            <a:ext cx="5302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线路销售额 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（交通费用</a:t>
            </a:r>
            <a:r>
              <a:rPr lang="en-US" altLang="zh-CN" sz="2000" b="1" dirty="0"/>
              <a:t>+</a:t>
            </a:r>
            <a:r>
              <a:rPr lang="zh-CN" altLang="en-US" sz="2000" b="1" dirty="0"/>
              <a:t>人员工资）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5291" y="27617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非核心分销网点：</a:t>
            </a:r>
            <a:r>
              <a:rPr lang="zh-CN" altLang="en-US" b="1" dirty="0">
                <a:solidFill>
                  <a:srgbClr val="C00000"/>
                </a:solidFill>
              </a:rPr>
              <a:t>线路化作业</a:t>
            </a:r>
          </a:p>
        </p:txBody>
      </p:sp>
      <p:sp>
        <p:nvSpPr>
          <p:cNvPr id="2" name="矩形 1"/>
          <p:cNvSpPr/>
          <p:nvPr/>
        </p:nvSpPr>
        <p:spPr>
          <a:xfrm>
            <a:off x="1331722" y="1018266"/>
            <a:ext cx="2039815" cy="506824"/>
          </a:xfrm>
          <a:prstGeom prst="rect">
            <a:avLst/>
          </a:prstGeom>
          <a:solidFill>
            <a:srgbClr val="C00000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/>
              <a:t>线路</a:t>
            </a:r>
            <a:r>
              <a:rPr lang="en-US" altLang="zh-CN" sz="1800" b="1" dirty="0"/>
              <a:t>ROI</a:t>
            </a:r>
            <a:r>
              <a:rPr lang="zh-CN" altLang="en-US" sz="1800" b="1" dirty="0"/>
              <a:t>测算</a:t>
            </a:r>
          </a:p>
        </p:txBody>
      </p:sp>
      <p:sp>
        <p:nvSpPr>
          <p:cNvPr id="14" name="矩形 13"/>
          <p:cNvSpPr/>
          <p:nvPr/>
        </p:nvSpPr>
        <p:spPr>
          <a:xfrm>
            <a:off x="8128899" y="373910"/>
            <a:ext cx="757003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网点分级</a:t>
            </a:r>
            <a:endParaRPr kumimoji="1" lang="en-US" altLang="zh-CN" sz="1050" dirty="0"/>
          </a:p>
          <a:p>
            <a:pPr algn="ctr"/>
            <a:r>
              <a:rPr kumimoji="1" lang="zh-CN" altLang="en-US" sz="1050" dirty="0"/>
              <a:t>执行标准</a:t>
            </a:r>
          </a:p>
        </p:txBody>
      </p:sp>
      <p:sp>
        <p:nvSpPr>
          <p:cNvPr id="15" name="矩形 14"/>
          <p:cNvSpPr/>
          <p:nvPr/>
        </p:nvSpPr>
        <p:spPr>
          <a:xfrm>
            <a:off x="10438122" y="373910"/>
            <a:ext cx="461108" cy="496388"/>
          </a:xfrm>
          <a:prstGeom prst="rect">
            <a:avLst/>
          </a:prstGeom>
          <a:solidFill>
            <a:srgbClr val="C00000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路线规划</a:t>
            </a:r>
          </a:p>
        </p:txBody>
      </p:sp>
      <p:sp>
        <p:nvSpPr>
          <p:cNvPr id="16" name="矩形 15"/>
          <p:cNvSpPr/>
          <p:nvPr/>
        </p:nvSpPr>
        <p:spPr>
          <a:xfrm>
            <a:off x="9047066" y="373910"/>
            <a:ext cx="461108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一店一策</a:t>
            </a:r>
          </a:p>
        </p:txBody>
      </p:sp>
      <p:sp>
        <p:nvSpPr>
          <p:cNvPr id="21" name="矩形 20"/>
          <p:cNvSpPr/>
          <p:nvPr/>
        </p:nvSpPr>
        <p:spPr>
          <a:xfrm>
            <a:off x="9669338" y="373910"/>
            <a:ext cx="607619" cy="496388"/>
          </a:xfrm>
          <a:prstGeom prst="rect">
            <a:avLst/>
          </a:prstGeom>
          <a:solidFill>
            <a:schemeClr val="bg1">
              <a:lumMod val="7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50" dirty="0"/>
              <a:t>新网点开发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727007" y="1407505"/>
          <a:ext cx="10305804" cy="3422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01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3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3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3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3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68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9664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网点等级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已合作数量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覆盖率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网点名称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上月进货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本月进货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月度总计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4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进货时间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品项</a:t>
                      </a:r>
                      <a:r>
                        <a:rPr lang="en-US" altLang="zh-CN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进货时间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品项</a:t>
                      </a:r>
                      <a:r>
                        <a:rPr lang="en-US" altLang="zh-CN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lang="zh-CN" altLang="en-US" sz="11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6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/>
                        <a:t>核心形象店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4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形象店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核心分销店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分销店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左大括号 33"/>
          <p:cNvSpPr/>
          <p:nvPr/>
        </p:nvSpPr>
        <p:spPr>
          <a:xfrm rot="16200000">
            <a:off x="3388426" y="3129410"/>
            <a:ext cx="320635" cy="374468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943449" y="5772598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/>
              <a:t>看网点总数</a:t>
            </a:r>
            <a:endParaRPr lang="en-US" altLang="zh-CN" sz="1600" b="1" dirty="0"/>
          </a:p>
          <a:p>
            <a:pPr algn="ctr"/>
            <a:r>
              <a:rPr lang="zh-CN" altLang="en-US" sz="1600" b="1" dirty="0"/>
              <a:t>看网点结构</a:t>
            </a:r>
          </a:p>
        </p:txBody>
      </p:sp>
      <p:sp>
        <p:nvSpPr>
          <p:cNvPr id="36" name="左大括号 35"/>
          <p:cNvSpPr/>
          <p:nvPr/>
        </p:nvSpPr>
        <p:spPr>
          <a:xfrm rot="16200000">
            <a:off x="5776177" y="4474469"/>
            <a:ext cx="332509" cy="104269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131952" y="577259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/>
              <a:t>看服务人员数量</a:t>
            </a:r>
            <a:endParaRPr lang="en-US" altLang="zh-CN" sz="1600" b="1" dirty="0"/>
          </a:p>
          <a:p>
            <a:pPr algn="ctr"/>
            <a:r>
              <a:rPr lang="zh-CN" altLang="en-US" sz="1600" b="1" dirty="0"/>
              <a:t>看网点服务配置</a:t>
            </a:r>
          </a:p>
        </p:txBody>
      </p:sp>
      <p:sp>
        <p:nvSpPr>
          <p:cNvPr id="38" name="左大括号 37"/>
          <p:cNvSpPr/>
          <p:nvPr/>
        </p:nvSpPr>
        <p:spPr>
          <a:xfrm rot="16200000">
            <a:off x="8596389" y="2725647"/>
            <a:ext cx="320634" cy="455221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7587155" y="522259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看网点活跃度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40" name="左大括号 39"/>
          <p:cNvSpPr/>
          <p:nvPr/>
        </p:nvSpPr>
        <p:spPr>
          <a:xfrm>
            <a:off x="367299" y="2394857"/>
            <a:ext cx="320634" cy="243470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0" y="3036398"/>
            <a:ext cx="430887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1600" b="1" dirty="0"/>
              <a:t>理网点分级</a:t>
            </a:r>
          </a:p>
        </p:txBody>
      </p:sp>
      <p:sp>
        <p:nvSpPr>
          <p:cNvPr id="42" name="左大括号 41"/>
          <p:cNvSpPr/>
          <p:nvPr/>
        </p:nvSpPr>
        <p:spPr>
          <a:xfrm flipH="1">
            <a:off x="11071882" y="2394857"/>
            <a:ext cx="320634" cy="243470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11232199" y="2472140"/>
            <a:ext cx="8383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看单店产出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379192" y="518888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看网点覆盖率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51412" y="578838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600" b="1"/>
            </a:lvl1pPr>
          </a:lstStyle>
          <a:p>
            <a:r>
              <a:rPr lang="zh-CN" altLang="en-US" dirty="0"/>
              <a:t>看动销情况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7933" y="196553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分销渠道绩效追踪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759257" y="1035682"/>
            <a:ext cx="1597289" cy="85868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报表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状态</a:t>
            </a:r>
          </a:p>
        </p:txBody>
      </p:sp>
      <p:sp>
        <p:nvSpPr>
          <p:cNvPr id="4" name="圆角矩形 2"/>
          <p:cNvSpPr/>
          <p:nvPr/>
        </p:nvSpPr>
        <p:spPr>
          <a:xfrm>
            <a:off x="759327" y="3835524"/>
            <a:ext cx="1597152" cy="85868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人员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状态</a:t>
            </a:r>
          </a:p>
        </p:txBody>
      </p:sp>
      <p:sp>
        <p:nvSpPr>
          <p:cNvPr id="6" name="圆角矩形 2"/>
          <p:cNvSpPr/>
          <p:nvPr/>
        </p:nvSpPr>
        <p:spPr>
          <a:xfrm>
            <a:off x="759327" y="2435603"/>
            <a:ext cx="1597152" cy="85868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业绩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情况</a:t>
            </a:r>
          </a:p>
        </p:txBody>
      </p:sp>
      <p:sp>
        <p:nvSpPr>
          <p:cNvPr id="7" name="圆角矩形 2"/>
          <p:cNvSpPr/>
          <p:nvPr/>
        </p:nvSpPr>
        <p:spPr>
          <a:xfrm>
            <a:off x="759327" y="5235444"/>
            <a:ext cx="1597152" cy="85868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网点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情况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65928" y="989120"/>
            <a:ext cx="8534679" cy="90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笔迹一气呵成；报表外观很干净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拜访时间间隔相同；时间大范围涂改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时间怪异：上午</a:t>
            </a:r>
            <a:r>
              <a:rPr lang="en-US" altLang="zh-CN" sz="1400" dirty="0"/>
              <a:t>30</a:t>
            </a:r>
            <a:r>
              <a:rPr lang="zh-CN" altLang="en-US" sz="1400" dirty="0"/>
              <a:t>家、下午</a:t>
            </a:r>
            <a:r>
              <a:rPr lang="en-US" altLang="zh-CN" sz="1400" dirty="0"/>
              <a:t>5</a:t>
            </a:r>
            <a:r>
              <a:rPr lang="zh-CN" altLang="en-US" sz="1400" dirty="0"/>
              <a:t>家、吃饭只有</a:t>
            </a:r>
            <a:r>
              <a:rPr lang="en-US" altLang="zh-CN" sz="1400" dirty="0"/>
              <a:t>10</a:t>
            </a:r>
            <a:r>
              <a:rPr lang="zh-CN" altLang="en-US" sz="1400" dirty="0"/>
              <a:t>分钟；上午</a:t>
            </a:r>
            <a:r>
              <a:rPr lang="en-US" altLang="zh-CN" sz="1400" dirty="0"/>
              <a:t>4</a:t>
            </a:r>
            <a:r>
              <a:rPr lang="zh-CN" altLang="en-US" sz="1400" dirty="0"/>
              <a:t>个小时拜访</a:t>
            </a:r>
            <a:r>
              <a:rPr lang="en-US" altLang="zh-CN" sz="1400" dirty="0"/>
              <a:t>10</a:t>
            </a:r>
            <a:r>
              <a:rPr lang="zh-CN" altLang="en-US" sz="1400" dirty="0"/>
              <a:t>家、</a:t>
            </a:r>
            <a:r>
              <a:rPr lang="en-US" altLang="zh-CN" sz="1400" dirty="0"/>
              <a:t>2</a:t>
            </a:r>
            <a:r>
              <a:rPr lang="zh-CN" altLang="en-US" sz="1400" dirty="0"/>
              <a:t>个小时也是拜访</a:t>
            </a:r>
            <a:r>
              <a:rPr lang="en-US" altLang="zh-CN" sz="1400" dirty="0"/>
              <a:t>10</a:t>
            </a:r>
            <a:r>
              <a:rPr lang="zh-CN" altLang="en-US" sz="1400" dirty="0"/>
              <a:t>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65928" y="2249003"/>
            <a:ext cx="6937527" cy="1185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/>
              <a:t>拜访率</a:t>
            </a:r>
            <a:r>
              <a:rPr lang="zh-CN" altLang="en-US" sz="1400" dirty="0"/>
              <a:t>：应拜访数量和实际拜访数量经常一致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/>
              <a:t>业绩差，业绩变化幅度大</a:t>
            </a:r>
            <a:r>
              <a:rPr lang="zh-CN" altLang="en-US" sz="1400" dirty="0"/>
              <a:t>：主管在的时候</a:t>
            </a:r>
            <a:r>
              <a:rPr lang="en-US" altLang="zh-CN" sz="1400" dirty="0"/>
              <a:t>1</a:t>
            </a:r>
            <a:r>
              <a:rPr lang="zh-CN" altLang="en-US" sz="1400" dirty="0"/>
              <a:t>天</a:t>
            </a:r>
            <a:r>
              <a:rPr lang="en-US" altLang="zh-CN" sz="1400" dirty="0"/>
              <a:t>30</a:t>
            </a:r>
            <a:r>
              <a:rPr lang="zh-CN" altLang="en-US" sz="1400" dirty="0"/>
              <a:t>家，不在的时候</a:t>
            </a:r>
            <a:r>
              <a:rPr lang="en-US" altLang="zh-CN" sz="1400" dirty="0"/>
              <a:t>1</a:t>
            </a:r>
            <a:r>
              <a:rPr lang="zh-CN" altLang="en-US" sz="1400" dirty="0"/>
              <a:t>天</a:t>
            </a:r>
            <a:r>
              <a:rPr lang="en-US" altLang="zh-CN" sz="1400" dirty="0"/>
              <a:t>5</a:t>
            </a:r>
            <a:r>
              <a:rPr lang="zh-CN" altLang="en-US" sz="1400" dirty="0"/>
              <a:t>家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/>
              <a:t>数字矛盾</a:t>
            </a:r>
            <a:r>
              <a:rPr lang="zh-CN" altLang="en-US" sz="1400" dirty="0"/>
              <a:t>：手册上的成交数和后台销售数据不一致</a:t>
            </a:r>
            <a:endParaRPr lang="en-US" altLang="zh-CN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/>
              <a:t>数字蹊跷</a:t>
            </a:r>
            <a:r>
              <a:rPr lang="zh-CN" altLang="en-US" sz="1400" dirty="0"/>
              <a:t>：产品突然销量剧增、小店突然进高端货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65928" y="3788962"/>
            <a:ext cx="3457459" cy="90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出门不拿工具、服装不合适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下班回来干净、不喝水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总是没有问题和客诉处理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465928" y="5328921"/>
            <a:ext cx="5657368" cy="625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路线的最后几家店：时间造假、没有拜访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始终不成交的店：客诉未处理、未拜访、网点已关闭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87933" y="196553"/>
            <a:ext cx="4817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分销渠道绩效追踪 </a:t>
            </a:r>
            <a:r>
              <a:rPr kumimoji="1" lang="en-US" altLang="zh-CN" sz="2000" b="1" dirty="0"/>
              <a:t>——</a:t>
            </a:r>
            <a:r>
              <a:rPr kumimoji="1" lang="zh-CN" altLang="en-US" sz="2000" b="1" dirty="0"/>
              <a:t> 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业务员工作检核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6223979" y="2187627"/>
            <a:ext cx="5327282" cy="3662156"/>
          </a:xfrm>
          <a:prstGeom prst="roundRect">
            <a:avLst>
              <a:gd name="adj" fmla="val 7381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77997" y="2421731"/>
            <a:ext cx="1785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注意点：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2185" y="1328979"/>
            <a:ext cx="5176363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对典型问题员工的路线做彻查，形成威慑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2185" y="2187627"/>
            <a:ext cx="5031528" cy="366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/>
              <a:t>电话查岗</a:t>
            </a:r>
            <a:r>
              <a:rPr lang="zh-CN" altLang="en-US" sz="1400" dirty="0"/>
              <a:t>：让终端老板接电话、当场拍照等</a:t>
            </a:r>
            <a:br>
              <a:rPr lang="zh-CN" altLang="en-US" sz="1400" dirty="0"/>
            </a:br>
            <a:endParaRPr lang="zh-CN" altLang="en-US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/>
              <a:t>熟人查岗</a:t>
            </a:r>
            <a:r>
              <a:rPr lang="zh-CN" altLang="en-US" sz="1400" dirty="0"/>
              <a:t>：向客情好的网点问拜访时间和时长，做核对</a:t>
            </a:r>
            <a:br>
              <a:rPr lang="zh-CN" altLang="en-US" sz="1400" dirty="0"/>
            </a:br>
            <a:endParaRPr lang="zh-CN" altLang="en-US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/>
              <a:t>守株待兔</a:t>
            </a:r>
            <a:r>
              <a:rPr lang="zh-CN" altLang="en-US" sz="1400" dirty="0"/>
              <a:t>：预估拜访时间和地点，让业务员及时出现</a:t>
            </a:r>
            <a:br>
              <a:rPr lang="zh-CN" altLang="en-US" sz="1400" dirty="0"/>
            </a:br>
            <a:endParaRPr lang="zh-CN" altLang="en-US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/>
              <a:t>现场查报表</a:t>
            </a:r>
            <a:r>
              <a:rPr lang="zh-CN" altLang="en-US" sz="1400" dirty="0"/>
              <a:t>：看路线手册是否填写，问和手册内容对应的问题（几点在哪个网点，时间最长）</a:t>
            </a:r>
            <a:br>
              <a:rPr lang="zh-CN" altLang="en-US" sz="1400" dirty="0"/>
            </a:br>
            <a:endParaRPr lang="zh-CN" altLang="en-US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/>
              <a:t>现场回访</a:t>
            </a:r>
            <a:r>
              <a:rPr lang="zh-CN" altLang="en-US" sz="1400" dirty="0"/>
              <a:t>：带着业务员把刚拜访的店回访一遍</a:t>
            </a:r>
            <a:br>
              <a:rPr lang="zh-CN" altLang="en-US" sz="1400" dirty="0"/>
            </a:br>
            <a:endParaRPr lang="zh-CN" altLang="en-US" sz="14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/>
              <a:t>回马枪</a:t>
            </a:r>
            <a:r>
              <a:rPr lang="zh-CN" altLang="en-US" sz="1400" dirty="0"/>
              <a:t>：上午检查，下午再复查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577997" y="2868487"/>
            <a:ext cx="4973264" cy="2660534"/>
            <a:chOff x="6221413" y="2278783"/>
            <a:chExt cx="4973264" cy="2660534"/>
          </a:xfrm>
        </p:grpSpPr>
        <p:sp>
          <p:nvSpPr>
            <p:cNvPr id="12" name="文本框 11"/>
            <p:cNvSpPr txBox="1"/>
            <p:nvPr/>
          </p:nvSpPr>
          <p:spPr>
            <a:xfrm>
              <a:off x="6221413" y="2278783"/>
              <a:ext cx="3678268" cy="4173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800" b="1" dirty="0">
                  <a:solidFill>
                    <a:srgbClr val="C00000"/>
                  </a:solidFill>
                </a:rPr>
                <a:t>增加工作成本，不良心理体验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221413" y="3220322"/>
              <a:ext cx="3678268" cy="4173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800" b="1" dirty="0">
                  <a:solidFill>
                    <a:srgbClr val="C00000"/>
                  </a:solidFill>
                </a:rPr>
                <a:t>总有方法可以反侦察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221413" y="4161860"/>
              <a:ext cx="4973264" cy="777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rgbClr val="C00000"/>
                  </a:solidFill>
                </a:rPr>
                <a:t>具体工作质量要靠业务主管进行检核</a:t>
              </a:r>
              <a:endParaRPr lang="en-US" altLang="zh-CN" b="1" dirty="0">
                <a:solidFill>
                  <a:srgbClr val="C00000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rgbClr val="C00000"/>
                  </a:solidFill>
                </a:rPr>
                <a:t>防止“一切尽在掌握“的心态</a:t>
              </a:r>
              <a:endParaRPr lang="zh-CN" altLang="en-US" sz="1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87933" y="196553"/>
            <a:ext cx="4817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分销渠道绩效追踪 </a:t>
            </a:r>
            <a:r>
              <a:rPr kumimoji="1" lang="en-US" altLang="zh-CN" sz="2000" b="1" dirty="0"/>
              <a:t>——</a:t>
            </a:r>
            <a:r>
              <a:rPr kumimoji="1" lang="zh-CN" altLang="en-US" sz="2000" b="1" dirty="0"/>
              <a:t> 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业务员工作检核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153896" y="1851621"/>
            <a:ext cx="1431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服务质量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06196" y="12008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员工拜访</a:t>
            </a:r>
          </a:p>
        </p:txBody>
      </p:sp>
      <p:sp>
        <p:nvSpPr>
          <p:cNvPr id="13" name="右箭头 12"/>
          <p:cNvSpPr/>
          <p:nvPr/>
        </p:nvSpPr>
        <p:spPr>
          <a:xfrm>
            <a:off x="4982560" y="1169125"/>
            <a:ext cx="322146" cy="36933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4982560" y="1844503"/>
            <a:ext cx="322146" cy="36933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649832" y="1128792"/>
            <a:ext cx="5212080" cy="381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b="0" i="0" u="none" strike="noStrike" dirty="0" err="1">
                <a:solidFill>
                  <a:srgbClr val="1D1D1F"/>
                </a:solidFill>
                <a:effectLst/>
                <a:latin typeface="SourceSansPro"/>
              </a:rPr>
              <a:t>有没有去？有没有漏？有没有提前结束</a:t>
            </a:r>
            <a:r>
              <a:rPr sz="1400" b="0" i="0" u="none" strike="noStrike" dirty="0">
                <a:solidFill>
                  <a:srgbClr val="1D1D1F"/>
                </a:solidFill>
                <a:effectLst/>
                <a:latin typeface="SourceSansPro"/>
              </a:rPr>
              <a:t>？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331016" y="29401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分销标准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336374" y="3623201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陈列表现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07774" y="4305242"/>
            <a:ext cx="1554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库存情况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564974" y="4987283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  <a:buSzTx/>
              <a:buFontTx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</a:p>
        </p:txBody>
      </p:sp>
      <p:sp>
        <p:nvSpPr>
          <p:cNvPr id="21" name="右箭头 20"/>
          <p:cNvSpPr/>
          <p:nvPr/>
        </p:nvSpPr>
        <p:spPr>
          <a:xfrm>
            <a:off x="4982660" y="3630906"/>
            <a:ext cx="322146" cy="36933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4973770" y="4310378"/>
            <a:ext cx="322146" cy="36933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4982560" y="4989850"/>
            <a:ext cx="322146" cy="36933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4973769" y="5669323"/>
            <a:ext cx="322146" cy="36933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651102" y="2982213"/>
            <a:ext cx="521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整体产品铺货率是否一致？分销标准执行是否到位？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649832" y="5017105"/>
            <a:ext cx="5299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是否存在抬价</a:t>
            </a:r>
            <a:r>
              <a:rPr kumimoji="1" lang="en-US" altLang="zh-CN" sz="1400" dirty="0"/>
              <a:t>&amp;</a:t>
            </a:r>
            <a:r>
              <a:rPr kumimoji="1" lang="zh-CN" altLang="en-US" sz="1400" dirty="0"/>
              <a:t>砸价情况？价格</a:t>
            </a:r>
            <a:r>
              <a:rPr kumimoji="1" lang="en-US" altLang="zh-CN" sz="1400" dirty="0"/>
              <a:t>&amp;</a:t>
            </a:r>
            <a:r>
              <a:rPr kumimoji="1" lang="zh-CN" altLang="en-US" sz="1400" dirty="0"/>
              <a:t>利润是否存在异常？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64974" y="5669323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  <a:buSzTx/>
              <a:buFontTx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促销</a:t>
            </a:r>
          </a:p>
        </p:txBody>
      </p:sp>
      <p:sp>
        <p:nvSpPr>
          <p:cNvPr id="16" name="右箭头 15"/>
          <p:cNvSpPr/>
          <p:nvPr/>
        </p:nvSpPr>
        <p:spPr>
          <a:xfrm>
            <a:off x="4983504" y="2951434"/>
            <a:ext cx="322146" cy="36933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7933" y="994238"/>
            <a:ext cx="1492022" cy="170053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 dirty="0">
                <a:solidFill>
                  <a:srgbClr val="C00000"/>
                </a:solidFill>
              </a:rPr>
              <a:t>人员</a:t>
            </a:r>
          </a:p>
          <a:p>
            <a:pPr algn="ctr"/>
            <a:r>
              <a:rPr kumimoji="1" lang="zh-CN" altLang="en-US" sz="3200" b="1" dirty="0">
                <a:solidFill>
                  <a:srgbClr val="C00000"/>
                </a:solidFill>
              </a:rPr>
              <a:t>管理</a:t>
            </a:r>
          </a:p>
        </p:txBody>
      </p:sp>
      <p:sp>
        <p:nvSpPr>
          <p:cNvPr id="5" name="矩形 4"/>
          <p:cNvSpPr/>
          <p:nvPr/>
        </p:nvSpPr>
        <p:spPr>
          <a:xfrm>
            <a:off x="687933" y="3258897"/>
            <a:ext cx="1492022" cy="262890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 dirty="0">
                <a:solidFill>
                  <a:srgbClr val="C00000"/>
                </a:solidFill>
              </a:rPr>
              <a:t>网点</a:t>
            </a:r>
            <a:endParaRPr kumimoji="1" lang="en-US" altLang="zh-CN" sz="3200" b="1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3200" b="1" dirty="0">
                <a:solidFill>
                  <a:srgbClr val="C00000"/>
                </a:solidFill>
              </a:rPr>
              <a:t>实际</a:t>
            </a:r>
            <a:endParaRPr kumimoji="1" lang="en-US" altLang="zh-CN" sz="3200" b="1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3200" b="1" dirty="0">
                <a:solidFill>
                  <a:srgbClr val="C00000"/>
                </a:solidFill>
              </a:rPr>
              <a:t>情况</a:t>
            </a:r>
            <a:endParaRPr kumimoji="1" lang="en-US" altLang="zh-CN" sz="3200" b="1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92350" y="16078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1" name="三角形 9"/>
          <p:cNvSpPr/>
          <p:nvPr/>
        </p:nvSpPr>
        <p:spPr>
          <a:xfrm rot="5400000">
            <a:off x="1819142" y="1729066"/>
            <a:ext cx="1714766" cy="245110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三角形 9"/>
          <p:cNvSpPr/>
          <p:nvPr/>
        </p:nvSpPr>
        <p:spPr>
          <a:xfrm rot="5400000">
            <a:off x="1326916" y="4483132"/>
            <a:ext cx="2693575" cy="245110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7933" y="196553"/>
            <a:ext cx="4560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分销渠道绩效追踪 </a:t>
            </a:r>
            <a:r>
              <a:rPr kumimoji="1" lang="en-US" altLang="zh-CN" sz="2000" b="1" dirty="0"/>
              <a:t>——</a:t>
            </a:r>
            <a:r>
              <a:rPr kumimoji="1" lang="zh-CN" altLang="en-US" sz="2000" b="1" dirty="0"/>
              <a:t> 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网点现场检核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649832" y="1617975"/>
            <a:ext cx="5212080" cy="704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F"/>
                </a:solidFill>
                <a:effectLst/>
                <a:latin typeface="SourceSansPro"/>
                <a:sym typeface="+mn-ea"/>
              </a:rPr>
              <a:t>配送是否及时？销售</a:t>
            </a:r>
            <a:r>
              <a:rPr sz="1400" dirty="0" err="1">
                <a:solidFill>
                  <a:srgbClr val="1D1D1F"/>
                </a:solidFill>
                <a:effectLst/>
                <a:latin typeface="SourceSansPro"/>
                <a:sym typeface="+mn-ea"/>
              </a:rPr>
              <a:t>政策传达</a:t>
            </a:r>
            <a:r>
              <a:rPr lang="zh-CN" altLang="en-US" sz="1400" dirty="0">
                <a:solidFill>
                  <a:srgbClr val="1D1D1F"/>
                </a:solidFill>
                <a:effectLst/>
                <a:latin typeface="SourceSansPro"/>
                <a:sym typeface="+mn-ea"/>
              </a:rPr>
              <a:t>是否及时</a:t>
            </a:r>
            <a:r>
              <a:rPr lang="zh-CN" altLang="en-US" sz="1400" dirty="0">
                <a:solidFill>
                  <a:srgbClr val="1D1D1F"/>
                </a:solidFill>
                <a:latin typeface="SourceSansPro"/>
                <a:sym typeface="+mn-ea"/>
              </a:rPr>
              <a:t>？</a:t>
            </a:r>
            <a:endParaRPr lang="en-US" altLang="zh-CN" sz="1400" dirty="0">
              <a:solidFill>
                <a:srgbClr val="1D1D1F"/>
              </a:solidFill>
              <a:latin typeface="SourceSansPro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1D1D1F"/>
                </a:solidFill>
                <a:latin typeface="SourceSansPro"/>
                <a:sym typeface="+mn-ea"/>
              </a:rPr>
              <a:t>是否有</a:t>
            </a:r>
            <a:r>
              <a:rPr sz="1400" dirty="0" err="1">
                <a:solidFill>
                  <a:srgbClr val="1D1D1F"/>
                </a:solidFill>
                <a:effectLst/>
                <a:latin typeface="SourceSansPro"/>
                <a:sym typeface="+mn-ea"/>
              </a:rPr>
              <a:t>终端客诉和遗留问题</a:t>
            </a:r>
            <a:r>
              <a:rPr lang="zh-CN" altLang="en-US" sz="1400" dirty="0">
                <a:solidFill>
                  <a:srgbClr val="1D1D1F"/>
                </a:solidFill>
                <a:effectLst/>
                <a:latin typeface="SourceSansPro"/>
                <a:sym typeface="+mn-ea"/>
              </a:rPr>
              <a:t>未处理？</a:t>
            </a:r>
            <a:endParaRPr sz="1400" b="0" i="0" u="none" strike="noStrike" dirty="0">
              <a:solidFill>
                <a:srgbClr val="1D1D1F"/>
              </a:solidFill>
              <a:effectLst/>
              <a:latin typeface="SourceSansPro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49832" y="5699584"/>
            <a:ext cx="5299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促销活动落地情况是否一致？网点的接受度和配合度如何？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649832" y="4341406"/>
            <a:ext cx="4414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/>
              <a:t>产品库存及不良库存数量？库存数据是否一致？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651102" y="3661683"/>
            <a:ext cx="521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ym typeface="+mn-ea"/>
              </a:rPr>
              <a:t>产品陈列是否依据标准执行？是否有异常情况？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桌子, 游戏机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317" y="1725439"/>
            <a:ext cx="774700" cy="3505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91997" y="1698546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dirty="0"/>
              <a:t>核心网点名单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60122" y="195598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dirty="0"/>
              <a:t>非核心网点策略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060122" y="3191278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dirty="0"/>
              <a:t>拜访线路规划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060122" y="3658210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dirty="0"/>
              <a:t>分销动作标准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69415" y="4808489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/>
              <a:t>具体执行网点拜访八步法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74531" y="192725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老板定方向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474531" y="343119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中层做管理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474530" y="477771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基层做执行</a:t>
            </a:r>
          </a:p>
        </p:txBody>
      </p:sp>
      <p:cxnSp>
        <p:nvCxnSpPr>
          <p:cNvPr id="12" name="直线连接符 11"/>
          <p:cNvCxnSpPr/>
          <p:nvPr/>
        </p:nvCxnSpPr>
        <p:spPr>
          <a:xfrm>
            <a:off x="1414887" y="2831949"/>
            <a:ext cx="8791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1414887" y="4320203"/>
            <a:ext cx="8791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4645339" y="1584759"/>
            <a:ext cx="0" cy="3930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191997" y="226394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dirty="0"/>
              <a:t>核心网点策略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91997" y="3473544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dirty="0"/>
              <a:t>核心网点服务内容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84031" y="65991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</a:rPr>
              <a:t>作业提示：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160" y="496049"/>
            <a:ext cx="400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汇报作业 </a:t>
            </a:r>
            <a:r>
              <a:rPr kumimoji="1" lang="en-US" altLang="zh-CN" b="1" dirty="0"/>
              <a:t>——</a:t>
            </a:r>
            <a:r>
              <a:rPr kumimoji="1" lang="zh-CN" altLang="en-US" b="1" dirty="0"/>
              <a:t> 分销渠道精耕关键战役</a:t>
            </a:r>
          </a:p>
        </p:txBody>
      </p:sp>
      <p:pic>
        <p:nvPicPr>
          <p:cNvPr id="5" name="图片 4" descr="图片包含 图形用户界面&#10;&#10;描述已自动生成">
            <a:extLst>
              <a:ext uri="{FF2B5EF4-FFF2-40B4-BE49-F238E27FC236}">
                <a16:creationId xmlns:a16="http://schemas.microsoft.com/office/drawing/2014/main" id="{1BC3F616-E49F-AA66-65A9-0C75160C3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830" y="993594"/>
            <a:ext cx="8566339" cy="536835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9746"/>
  <p:tag name="KSO_WM_UNIT_TYPE" val="q_i"/>
  <p:tag name="KSO_WM_UNIT_INDEX" val="1_1"/>
  <p:tag name="KSO_WM_UNIT_ID" val="diagram20169746_1*q_i*1_1"/>
  <p:tag name="KSO_WM_UNIT_LAYERLEVEL" val="1_1"/>
  <p:tag name="KSO_WM_DIAGRAM_GROUP_CODE" val="q1-1"/>
  <p:tag name="KSO_WM_UNIT_LINE_FORE_SCHEMECOLOR_INDEX" val="14"/>
  <p:tag name="KSO_WM_UNIT_LINE_FILL_TYPE" val="2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9746"/>
  <p:tag name="KSO_WM_UNIT_TYPE" val="q_h_i"/>
  <p:tag name="KSO_WM_UNIT_INDEX" val="1_1_1"/>
  <p:tag name="KSO_WM_UNIT_ID" val="diagram20169746_1*q_h_i*1_1_1"/>
  <p:tag name="KSO_WM_UNIT_LAYERLEVEL" val="1_1_1"/>
  <p:tag name="KSO_WM_DIAGRAM_GROUP_CODE" val="q1-1"/>
  <p:tag name="KSO_WM_UNIT_FILL_FORE_SCHEMECOLOR_INDEX" val="7"/>
  <p:tag name="KSO_WM_UNIT_FILL_TYPE" val="1"/>
  <p:tag name="KSO_WM_UNIT_LINE_FORE_SCHEMECOLOR_INDEX" val="14"/>
  <p:tag name="KSO_WM_UNIT_LINE_FILL_TYPE" val="2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9746"/>
  <p:tag name="KSO_WM_UNIT_TYPE" val="q_h_i"/>
  <p:tag name="KSO_WM_UNIT_INDEX" val="1_2_1"/>
  <p:tag name="KSO_WM_UNIT_ID" val="diagram20169746_1*q_h_i*1_2_1"/>
  <p:tag name="KSO_WM_UNIT_LAYERLEVEL" val="1_1_1"/>
  <p:tag name="KSO_WM_DIAGRAM_GROUP_CODE" val="q1-1"/>
  <p:tag name="KSO_WM_UNIT_FILL_FORE_SCHEMECOLOR_INDEX" val="6"/>
  <p:tag name="KSO_WM_UNIT_FILL_TYPE" val="1"/>
  <p:tag name="KSO_WM_UNIT_LINE_FORE_SCHEMECOLOR_INDEX" val="14"/>
  <p:tag name="KSO_WM_UNIT_LINE_FILL_TYPE" val="2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d018e7d-1234-42ec-9bbb-07361c368cb5}"/>
  <p:tag name="TABLE_ENDDRAG_ORIGIN_RECT" val="853*179"/>
  <p:tag name="TABLE_ENDDRAG_RECT" val="48*84*853*17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87719d2-5f7b-43a6-9f32-45ec0df21b17}"/>
  <p:tag name="TABLE_ENDDRAG_ORIGIN_RECT" val="783*251"/>
  <p:tag name="TABLE_ENDDRAG_RECT" val="78*133*783*251"/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全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5875">
          <a:solidFill>
            <a:srgbClr val="C00000"/>
          </a:solidFill>
          <a:prstDash val="soli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稻壳儿-黑体常规4">
      <a:majorFont>
        <a:latin typeface="Montserrat ExtraBold"/>
        <a:ea typeface="MiSans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5875">
          <a:solidFill>
            <a:srgbClr val="C00000"/>
          </a:solidFill>
          <a:prstDash val="soli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5551</Words>
  <Application>Microsoft Macintosh PowerPoint</Application>
  <PresentationFormat>宽屏</PresentationFormat>
  <Paragraphs>1675</Paragraphs>
  <Slides>70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81" baseType="lpstr">
      <vt:lpstr>宋体</vt:lpstr>
      <vt:lpstr>微软雅黑</vt:lpstr>
      <vt:lpstr>SourceSansPro</vt:lpstr>
      <vt:lpstr>Arial</vt:lpstr>
      <vt:lpstr>Calibri</vt:lpstr>
      <vt:lpstr>Helvetica Neue</vt:lpstr>
      <vt:lpstr>Montserrat</vt:lpstr>
      <vt:lpstr>Montserrat ExtraBold</vt:lpstr>
      <vt:lpstr>Wingdings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苏 江</cp:lastModifiedBy>
  <cp:revision>2227</cp:revision>
  <dcterms:created xsi:type="dcterms:W3CDTF">2024-02-28T06:04:00Z</dcterms:created>
  <dcterms:modified xsi:type="dcterms:W3CDTF">2026-04-03T09:36:53Z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B5B70D6589EB4932B27DA223B5A083B9_12</vt:lpwstr>
  </property>
</Properties>
</file>