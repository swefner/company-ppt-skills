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7" r:id="rId2"/>
    <p:sldId id="266" r:id="rId3"/>
    <p:sldId id="265" r:id="rId4"/>
    <p:sldId id="264" r:id="rId5"/>
    <p:sldId id="263" r:id="rId6"/>
    <p:sldId id="262" r:id="rId7"/>
    <p:sldId id="256" r:id="rId8"/>
    <p:sldId id="257" r:id="rId9"/>
    <p:sldId id="258" r:id="rId10"/>
    <p:sldId id="259" r:id="rId11"/>
    <p:sldId id="260" r:id="rId12"/>
    <p:sldId id="261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开场三句话：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县里的建材生意正在变，很多老板凭感觉在做判断；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这份材料帮你看清外面发生了什么、自己已经做到哪里；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看完你要带走一个判断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下一步人、钱、时间投到哪里。封面停留不超过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分钟。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87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先承认现实：新楼盘减少是事实，很多县确实难。再给结论：不是市场没了，是市场变了、位置变了、打法要变。老板若质疑「你说有复合市场，我的县还是没单」：机会不会平均分布到每个乡镇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这正是材料后半部分要解决的问题（先判状态，再盘区域）。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9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禁止读文件。每个信号只讲两句话：政策在推什么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对你意味着什么。落点强调：国家不保证每个县、每个乡镇都自然增长，机会落在哪里仍要老板自己判断。政策出处见页面备注备注：十五五规划纲要、城市更新十五五规划（新开工改造老旧小区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11.5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万个）、农业农村现代化十五五规划、商务部等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17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部门县域商业建设行动。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797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可引素材（内部）：部分县域县城新房交付明显减少、装饰公司转向乡镇自建房找项目；乡镇业务占比可达六成以上（对外使用需按保密要求处理）。讲法：不要让老板觉得是在上地理课，每条变化都要落到「订单从哪里来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406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破除误区：把县城和乡镇割裂看待。正确姿势：县城做支撑，乡镇做触点，村级做项目。强调不是平均进入所有乡镇：先判断重点乡镇，再形成县城承接、乡镇触达、村级获客的网络。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942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避免讲成「农村人不看重价格」。正确表达：价格要可接受，但价格之外，客户买的是确定性；品牌让客户愿意了解，熟人和样板让客户真正下单。引导老板对照：这五样确定性，你具备几样。数据（可放备注）：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2025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年农村居民人均可支配收入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24,456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元、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+5.8%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；人均消费支出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20,259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元、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+5.1%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（国家统计局）；居住支出不能直接等同于建材市场容量。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483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模块一看趋势的收束页。讲完三个判断后停顿，让老板默想对照：这三条，哪条跟你县里的情况相符、哪条不符（默想对照，不组织课堂问答）。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先还原事实，再做决策：第一步只要求老板把乡镇对号入座，不要求马上决定投入。防止两种误判：把客户名单当经营网络；把全县平均状态当每个乡镇的真实状态。四个乡镇槽位为示例占位，老板版后续按真实乡镇名替换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四个问题是可观察的经营问题，不是概念定义；证据不足可以标「待验证」，不能凭感觉打分。老板若四项都低或都高：允许主短板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次短板，目标是形成优先级，不是给乡镇打分。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关键防错：防止老板把「铺过货、做过活动」当成「站住了」。阶段看的是实际形成的市场结果，不是投入的动作。允许主阶段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次级瓶颈双标签：一个乡镇可能主阶段是站得住，但产品力还是进得去水平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这不矛盾。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病症与阶段有关但不机械对应：市场空转症多出现在刚进入或正要进入的乡镇；首单依赖症多在进得去→站得住途中；网点低效症多在站得住→卖得动途中；老路依赖症多在卖得动→做得深途中。成熟乡镇开发新品时也可能出现首单依赖。一个乡镇可能同时有两类病症，先抓最突出的一类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全材料核心工具页。让老板选一个最弱的乡镇，用模板默念说一遍完整诊断。防错：禁止从病症直接跳到多铺货、多做活动、多压产品；动作必须从短板反推，且不超过 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项。</a:t>
            </a:r>
            <a:endParaRPr sz="11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示例只用来讲「怎么填」，不是标准答案；每个老板的版图要由真实经营信息构成，课后与县长共同补充。说明作业与下一模块的关系：判状态看「我现在做到哪一步」，盘区域看「哪些地方外部机会更大」。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681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结尾不追加新内容，只给一个明确动作。如果老板问「那到底投哪」：答案不在今天这页材料里，在盘区域这一步</a:t>
            </a:r>
            <a:r>
              <a:rPr lang="en-US" altLang="zh-CN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100">
                <a:latin typeface="Microsoft YaHei" panose="020B0503020204020204" pitchFamily="34" charset="-122"/>
                <a:ea typeface="Microsoft YaHei" panose="020B0503020204020204" pitchFamily="34" charset="-122"/>
              </a:rPr>
              <a:t>把版图带上会，我们用它排出优先级。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918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企业微信截图_ec44598d-13a2-44fb-8073-73b70684fbb2">
            <a:extLst>
              <a:ext uri="{FF2B5EF4-FFF2-40B4-BE49-F238E27FC236}">
                <a16:creationId xmlns:a16="http://schemas.microsoft.com/office/drawing/2014/main" id="{81DEF11C-785E-5D97-C56E-155049365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62593" y="268476"/>
            <a:ext cx="1153226" cy="8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4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768606-A628-A140-86CE-907ECDCF41B1}"/>
              </a:ext>
            </a:extLst>
          </p:cNvPr>
          <p:cNvSpPr txBox="1"/>
          <p:nvPr/>
        </p:nvSpPr>
        <p:spPr>
          <a:xfrm>
            <a:off x="914400" y="1600200"/>
            <a:ext cx="10332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东方雨虹 </a:t>
            </a:r>
            <a:r>
              <a:rPr lang="en-US" altLang="zh-CN" sz="14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4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县域经销商课程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AC18E7-5E76-F3FB-1240-B21B58C410C0}"/>
              </a:ext>
            </a:extLst>
          </p:cNvPr>
          <p:cNvSpPr txBox="1"/>
          <p:nvPr/>
        </p:nvSpPr>
        <p:spPr>
          <a:xfrm>
            <a:off x="731520" y="2148840"/>
            <a:ext cx="10698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40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县域机会诊断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15C043-67CE-770C-37A1-2D0A7D65C2E7}"/>
              </a:ext>
            </a:extLst>
          </p:cNvPr>
          <p:cNvSpPr txBox="1"/>
          <p:nvPr/>
        </p:nvSpPr>
        <p:spPr>
          <a:xfrm>
            <a:off x="731520" y="3246120"/>
            <a:ext cx="10698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2200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看趋势 </a:t>
            </a:r>
            <a:r>
              <a:rPr lang="en-US" altLang="zh-CN" sz="2200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2200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判状态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F3D211-DAF6-E7A1-597A-B95510634DD9}"/>
              </a:ext>
            </a:extLst>
          </p:cNvPr>
          <p:cNvSpPr txBox="1"/>
          <p:nvPr/>
        </p:nvSpPr>
        <p:spPr>
          <a:xfrm>
            <a:off x="731520" y="5394960"/>
            <a:ext cx="10698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日期：＿＿＿＿＿＿   经销商</a:t>
            </a:r>
            <a:r>
              <a:rPr lang="en-US" altLang="zh-CN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区域：＿＿＿＿＿＿   组织方：＿＿＿＿＿＿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4066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4F91510-B345-B068-826D-32D36550159E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县域机会为什么还在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F93C48-EC54-4E6E-61A4-4518A4A3B874}"/>
              </a:ext>
            </a:extLst>
          </p:cNvPr>
          <p:cNvSpPr txBox="1"/>
          <p:nvPr/>
        </p:nvSpPr>
        <p:spPr>
          <a:xfrm>
            <a:off x="822960" y="160020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1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县域不是房地产增量市场的简单替代，而是县城、中心镇和乡村之间，新建、翻修、维修与服务需求并存的复合市场。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3656E1-1AD0-B78B-0232-973666CA3D51}"/>
              </a:ext>
            </a:extLst>
          </p:cNvPr>
          <p:cNvSpPr txBox="1"/>
          <p:nvPr/>
        </p:nvSpPr>
        <p:spPr>
          <a:xfrm>
            <a:off x="822960" y="3886200"/>
            <a:ext cx="3383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国家方向</a:t>
            </a:r>
          </a:p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没离开县域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E0B95E-E833-D5CA-30C6-16A196F0346E}"/>
              </a:ext>
            </a:extLst>
          </p:cNvPr>
          <p:cNvSpPr txBox="1"/>
          <p:nvPr/>
        </p:nvSpPr>
        <p:spPr>
          <a:xfrm>
            <a:off x="4434840" y="3886200"/>
            <a:ext cx="3383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生意发生的</a:t>
            </a:r>
          </a:p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位置变了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9318A2-BF49-0A1E-F724-0FDA8E900C9D}"/>
              </a:ext>
            </a:extLst>
          </p:cNvPr>
          <p:cNvSpPr txBox="1"/>
          <p:nvPr/>
        </p:nvSpPr>
        <p:spPr>
          <a:xfrm>
            <a:off x="8046720" y="3886200"/>
            <a:ext cx="33832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客户购买的</a:t>
            </a:r>
          </a:p>
          <a:p>
            <a:pPr algn="ctr"/>
            <a:r>
              <a:rPr lang="zh-CN" altLang="en-US" sz="16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逻辑变了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3322A62-9D16-0628-9D00-676B750E08CE}"/>
              </a:ext>
            </a:extLst>
          </p:cNvPr>
          <p:cNvSpPr txBox="1"/>
          <p:nvPr/>
        </p:nvSpPr>
        <p:spPr>
          <a:xfrm>
            <a:off x="822960" y="534924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4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接下来三页，分别回答这三个变化：信号、位置、客户。</a:t>
            </a:r>
          </a:p>
        </p:txBody>
      </p:sp>
    </p:spTree>
    <p:extLst>
      <p:ext uri="{BB962C8B-B14F-4D97-AF65-F5344CB8AC3E}">
        <p14:creationId xmlns:p14="http://schemas.microsoft.com/office/powerpoint/2010/main" val="83999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4F631C-6990-A84F-7A75-491DDFB394DF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国家资源没有离开县域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280B29-B72C-6DEA-1331-1CF4A3F25C13}"/>
              </a:ext>
            </a:extLst>
          </p:cNvPr>
          <p:cNvSpPr txBox="1"/>
          <p:nvPr/>
        </p:nvSpPr>
        <p:spPr>
          <a:xfrm>
            <a:off x="640080" y="1463040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信号一</a:t>
            </a:r>
          </a:p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城镇化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74EA90-E660-9973-76C5-434B7DC8278F}"/>
              </a:ext>
            </a:extLst>
          </p:cNvPr>
          <p:cNvSpPr txBox="1"/>
          <p:nvPr/>
        </p:nvSpPr>
        <p:spPr>
          <a:xfrm>
            <a:off x="3108960" y="1481328"/>
            <a:ext cx="8412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县城承载、中心镇集聚、乡村联动。</a:t>
            </a:r>
          </a:p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机会不会平均分布到每个乡镇：县城与部分中心镇在集聚人口和商业，要判断哪些地方在集聚、哪些在收缩。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130826-6BD7-D1F8-99B5-37639065008B}"/>
              </a:ext>
            </a:extLst>
          </p:cNvPr>
          <p:cNvSpPr txBox="1"/>
          <p:nvPr/>
        </p:nvSpPr>
        <p:spPr>
          <a:xfrm>
            <a:off x="640080" y="2788920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信号二</a:t>
            </a:r>
          </a:p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城市更新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020103-2731-E835-008D-C1F299897F5F}"/>
              </a:ext>
            </a:extLst>
          </p:cNvPr>
          <p:cNvSpPr txBox="1"/>
          <p:nvPr/>
        </p:nvSpPr>
        <p:spPr>
          <a:xfrm>
            <a:off x="3108960" y="2807208"/>
            <a:ext cx="8412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新楼盘减少，不等于建材需求消失。</a:t>
            </a:r>
          </a:p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老旧小区改造、既有住房翻新、厨卫局改、防水修缮和管网更新，成为需要主动识别和承接的存量场景。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B98C52-4C66-52F9-C86E-9796526FA436}"/>
              </a:ext>
            </a:extLst>
          </p:cNvPr>
          <p:cNvSpPr txBox="1"/>
          <p:nvPr/>
        </p:nvSpPr>
        <p:spPr>
          <a:xfrm>
            <a:off x="640080" y="4114800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信号三</a:t>
            </a:r>
          </a:p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乡村建设与</a:t>
            </a:r>
          </a:p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绿色建材下乡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46FA26-E51D-F003-EDDD-AC29DC6BF433}"/>
              </a:ext>
            </a:extLst>
          </p:cNvPr>
          <p:cNvSpPr txBox="1"/>
          <p:nvPr/>
        </p:nvSpPr>
        <p:spPr>
          <a:xfrm>
            <a:off x="3108960" y="4133088"/>
            <a:ext cx="84124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商品下乡还不够，服务也要下乡。</a:t>
            </a:r>
          </a:p>
          <a:p>
            <a:pPr>
              <a:lnSpc>
                <a:spcPct val="120000"/>
              </a:lnSpc>
            </a:pP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自建房、危房改造、农村人居环境改善形成分散在村镇的项目机会；关键是谁发现项目、谁推荐、谁施工、谁处理售后。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D48B6E-283B-A5D1-BC29-E2BC961F28D4}"/>
              </a:ext>
            </a:extLst>
          </p:cNvPr>
          <p:cNvSpPr txBox="1"/>
          <p:nvPr/>
        </p:nvSpPr>
        <p:spPr>
          <a:xfrm>
            <a:off x="640080" y="5623560"/>
            <a:ext cx="10881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政策不保证每个县、每个乡镇都自然增长；政策给的是方向，机会落在哪里仍然要自己判断。</a:t>
            </a:r>
          </a:p>
        </p:txBody>
      </p:sp>
    </p:spTree>
    <p:extLst>
      <p:ext uri="{BB962C8B-B14F-4D97-AF65-F5344CB8AC3E}">
        <p14:creationId xmlns:p14="http://schemas.microsoft.com/office/powerpoint/2010/main" val="56114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18B247-D8A0-94C3-7782-14988FE28EDD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生意没有消失，发生的位置和方式变了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FA84DF-045F-C8DF-6555-6D07DD466276}"/>
              </a:ext>
            </a:extLst>
          </p:cNvPr>
          <p:cNvSpPr txBox="1"/>
          <p:nvPr/>
        </p:nvSpPr>
        <p:spPr>
          <a:xfrm>
            <a:off x="640080" y="1417320"/>
            <a:ext cx="1371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空间中心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5AEBD0-A13A-F714-E393-E53E839B90EA}"/>
              </a:ext>
            </a:extLst>
          </p:cNvPr>
          <p:cNvSpPr txBox="1"/>
          <p:nvPr/>
        </p:nvSpPr>
        <p:spPr>
          <a:xfrm>
            <a:off x="2194560" y="1417320"/>
            <a:ext cx="9326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从主要盯县城城区和集中项目 → 县城做中心，同时向重点乡镇、村庄和具体项目延伸触点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328E93-BAAE-9685-0D88-EFFB50124FA7}"/>
              </a:ext>
            </a:extLst>
          </p:cNvPr>
          <p:cNvSpPr txBox="1"/>
          <p:nvPr/>
        </p:nvSpPr>
        <p:spPr>
          <a:xfrm>
            <a:off x="640080" y="2286000"/>
            <a:ext cx="1371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需求中心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F89E07-5035-2E1D-BEA2-D698E40E1499}"/>
              </a:ext>
            </a:extLst>
          </p:cNvPr>
          <p:cNvSpPr txBox="1"/>
          <p:nvPr/>
        </p:nvSpPr>
        <p:spPr>
          <a:xfrm>
            <a:off x="2194560" y="2286000"/>
            <a:ext cx="9326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从依赖新房建设与整体装修 → 自建房、新房装修、旧房翻修、局部维修与小微工程并存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17DCE9-F60C-588F-2AFC-9522AEDA7611}"/>
              </a:ext>
            </a:extLst>
          </p:cNvPr>
          <p:cNvSpPr txBox="1"/>
          <p:nvPr/>
        </p:nvSpPr>
        <p:spPr>
          <a:xfrm>
            <a:off x="640080" y="3154680"/>
            <a:ext cx="1371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获客方式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1C6FAC-935C-8E46-F9F1-299030ECA151}"/>
              </a:ext>
            </a:extLst>
          </p:cNvPr>
          <p:cNvSpPr txBox="1"/>
          <p:nvPr/>
        </p:nvSpPr>
        <p:spPr>
          <a:xfrm>
            <a:off x="2194560" y="3154680"/>
            <a:ext cx="9326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从守店、铺货、等待客户上门 → 依靠网点、工人、关键人和项目摸排主动找到真实需求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AF791C-22A6-8D9F-D6BD-6D47E57AB744}"/>
              </a:ext>
            </a:extLst>
          </p:cNvPr>
          <p:cNvSpPr txBox="1"/>
          <p:nvPr/>
        </p:nvSpPr>
        <p:spPr>
          <a:xfrm>
            <a:off x="640080" y="4023360"/>
            <a:ext cx="1371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成交方式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B69142-3C8D-25BD-FB99-ECD5E3AB5C78}"/>
              </a:ext>
            </a:extLst>
          </p:cNvPr>
          <p:cNvSpPr txBox="1"/>
          <p:nvPr/>
        </p:nvSpPr>
        <p:spPr>
          <a:xfrm>
            <a:off x="2194560" y="4023360"/>
            <a:ext cx="9326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从围绕单品、价格和临时需求卖货 → 围绕具体场景提供产品组合、施工连接和本地服务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84997D-6E24-68E4-7853-B950A00F7F6F}"/>
              </a:ext>
            </a:extLst>
          </p:cNvPr>
          <p:cNvSpPr txBox="1"/>
          <p:nvPr/>
        </p:nvSpPr>
        <p:spPr>
          <a:xfrm>
            <a:off x="640080" y="5349240"/>
            <a:ext cx="10881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过去等一套新房，现在要经营一栋自建房、一次翻修、一个漏水点和一个小工程。</a:t>
            </a:r>
          </a:p>
        </p:txBody>
      </p:sp>
    </p:spTree>
    <p:extLst>
      <p:ext uri="{BB962C8B-B14F-4D97-AF65-F5344CB8AC3E}">
        <p14:creationId xmlns:p14="http://schemas.microsoft.com/office/powerpoint/2010/main" val="283893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4F2A953-FD53-7ACE-28A7-420E368BAD62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县城做承接，中心镇做辐射，乡村产生项目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7FB9E5-1092-B06F-7F62-0349DAB4C1B9}"/>
              </a:ext>
            </a:extLst>
          </p:cNvPr>
          <p:cNvSpPr txBox="1"/>
          <p:nvPr/>
        </p:nvSpPr>
        <p:spPr>
          <a:xfrm>
            <a:off x="640080" y="150876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县城 </a:t>
            </a:r>
            <a:r>
              <a:rPr lang="en-US" altLang="zh-CN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大本营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248B1-0E43-8F95-0E4B-06354AF206E7}"/>
              </a:ext>
            </a:extLst>
          </p:cNvPr>
          <p:cNvSpPr txBox="1"/>
          <p:nvPr/>
        </p:nvSpPr>
        <p:spPr>
          <a:xfrm>
            <a:off x="640080" y="210312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品牌展示与专业形象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大店体验与客户接待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仓储、配送与产品保障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专业服务和售后承接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对重点乡镇的资源支持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F00F83-C0B0-6338-861C-FFF224819EE6}"/>
              </a:ext>
            </a:extLst>
          </p:cNvPr>
          <p:cNvSpPr txBox="1"/>
          <p:nvPr/>
        </p:nvSpPr>
        <p:spPr>
          <a:xfrm>
            <a:off x="4480560" y="150876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中心镇 </a:t>
            </a:r>
            <a:r>
              <a:rPr lang="en-US" altLang="zh-CN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辐射点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C0877D-174B-BD07-9056-B13B5BA19C7B}"/>
              </a:ext>
            </a:extLst>
          </p:cNvPr>
          <p:cNvSpPr txBox="1"/>
          <p:nvPr/>
        </p:nvSpPr>
        <p:spPr>
          <a:xfrm>
            <a:off x="4480560" y="210312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聚集周边村镇的消费需求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建立核心网点或合作伙伴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连接本地工人、包工头和关键人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形成局部展示、推荐和服务能力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向周边村庄辐射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9D004B-448E-00AA-962E-112D9648058A}"/>
              </a:ext>
            </a:extLst>
          </p:cNvPr>
          <p:cNvSpPr txBox="1"/>
          <p:nvPr/>
        </p:nvSpPr>
        <p:spPr>
          <a:xfrm>
            <a:off x="8321040" y="150876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乡村 </a:t>
            </a:r>
            <a:r>
              <a:rPr lang="en-US" altLang="zh-CN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项目发生地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5722CB-0D6A-6AA5-D443-35FE4F15127D}"/>
              </a:ext>
            </a:extLst>
          </p:cNvPr>
          <p:cNvSpPr txBox="1"/>
          <p:nvPr/>
        </p:nvSpPr>
        <p:spPr>
          <a:xfrm>
            <a:off x="8321040" y="2103120"/>
            <a:ext cx="3474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自建房、翻修及维修项目发生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业主、熟人和施工关系形成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口碑传播和项目转介绍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真实使用场景和样板沉淀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C4C188-D6AF-EE2C-90CE-8CEE77292569}"/>
              </a:ext>
            </a:extLst>
          </p:cNvPr>
          <p:cNvSpPr txBox="1"/>
          <p:nvPr/>
        </p:nvSpPr>
        <p:spPr>
          <a:xfrm>
            <a:off x="640080" y="5623560"/>
            <a:ext cx="10881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县域经销商真正要经营的，是一张县、镇、村协同的生意网络</a:t>
            </a:r>
            <a:r>
              <a:rPr lang="en-US" altLang="zh-CN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不是平均进入所有乡镇，而是先判断重点乡镇。</a:t>
            </a:r>
          </a:p>
        </p:txBody>
      </p:sp>
    </p:spTree>
    <p:extLst>
      <p:ext uri="{BB962C8B-B14F-4D97-AF65-F5344CB8AC3E}">
        <p14:creationId xmlns:p14="http://schemas.microsoft.com/office/powerpoint/2010/main" val="372183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48CA80-9E56-C935-93F6-60EA81F0606A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客户买的不只是一桶材料，而是确定性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18C983-025F-36D4-7052-BBA0D374920F}"/>
              </a:ext>
            </a:extLst>
          </p:cNvPr>
          <p:cNvSpPr txBox="1"/>
          <p:nvPr/>
        </p:nvSpPr>
        <p:spPr>
          <a:xfrm>
            <a:off x="640080" y="1463040"/>
            <a:ext cx="5212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县域消费的真实处境：怕什么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3E7597-DCC8-1650-987C-A66D069127DA}"/>
              </a:ext>
            </a:extLst>
          </p:cNvPr>
          <p:cNvSpPr txBox="1"/>
          <p:nvPr/>
        </p:nvSpPr>
        <p:spPr>
          <a:xfrm>
            <a:off x="640080" y="2057400"/>
            <a:ext cx="5212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多年才做一次，缺少判断产品和施工的经验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年轻业主在外务工，家中老人盯施工，选材权常交给包工头或工人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一栋房分多个施工节点采购，不同材料由不同工人推荐，难以独立比较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产品是否合适，要等贴砖、闭水或经历雨季后才能验证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熟人圈小，一次漏水、掉砖或售后拖延，很快影响当地口碑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2A4CC1-AAF3-0772-2926-B51B6F6873F8}"/>
              </a:ext>
            </a:extLst>
          </p:cNvPr>
          <p:cNvSpPr txBox="1"/>
          <p:nvPr/>
        </p:nvSpPr>
        <p:spPr>
          <a:xfrm>
            <a:off x="6309360" y="1463040"/>
            <a:ext cx="5212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客户愿意相信的确定性：信什么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8D5560-4F79-1581-642F-C517E9FD2824}"/>
              </a:ext>
            </a:extLst>
          </p:cNvPr>
          <p:cNvSpPr txBox="1"/>
          <p:nvPr/>
        </p:nvSpPr>
        <p:spPr>
          <a:xfrm>
            <a:off x="6309360" y="2057400"/>
            <a:ext cx="52120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县城或乡镇有正规授权门店，产品来源清楚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附近村里有已经完工、经受过使用检验的真实样板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长期在当地做活的包工头、瓦工、防水工或熟人愿意推荐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产品对应屋面、厨卫、外墙、贴砖等具体施工节点</a:t>
            </a: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材料能送到村、缺货能及时补，出了问题经销商能到现场处理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E1A625-65CD-887B-B991-C0C4D60C132A}"/>
              </a:ext>
            </a:extLst>
          </p:cNvPr>
          <p:cNvSpPr txBox="1"/>
          <p:nvPr/>
        </p:nvSpPr>
        <p:spPr>
          <a:xfrm>
            <a:off x="640080" y="5623560"/>
            <a:ext cx="10881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熟人敢推荐、工人会施工、门店能送到、出了问题有人到场</a:t>
            </a:r>
            <a:r>
              <a:rPr lang="en-US" altLang="zh-CN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这四样确定性，你具备几样？</a:t>
            </a:r>
          </a:p>
        </p:txBody>
      </p:sp>
    </p:spTree>
    <p:extLst>
      <p:ext uri="{BB962C8B-B14F-4D97-AF65-F5344CB8AC3E}">
        <p14:creationId xmlns:p14="http://schemas.microsoft.com/office/powerpoint/2010/main" val="25183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53A2CA7-78E2-4A6B-9F02-B23A373EC7D1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看趋势，最后剩下三个判断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2B61CBA-2991-4CDF-9869-2C37721DC683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机会来源变了 </a:t>
            </a:r>
            <a:r>
              <a:rPr lang="en-US" altLang="zh-CN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机会位置变了 </a:t>
            </a:r>
            <a:r>
              <a:rPr lang="en-US" altLang="zh-CN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购买逻辑变了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BD6DC31A-A82B-456C-A49B-28352602CE26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J01_NUMBER">
            <a:extLst>
              <a:ext uri="{FF2B5EF4-FFF2-40B4-BE49-F238E27FC236}">
                <a16:creationId xmlns:a16="http://schemas.microsoft.com/office/drawing/2014/main" id="{8DB34C77-9B33-4C47-9736-C32A58C54853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J01_LABEL">
            <a:extLst>
              <a:ext uri="{FF2B5EF4-FFF2-40B4-BE49-F238E27FC236}">
                <a16:creationId xmlns:a16="http://schemas.microsoft.com/office/drawing/2014/main" id="{46CEF953-3BAF-4216-B218-F4129034465D}"/>
              </a:ext>
            </a:extLst>
          </p:cNvPr>
          <p:cNvSpPr>
            <a:spLocks noGrp="1"/>
          </p:cNvSpPr>
          <p:nvPr/>
        </p:nvSpPr>
        <p:spPr>
          <a:xfrm>
            <a:off x="1352550" y="21145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机会来源变了</a:t>
            </a:r>
            <a:endParaRPr sz="17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J01_FROM">
            <a:extLst>
              <a:ext uri="{FF2B5EF4-FFF2-40B4-BE49-F238E27FC236}">
                <a16:creationId xmlns:a16="http://schemas.microsoft.com/office/drawing/2014/main" id="{184225CF-794D-48C8-ACE6-A5C747902C08}"/>
              </a:ext>
            </a:extLst>
          </p:cNvPr>
          <p:cNvSpPr>
            <a:spLocks noGrp="1"/>
          </p:cNvSpPr>
          <p:nvPr/>
        </p:nvSpPr>
        <p:spPr>
          <a:xfrm>
            <a:off x="3810000" y="20383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主要依赖新房新建</a:t>
            </a:r>
            <a:endParaRPr sz="142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J01_ARROW">
            <a:extLst>
              <a:ext uri="{FF2B5EF4-FFF2-40B4-BE49-F238E27FC236}">
                <a16:creationId xmlns:a16="http://schemas.microsoft.com/office/drawing/2014/main" id="{D6509F61-2914-45BA-BCB1-40444D7631A9}"/>
              </a:ext>
            </a:extLst>
          </p:cNvPr>
          <p:cNvSpPr>
            <a:spLocks noGrp="1"/>
          </p:cNvSpPr>
          <p:nvPr/>
        </p:nvSpPr>
        <p:spPr>
          <a:xfrm>
            <a:off x="6724650" y="2133600"/>
            <a:ext cx="1066800" cy="361950"/>
          </a:xfrm>
          <a:prstGeom prst="rightArrow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11" name="J01_TO_SURFACE">
            <a:extLst>
              <a:ext uri="{FF2B5EF4-FFF2-40B4-BE49-F238E27FC236}">
                <a16:creationId xmlns:a16="http://schemas.microsoft.com/office/drawing/2014/main" id="{CBB658FB-269F-46D0-80D2-DB4C8BC974DD}"/>
              </a:ext>
            </a:extLst>
          </p:cNvPr>
          <p:cNvSpPr>
            <a:spLocks noGrp="1"/>
          </p:cNvSpPr>
          <p:nvPr/>
        </p:nvSpPr>
        <p:spPr>
          <a:xfrm>
            <a:off x="8020050" y="20193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FFF0F2"/>
          </a:solidFill>
          <a:ln w="14288">
            <a:solidFill>
              <a:srgbClr val="D6001C"/>
            </a:solidFill>
            <a:prstDash val="solid"/>
          </a:ln>
        </p:spPr>
      </p:sp>
      <p:sp>
        <p:nvSpPr>
          <p:cNvPr id="12" name="J01_TO">
            <a:extLst>
              <a:ext uri="{FF2B5EF4-FFF2-40B4-BE49-F238E27FC236}">
                <a16:creationId xmlns:a16="http://schemas.microsoft.com/office/drawing/2014/main" id="{F3D14615-927C-45BC-B09F-CC27811BFD1F}"/>
              </a:ext>
            </a:extLst>
          </p:cNvPr>
          <p:cNvSpPr>
            <a:spLocks noGrp="1"/>
          </p:cNvSpPr>
          <p:nvPr/>
        </p:nvSpPr>
        <p:spPr>
          <a:xfrm>
            <a:off x="8172450" y="21240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新建、翻修、维修、更新和改善并存</a:t>
            </a:r>
            <a:endParaRPr sz="1425" b="1">
              <a:solidFill>
                <a:srgbClr val="D600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J02_NUMBER">
            <a:extLst>
              <a:ext uri="{FF2B5EF4-FFF2-40B4-BE49-F238E27FC236}">
                <a16:creationId xmlns:a16="http://schemas.microsoft.com/office/drawing/2014/main" id="{348DA8DF-6A44-478D-A237-895FED395D86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J02_LABEL">
            <a:extLst>
              <a:ext uri="{FF2B5EF4-FFF2-40B4-BE49-F238E27FC236}">
                <a16:creationId xmlns:a16="http://schemas.microsoft.com/office/drawing/2014/main" id="{B0B969D8-36D6-4B22-952F-5034E8666BAD}"/>
              </a:ext>
            </a:extLst>
          </p:cNvPr>
          <p:cNvSpPr>
            <a:spLocks noGrp="1"/>
          </p:cNvSpPr>
          <p:nvPr/>
        </p:nvSpPr>
        <p:spPr>
          <a:xfrm>
            <a:off x="1352550" y="3409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机会位置变了</a:t>
            </a:r>
            <a:endParaRPr sz="17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J02_FROM">
            <a:extLst>
              <a:ext uri="{FF2B5EF4-FFF2-40B4-BE49-F238E27FC236}">
                <a16:creationId xmlns:a16="http://schemas.microsoft.com/office/drawing/2014/main" id="{D06E2F57-162B-4FDF-B228-74D11F8257F4}"/>
              </a:ext>
            </a:extLst>
          </p:cNvPr>
          <p:cNvSpPr>
            <a:spLocks noGrp="1"/>
          </p:cNvSpPr>
          <p:nvPr/>
        </p:nvSpPr>
        <p:spPr>
          <a:xfrm>
            <a:off x="3810000" y="33337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只盯县城</a:t>
            </a:r>
            <a:endParaRPr sz="142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J02_ARROW">
            <a:extLst>
              <a:ext uri="{FF2B5EF4-FFF2-40B4-BE49-F238E27FC236}">
                <a16:creationId xmlns:a16="http://schemas.microsoft.com/office/drawing/2014/main" id="{E31BA782-9A19-418B-B8B7-3C853731F226}"/>
              </a:ext>
            </a:extLst>
          </p:cNvPr>
          <p:cNvSpPr>
            <a:spLocks noGrp="1"/>
          </p:cNvSpPr>
          <p:nvPr/>
        </p:nvSpPr>
        <p:spPr>
          <a:xfrm>
            <a:off x="6724650" y="3429000"/>
            <a:ext cx="1066800" cy="361950"/>
          </a:xfrm>
          <a:prstGeom prst="rightArrow">
            <a:avLst/>
          </a:prstGeom>
          <a:solidFill>
            <a:srgbClr val="246AA8"/>
          </a:solidFill>
          <a:ln w="0">
            <a:noFill/>
            <a:prstDash val="solid"/>
          </a:ln>
        </p:spPr>
      </p:sp>
      <p:sp>
        <p:nvSpPr>
          <p:cNvPr id="17" name="J02_TO_SURFACE">
            <a:extLst>
              <a:ext uri="{FF2B5EF4-FFF2-40B4-BE49-F238E27FC236}">
                <a16:creationId xmlns:a16="http://schemas.microsoft.com/office/drawing/2014/main" id="{1E1EBA9A-2EDB-4355-9ECE-E249B6BF7D43}"/>
              </a:ext>
            </a:extLst>
          </p:cNvPr>
          <p:cNvSpPr>
            <a:spLocks noGrp="1"/>
          </p:cNvSpPr>
          <p:nvPr/>
        </p:nvSpPr>
        <p:spPr>
          <a:xfrm>
            <a:off x="8020050" y="33147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 w="14288">
            <a:solidFill>
              <a:srgbClr val="246AA8"/>
            </a:solidFill>
            <a:prstDash val="solid"/>
          </a:ln>
        </p:spPr>
      </p:sp>
      <p:sp>
        <p:nvSpPr>
          <p:cNvPr id="18" name="J02_TO">
            <a:extLst>
              <a:ext uri="{FF2B5EF4-FFF2-40B4-BE49-F238E27FC236}">
                <a16:creationId xmlns:a16="http://schemas.microsoft.com/office/drawing/2014/main" id="{E8E3C8E5-B537-4173-9ECD-4E709F1B2167}"/>
              </a:ext>
            </a:extLst>
          </p:cNvPr>
          <p:cNvSpPr>
            <a:spLocks noGrp="1"/>
          </p:cNvSpPr>
          <p:nvPr/>
        </p:nvSpPr>
        <p:spPr>
          <a:xfrm>
            <a:off x="8172450" y="34194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需求在县、镇、村之间流动</a:t>
            </a:r>
            <a:endParaRPr sz="1425" b="1">
              <a:solidFill>
                <a:srgbClr val="246AA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J03_NUMBER">
            <a:extLst>
              <a:ext uri="{FF2B5EF4-FFF2-40B4-BE49-F238E27FC236}">
                <a16:creationId xmlns:a16="http://schemas.microsoft.com/office/drawing/2014/main" id="{3FAF351A-76BC-49AD-A1B2-8CE7C5073567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J03_LABEL">
            <a:extLst>
              <a:ext uri="{FF2B5EF4-FFF2-40B4-BE49-F238E27FC236}">
                <a16:creationId xmlns:a16="http://schemas.microsoft.com/office/drawing/2014/main" id="{C0FDA0D9-0C3A-40BF-8055-76E0C7011050}"/>
              </a:ext>
            </a:extLst>
          </p:cNvPr>
          <p:cNvSpPr>
            <a:spLocks noGrp="1"/>
          </p:cNvSpPr>
          <p:nvPr/>
        </p:nvSpPr>
        <p:spPr>
          <a:xfrm>
            <a:off x="1352550" y="47053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购买逻辑变了</a:t>
            </a:r>
            <a:endParaRPr sz="17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J03_FROM">
            <a:extLst>
              <a:ext uri="{FF2B5EF4-FFF2-40B4-BE49-F238E27FC236}">
                <a16:creationId xmlns:a16="http://schemas.microsoft.com/office/drawing/2014/main" id="{A15819D4-F01B-4DF7-A69F-3D4A9ADDA2B8}"/>
              </a:ext>
            </a:extLst>
          </p:cNvPr>
          <p:cNvSpPr>
            <a:spLocks noGrp="1"/>
          </p:cNvSpPr>
          <p:nvPr/>
        </p:nvSpPr>
        <p:spPr>
          <a:xfrm>
            <a:off x="3810000" y="4629150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只讲产品和价格</a:t>
            </a:r>
            <a:endParaRPr sz="142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J03_ARROW">
            <a:extLst>
              <a:ext uri="{FF2B5EF4-FFF2-40B4-BE49-F238E27FC236}">
                <a16:creationId xmlns:a16="http://schemas.microsoft.com/office/drawing/2014/main" id="{A5FDEBE8-FB0A-4371-A995-65961A8FE8DA}"/>
              </a:ext>
            </a:extLst>
          </p:cNvPr>
          <p:cNvSpPr>
            <a:spLocks noGrp="1"/>
          </p:cNvSpPr>
          <p:nvPr/>
        </p:nvSpPr>
        <p:spPr>
          <a:xfrm>
            <a:off x="6724650" y="4724400"/>
            <a:ext cx="1066800" cy="361950"/>
          </a:xfrm>
          <a:prstGeom prst="rightArrow">
            <a:avLst/>
          </a:prstGeom>
          <a:solidFill>
            <a:srgbClr val="26866A"/>
          </a:solidFill>
          <a:ln w="0">
            <a:noFill/>
            <a:prstDash val="solid"/>
          </a:ln>
        </p:spPr>
      </p:sp>
      <p:sp>
        <p:nvSpPr>
          <p:cNvPr id="23" name="J03_TO_SURFACE">
            <a:extLst>
              <a:ext uri="{FF2B5EF4-FFF2-40B4-BE49-F238E27FC236}">
                <a16:creationId xmlns:a16="http://schemas.microsoft.com/office/drawing/2014/main" id="{A60BA2DD-F7E3-4999-B8F2-DA8EC4632080}"/>
              </a:ext>
            </a:extLst>
          </p:cNvPr>
          <p:cNvSpPr>
            <a:spLocks noGrp="1"/>
          </p:cNvSpPr>
          <p:nvPr/>
        </p:nvSpPr>
        <p:spPr>
          <a:xfrm>
            <a:off x="8020050" y="4610100"/>
            <a:ext cx="3333750" cy="590550"/>
          </a:xfrm>
          <a:prstGeom prst="roundRect">
            <a:avLst>
              <a:gd name="adj" fmla="val 12903"/>
            </a:avLst>
          </a:prstGeom>
          <a:solidFill>
            <a:srgbClr val="EAF5F1"/>
          </a:solidFill>
          <a:ln w="14288">
            <a:solidFill>
              <a:srgbClr val="26866A"/>
            </a:solidFill>
            <a:prstDash val="solid"/>
          </a:ln>
        </p:spPr>
      </p:sp>
      <p:sp>
        <p:nvSpPr>
          <p:cNvPr id="24" name="J03_TO">
            <a:extLst>
              <a:ext uri="{FF2B5EF4-FFF2-40B4-BE49-F238E27FC236}">
                <a16:creationId xmlns:a16="http://schemas.microsoft.com/office/drawing/2014/main" id="{ADBD459D-66CB-4E01-AE5D-A1A803814D88}"/>
              </a:ext>
            </a:extLst>
          </p:cNvPr>
          <p:cNvSpPr>
            <a:spLocks noGrp="1"/>
          </p:cNvSpPr>
          <p:nvPr/>
        </p:nvSpPr>
        <p:spPr>
          <a:xfrm>
            <a:off x="8172450" y="47148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29"/>
          </a:bodyPr>
          <a:lstStyle/>
          <a:p>
            <a:pPr algn="ctr">
              <a:defRPr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品牌、信任、关键人、施工与售后</a:t>
            </a:r>
            <a:endParaRPr sz="1425" b="1">
              <a:solidFill>
                <a:srgbClr val="268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EACHING_CUE">
            <a:extLst>
              <a:ext uri="{FF2B5EF4-FFF2-40B4-BE49-F238E27FC236}">
                <a16:creationId xmlns:a16="http://schemas.microsoft.com/office/drawing/2014/main" id="{E1EFE987-8404-48B5-9F5C-5766F6BAE40D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把货送进乡镇不难，难在看懂机会在哪发生、客户通过谁做决定。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PAGE_NUMBER">
            <a:extLst>
              <a:ext uri="{FF2B5EF4-FFF2-40B4-BE49-F238E27FC236}">
                <a16:creationId xmlns:a16="http://schemas.microsoft.com/office/drawing/2014/main" id="{EE5A4A45-F944-4D1C-B0A6-6E5A090FBF12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294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4BEAC0-C28F-442E-95F8-E7B78369A70F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先把县域分成三个区看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B1E2B74-D6E7-4EFD-918F-9AFFF4DF75B1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有订单，不等于有市场；能够持续获客、持续卖货，才叫把市场做起来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CB02E9BE-766C-48BD-886F-35E21F2F5422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COUNTY_CENTER">
            <a:extLst>
              <a:ext uri="{FF2B5EF4-FFF2-40B4-BE49-F238E27FC236}">
                <a16:creationId xmlns:a16="http://schemas.microsoft.com/office/drawing/2014/main" id="{F20FC3FA-8B08-47BF-91E8-EA13B578D926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2190750" cy="2190750"/>
          </a:xfrm>
          <a:prstGeom prst="ellipse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8" name="COUNTY_NAME">
            <a:extLst>
              <a:ext uri="{FF2B5EF4-FFF2-40B4-BE49-F238E27FC236}">
                <a16:creationId xmlns:a16="http://schemas.microsoft.com/office/drawing/2014/main" id="{00226CA5-6E44-4DD0-889E-45A1F5E497BE}"/>
              </a:ext>
            </a:extLst>
          </p:cNvPr>
          <p:cNvSpPr>
            <a:spLocks noGrp="1"/>
          </p:cNvSpPr>
          <p:nvPr/>
        </p:nvSpPr>
        <p:spPr>
          <a:xfrm>
            <a:off x="5048250" y="33718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____</a:t>
            </a:r>
            <a:r>
              <a:rPr lang="zh-CN" altLang="en-US"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县</a:t>
            </a:r>
            <a:endParaRPr sz="18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COUNTY_EVIDENCE">
            <a:extLst>
              <a:ext uri="{FF2B5EF4-FFF2-40B4-BE49-F238E27FC236}">
                <a16:creationId xmlns:a16="http://schemas.microsoft.com/office/drawing/2014/main" id="{ABD351DC-6101-47ED-802F-546E5B447BF7}"/>
              </a:ext>
            </a:extLst>
          </p:cNvPr>
          <p:cNvSpPr>
            <a:spLocks noGrp="1"/>
          </p:cNvSpPr>
          <p:nvPr/>
        </p:nvSpPr>
        <p:spPr>
          <a:xfrm>
            <a:off x="5067300" y="39433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核心门店｜配送｜服务</a:t>
            </a:r>
            <a:endParaRPr sz="975" b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OWN_01_LINK">
            <a:extLst>
              <a:ext uri="{FF2B5EF4-FFF2-40B4-BE49-F238E27FC236}">
                <a16:creationId xmlns:a16="http://schemas.microsoft.com/office/drawing/2014/main" id="{C9EE6FD8-575E-4AB1-B39F-8FE4321354FD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1333500" cy="377952"/>
          </a:xfrm>
          <a:prstGeom prst="line">
            <a:avLst/>
          </a:prstGeom>
          <a:noFill/>
          <a:ln w="19050">
            <a:solidFill>
              <a:srgbClr val="26866A"/>
            </a:solidFill>
            <a:prstDash val="solid"/>
          </a:ln>
        </p:spPr>
      </p:sp>
      <p:sp>
        <p:nvSpPr>
          <p:cNvPr id="11" name="TOWN_01_NODE">
            <a:extLst>
              <a:ext uri="{FF2B5EF4-FFF2-40B4-BE49-F238E27FC236}">
                <a16:creationId xmlns:a16="http://schemas.microsoft.com/office/drawing/2014/main" id="{F289FF18-E060-4086-A667-1889811D0506}"/>
              </a:ext>
            </a:extLst>
          </p:cNvPr>
          <p:cNvSpPr>
            <a:spLocks noGrp="1"/>
          </p:cNvSpPr>
          <p:nvPr/>
        </p:nvSpPr>
        <p:spPr>
          <a:xfrm>
            <a:off x="1847850" y="2152650"/>
            <a:ext cx="1695450" cy="914400"/>
          </a:xfrm>
          <a:prstGeom prst="ellipse">
            <a:avLst/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12" name="TOWN_01_LABEL">
            <a:extLst>
              <a:ext uri="{FF2B5EF4-FFF2-40B4-BE49-F238E27FC236}">
                <a16:creationId xmlns:a16="http://schemas.microsoft.com/office/drawing/2014/main" id="{445EDD39-97E7-444F-B6CE-24F0EBD7BDBF}"/>
              </a:ext>
            </a:extLst>
          </p:cNvPr>
          <p:cNvSpPr>
            <a:spLocks noGrp="1"/>
          </p:cNvSpPr>
          <p:nvPr/>
        </p:nvSpPr>
        <p:spPr>
          <a:xfrm>
            <a:off x="2019300" y="23145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乡镇①</a:t>
            </a:r>
            <a:endParaRPr sz="15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OWN_01_ACTION">
            <a:extLst>
              <a:ext uri="{FF2B5EF4-FFF2-40B4-BE49-F238E27FC236}">
                <a16:creationId xmlns:a16="http://schemas.microsoft.com/office/drawing/2014/main" id="{9F25BA7F-57F4-4495-9223-3814E374F94F}"/>
              </a:ext>
            </a:extLst>
          </p:cNvPr>
          <p:cNvSpPr>
            <a:spLocks noGrp="1"/>
          </p:cNvSpPr>
          <p:nvPr/>
        </p:nvSpPr>
        <p:spPr>
          <a:xfrm>
            <a:off x="2076450" y="26574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  <a:endParaRPr sz="1125" b="1">
              <a:solidFill>
                <a:srgbClr val="268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OWN_02_LINK">
            <a:extLst>
              <a:ext uri="{FF2B5EF4-FFF2-40B4-BE49-F238E27FC236}">
                <a16:creationId xmlns:a16="http://schemas.microsoft.com/office/drawing/2014/main" id="{A3B4B54B-9445-4B3A-8999-2EE065EC85C3}"/>
              </a:ext>
            </a:extLst>
          </p:cNvPr>
          <p:cNvSpPr>
            <a:spLocks noGrp="1"/>
          </p:cNvSpPr>
          <p:nvPr/>
        </p:nvSpPr>
        <p:spPr>
          <a:xfrm>
            <a:off x="3448050" y="3333750"/>
            <a:ext cx="1333500" cy="396240"/>
          </a:xfrm>
          <a:prstGeom prst="line">
            <a:avLst/>
          </a:prstGeom>
          <a:noFill/>
          <a:ln w="19050">
            <a:solidFill>
              <a:srgbClr val="246AA8"/>
            </a:solidFill>
            <a:prstDash val="solid"/>
          </a:ln>
        </p:spPr>
      </p:sp>
      <p:sp>
        <p:nvSpPr>
          <p:cNvPr id="15" name="TOWN_02_NODE">
            <a:extLst>
              <a:ext uri="{FF2B5EF4-FFF2-40B4-BE49-F238E27FC236}">
                <a16:creationId xmlns:a16="http://schemas.microsoft.com/office/drawing/2014/main" id="{10CEF9E2-99C6-4519-967A-034F461E8FDE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1695450" cy="914400"/>
          </a:xfrm>
          <a:prstGeom prst="ellipse">
            <a:avLst/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16" name="TOWN_02_LABEL">
            <a:extLst>
              <a:ext uri="{FF2B5EF4-FFF2-40B4-BE49-F238E27FC236}">
                <a16:creationId xmlns:a16="http://schemas.microsoft.com/office/drawing/2014/main" id="{6924B289-C96E-4ECB-A847-886A462EEB1E}"/>
              </a:ext>
            </a:extLst>
          </p:cNvPr>
          <p:cNvSpPr>
            <a:spLocks noGrp="1"/>
          </p:cNvSpPr>
          <p:nvPr/>
        </p:nvSpPr>
        <p:spPr>
          <a:xfrm>
            <a:off x="1924050" y="47339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乡镇②</a:t>
            </a:r>
            <a:endParaRPr sz="15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TOWN_02_ACTION">
            <a:extLst>
              <a:ext uri="{FF2B5EF4-FFF2-40B4-BE49-F238E27FC236}">
                <a16:creationId xmlns:a16="http://schemas.microsoft.com/office/drawing/2014/main" id="{DF87962D-5931-4B54-BEA5-ECE512977F0C}"/>
              </a:ext>
            </a:extLst>
          </p:cNvPr>
          <p:cNvSpPr>
            <a:spLocks noGrp="1"/>
          </p:cNvSpPr>
          <p:nvPr/>
        </p:nvSpPr>
        <p:spPr>
          <a:xfrm>
            <a:off x="1981200" y="5076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  <a:endParaRPr sz="1125" b="1">
              <a:solidFill>
                <a:srgbClr val="246AA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OWN_03_LINK">
            <a:extLst>
              <a:ext uri="{FF2B5EF4-FFF2-40B4-BE49-F238E27FC236}">
                <a16:creationId xmlns:a16="http://schemas.microsoft.com/office/drawing/2014/main" id="{29D6AA3F-0943-40C7-8A5C-DDD49CCECF26}"/>
              </a:ext>
            </a:extLst>
          </p:cNvPr>
          <p:cNvSpPr>
            <a:spLocks noGrp="1"/>
          </p:cNvSpPr>
          <p:nvPr/>
        </p:nvSpPr>
        <p:spPr>
          <a:xfrm>
            <a:off x="6953250" y="2505075"/>
            <a:ext cx="1314450" cy="411480"/>
          </a:xfrm>
          <a:prstGeom prst="line">
            <a:avLst/>
          </a:prstGeom>
          <a:noFill/>
          <a:ln w="19050">
            <a:solidFill>
              <a:srgbClr val="B87700"/>
            </a:solidFill>
            <a:prstDash val="solid"/>
          </a:ln>
        </p:spPr>
      </p:sp>
      <p:sp>
        <p:nvSpPr>
          <p:cNvPr id="19" name="TOWN_03_NODE">
            <a:extLst>
              <a:ext uri="{FF2B5EF4-FFF2-40B4-BE49-F238E27FC236}">
                <a16:creationId xmlns:a16="http://schemas.microsoft.com/office/drawing/2014/main" id="{8D88CF59-0127-42AD-AF35-213EF3B782EC}"/>
              </a:ext>
            </a:extLst>
          </p:cNvPr>
          <p:cNvSpPr>
            <a:spLocks noGrp="1"/>
          </p:cNvSpPr>
          <p:nvPr/>
        </p:nvSpPr>
        <p:spPr>
          <a:xfrm>
            <a:off x="8267700" y="2047875"/>
            <a:ext cx="1695450" cy="914400"/>
          </a:xfrm>
          <a:prstGeom prst="ellipse">
            <a:avLst/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20" name="TOWN_03_LABEL">
            <a:extLst>
              <a:ext uri="{FF2B5EF4-FFF2-40B4-BE49-F238E27FC236}">
                <a16:creationId xmlns:a16="http://schemas.microsoft.com/office/drawing/2014/main" id="{358D8641-03B7-45BD-BA23-30741A833839}"/>
              </a:ext>
            </a:extLst>
          </p:cNvPr>
          <p:cNvSpPr>
            <a:spLocks noGrp="1"/>
          </p:cNvSpPr>
          <p:nvPr/>
        </p:nvSpPr>
        <p:spPr>
          <a:xfrm>
            <a:off x="8439150" y="22098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乡镇③</a:t>
            </a:r>
            <a:endParaRPr sz="15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TOWN_03_ACTION">
            <a:extLst>
              <a:ext uri="{FF2B5EF4-FFF2-40B4-BE49-F238E27FC236}">
                <a16:creationId xmlns:a16="http://schemas.microsoft.com/office/drawing/2014/main" id="{6FCE488C-4A75-4293-A0A7-2E4E442ABB9D}"/>
              </a:ext>
            </a:extLst>
          </p:cNvPr>
          <p:cNvSpPr>
            <a:spLocks noGrp="1"/>
          </p:cNvSpPr>
          <p:nvPr/>
        </p:nvSpPr>
        <p:spPr>
          <a:xfrm>
            <a:off x="8496300" y="2552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  <a:endParaRPr sz="1125" b="1">
              <a:solidFill>
                <a:srgbClr val="B87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OWN_04_LINK">
            <a:extLst>
              <a:ext uri="{FF2B5EF4-FFF2-40B4-BE49-F238E27FC236}">
                <a16:creationId xmlns:a16="http://schemas.microsoft.com/office/drawing/2014/main" id="{8B768CDA-E014-45A1-9160-7B5CE17E48C8}"/>
              </a:ext>
            </a:extLst>
          </p:cNvPr>
          <p:cNvSpPr>
            <a:spLocks noGrp="1"/>
          </p:cNvSpPr>
          <p:nvPr/>
        </p:nvSpPr>
        <p:spPr>
          <a:xfrm>
            <a:off x="6953250" y="3333750"/>
            <a:ext cx="1571625" cy="377952"/>
          </a:xfrm>
          <a:prstGeom prst="line">
            <a:avLst/>
          </a:prstGeom>
          <a:noFill/>
          <a:ln w="19050">
            <a:solidFill>
              <a:srgbClr val="5F646B"/>
            </a:solidFill>
            <a:prstDash val="solid"/>
          </a:ln>
        </p:spPr>
      </p:sp>
      <p:sp>
        <p:nvSpPr>
          <p:cNvPr id="23" name="TOWN_04_NODE">
            <a:extLst>
              <a:ext uri="{FF2B5EF4-FFF2-40B4-BE49-F238E27FC236}">
                <a16:creationId xmlns:a16="http://schemas.microsoft.com/office/drawing/2014/main" id="{1DECEBDE-08A0-45FA-B904-497A691047DF}"/>
              </a:ext>
            </a:extLst>
          </p:cNvPr>
          <p:cNvSpPr>
            <a:spLocks noGrp="1"/>
          </p:cNvSpPr>
          <p:nvPr/>
        </p:nvSpPr>
        <p:spPr>
          <a:xfrm>
            <a:off x="8524875" y="4514850"/>
            <a:ext cx="1695450" cy="914400"/>
          </a:xfrm>
          <a:prstGeom prst="ellipse">
            <a:avLst/>
          </a:prstGeom>
          <a:solidFill>
            <a:srgbClr val="F4F5F6"/>
          </a:solidFill>
          <a:ln w="19050">
            <a:solidFill>
              <a:srgbClr val="5F646B"/>
            </a:solidFill>
            <a:prstDash val="solid"/>
          </a:ln>
        </p:spPr>
      </p:sp>
      <p:sp>
        <p:nvSpPr>
          <p:cNvPr id="24" name="TOWN_04_LABEL">
            <a:extLst>
              <a:ext uri="{FF2B5EF4-FFF2-40B4-BE49-F238E27FC236}">
                <a16:creationId xmlns:a16="http://schemas.microsoft.com/office/drawing/2014/main" id="{0DF52C39-AB7B-4F87-90EE-EA0282C6846C}"/>
              </a:ext>
            </a:extLst>
          </p:cNvPr>
          <p:cNvSpPr>
            <a:spLocks noGrp="1"/>
          </p:cNvSpPr>
          <p:nvPr/>
        </p:nvSpPr>
        <p:spPr>
          <a:xfrm>
            <a:off x="8696325" y="46767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乡镇④</a:t>
            </a:r>
            <a:endParaRPr sz="15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TOWN_04_ACTION">
            <a:extLst>
              <a:ext uri="{FF2B5EF4-FFF2-40B4-BE49-F238E27FC236}">
                <a16:creationId xmlns:a16="http://schemas.microsoft.com/office/drawing/2014/main" id="{2EAF9D99-1B7B-47A8-A826-D280429C19D2}"/>
              </a:ext>
            </a:extLst>
          </p:cNvPr>
          <p:cNvSpPr>
            <a:spLocks noGrp="1"/>
          </p:cNvSpPr>
          <p:nvPr/>
        </p:nvSpPr>
        <p:spPr>
          <a:xfrm>
            <a:off x="8753475" y="50196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评估</a:t>
            </a:r>
            <a:endParaRPr sz="1125" b="1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LEGEND_KEEP">
            <a:extLst>
              <a:ext uri="{FF2B5EF4-FFF2-40B4-BE49-F238E27FC236}">
                <a16:creationId xmlns:a16="http://schemas.microsoft.com/office/drawing/2014/main" id="{4E615121-DD8C-4704-89E4-8664EE6395F9}"/>
              </a:ext>
            </a:extLst>
          </p:cNvPr>
          <p:cNvSpPr>
            <a:spLocks noGrp="1"/>
          </p:cNvSpPr>
          <p:nvPr/>
        </p:nvSpPr>
        <p:spPr>
          <a:xfrm>
            <a:off x="43338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</a:p>
        </p:txBody>
      </p:sp>
      <p:sp>
        <p:nvSpPr>
          <p:cNvPr id="27" name="LEGEND_DEEPEN">
            <a:extLst>
              <a:ext uri="{FF2B5EF4-FFF2-40B4-BE49-F238E27FC236}">
                <a16:creationId xmlns:a16="http://schemas.microsoft.com/office/drawing/2014/main" id="{5075CC6B-4CCA-4B6A-A134-7F2B7F04FD69}"/>
              </a:ext>
            </a:extLst>
          </p:cNvPr>
          <p:cNvSpPr>
            <a:spLocks noGrp="1"/>
          </p:cNvSpPr>
          <p:nvPr/>
        </p:nvSpPr>
        <p:spPr>
          <a:xfrm>
            <a:off x="52863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</a:p>
        </p:txBody>
      </p:sp>
      <p:sp>
        <p:nvSpPr>
          <p:cNvPr id="28" name="LEGEND_EXPAND">
            <a:extLst>
              <a:ext uri="{FF2B5EF4-FFF2-40B4-BE49-F238E27FC236}">
                <a16:creationId xmlns:a16="http://schemas.microsoft.com/office/drawing/2014/main" id="{03F0608D-C72B-4604-BF3D-FD68B19EEF35}"/>
              </a:ext>
            </a:extLst>
          </p:cNvPr>
          <p:cNvSpPr>
            <a:spLocks noGrp="1"/>
          </p:cNvSpPr>
          <p:nvPr/>
        </p:nvSpPr>
        <p:spPr>
          <a:xfrm>
            <a:off x="6238875" y="547687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</a:p>
        </p:txBody>
      </p:sp>
      <p:sp>
        <p:nvSpPr>
          <p:cNvPr id="29" name="TEACHING_CUE">
            <a:extLst>
              <a:ext uri="{FF2B5EF4-FFF2-40B4-BE49-F238E27FC236}">
                <a16:creationId xmlns:a16="http://schemas.microsoft.com/office/drawing/2014/main" id="{7865C13A-C158-4426-A8FE-AD3B178675E7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先还原事实，再决定投入；不能全县平均，也不能把客户名单当成经营网络。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PAGE_NUMBER">
            <a:extLst>
              <a:ext uri="{FF2B5EF4-FFF2-40B4-BE49-F238E27FC236}">
                <a16:creationId xmlns:a16="http://schemas.microsoft.com/office/drawing/2014/main" id="{43EEE192-B173-4CE4-B093-CFA7969F5D3C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2429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174E65-E07B-4595-8C06-0A9CBD7243AC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四力：品牌、渠道、场景、产品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3981555-FCC6-4B21-88B1-7054E6B875CD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品牌让人信，渠道帮你卖，场景帮你找活，产品把钱接住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04ACF05B-DCCE-46DC-9C30-1A97130F56C6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DIAGNOSIS_CORE">
            <a:extLst>
              <a:ext uri="{FF2B5EF4-FFF2-40B4-BE49-F238E27FC236}">
                <a16:creationId xmlns:a16="http://schemas.microsoft.com/office/drawing/2014/main" id="{4EDF7D7A-CE22-4A89-8A7B-97511E278AE1}"/>
              </a:ext>
            </a:extLst>
          </p:cNvPr>
          <p:cNvSpPr>
            <a:spLocks noGrp="1"/>
          </p:cNvSpPr>
          <p:nvPr/>
        </p:nvSpPr>
        <p:spPr>
          <a:xfrm>
            <a:off x="4876800" y="2857500"/>
            <a:ext cx="2095500" cy="2095500"/>
          </a:xfrm>
          <a:prstGeom prst="ellipse">
            <a:avLst/>
          </a:prstGeom>
          <a:solidFill>
            <a:srgbClr val="191919"/>
          </a:solidFill>
          <a:ln w="0">
            <a:noFill/>
            <a:prstDash val="solid"/>
          </a:ln>
        </p:spPr>
      </p:sp>
      <p:sp>
        <p:nvSpPr>
          <p:cNvPr id="8" name="CORE_PROBLEM">
            <a:extLst>
              <a:ext uri="{FF2B5EF4-FFF2-40B4-BE49-F238E27FC236}">
                <a16:creationId xmlns:a16="http://schemas.microsoft.com/office/drawing/2014/main" id="{156D94E6-C945-4C87-AF7F-A3CA6BE819E3}"/>
              </a:ext>
            </a:extLst>
          </p:cNvPr>
          <p:cNvSpPr>
            <a:spLocks noGrp="1"/>
          </p:cNvSpPr>
          <p:nvPr/>
        </p:nvSpPr>
        <p:spPr>
          <a:xfrm>
            <a:off x="5219700" y="3390900"/>
            <a:ext cx="14097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主要卡在哪一力？</a:t>
            </a:r>
            <a:endParaRPr sz="17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BRAND_LINK">
            <a:extLst>
              <a:ext uri="{FF2B5EF4-FFF2-40B4-BE49-F238E27FC236}">
                <a16:creationId xmlns:a16="http://schemas.microsoft.com/office/drawing/2014/main" id="{B767A619-B52F-478E-87B2-8128B847E0B9}"/>
              </a:ext>
            </a:extLst>
          </p:cNvPr>
          <p:cNvSpPr>
            <a:spLocks noGrp="1"/>
          </p:cNvSpPr>
          <p:nvPr/>
        </p:nvSpPr>
        <p:spPr>
          <a:xfrm>
            <a:off x="4152900" y="2676525"/>
            <a:ext cx="723900" cy="523875"/>
          </a:xfrm>
          <a:prstGeom prst="line">
            <a:avLst/>
          </a:prstGeom>
          <a:noFill/>
          <a:ln w="19050">
            <a:solidFill>
              <a:srgbClr val="D6001C"/>
            </a:solidFill>
            <a:prstDash val="solid"/>
          </a:ln>
        </p:spPr>
      </p:sp>
      <p:sp>
        <p:nvSpPr>
          <p:cNvPr id="10" name="BRAND_SURFACE">
            <a:extLst>
              <a:ext uri="{FF2B5EF4-FFF2-40B4-BE49-F238E27FC236}">
                <a16:creationId xmlns:a16="http://schemas.microsoft.com/office/drawing/2014/main" id="{40B0A206-C8D4-4384-B657-0DA99894B4E9}"/>
              </a:ext>
            </a:extLst>
          </p:cNvPr>
          <p:cNvSpPr>
            <a:spLocks noGrp="1"/>
          </p:cNvSpPr>
          <p:nvPr/>
        </p:nvSpPr>
        <p:spPr>
          <a:xfrm>
            <a:off x="1104900" y="21526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0F2"/>
          </a:solidFill>
          <a:ln w="19050">
            <a:solidFill>
              <a:srgbClr val="D6001C"/>
            </a:solidFill>
            <a:prstDash val="solid"/>
          </a:ln>
        </p:spPr>
      </p:sp>
      <p:sp>
        <p:nvSpPr>
          <p:cNvPr id="11" name="BRAND_LABEL">
            <a:extLst>
              <a:ext uri="{FF2B5EF4-FFF2-40B4-BE49-F238E27FC236}">
                <a16:creationId xmlns:a16="http://schemas.microsoft.com/office/drawing/2014/main" id="{00F88D87-FA43-4B81-9B8D-BC7AB02BDD31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品牌力</a:t>
            </a:r>
          </a:p>
        </p:txBody>
      </p:sp>
      <p:sp>
        <p:nvSpPr>
          <p:cNvPr id="12" name="BRAND_QUESTION">
            <a:extLst>
              <a:ext uri="{FF2B5EF4-FFF2-40B4-BE49-F238E27FC236}">
                <a16:creationId xmlns:a16="http://schemas.microsoft.com/office/drawing/2014/main" id="{24F23C98-C2D6-48A1-8D71-073C74EA5496}"/>
              </a:ext>
            </a:extLst>
          </p:cNvPr>
          <p:cNvSpPr>
            <a:spLocks noGrp="1"/>
          </p:cNvSpPr>
          <p:nvPr/>
        </p:nvSpPr>
        <p:spPr>
          <a:xfrm>
            <a:off x="1295400" y="26384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当地人知不知道、信不信雨虹？</a:t>
            </a:r>
            <a:endParaRPr sz="127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BRAND_EVIDENCE">
            <a:extLst>
              <a:ext uri="{FF2B5EF4-FFF2-40B4-BE49-F238E27FC236}">
                <a16:creationId xmlns:a16="http://schemas.microsoft.com/office/drawing/2014/main" id="{7D226B41-9501-4D1F-BF9A-BEA1BB3A75F1}"/>
              </a:ext>
            </a:extLst>
          </p:cNvPr>
          <p:cNvSpPr>
            <a:spLocks noGrp="1"/>
          </p:cNvSpPr>
          <p:nvPr/>
        </p:nvSpPr>
        <p:spPr>
          <a:xfrm>
            <a:off x="1295400" y="29908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认知｜门店｜样板｜口碑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CHANNEL_LINK">
            <a:extLst>
              <a:ext uri="{FF2B5EF4-FFF2-40B4-BE49-F238E27FC236}">
                <a16:creationId xmlns:a16="http://schemas.microsoft.com/office/drawing/2014/main" id="{869203AC-831F-471F-91CA-BF31BDAA04C1}"/>
              </a:ext>
            </a:extLst>
          </p:cNvPr>
          <p:cNvSpPr>
            <a:spLocks noGrp="1"/>
          </p:cNvSpPr>
          <p:nvPr/>
        </p:nvSpPr>
        <p:spPr>
          <a:xfrm>
            <a:off x="6972300" y="2676525"/>
            <a:ext cx="1143000" cy="523875"/>
          </a:xfrm>
          <a:prstGeom prst="line">
            <a:avLst/>
          </a:prstGeom>
          <a:noFill/>
          <a:ln w="19050">
            <a:solidFill>
              <a:srgbClr val="246AA8"/>
            </a:solidFill>
            <a:prstDash val="solid"/>
          </a:ln>
        </p:spPr>
      </p:sp>
      <p:sp>
        <p:nvSpPr>
          <p:cNvPr id="15" name="CHANNEL_SURFACE">
            <a:extLst>
              <a:ext uri="{FF2B5EF4-FFF2-40B4-BE49-F238E27FC236}">
                <a16:creationId xmlns:a16="http://schemas.microsoft.com/office/drawing/2014/main" id="{435B9E77-8E0D-40D1-90BC-9094D9911990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16" name="CHANNEL_LABEL">
            <a:extLst>
              <a:ext uri="{FF2B5EF4-FFF2-40B4-BE49-F238E27FC236}">
                <a16:creationId xmlns:a16="http://schemas.microsoft.com/office/drawing/2014/main" id="{C8A89BFA-4BAC-4419-8685-662A606315CB}"/>
              </a:ext>
            </a:extLst>
          </p:cNvPr>
          <p:cNvSpPr>
            <a:spLocks noGrp="1"/>
          </p:cNvSpPr>
          <p:nvPr/>
        </p:nvSpPr>
        <p:spPr>
          <a:xfrm>
            <a:off x="8305800" y="22955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渠道力</a:t>
            </a:r>
          </a:p>
        </p:txBody>
      </p:sp>
      <p:sp>
        <p:nvSpPr>
          <p:cNvPr id="17" name="CHANNEL_QUESTION">
            <a:extLst>
              <a:ext uri="{FF2B5EF4-FFF2-40B4-BE49-F238E27FC236}">
                <a16:creationId xmlns:a16="http://schemas.microsoft.com/office/drawing/2014/main" id="{5D9F9F16-98A5-4534-A6CE-A2481A825C96}"/>
              </a:ext>
            </a:extLst>
          </p:cNvPr>
          <p:cNvSpPr>
            <a:spLocks noGrp="1"/>
          </p:cNvSpPr>
          <p:nvPr/>
        </p:nvSpPr>
        <p:spPr>
          <a:xfrm>
            <a:off x="8305800" y="26384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当地有没有人卖、有人推？</a:t>
            </a:r>
            <a:endParaRPr sz="127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CHANNEL_EVIDENCE">
            <a:extLst>
              <a:ext uri="{FF2B5EF4-FFF2-40B4-BE49-F238E27FC236}">
                <a16:creationId xmlns:a16="http://schemas.microsoft.com/office/drawing/2014/main" id="{24104CD1-8DF7-46B6-B48D-1EB9BCCEB074}"/>
              </a:ext>
            </a:extLst>
          </p:cNvPr>
          <p:cNvSpPr>
            <a:spLocks noGrp="1"/>
          </p:cNvSpPr>
          <p:nvPr/>
        </p:nvSpPr>
        <p:spPr>
          <a:xfrm>
            <a:off x="8305800" y="29908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网点｜工人｜关键人带客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CENE_LINK">
            <a:extLst>
              <a:ext uri="{FF2B5EF4-FFF2-40B4-BE49-F238E27FC236}">
                <a16:creationId xmlns:a16="http://schemas.microsoft.com/office/drawing/2014/main" id="{E3812C07-AC96-4D44-B5A8-41337B1F5878}"/>
              </a:ext>
            </a:extLst>
          </p:cNvPr>
          <p:cNvSpPr>
            <a:spLocks noGrp="1"/>
          </p:cNvSpPr>
          <p:nvPr/>
        </p:nvSpPr>
        <p:spPr>
          <a:xfrm>
            <a:off x="4152900" y="4476750"/>
            <a:ext cx="723900" cy="523875"/>
          </a:xfrm>
          <a:prstGeom prst="line">
            <a:avLst/>
          </a:prstGeom>
          <a:noFill/>
          <a:ln w="19050">
            <a:solidFill>
              <a:srgbClr val="B87700"/>
            </a:solidFill>
            <a:prstDash val="solid"/>
          </a:ln>
        </p:spPr>
      </p:sp>
      <p:sp>
        <p:nvSpPr>
          <p:cNvPr id="20" name="SCENE_SURFACE">
            <a:extLst>
              <a:ext uri="{FF2B5EF4-FFF2-40B4-BE49-F238E27FC236}">
                <a16:creationId xmlns:a16="http://schemas.microsoft.com/office/drawing/2014/main" id="{C2395F50-F185-4D08-93DA-F702639B6DC3}"/>
              </a:ext>
            </a:extLst>
          </p:cNvPr>
          <p:cNvSpPr>
            <a:spLocks noGrp="1"/>
          </p:cNvSpPr>
          <p:nvPr/>
        </p:nvSpPr>
        <p:spPr>
          <a:xfrm>
            <a:off x="1104900" y="4476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21" name="SCENE_LABEL">
            <a:extLst>
              <a:ext uri="{FF2B5EF4-FFF2-40B4-BE49-F238E27FC236}">
                <a16:creationId xmlns:a16="http://schemas.microsoft.com/office/drawing/2014/main" id="{E3533932-C006-40A8-9E62-8E18828978D1}"/>
              </a:ext>
            </a:extLst>
          </p:cNvPr>
          <p:cNvSpPr>
            <a:spLocks noGrp="1"/>
          </p:cNvSpPr>
          <p:nvPr/>
        </p:nvSpPr>
        <p:spPr>
          <a:xfrm>
            <a:off x="1295400" y="46196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场景力</a:t>
            </a:r>
          </a:p>
        </p:txBody>
      </p:sp>
      <p:sp>
        <p:nvSpPr>
          <p:cNvPr id="22" name="SCENE_QUESTION">
            <a:extLst>
              <a:ext uri="{FF2B5EF4-FFF2-40B4-BE49-F238E27FC236}">
                <a16:creationId xmlns:a16="http://schemas.microsoft.com/office/drawing/2014/main" id="{AF84A24B-3E37-41C9-832E-072F6D2CD257}"/>
              </a:ext>
            </a:extLst>
          </p:cNvPr>
          <p:cNvSpPr>
            <a:spLocks noGrp="1"/>
          </p:cNvSpPr>
          <p:nvPr/>
        </p:nvSpPr>
        <p:spPr>
          <a:xfrm>
            <a:off x="1295400" y="49625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能不能找到活、赶上采购点？</a:t>
            </a:r>
            <a:endParaRPr sz="127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SCENE_EVIDENCE">
            <a:extLst>
              <a:ext uri="{FF2B5EF4-FFF2-40B4-BE49-F238E27FC236}">
                <a16:creationId xmlns:a16="http://schemas.microsoft.com/office/drawing/2014/main" id="{742863A3-607C-426F-8A6A-34E907E4F79B}"/>
              </a:ext>
            </a:extLst>
          </p:cNvPr>
          <p:cNvSpPr>
            <a:spLocks noGrp="1"/>
          </p:cNvSpPr>
          <p:nvPr/>
        </p:nvSpPr>
        <p:spPr>
          <a:xfrm>
            <a:off x="1295400" y="53149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项目｜进度｜采购节点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PRODUCT_LINK">
            <a:extLst>
              <a:ext uri="{FF2B5EF4-FFF2-40B4-BE49-F238E27FC236}">
                <a16:creationId xmlns:a16="http://schemas.microsoft.com/office/drawing/2014/main" id="{7E89A4B1-D239-4EDA-A50C-733CC008129C}"/>
              </a:ext>
            </a:extLst>
          </p:cNvPr>
          <p:cNvSpPr>
            <a:spLocks noGrp="1"/>
          </p:cNvSpPr>
          <p:nvPr/>
        </p:nvSpPr>
        <p:spPr>
          <a:xfrm>
            <a:off x="6972300" y="4476750"/>
            <a:ext cx="1143000" cy="523875"/>
          </a:xfrm>
          <a:prstGeom prst="line">
            <a:avLst/>
          </a:prstGeom>
          <a:noFill/>
          <a:ln w="19050">
            <a:solidFill>
              <a:srgbClr val="26866A"/>
            </a:solidFill>
            <a:prstDash val="solid"/>
          </a:ln>
        </p:spPr>
      </p:sp>
      <p:sp>
        <p:nvSpPr>
          <p:cNvPr id="25" name="PRODUCT_SURFACE">
            <a:extLst>
              <a:ext uri="{FF2B5EF4-FFF2-40B4-BE49-F238E27FC236}">
                <a16:creationId xmlns:a16="http://schemas.microsoft.com/office/drawing/2014/main" id="{657347C3-132A-4654-BC89-24367335A8B5}"/>
              </a:ext>
            </a:extLst>
          </p:cNvPr>
          <p:cNvSpPr>
            <a:spLocks noGrp="1"/>
          </p:cNvSpPr>
          <p:nvPr/>
        </p:nvSpPr>
        <p:spPr>
          <a:xfrm>
            <a:off x="8115300" y="4476750"/>
            <a:ext cx="3048000" cy="1143000"/>
          </a:xfrm>
          <a:prstGeom prst="roundRect">
            <a:avLst>
              <a:gd name="adj" fmla="val 6667"/>
            </a:avLst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26" name="PRODUCT_LABEL">
            <a:extLst>
              <a:ext uri="{FF2B5EF4-FFF2-40B4-BE49-F238E27FC236}">
                <a16:creationId xmlns:a16="http://schemas.microsoft.com/office/drawing/2014/main" id="{BC94698D-B6BE-4902-8DF9-CBE9F7CD4EE3}"/>
              </a:ext>
            </a:extLst>
          </p:cNvPr>
          <p:cNvSpPr>
            <a:spLocks noGrp="1"/>
          </p:cNvSpPr>
          <p:nvPr/>
        </p:nvSpPr>
        <p:spPr>
          <a:xfrm>
            <a:off x="8305800" y="4619625"/>
            <a:ext cx="876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909"/>
          </a:bodyPr>
          <a:lstStyle/>
          <a:p>
            <a:pPr algn="l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产品力</a:t>
            </a:r>
          </a:p>
        </p:txBody>
      </p:sp>
      <p:sp>
        <p:nvSpPr>
          <p:cNvPr id="27" name="PRODUCT_QUESTION">
            <a:extLst>
              <a:ext uri="{FF2B5EF4-FFF2-40B4-BE49-F238E27FC236}">
                <a16:creationId xmlns:a16="http://schemas.microsoft.com/office/drawing/2014/main" id="{A64C96B1-A9A4-4677-B76E-30FB51732F0A}"/>
              </a:ext>
            </a:extLst>
          </p:cNvPr>
          <p:cNvSpPr>
            <a:spLocks noGrp="1"/>
          </p:cNvSpPr>
          <p:nvPr/>
        </p:nvSpPr>
        <p:spPr>
          <a:xfrm>
            <a:off x="8305800" y="4962525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先卖什么，能不能越卖越多？</a:t>
            </a:r>
            <a:endParaRPr sz="127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PRODUCT_EVIDENCE">
            <a:extLst>
              <a:ext uri="{FF2B5EF4-FFF2-40B4-BE49-F238E27FC236}">
                <a16:creationId xmlns:a16="http://schemas.microsoft.com/office/drawing/2014/main" id="{AFC18B0B-29CD-4A98-B4E6-E2A4A9BD1338}"/>
              </a:ext>
            </a:extLst>
          </p:cNvPr>
          <p:cNvSpPr>
            <a:spLocks noGrp="1"/>
          </p:cNvSpPr>
          <p:nvPr/>
        </p:nvSpPr>
        <p:spPr>
          <a:xfrm>
            <a:off x="8305800" y="5314950"/>
            <a:ext cx="2647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首单｜复购｜组合扩品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TEACHING_CUE">
            <a:extLst>
              <a:ext uri="{FF2B5EF4-FFF2-40B4-BE49-F238E27FC236}">
                <a16:creationId xmlns:a16="http://schemas.microsoft.com/office/drawing/2014/main" id="{8D938446-8400-4DF0-A382-AA3D6780C0D2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短板判断要凭可观察的证据，不是凭感觉打分；允许「主短板 </a:t>
            </a:r>
            <a:r>
              <a:rPr lang="en-US" altLang="zh-CN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次短板」。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PAGE_NUMBER">
            <a:extLst>
              <a:ext uri="{FF2B5EF4-FFF2-40B4-BE49-F238E27FC236}">
                <a16:creationId xmlns:a16="http://schemas.microsoft.com/office/drawing/2014/main" id="{CAC01B4F-05E4-4BD5-A44F-8715BACE2341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3819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015E4D5-A524-41E6-B76F-43845D31DDC8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进得去、站得住、卖得动、做得深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EAC61086-CA39-4AB3-B09C-98DBC03DB483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四阶段不按开发了几年判断，而是看乡镇市场实际做到什么程度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7CE5B6D3-DE5C-4726-896E-90CA9E61601D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S1_BLOCK">
            <a:extLst>
              <a:ext uri="{FF2B5EF4-FFF2-40B4-BE49-F238E27FC236}">
                <a16:creationId xmlns:a16="http://schemas.microsoft.com/office/drawing/2014/main" id="{0CC200C0-2479-4589-8C5C-F7AB51108B35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2381250" cy="1905000"/>
          </a:xfrm>
          <a:prstGeom prst="rect">
            <a:avLst/>
          </a:prstGeom>
          <a:solidFill>
            <a:srgbClr val="E9ECEF"/>
          </a:solidFill>
          <a:ln w="0">
            <a:noFill/>
            <a:prstDash val="solid"/>
          </a:ln>
        </p:spPr>
      </p:sp>
      <p:sp>
        <p:nvSpPr>
          <p:cNvPr id="8" name="S1_NUMBER">
            <a:extLst>
              <a:ext uri="{FF2B5EF4-FFF2-40B4-BE49-F238E27FC236}">
                <a16:creationId xmlns:a16="http://schemas.microsoft.com/office/drawing/2014/main" id="{C42F2D47-C6A3-49FF-B0BE-ACBCB8FD030B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1_LABEL">
            <a:extLst>
              <a:ext uri="{FF2B5EF4-FFF2-40B4-BE49-F238E27FC236}">
                <a16:creationId xmlns:a16="http://schemas.microsoft.com/office/drawing/2014/main" id="{6826E5DF-73FF-4359-A0BD-5612FD970C28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进得去</a:t>
            </a:r>
          </a:p>
        </p:txBody>
      </p:sp>
      <p:sp>
        <p:nvSpPr>
          <p:cNvPr id="10" name="S1_RESULT">
            <a:extLst>
              <a:ext uri="{FF2B5EF4-FFF2-40B4-BE49-F238E27FC236}">
                <a16:creationId xmlns:a16="http://schemas.microsoft.com/office/drawing/2014/main" id="{7F11A11A-7548-44DA-B7A4-99E6443749EB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发生第一批真实业务</a:t>
            </a:r>
            <a:endParaRPr sz="1200" b="1">
              <a:solidFill>
                <a:srgbClr val="4C5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1_TASK">
            <a:extLst>
              <a:ext uri="{FF2B5EF4-FFF2-40B4-BE49-F238E27FC236}">
                <a16:creationId xmlns:a16="http://schemas.microsoft.com/office/drawing/2014/main" id="{11891CEB-2EF2-4A22-A0C1-AAE739958585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找到入口，完成第一批生意</a:t>
            </a:r>
            <a:endParaRPr sz="1050" b="0">
              <a:solidFill>
                <a:srgbClr val="4C525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S2_BLOCK">
            <a:extLst>
              <a:ext uri="{FF2B5EF4-FFF2-40B4-BE49-F238E27FC236}">
                <a16:creationId xmlns:a16="http://schemas.microsoft.com/office/drawing/2014/main" id="{D442830E-21CC-497A-B8C9-AE6008778072}"/>
              </a:ext>
            </a:extLst>
          </p:cNvPr>
          <p:cNvSpPr>
            <a:spLocks noGrp="1"/>
          </p:cNvSpPr>
          <p:nvPr/>
        </p:nvSpPr>
        <p:spPr>
          <a:xfrm>
            <a:off x="3219450" y="3333750"/>
            <a:ext cx="2381250" cy="2571750"/>
          </a:xfrm>
          <a:prstGeom prst="rect">
            <a:avLst/>
          </a:prstGeom>
          <a:solidFill>
            <a:srgbClr val="D9DEE3"/>
          </a:solidFill>
          <a:ln w="0">
            <a:noFill/>
            <a:prstDash val="solid"/>
          </a:ln>
        </p:spPr>
      </p:sp>
      <p:sp>
        <p:nvSpPr>
          <p:cNvPr id="13" name="S2_NUMBER">
            <a:extLst>
              <a:ext uri="{FF2B5EF4-FFF2-40B4-BE49-F238E27FC236}">
                <a16:creationId xmlns:a16="http://schemas.microsoft.com/office/drawing/2014/main" id="{2E2BBD6C-68D8-4A0E-B668-69E86A71FF48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_LABEL">
            <a:extLst>
              <a:ext uri="{FF2B5EF4-FFF2-40B4-BE49-F238E27FC236}">
                <a16:creationId xmlns:a16="http://schemas.microsoft.com/office/drawing/2014/main" id="{679E81D6-96D7-407B-A975-A8CD08D4A9D5}"/>
              </a:ext>
            </a:extLst>
          </p:cNvPr>
          <p:cNvSpPr>
            <a:spLocks noGrp="1"/>
          </p:cNvSpPr>
          <p:nvPr/>
        </p:nvSpPr>
        <p:spPr>
          <a:xfrm>
            <a:off x="3429000" y="390525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站得住</a:t>
            </a:r>
          </a:p>
        </p:txBody>
      </p:sp>
      <p:sp>
        <p:nvSpPr>
          <p:cNvPr id="15" name="S2_RESULT">
            <a:extLst>
              <a:ext uri="{FF2B5EF4-FFF2-40B4-BE49-F238E27FC236}">
                <a16:creationId xmlns:a16="http://schemas.microsoft.com/office/drawing/2014/main" id="{C85427F5-E885-4784-8324-F9C175B51F21}"/>
              </a:ext>
            </a:extLst>
          </p:cNvPr>
          <p:cNvSpPr>
            <a:spLocks noGrp="1"/>
          </p:cNvSpPr>
          <p:nvPr/>
        </p:nvSpPr>
        <p:spPr>
          <a:xfrm>
            <a:off x="3429000" y="43053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不再只靠偶然订单，开始有稳定基础</a:t>
            </a:r>
            <a:endParaRPr sz="1200" b="1">
              <a:solidFill>
                <a:srgbClr val="343A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2_TASK">
            <a:extLst>
              <a:ext uri="{FF2B5EF4-FFF2-40B4-BE49-F238E27FC236}">
                <a16:creationId xmlns:a16="http://schemas.microsoft.com/office/drawing/2014/main" id="{8A1D2ADB-A9A6-4641-9706-A2E78C937BF8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1962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让网点、线索和产品开始重复</a:t>
            </a:r>
            <a:endParaRPr sz="1050" b="0">
              <a:solidFill>
                <a:srgbClr val="343A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3_BLOCK">
            <a:extLst>
              <a:ext uri="{FF2B5EF4-FFF2-40B4-BE49-F238E27FC236}">
                <a16:creationId xmlns:a16="http://schemas.microsoft.com/office/drawing/2014/main" id="{71D57944-2CB7-4753-85DA-DBA84083FBC2}"/>
              </a:ext>
            </a:extLst>
          </p:cNvPr>
          <p:cNvSpPr>
            <a:spLocks noGrp="1"/>
          </p:cNvSpPr>
          <p:nvPr/>
        </p:nvSpPr>
        <p:spPr>
          <a:xfrm>
            <a:off x="5600700" y="2667000"/>
            <a:ext cx="2381250" cy="3238500"/>
          </a:xfrm>
          <a:prstGeom prst="rect">
            <a:avLst/>
          </a:prstGeom>
          <a:solidFill>
            <a:srgbClr val="2D3136"/>
          </a:solidFill>
          <a:ln w="0">
            <a:noFill/>
            <a:prstDash val="solid"/>
          </a:ln>
        </p:spPr>
      </p:sp>
      <p:sp>
        <p:nvSpPr>
          <p:cNvPr id="18" name="S3_NUMBER">
            <a:extLst>
              <a:ext uri="{FF2B5EF4-FFF2-40B4-BE49-F238E27FC236}">
                <a16:creationId xmlns:a16="http://schemas.microsoft.com/office/drawing/2014/main" id="{404A2C83-862F-4BA2-830E-F11AE7575C4E}"/>
              </a:ext>
            </a:extLst>
          </p:cNvPr>
          <p:cNvSpPr>
            <a:spLocks noGrp="1"/>
          </p:cNvSpPr>
          <p:nvPr/>
        </p:nvSpPr>
        <p:spPr>
          <a:xfrm>
            <a:off x="5810250" y="28575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S3_LABEL">
            <a:extLst>
              <a:ext uri="{FF2B5EF4-FFF2-40B4-BE49-F238E27FC236}">
                <a16:creationId xmlns:a16="http://schemas.microsoft.com/office/drawing/2014/main" id="{26EDCA7E-FC7D-41FC-B987-6E5B69E78669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1962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卖得动</a:t>
            </a:r>
          </a:p>
        </p:txBody>
      </p:sp>
      <p:sp>
        <p:nvSpPr>
          <p:cNvPr id="20" name="S3_RESULT">
            <a:extLst>
              <a:ext uri="{FF2B5EF4-FFF2-40B4-BE49-F238E27FC236}">
                <a16:creationId xmlns:a16="http://schemas.microsoft.com/office/drawing/2014/main" id="{68E3C6B4-236D-48EC-BA3E-6412DA09C6D5}"/>
              </a:ext>
            </a:extLst>
          </p:cNvPr>
          <p:cNvSpPr>
            <a:spLocks noGrp="1"/>
          </p:cNvSpPr>
          <p:nvPr/>
        </p:nvSpPr>
        <p:spPr>
          <a:xfrm>
            <a:off x="5810250" y="36385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客户、项目和销量持续增加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S3_TASK">
            <a:extLst>
              <a:ext uri="{FF2B5EF4-FFF2-40B4-BE49-F238E27FC236}">
                <a16:creationId xmlns:a16="http://schemas.microsoft.com/office/drawing/2014/main" id="{A1262302-D77E-4133-97FD-6D80D5AA7417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19621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提高有效网点、有效项目和有效销量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S4_BLOCK">
            <a:extLst>
              <a:ext uri="{FF2B5EF4-FFF2-40B4-BE49-F238E27FC236}">
                <a16:creationId xmlns:a16="http://schemas.microsoft.com/office/drawing/2014/main" id="{970AB39D-EF02-4440-BC3E-1F453A2AC621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3333750" cy="3905250"/>
          </a:xfrm>
          <a:prstGeom prst="rect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23" name="S4_NUMBER">
            <a:extLst>
              <a:ext uri="{FF2B5EF4-FFF2-40B4-BE49-F238E27FC236}">
                <a16:creationId xmlns:a16="http://schemas.microsoft.com/office/drawing/2014/main" id="{DD0FAAA6-DD49-4ED2-BE19-377337284EA4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S4_LABEL">
            <a:extLst>
              <a:ext uri="{FF2B5EF4-FFF2-40B4-BE49-F238E27FC236}">
                <a16:creationId xmlns:a16="http://schemas.microsoft.com/office/drawing/2014/main" id="{ECEF836E-8D91-41B5-9684-8266ED34EFAA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9146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做得深</a:t>
            </a:r>
          </a:p>
        </p:txBody>
      </p:sp>
      <p:sp>
        <p:nvSpPr>
          <p:cNvPr id="25" name="S4_RESULT">
            <a:extLst>
              <a:ext uri="{FF2B5EF4-FFF2-40B4-BE49-F238E27FC236}">
                <a16:creationId xmlns:a16="http://schemas.microsoft.com/office/drawing/2014/main" id="{D9E2C376-C085-46D6-8A07-22B109C268AA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提高单点和单客价值</a:t>
            </a:r>
            <a:endParaRPr sz="12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S4_TASK">
            <a:extLst>
              <a:ext uri="{FF2B5EF4-FFF2-40B4-BE49-F238E27FC236}">
                <a16:creationId xmlns:a16="http://schemas.microsoft.com/office/drawing/2014/main" id="{ED4627A6-F825-47D8-BA32-62E46C4A84E8}"/>
              </a:ext>
            </a:extLst>
          </p:cNvPr>
          <p:cNvSpPr>
            <a:spLocks noGrp="1"/>
          </p:cNvSpPr>
          <p:nvPr/>
        </p:nvSpPr>
        <p:spPr>
          <a:xfrm>
            <a:off x="8191500" y="3429000"/>
            <a:ext cx="29146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组合扩品，沉淀并复制方法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STAGE_RULE">
            <a:extLst>
              <a:ext uri="{FF2B5EF4-FFF2-40B4-BE49-F238E27FC236}">
                <a16:creationId xmlns:a16="http://schemas.microsoft.com/office/drawing/2014/main" id="{1D4E1AF0-EC74-4EAC-AC79-B1F60C72A5AE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628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阶段判断看的是已形成的市场结果，不是投入的动作</a:t>
            </a:r>
            <a:endParaRPr sz="16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ACHING_CUE">
            <a:extLst>
              <a:ext uri="{FF2B5EF4-FFF2-40B4-BE49-F238E27FC236}">
                <a16:creationId xmlns:a16="http://schemas.microsoft.com/office/drawing/2014/main" id="{2DB1E978-80B2-47BD-832B-E67D68C2F0DF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允许「主阶段 </a:t>
            </a:r>
            <a:r>
              <a:rPr lang="en-US" altLang="zh-CN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+ </a:t>
            </a: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次级瓶颈」：一个乡镇可能站得住，但产品力还是进得去水平。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PAGE_NUMBER">
            <a:extLst>
              <a:ext uri="{FF2B5EF4-FFF2-40B4-BE49-F238E27FC236}">
                <a16:creationId xmlns:a16="http://schemas.microsoft.com/office/drawing/2014/main" id="{0884160C-C642-4EF0-A1D2-4E58AD8F5BF1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2461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4D74369-284E-4DB6-B9FE-326ED39917B0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乡镇做不起来，通常卡在这四类病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301BA9C-77DE-4ACD-A7EA-4268BCBD5175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病症是「投入、过程和结果不匹配」的整体状态；先认出病，再找病因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D1DE82DE-35D1-410A-B376-330771657352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SYMPTOM_01">
            <a:extLst>
              <a:ext uri="{FF2B5EF4-FFF2-40B4-BE49-F238E27FC236}">
                <a16:creationId xmlns:a16="http://schemas.microsoft.com/office/drawing/2014/main" id="{236107BA-0123-4633-A1D8-33DFA55338A2}"/>
              </a:ext>
            </a:extLst>
          </p:cNvPr>
          <p:cNvSpPr>
            <a:spLocks noGrp="1"/>
          </p:cNvSpPr>
          <p:nvPr/>
        </p:nvSpPr>
        <p:spPr>
          <a:xfrm rot="-240000">
            <a:off x="666750" y="2057400"/>
            <a:ext cx="1600200" cy="6286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SYMPTOM_01_TEXT">
            <a:extLst>
              <a:ext uri="{FF2B5EF4-FFF2-40B4-BE49-F238E27FC236}">
                <a16:creationId xmlns:a16="http://schemas.microsoft.com/office/drawing/2014/main" id="{7DE256CA-D539-410A-85B8-D75A5631005A}"/>
              </a:ext>
            </a:extLst>
          </p:cNvPr>
          <p:cNvSpPr>
            <a:spLocks noGrp="1"/>
          </p:cNvSpPr>
          <p:nvPr/>
        </p:nvSpPr>
        <p:spPr>
          <a:xfrm rot="-240000">
            <a:off x="752475" y="21717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动作做了不少，一停就安静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YMPTOM_02">
            <a:extLst>
              <a:ext uri="{FF2B5EF4-FFF2-40B4-BE49-F238E27FC236}">
                <a16:creationId xmlns:a16="http://schemas.microsoft.com/office/drawing/2014/main" id="{4E2A0B50-ACFD-4D8E-8EDE-37F22D9A51D1}"/>
              </a:ext>
            </a:extLst>
          </p:cNvPr>
          <p:cNvSpPr>
            <a:spLocks noGrp="1"/>
          </p:cNvSpPr>
          <p:nvPr/>
        </p:nvSpPr>
        <p:spPr>
          <a:xfrm rot="180000">
            <a:off x="2428875" y="1885950"/>
            <a:ext cx="1504950" cy="70485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SYMPTOM_02_TEXT">
            <a:extLst>
              <a:ext uri="{FF2B5EF4-FFF2-40B4-BE49-F238E27FC236}">
                <a16:creationId xmlns:a16="http://schemas.microsoft.com/office/drawing/2014/main" id="{9C84BC26-9C2F-4023-BE93-64037011C712}"/>
              </a:ext>
            </a:extLst>
          </p:cNvPr>
          <p:cNvSpPr>
            <a:spLocks noGrp="1"/>
          </p:cNvSpPr>
          <p:nvPr/>
        </p:nvSpPr>
        <p:spPr>
          <a:xfrm rot="180000">
            <a:off x="2514600" y="2000250"/>
            <a:ext cx="133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网点进了货，但不主动卖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YMPTOM_03">
            <a:extLst>
              <a:ext uri="{FF2B5EF4-FFF2-40B4-BE49-F238E27FC236}">
                <a16:creationId xmlns:a16="http://schemas.microsoft.com/office/drawing/2014/main" id="{5CAFD797-6866-457A-9A8B-8426989938A2}"/>
              </a:ext>
            </a:extLst>
          </p:cNvPr>
          <p:cNvSpPr>
            <a:spLocks noGrp="1"/>
          </p:cNvSpPr>
          <p:nvPr/>
        </p:nvSpPr>
        <p:spPr>
          <a:xfrm rot="120000">
            <a:off x="866775" y="2886075"/>
            <a:ext cx="1638300" cy="6667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SYMPTOM_03_TEXT">
            <a:extLst>
              <a:ext uri="{FF2B5EF4-FFF2-40B4-BE49-F238E27FC236}">
                <a16:creationId xmlns:a16="http://schemas.microsoft.com/office/drawing/2014/main" id="{F6222EA3-98DE-4D46-A1EF-1A7146379519}"/>
              </a:ext>
            </a:extLst>
          </p:cNvPr>
          <p:cNvSpPr>
            <a:spLocks noGrp="1"/>
          </p:cNvSpPr>
          <p:nvPr/>
        </p:nvSpPr>
        <p:spPr>
          <a:xfrm rot="120000">
            <a:off x="952500" y="3000375"/>
            <a:ext cx="1466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活动一停，市场就安静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YMPTOM_04">
            <a:extLst>
              <a:ext uri="{FF2B5EF4-FFF2-40B4-BE49-F238E27FC236}">
                <a16:creationId xmlns:a16="http://schemas.microsoft.com/office/drawing/2014/main" id="{95669166-597D-4E3A-996D-63CFC6143F09}"/>
              </a:ext>
            </a:extLst>
          </p:cNvPr>
          <p:cNvSpPr>
            <a:spLocks noGrp="1"/>
          </p:cNvSpPr>
          <p:nvPr/>
        </p:nvSpPr>
        <p:spPr>
          <a:xfrm rot="-180000">
            <a:off x="2686050" y="2781300"/>
            <a:ext cx="1619250" cy="6858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SYMPTOM_04_TEXT">
            <a:extLst>
              <a:ext uri="{FF2B5EF4-FFF2-40B4-BE49-F238E27FC236}">
                <a16:creationId xmlns:a16="http://schemas.microsoft.com/office/drawing/2014/main" id="{ABD6CE9C-26CD-4B1E-8581-45FEAA662CE7}"/>
              </a:ext>
            </a:extLst>
          </p:cNvPr>
          <p:cNvSpPr>
            <a:spLocks noGrp="1"/>
          </p:cNvSpPr>
          <p:nvPr/>
        </p:nvSpPr>
        <p:spPr>
          <a:xfrm rot="-180000">
            <a:off x="2771775" y="2895600"/>
            <a:ext cx="1447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首批结束后，很少补货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YMPTOM_05">
            <a:extLst>
              <a:ext uri="{FF2B5EF4-FFF2-40B4-BE49-F238E27FC236}">
                <a16:creationId xmlns:a16="http://schemas.microsoft.com/office/drawing/2014/main" id="{AACDF1F3-847E-42E0-801A-7DEB303F62A2}"/>
              </a:ext>
            </a:extLst>
          </p:cNvPr>
          <p:cNvSpPr>
            <a:spLocks noGrp="1"/>
          </p:cNvSpPr>
          <p:nvPr/>
        </p:nvSpPr>
        <p:spPr>
          <a:xfrm rot="-120000">
            <a:off x="695325" y="3800475"/>
            <a:ext cx="1619250" cy="7048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SYMPTOM_05_TEXT">
            <a:extLst>
              <a:ext uri="{FF2B5EF4-FFF2-40B4-BE49-F238E27FC236}">
                <a16:creationId xmlns:a16="http://schemas.microsoft.com/office/drawing/2014/main" id="{D28A1884-4B9E-4FE4-AE5A-46D3A1DDB9DD}"/>
              </a:ext>
            </a:extLst>
          </p:cNvPr>
          <p:cNvSpPr>
            <a:spLocks noGrp="1"/>
          </p:cNvSpPr>
          <p:nvPr/>
        </p:nvSpPr>
        <p:spPr>
          <a:xfrm rot="-120000">
            <a:off x="781050" y="3914775"/>
            <a:ext cx="1447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每次出货靠老板推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YMPTOM_06">
            <a:extLst>
              <a:ext uri="{FF2B5EF4-FFF2-40B4-BE49-F238E27FC236}">
                <a16:creationId xmlns:a16="http://schemas.microsoft.com/office/drawing/2014/main" id="{83B34019-E26B-4591-AD05-A6D0A0D32878}"/>
              </a:ext>
            </a:extLst>
          </p:cNvPr>
          <p:cNvSpPr>
            <a:spLocks noGrp="1"/>
          </p:cNvSpPr>
          <p:nvPr/>
        </p:nvSpPr>
        <p:spPr>
          <a:xfrm rot="180000">
            <a:off x="2533650" y="3743325"/>
            <a:ext cx="1762125" cy="6858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SYMPTOM_06_TEXT">
            <a:extLst>
              <a:ext uri="{FF2B5EF4-FFF2-40B4-BE49-F238E27FC236}">
                <a16:creationId xmlns:a16="http://schemas.microsoft.com/office/drawing/2014/main" id="{5E710C74-14B7-4DEE-81E0-4B12F29F8BB5}"/>
              </a:ext>
            </a:extLst>
          </p:cNvPr>
          <p:cNvSpPr>
            <a:spLocks noGrp="1"/>
          </p:cNvSpPr>
          <p:nvPr/>
        </p:nvSpPr>
        <p:spPr>
          <a:xfrm rot="180000">
            <a:off x="2619375" y="3857625"/>
            <a:ext cx="1590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网点不少，卖货的少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YMPTOM_07">
            <a:extLst>
              <a:ext uri="{FF2B5EF4-FFF2-40B4-BE49-F238E27FC236}">
                <a16:creationId xmlns:a16="http://schemas.microsoft.com/office/drawing/2014/main" id="{A3E816CC-80E9-45F3-8384-EEE0AE83D9C5}"/>
              </a:ext>
            </a:extLst>
          </p:cNvPr>
          <p:cNvSpPr>
            <a:spLocks noGrp="1"/>
          </p:cNvSpPr>
          <p:nvPr/>
        </p:nvSpPr>
        <p:spPr>
          <a:xfrm rot="120000">
            <a:off x="1019175" y="4733925"/>
            <a:ext cx="1619250" cy="666750"/>
          </a:xfrm>
          <a:prstGeom prst="rect">
            <a:avLst/>
          </a:prstGeom>
          <a:solidFill>
            <a:srgbClr val="FFF8D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SYMPTOM_07_TEXT">
            <a:extLst>
              <a:ext uri="{FF2B5EF4-FFF2-40B4-BE49-F238E27FC236}">
                <a16:creationId xmlns:a16="http://schemas.microsoft.com/office/drawing/2014/main" id="{375F6752-2277-4CD7-A37A-DC0E0B70CF8C}"/>
              </a:ext>
            </a:extLst>
          </p:cNvPr>
          <p:cNvSpPr>
            <a:spLocks noGrp="1"/>
          </p:cNvSpPr>
          <p:nvPr/>
        </p:nvSpPr>
        <p:spPr>
          <a:xfrm rot="120000">
            <a:off x="1104900" y="4848225"/>
            <a:ext cx="1447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天天跑，只送货收款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SYMPTOM_08">
            <a:extLst>
              <a:ext uri="{FF2B5EF4-FFF2-40B4-BE49-F238E27FC236}">
                <a16:creationId xmlns:a16="http://schemas.microsoft.com/office/drawing/2014/main" id="{0356F3CD-0E1B-47B5-93BB-093A9A16FF61}"/>
              </a:ext>
            </a:extLst>
          </p:cNvPr>
          <p:cNvSpPr>
            <a:spLocks noGrp="1"/>
          </p:cNvSpPr>
          <p:nvPr/>
        </p:nvSpPr>
        <p:spPr>
          <a:xfrm rot="-180000">
            <a:off x="2828925" y="4629150"/>
            <a:ext cx="1600200" cy="723900"/>
          </a:xfrm>
          <a:prstGeom prst="rect">
            <a:avLst/>
          </a:prstGeom>
          <a:solidFill>
            <a:srgbClr val="FFF3B8"/>
          </a:solidFill>
          <a:ln w="9525">
            <a:solidFill>
              <a:srgbClr val="E7C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SYMPTOM_08_TEXT">
            <a:extLst>
              <a:ext uri="{FF2B5EF4-FFF2-40B4-BE49-F238E27FC236}">
                <a16:creationId xmlns:a16="http://schemas.microsoft.com/office/drawing/2014/main" id="{64100E53-911E-4A9D-84F6-040FBE2B621F}"/>
              </a:ext>
            </a:extLst>
          </p:cNvPr>
          <p:cNvSpPr>
            <a:spLocks noGrp="1"/>
          </p:cNvSpPr>
          <p:nvPr/>
        </p:nvSpPr>
        <p:spPr>
          <a:xfrm rot="-180000">
            <a:off x="2914650" y="47434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靠少数单品，增长慢</a:t>
            </a:r>
            <a:endParaRPr sz="112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CONVERGE_ARROW">
            <a:extLst>
              <a:ext uri="{FF2B5EF4-FFF2-40B4-BE49-F238E27FC236}">
                <a16:creationId xmlns:a16="http://schemas.microsoft.com/office/drawing/2014/main" id="{1D33780E-034F-430A-B80C-22D7B282D124}"/>
              </a:ext>
            </a:extLst>
          </p:cNvPr>
          <p:cNvSpPr>
            <a:spLocks noGrp="1"/>
          </p:cNvSpPr>
          <p:nvPr/>
        </p:nvSpPr>
        <p:spPr>
          <a:xfrm>
            <a:off x="4695825" y="3343275"/>
            <a:ext cx="914400" cy="476250"/>
          </a:xfrm>
          <a:prstGeom prst="rightArrow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24" name="C1_CLUSTER">
            <a:extLst>
              <a:ext uri="{FF2B5EF4-FFF2-40B4-BE49-F238E27FC236}">
                <a16:creationId xmlns:a16="http://schemas.microsoft.com/office/drawing/2014/main" id="{86F3D1BC-3F9D-4CF5-90B2-89B72B1F9368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FFF0F2"/>
          </a:solidFill>
          <a:ln w="19050">
            <a:solidFill>
              <a:srgbClr val="D6001C"/>
            </a:solidFill>
            <a:prstDash val="solid"/>
          </a:ln>
        </p:spPr>
      </p:sp>
      <p:sp>
        <p:nvSpPr>
          <p:cNvPr id="25" name="C1_LABEL">
            <a:extLst>
              <a:ext uri="{FF2B5EF4-FFF2-40B4-BE49-F238E27FC236}">
                <a16:creationId xmlns:a16="http://schemas.microsoft.com/office/drawing/2014/main" id="{CF5C6B6B-EBFC-4F3C-8F59-0D019E270F2B}"/>
              </a:ext>
            </a:extLst>
          </p:cNvPr>
          <p:cNvSpPr>
            <a:spLocks noGrp="1"/>
          </p:cNvSpPr>
          <p:nvPr/>
        </p:nvSpPr>
        <p:spPr>
          <a:xfrm>
            <a:off x="6172200" y="2286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市场空转症</a:t>
            </a:r>
            <a:endParaRPr sz="1650" b="1">
              <a:solidFill>
                <a:srgbClr val="D600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C1_DESC">
            <a:extLst>
              <a:ext uri="{FF2B5EF4-FFF2-40B4-BE49-F238E27FC236}">
                <a16:creationId xmlns:a16="http://schemas.microsoft.com/office/drawing/2014/main" id="{BE675C0E-E728-4A09-836B-DABD880AB319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有动作，没入口</a:t>
            </a:r>
            <a:endParaRPr sz="12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C2_CLUSTER">
            <a:extLst>
              <a:ext uri="{FF2B5EF4-FFF2-40B4-BE49-F238E27FC236}">
                <a16:creationId xmlns:a16="http://schemas.microsoft.com/office/drawing/2014/main" id="{C0E70DE0-4FDA-4428-AE79-833B239B06B3}"/>
              </a:ext>
            </a:extLst>
          </p:cNvPr>
          <p:cNvSpPr>
            <a:spLocks noGrp="1"/>
          </p:cNvSpPr>
          <p:nvPr/>
        </p:nvSpPr>
        <p:spPr>
          <a:xfrm>
            <a:off x="8705850" y="200025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EAF2FA"/>
          </a:solidFill>
          <a:ln w="19050">
            <a:solidFill>
              <a:srgbClr val="246AA8"/>
            </a:solidFill>
            <a:prstDash val="solid"/>
          </a:ln>
        </p:spPr>
      </p:sp>
      <p:sp>
        <p:nvSpPr>
          <p:cNvPr id="28" name="C2_LABEL">
            <a:extLst>
              <a:ext uri="{FF2B5EF4-FFF2-40B4-BE49-F238E27FC236}">
                <a16:creationId xmlns:a16="http://schemas.microsoft.com/office/drawing/2014/main" id="{ED24C0D1-93C7-44FE-B16E-D26E633E9A18}"/>
              </a:ext>
            </a:extLst>
          </p:cNvPr>
          <p:cNvSpPr>
            <a:spLocks noGrp="1"/>
          </p:cNvSpPr>
          <p:nvPr/>
        </p:nvSpPr>
        <p:spPr>
          <a:xfrm>
            <a:off x="8877300" y="22860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首单依赖症</a:t>
            </a:r>
            <a:endParaRPr sz="1650" b="1">
              <a:solidFill>
                <a:srgbClr val="246AA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C2_DESC">
            <a:extLst>
              <a:ext uri="{FF2B5EF4-FFF2-40B4-BE49-F238E27FC236}">
                <a16:creationId xmlns:a16="http://schemas.microsoft.com/office/drawing/2014/main" id="{B3F3BA6B-53D5-4002-AB10-BD0A20D07836}"/>
              </a:ext>
            </a:extLst>
          </p:cNvPr>
          <p:cNvSpPr>
            <a:spLocks noGrp="1"/>
          </p:cNvSpPr>
          <p:nvPr/>
        </p:nvSpPr>
        <p:spPr>
          <a:xfrm>
            <a:off x="8877300" y="2781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有首单，没复购</a:t>
            </a:r>
            <a:endParaRPr sz="12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C3_CLUSTER">
            <a:extLst>
              <a:ext uri="{FF2B5EF4-FFF2-40B4-BE49-F238E27FC236}">
                <a16:creationId xmlns:a16="http://schemas.microsoft.com/office/drawing/2014/main" id="{90B98366-EF37-439A-8D17-9E69A0CF5F2E}"/>
              </a:ext>
            </a:extLst>
          </p:cNvPr>
          <p:cNvSpPr>
            <a:spLocks noGrp="1"/>
          </p:cNvSpPr>
          <p:nvPr/>
        </p:nvSpPr>
        <p:spPr>
          <a:xfrm>
            <a:off x="6000750" y="384810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FFF4DC"/>
          </a:solidFill>
          <a:ln w="19050">
            <a:solidFill>
              <a:srgbClr val="B87700"/>
            </a:solidFill>
            <a:prstDash val="solid"/>
          </a:ln>
        </p:spPr>
      </p:sp>
      <p:sp>
        <p:nvSpPr>
          <p:cNvPr id="31" name="C3_LABEL">
            <a:extLst>
              <a:ext uri="{FF2B5EF4-FFF2-40B4-BE49-F238E27FC236}">
                <a16:creationId xmlns:a16="http://schemas.microsoft.com/office/drawing/2014/main" id="{4700807F-1BB2-47A7-9528-8DE9E5B0560A}"/>
              </a:ext>
            </a:extLst>
          </p:cNvPr>
          <p:cNvSpPr>
            <a:spLocks noGrp="1"/>
          </p:cNvSpPr>
          <p:nvPr/>
        </p:nvSpPr>
        <p:spPr>
          <a:xfrm>
            <a:off x="6172200" y="41338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网点低效症</a:t>
            </a:r>
            <a:endParaRPr sz="1650" b="1">
              <a:solidFill>
                <a:srgbClr val="B87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C3_DESC">
            <a:extLst>
              <a:ext uri="{FF2B5EF4-FFF2-40B4-BE49-F238E27FC236}">
                <a16:creationId xmlns:a16="http://schemas.microsoft.com/office/drawing/2014/main" id="{6639D601-14F0-4DD8-B0ED-E75448FE51AD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有网点，没增量</a:t>
            </a:r>
            <a:endParaRPr sz="12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C4_CLUSTER">
            <a:extLst>
              <a:ext uri="{FF2B5EF4-FFF2-40B4-BE49-F238E27FC236}">
                <a16:creationId xmlns:a16="http://schemas.microsoft.com/office/drawing/2014/main" id="{F8EE678C-EC13-49ED-9590-21A3D5BD40BF}"/>
              </a:ext>
            </a:extLst>
          </p:cNvPr>
          <p:cNvSpPr>
            <a:spLocks noGrp="1"/>
          </p:cNvSpPr>
          <p:nvPr/>
        </p:nvSpPr>
        <p:spPr>
          <a:xfrm>
            <a:off x="8705850" y="3848100"/>
            <a:ext cx="2343150" cy="1352550"/>
          </a:xfrm>
          <a:prstGeom prst="roundRect">
            <a:avLst>
              <a:gd name="adj" fmla="val 5634"/>
            </a:avLst>
          </a:prstGeom>
          <a:solidFill>
            <a:srgbClr val="EAF5F1"/>
          </a:solidFill>
          <a:ln w="19050">
            <a:solidFill>
              <a:srgbClr val="26866A"/>
            </a:solidFill>
            <a:prstDash val="solid"/>
          </a:ln>
        </p:spPr>
      </p:sp>
      <p:sp>
        <p:nvSpPr>
          <p:cNvPr id="34" name="C4_LABEL">
            <a:extLst>
              <a:ext uri="{FF2B5EF4-FFF2-40B4-BE49-F238E27FC236}">
                <a16:creationId xmlns:a16="http://schemas.microsoft.com/office/drawing/2014/main" id="{AF8CE514-2A7A-45C2-88A5-FDF4FC9438B6}"/>
              </a:ext>
            </a:extLst>
          </p:cNvPr>
          <p:cNvSpPr>
            <a:spLocks noGrp="1"/>
          </p:cNvSpPr>
          <p:nvPr/>
        </p:nvSpPr>
        <p:spPr>
          <a:xfrm>
            <a:off x="8877300" y="41338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老路依赖症</a:t>
            </a:r>
            <a:endParaRPr sz="1650" b="1">
              <a:solidFill>
                <a:srgbClr val="268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C4_DESC">
            <a:extLst>
              <a:ext uri="{FF2B5EF4-FFF2-40B4-BE49-F238E27FC236}">
                <a16:creationId xmlns:a16="http://schemas.microsoft.com/office/drawing/2014/main" id="{3D63F975-A552-4FFB-9359-6905BE3D742C}"/>
              </a:ext>
            </a:extLst>
          </p:cNvPr>
          <p:cNvSpPr>
            <a:spLocks noGrp="1"/>
          </p:cNvSpPr>
          <p:nvPr/>
        </p:nvSpPr>
        <p:spPr>
          <a:xfrm>
            <a:off x="8877300" y="4629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有销量，没突破</a:t>
            </a:r>
            <a:endParaRPr sz="120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ACHING_CUE">
            <a:extLst>
              <a:ext uri="{FF2B5EF4-FFF2-40B4-BE49-F238E27FC236}">
                <a16:creationId xmlns:a16="http://schemas.microsoft.com/office/drawing/2014/main" id="{80B5F507-5834-422C-98EF-1A7FB86FD9AE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症状是可观察的事实，病症是诊断结论；病症与阶段有关，但不机械对应。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PAGE_NUMBER">
            <a:extLst>
              <a:ext uri="{FF2B5EF4-FFF2-40B4-BE49-F238E27FC236}">
                <a16:creationId xmlns:a16="http://schemas.microsoft.com/office/drawing/2014/main" id="{4C24D9BC-D7BF-47C3-B68C-51CCAA4AFC3B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9175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7E19D81-A60E-45BC-88EF-BC2CE4070FFB}"/>
              </a:ext>
            </a:extLst>
          </p:cNvPr>
          <p:cNvSpPr>
            <a:spLocks noGrp="1"/>
          </p:cNvSpPr>
          <p:nvPr/>
        </p:nvSpPr>
        <p:spPr>
          <a:xfrm>
            <a:off x="514350" y="6286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从现象到动作的五步判断</a:t>
            </a:r>
            <a:endParaRPr sz="25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B367540-AAAE-4837-8FCA-C972935BD88D}"/>
              </a:ext>
            </a:extLst>
          </p:cNvPr>
          <p:cNvSpPr>
            <a:spLocks noGrp="1"/>
          </p:cNvSpPr>
          <p:nvPr/>
        </p:nvSpPr>
        <p:spPr>
          <a:xfrm>
            <a:off x="533400" y="1190625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阶段决定下一步任务，病症帮助找到当前最该补的能力和动作</a:t>
            </a:r>
            <a:endParaRPr sz="1200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HEADER_RULE">
            <a:extLst>
              <a:ext uri="{FF2B5EF4-FFF2-40B4-BE49-F238E27FC236}">
                <a16:creationId xmlns:a16="http://schemas.microsoft.com/office/drawing/2014/main" id="{ABC45785-B4B5-4BCA-8EAE-3ABEF960AE10}"/>
              </a:ext>
            </a:extLst>
          </p:cNvPr>
          <p:cNvSpPr>
            <a:spLocks noGrp="1"/>
          </p:cNvSpPr>
          <p:nvPr/>
        </p:nvSpPr>
        <p:spPr>
          <a:xfrm>
            <a:off x="514350" y="1628775"/>
            <a:ext cx="11191875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7" name="DIAGNOSIS_SPINE">
            <a:extLst>
              <a:ext uri="{FF2B5EF4-FFF2-40B4-BE49-F238E27FC236}">
                <a16:creationId xmlns:a16="http://schemas.microsoft.com/office/drawing/2014/main" id="{794CD394-276C-49E8-88E4-D185C473138C}"/>
              </a:ext>
            </a:extLst>
          </p:cNvPr>
          <p:cNvSpPr>
            <a:spLocks noGrp="1"/>
          </p:cNvSpPr>
          <p:nvPr/>
        </p:nvSpPr>
        <p:spPr>
          <a:xfrm>
            <a:off x="3048000" y="2124075"/>
            <a:ext cx="0" cy="3676650"/>
          </a:xfrm>
          <a:prstGeom prst="line">
            <a:avLst/>
          </a:prstGeom>
          <a:noFill/>
          <a:ln w="38100">
            <a:solidFill>
              <a:srgbClr val="D6001C"/>
            </a:solidFill>
            <a:prstDash val="solid"/>
          </a:ln>
        </p:spPr>
      </p:sp>
      <p:sp>
        <p:nvSpPr>
          <p:cNvPr id="8" name="STEP_1_DOT">
            <a:extLst>
              <a:ext uri="{FF2B5EF4-FFF2-40B4-BE49-F238E27FC236}">
                <a16:creationId xmlns:a16="http://schemas.microsoft.com/office/drawing/2014/main" id="{ED55369F-4A6B-4817-AB57-81CB7B98798F}"/>
              </a:ext>
            </a:extLst>
          </p:cNvPr>
          <p:cNvSpPr>
            <a:spLocks noGrp="1"/>
          </p:cNvSpPr>
          <p:nvPr/>
        </p:nvSpPr>
        <p:spPr>
          <a:xfrm>
            <a:off x="2800350" y="2095500"/>
            <a:ext cx="495300" cy="495300"/>
          </a:xfrm>
          <a:prstGeom prst="ellipse">
            <a:avLst/>
          </a:prstGeom>
          <a:solidFill>
            <a:srgbClr val="246AA8"/>
          </a:solidFill>
          <a:ln w="0">
            <a:noFill/>
            <a:prstDash val="solid"/>
          </a:ln>
        </p:spPr>
      </p:sp>
      <p:sp>
        <p:nvSpPr>
          <p:cNvPr id="9" name="STEP_1_NUMBER">
            <a:extLst>
              <a:ext uri="{FF2B5EF4-FFF2-40B4-BE49-F238E27FC236}">
                <a16:creationId xmlns:a16="http://schemas.microsoft.com/office/drawing/2014/main" id="{DCD5586A-D942-43F8-A4D6-AE81284E2BE5}"/>
              </a:ext>
            </a:extLst>
          </p:cNvPr>
          <p:cNvSpPr>
            <a:spLocks noGrp="1"/>
          </p:cNvSpPr>
          <p:nvPr/>
        </p:nvSpPr>
        <p:spPr>
          <a:xfrm>
            <a:off x="2924175" y="2190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_1_LABEL">
            <a:extLst>
              <a:ext uri="{FF2B5EF4-FFF2-40B4-BE49-F238E27FC236}">
                <a16:creationId xmlns:a16="http://schemas.microsoft.com/office/drawing/2014/main" id="{29C47432-7B74-4232-86DA-601E0B0E348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1" name="STEP_1_QUESTION">
            <a:extLst>
              <a:ext uri="{FF2B5EF4-FFF2-40B4-BE49-F238E27FC236}">
                <a16:creationId xmlns:a16="http://schemas.microsoft.com/office/drawing/2014/main" id="{C7326DED-C623-464B-A965-19859DD21AF5}"/>
              </a:ext>
            </a:extLst>
          </p:cNvPr>
          <p:cNvSpPr>
            <a:spLocks noGrp="1"/>
          </p:cNvSpPr>
          <p:nvPr/>
        </p:nvSpPr>
        <p:spPr>
          <a:xfrm>
            <a:off x="3619500" y="2047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已经形成什么结果？</a:t>
            </a:r>
            <a:endParaRPr sz="13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STEP_1_OUTPUT_SURFACE">
            <a:extLst>
              <a:ext uri="{FF2B5EF4-FFF2-40B4-BE49-F238E27FC236}">
                <a16:creationId xmlns:a16="http://schemas.microsoft.com/office/drawing/2014/main" id="{8042AA74-67BC-4751-BFA7-CDC3C236BA4E}"/>
              </a:ext>
            </a:extLst>
          </p:cNvPr>
          <p:cNvSpPr>
            <a:spLocks noGrp="1"/>
          </p:cNvSpPr>
          <p:nvPr/>
        </p:nvSpPr>
        <p:spPr>
          <a:xfrm>
            <a:off x="7524750" y="2028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14288">
            <a:solidFill>
              <a:srgbClr val="246AA8"/>
            </a:solidFill>
            <a:prstDash val="solid"/>
          </a:ln>
        </p:spPr>
      </p:sp>
      <p:sp>
        <p:nvSpPr>
          <p:cNvPr id="13" name="STEP_1_OUTPUT">
            <a:extLst>
              <a:ext uri="{FF2B5EF4-FFF2-40B4-BE49-F238E27FC236}">
                <a16:creationId xmlns:a16="http://schemas.microsoft.com/office/drawing/2014/main" id="{5F0F91D4-D2A8-4387-B430-4E471B793639}"/>
              </a:ext>
            </a:extLst>
          </p:cNvPr>
          <p:cNvSpPr>
            <a:spLocks noGrp="1"/>
          </p:cNvSpPr>
          <p:nvPr/>
        </p:nvSpPr>
        <p:spPr>
          <a:xfrm>
            <a:off x="7715250" y="2143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处于</a:t>
            </a:r>
            <a:r>
              <a:rPr lang="en-US" altLang="zh-CN"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____</a:t>
            </a:r>
            <a:r>
              <a:rPr lang="zh-CN" altLang="en-US"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sz="1275" b="1">
              <a:solidFill>
                <a:srgbClr val="246AA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STEP_2_DOT">
            <a:extLst>
              <a:ext uri="{FF2B5EF4-FFF2-40B4-BE49-F238E27FC236}">
                <a16:creationId xmlns:a16="http://schemas.microsoft.com/office/drawing/2014/main" id="{1BEFCA22-C0CC-4B06-89C6-A71588021BAC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495300" cy="495300"/>
          </a:xfrm>
          <a:prstGeom prst="ellipse">
            <a:avLst/>
          </a:prstGeom>
          <a:solidFill>
            <a:srgbClr val="D6001C"/>
          </a:solidFill>
          <a:ln w="0">
            <a:noFill/>
            <a:prstDash val="solid"/>
          </a:ln>
        </p:spPr>
      </p:sp>
      <p:sp>
        <p:nvSpPr>
          <p:cNvPr id="15" name="STEP_2_NUMBER">
            <a:extLst>
              <a:ext uri="{FF2B5EF4-FFF2-40B4-BE49-F238E27FC236}">
                <a16:creationId xmlns:a16="http://schemas.microsoft.com/office/drawing/2014/main" id="{0C395E19-1AC0-4E9E-9C9D-EC9F78EA0582}"/>
              </a:ext>
            </a:extLst>
          </p:cNvPr>
          <p:cNvSpPr>
            <a:spLocks noGrp="1"/>
          </p:cNvSpPr>
          <p:nvPr/>
        </p:nvSpPr>
        <p:spPr>
          <a:xfrm>
            <a:off x="2924175" y="2952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STEP_2_LABEL">
            <a:extLst>
              <a:ext uri="{FF2B5EF4-FFF2-40B4-BE49-F238E27FC236}">
                <a16:creationId xmlns:a16="http://schemas.microsoft.com/office/drawing/2014/main" id="{6426F3DB-16C1-42DB-A9F0-4ADC3915EC1F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7" name="STEP_2_QUESTION">
            <a:extLst>
              <a:ext uri="{FF2B5EF4-FFF2-40B4-BE49-F238E27FC236}">
                <a16:creationId xmlns:a16="http://schemas.microsoft.com/office/drawing/2014/main" id="{6E1A889E-3BCA-4329-935E-08418A620240}"/>
              </a:ext>
            </a:extLst>
          </p:cNvPr>
          <p:cNvSpPr>
            <a:spLocks noGrp="1"/>
          </p:cNvSpPr>
          <p:nvPr/>
        </p:nvSpPr>
        <p:spPr>
          <a:xfrm>
            <a:off x="3619500" y="2809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下一步要完成什么任务？</a:t>
            </a:r>
            <a:endParaRPr sz="13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STEP_2_OUTPUT_SURFACE">
            <a:extLst>
              <a:ext uri="{FF2B5EF4-FFF2-40B4-BE49-F238E27FC236}">
                <a16:creationId xmlns:a16="http://schemas.microsoft.com/office/drawing/2014/main" id="{7A99844D-3C2F-42FC-9FF8-55DDFB98197D}"/>
              </a:ext>
            </a:extLst>
          </p:cNvPr>
          <p:cNvSpPr>
            <a:spLocks noGrp="1"/>
          </p:cNvSpPr>
          <p:nvPr/>
        </p:nvSpPr>
        <p:spPr>
          <a:xfrm>
            <a:off x="7524750" y="2790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FF0F2"/>
          </a:solidFill>
          <a:ln w="14288">
            <a:solidFill>
              <a:srgbClr val="D6001C"/>
            </a:solidFill>
            <a:prstDash val="solid"/>
          </a:ln>
        </p:spPr>
      </p:sp>
      <p:sp>
        <p:nvSpPr>
          <p:cNvPr id="19" name="STEP_2_OUTPUT">
            <a:extLst>
              <a:ext uri="{FF2B5EF4-FFF2-40B4-BE49-F238E27FC236}">
                <a16:creationId xmlns:a16="http://schemas.microsoft.com/office/drawing/2014/main" id="{FA789ADD-978A-4EC2-AB76-82A734070944}"/>
              </a:ext>
            </a:extLst>
          </p:cNvPr>
          <p:cNvSpPr>
            <a:spLocks noGrp="1"/>
          </p:cNvSpPr>
          <p:nvPr/>
        </p:nvSpPr>
        <p:spPr>
          <a:xfrm>
            <a:off x="7715250" y="2905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一句话任务</a:t>
            </a:r>
            <a:endParaRPr sz="1275" b="1">
              <a:solidFill>
                <a:srgbClr val="D6001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STEP_3_DOT">
            <a:extLst>
              <a:ext uri="{FF2B5EF4-FFF2-40B4-BE49-F238E27FC236}">
                <a16:creationId xmlns:a16="http://schemas.microsoft.com/office/drawing/2014/main" id="{4F81240A-793C-40D0-B07F-30A480841D84}"/>
              </a:ext>
            </a:extLst>
          </p:cNvPr>
          <p:cNvSpPr>
            <a:spLocks noGrp="1"/>
          </p:cNvSpPr>
          <p:nvPr/>
        </p:nvSpPr>
        <p:spPr>
          <a:xfrm>
            <a:off x="2800350" y="3619500"/>
            <a:ext cx="495300" cy="495300"/>
          </a:xfrm>
          <a:prstGeom prst="ellipse">
            <a:avLst/>
          </a:prstGeom>
          <a:solidFill>
            <a:srgbClr val="B87700"/>
          </a:solidFill>
          <a:ln w="0">
            <a:noFill/>
            <a:prstDash val="solid"/>
          </a:ln>
        </p:spPr>
      </p:sp>
      <p:sp>
        <p:nvSpPr>
          <p:cNvPr id="21" name="STEP_3_NUMBER">
            <a:extLst>
              <a:ext uri="{FF2B5EF4-FFF2-40B4-BE49-F238E27FC236}">
                <a16:creationId xmlns:a16="http://schemas.microsoft.com/office/drawing/2014/main" id="{C2A6D2D2-5002-4573-9D22-D258ECBF94DA}"/>
              </a:ext>
            </a:extLst>
          </p:cNvPr>
          <p:cNvSpPr>
            <a:spLocks noGrp="1"/>
          </p:cNvSpPr>
          <p:nvPr/>
        </p:nvSpPr>
        <p:spPr>
          <a:xfrm>
            <a:off x="2924175" y="3714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STEP_3_LABEL">
            <a:extLst>
              <a:ext uri="{FF2B5EF4-FFF2-40B4-BE49-F238E27FC236}">
                <a16:creationId xmlns:a16="http://schemas.microsoft.com/office/drawing/2014/main" id="{DA58EDCD-1675-43A4-8E5E-8D8CD9768C3A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病症</a:t>
            </a:r>
          </a:p>
        </p:txBody>
      </p:sp>
      <p:sp>
        <p:nvSpPr>
          <p:cNvPr id="23" name="STEP_3_QUESTION">
            <a:extLst>
              <a:ext uri="{FF2B5EF4-FFF2-40B4-BE49-F238E27FC236}">
                <a16:creationId xmlns:a16="http://schemas.microsoft.com/office/drawing/2014/main" id="{B736A411-6933-4569-95F7-1C9863011DE3}"/>
              </a:ext>
            </a:extLst>
          </p:cNvPr>
          <p:cNvSpPr>
            <a:spLocks noGrp="1"/>
          </p:cNvSpPr>
          <p:nvPr/>
        </p:nvSpPr>
        <p:spPr>
          <a:xfrm>
            <a:off x="3619500" y="3571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最突出的整体病症是什么？</a:t>
            </a:r>
            <a:endParaRPr sz="13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STEP_3_OUTPUT_SURFACE">
            <a:extLst>
              <a:ext uri="{FF2B5EF4-FFF2-40B4-BE49-F238E27FC236}">
                <a16:creationId xmlns:a16="http://schemas.microsoft.com/office/drawing/2014/main" id="{7313737C-9491-47CD-B1E7-69621995364B}"/>
              </a:ext>
            </a:extLst>
          </p:cNvPr>
          <p:cNvSpPr>
            <a:spLocks noGrp="1"/>
          </p:cNvSpPr>
          <p:nvPr/>
        </p:nvSpPr>
        <p:spPr>
          <a:xfrm>
            <a:off x="7524750" y="3552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FF4DC"/>
          </a:solidFill>
          <a:ln w="14288">
            <a:solidFill>
              <a:srgbClr val="B87700"/>
            </a:solidFill>
            <a:prstDash val="solid"/>
          </a:ln>
        </p:spPr>
      </p:sp>
      <p:sp>
        <p:nvSpPr>
          <p:cNvPr id="25" name="STEP_3_OUTPUT">
            <a:extLst>
              <a:ext uri="{FF2B5EF4-FFF2-40B4-BE49-F238E27FC236}">
                <a16:creationId xmlns:a16="http://schemas.microsoft.com/office/drawing/2014/main" id="{8F98B9D2-8880-4445-AD78-FDEB3DFCFF93}"/>
              </a:ext>
            </a:extLst>
          </p:cNvPr>
          <p:cNvSpPr>
            <a:spLocks noGrp="1"/>
          </p:cNvSpPr>
          <p:nvPr/>
        </p:nvSpPr>
        <p:spPr>
          <a:xfrm>
            <a:off x="7715250" y="3667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____</a:t>
            </a:r>
            <a:r>
              <a:rPr lang="zh-CN" altLang="en-US"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症</a:t>
            </a:r>
            <a:endParaRPr sz="1275" b="1">
              <a:solidFill>
                <a:srgbClr val="B87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STEP_4_DOT">
            <a:extLst>
              <a:ext uri="{FF2B5EF4-FFF2-40B4-BE49-F238E27FC236}">
                <a16:creationId xmlns:a16="http://schemas.microsoft.com/office/drawing/2014/main" id="{A573DEE1-9024-4BBB-9BA1-91E3CB650908}"/>
              </a:ext>
            </a:extLst>
          </p:cNvPr>
          <p:cNvSpPr>
            <a:spLocks noGrp="1"/>
          </p:cNvSpPr>
          <p:nvPr/>
        </p:nvSpPr>
        <p:spPr>
          <a:xfrm>
            <a:off x="2800350" y="4381500"/>
            <a:ext cx="495300" cy="495300"/>
          </a:xfrm>
          <a:prstGeom prst="ellipse">
            <a:avLst/>
          </a:prstGeom>
          <a:solidFill>
            <a:srgbClr val="26866A"/>
          </a:solidFill>
          <a:ln w="0">
            <a:noFill/>
            <a:prstDash val="solid"/>
          </a:ln>
        </p:spPr>
      </p:sp>
      <p:sp>
        <p:nvSpPr>
          <p:cNvPr id="27" name="STEP_4_NUMBER">
            <a:extLst>
              <a:ext uri="{FF2B5EF4-FFF2-40B4-BE49-F238E27FC236}">
                <a16:creationId xmlns:a16="http://schemas.microsoft.com/office/drawing/2014/main" id="{53FAA616-C888-4C38-B67B-E402E21584EE}"/>
              </a:ext>
            </a:extLst>
          </p:cNvPr>
          <p:cNvSpPr>
            <a:spLocks noGrp="1"/>
          </p:cNvSpPr>
          <p:nvPr/>
        </p:nvSpPr>
        <p:spPr>
          <a:xfrm>
            <a:off x="2924175" y="4476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STEP_4_LABEL">
            <a:extLst>
              <a:ext uri="{FF2B5EF4-FFF2-40B4-BE49-F238E27FC236}">
                <a16:creationId xmlns:a16="http://schemas.microsoft.com/office/drawing/2014/main" id="{A83AA673-2482-432F-9E4E-EEE1AAB7BC83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四力短板</a:t>
            </a:r>
          </a:p>
        </p:txBody>
      </p:sp>
      <p:sp>
        <p:nvSpPr>
          <p:cNvPr id="29" name="STEP_4_QUESTION">
            <a:extLst>
              <a:ext uri="{FF2B5EF4-FFF2-40B4-BE49-F238E27FC236}">
                <a16:creationId xmlns:a16="http://schemas.microsoft.com/office/drawing/2014/main" id="{3CE317E3-6A4C-4FDF-8E72-6CB4A15495DA}"/>
              </a:ext>
            </a:extLst>
          </p:cNvPr>
          <p:cNvSpPr>
            <a:spLocks noGrp="1"/>
          </p:cNvSpPr>
          <p:nvPr/>
        </p:nvSpPr>
        <p:spPr>
          <a:xfrm>
            <a:off x="3619500" y="4333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主要短板在哪一力？</a:t>
            </a:r>
            <a:endParaRPr sz="13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STEP_4_OUTPUT_SURFACE">
            <a:extLst>
              <a:ext uri="{FF2B5EF4-FFF2-40B4-BE49-F238E27FC236}">
                <a16:creationId xmlns:a16="http://schemas.microsoft.com/office/drawing/2014/main" id="{FDEF4397-8E2E-4CDD-917A-6FA2D1669F7F}"/>
              </a:ext>
            </a:extLst>
          </p:cNvPr>
          <p:cNvSpPr>
            <a:spLocks noGrp="1"/>
          </p:cNvSpPr>
          <p:nvPr/>
        </p:nvSpPr>
        <p:spPr>
          <a:xfrm>
            <a:off x="7524750" y="4314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EAF5F1"/>
          </a:solidFill>
          <a:ln w="14288">
            <a:solidFill>
              <a:srgbClr val="26866A"/>
            </a:solidFill>
            <a:prstDash val="solid"/>
          </a:ln>
        </p:spPr>
      </p:sp>
      <p:sp>
        <p:nvSpPr>
          <p:cNvPr id="31" name="STEP_4_OUTPUT">
            <a:extLst>
              <a:ext uri="{FF2B5EF4-FFF2-40B4-BE49-F238E27FC236}">
                <a16:creationId xmlns:a16="http://schemas.microsoft.com/office/drawing/2014/main" id="{377542C7-CC1D-439C-AA5E-568ECDD6891A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主短板：</a:t>
            </a:r>
            <a:r>
              <a:rPr lang="en-US" altLang="zh-CN"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____</a:t>
            </a:r>
            <a:r>
              <a:rPr lang="zh-CN" altLang="en-US"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1275" b="1">
              <a:solidFill>
                <a:srgbClr val="2686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STEP_5_DOT">
            <a:extLst>
              <a:ext uri="{FF2B5EF4-FFF2-40B4-BE49-F238E27FC236}">
                <a16:creationId xmlns:a16="http://schemas.microsoft.com/office/drawing/2014/main" id="{70766968-8112-4316-84EA-CEDDB44F031D}"/>
              </a:ext>
            </a:extLst>
          </p:cNvPr>
          <p:cNvSpPr>
            <a:spLocks noGrp="1"/>
          </p:cNvSpPr>
          <p:nvPr/>
        </p:nvSpPr>
        <p:spPr>
          <a:xfrm>
            <a:off x="2800350" y="5143500"/>
            <a:ext cx="495300" cy="495300"/>
          </a:xfrm>
          <a:prstGeom prst="ellipse">
            <a:avLst/>
          </a:prstGeom>
          <a:solidFill>
            <a:srgbClr val="191919"/>
          </a:solidFill>
          <a:ln w="0">
            <a:noFill/>
            <a:prstDash val="solid"/>
          </a:ln>
        </p:spPr>
      </p:sp>
      <p:sp>
        <p:nvSpPr>
          <p:cNvPr id="33" name="STEP_5_NUMBER">
            <a:extLst>
              <a:ext uri="{FF2B5EF4-FFF2-40B4-BE49-F238E27FC236}">
                <a16:creationId xmlns:a16="http://schemas.microsoft.com/office/drawing/2014/main" id="{AE1767D9-FF43-4E83-A1D3-F189725BDCA8}"/>
              </a:ext>
            </a:extLst>
          </p:cNvPr>
          <p:cNvSpPr>
            <a:spLocks noGrp="1"/>
          </p:cNvSpPr>
          <p:nvPr/>
        </p:nvSpPr>
        <p:spPr>
          <a:xfrm>
            <a:off x="2924175" y="523875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STEP_5_LABEL">
            <a:extLst>
              <a:ext uri="{FF2B5EF4-FFF2-40B4-BE49-F238E27FC236}">
                <a16:creationId xmlns:a16="http://schemas.microsoft.com/office/drawing/2014/main" id="{5B62859E-F32C-415C-85A8-033FBB60E7A6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优先动作</a:t>
            </a:r>
          </a:p>
        </p:txBody>
      </p:sp>
      <p:sp>
        <p:nvSpPr>
          <p:cNvPr id="35" name="STEP_5_QUESTION">
            <a:extLst>
              <a:ext uri="{FF2B5EF4-FFF2-40B4-BE49-F238E27FC236}">
                <a16:creationId xmlns:a16="http://schemas.microsoft.com/office/drawing/2014/main" id="{96405759-A2EE-472B-9AC6-85A4C2C8D911}"/>
              </a:ext>
            </a:extLst>
          </p:cNvPr>
          <p:cNvSpPr>
            <a:spLocks noGrp="1"/>
          </p:cNvSpPr>
          <p:nvPr/>
        </p:nvSpPr>
        <p:spPr>
          <a:xfrm>
            <a:off x="3619500" y="5095875"/>
            <a:ext cx="3476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现在最先做哪 </a:t>
            </a:r>
            <a:r>
              <a:rPr lang="en-US" altLang="zh-CN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2-3 </a:t>
            </a:r>
            <a:r>
              <a:rPr lang="zh-CN" altLang="en-US"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件事？</a:t>
            </a:r>
            <a:endParaRPr sz="1350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STEP_5_OUTPUT_SURFACE">
            <a:extLst>
              <a:ext uri="{FF2B5EF4-FFF2-40B4-BE49-F238E27FC236}">
                <a16:creationId xmlns:a16="http://schemas.microsoft.com/office/drawing/2014/main" id="{6D882ECA-662D-436D-8D08-E46DF5A3D359}"/>
              </a:ext>
            </a:extLst>
          </p:cNvPr>
          <p:cNvSpPr>
            <a:spLocks noGrp="1"/>
          </p:cNvSpPr>
          <p:nvPr/>
        </p:nvSpPr>
        <p:spPr>
          <a:xfrm>
            <a:off x="7524750" y="5076825"/>
            <a:ext cx="3714750" cy="552450"/>
          </a:xfrm>
          <a:prstGeom prst="roundRect">
            <a:avLst>
              <a:gd name="adj" fmla="val 13793"/>
            </a:avLst>
          </a:prstGeom>
          <a:solidFill>
            <a:srgbClr val="F4F5F6"/>
          </a:solidFill>
          <a:ln w="14288">
            <a:solidFill>
              <a:srgbClr val="191919"/>
            </a:solidFill>
            <a:prstDash val="solid"/>
          </a:ln>
        </p:spPr>
      </p:sp>
      <p:sp>
        <p:nvSpPr>
          <p:cNvPr id="37" name="STEP_5_OUTPUT">
            <a:extLst>
              <a:ext uri="{FF2B5EF4-FFF2-40B4-BE49-F238E27FC236}">
                <a16:creationId xmlns:a16="http://schemas.microsoft.com/office/drawing/2014/main" id="{4028430D-0280-4652-BBC5-186D432CC7F9}"/>
              </a:ext>
            </a:extLst>
          </p:cNvPr>
          <p:cNvSpPr>
            <a:spLocks noGrp="1"/>
          </p:cNvSpPr>
          <p:nvPr/>
        </p:nvSpPr>
        <p:spPr>
          <a:xfrm>
            <a:off x="7715250" y="51911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动作从短板反推，不超过 </a:t>
            </a:r>
            <a:r>
              <a:rPr lang="en-US" altLang="zh-CN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lang="zh-CN" altLang="en-US"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</a:t>
            </a:r>
            <a:endParaRPr sz="1275" b="1">
              <a:solidFill>
                <a:srgbClr val="1919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CASE_PROMPT">
            <a:extLst>
              <a:ext uri="{FF2B5EF4-FFF2-40B4-BE49-F238E27FC236}">
                <a16:creationId xmlns:a16="http://schemas.microsoft.com/office/drawing/2014/main" id="{5D2CDFAB-14E6-45F4-B90A-0E70BFA86AD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对一个乡镇，按五步说出完整诊断</a:t>
            </a:r>
            <a:endParaRPr sz="12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TEACHING_CUE">
            <a:extLst>
              <a:ext uri="{FF2B5EF4-FFF2-40B4-BE49-F238E27FC236}">
                <a16:creationId xmlns:a16="http://schemas.microsoft.com/office/drawing/2014/main" id="{B5763167-D64A-437C-A069-8743E06EAAF8}"/>
              </a:ext>
            </a:extLst>
          </p:cNvPr>
          <p:cNvSpPr>
            <a:spLocks noGrp="1"/>
          </p:cNvSpPr>
          <p:nvPr/>
        </p:nvSpPr>
        <p:spPr>
          <a:xfrm>
            <a:off x="514350" y="6410325"/>
            <a:ext cx="981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禁止从病症直接跳到「多铺货、多做活动、多压产品」。</a:t>
            </a:r>
            <a:endParaRPr sz="975" b="0">
              <a:solidFill>
                <a:srgbClr val="5F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PAGE_NUMBER">
            <a:extLst>
              <a:ext uri="{FF2B5EF4-FFF2-40B4-BE49-F238E27FC236}">
                <a16:creationId xmlns:a16="http://schemas.microsoft.com/office/drawing/2014/main" id="{F748C6DE-D55D-4DEC-B951-52DF0D6303F4}"/>
              </a:ext>
            </a:extLst>
          </p:cNvPr>
          <p:cNvSpPr>
            <a:spLocks noGrp="1"/>
          </p:cNvSpPr>
          <p:nvPr/>
        </p:nvSpPr>
        <p:spPr>
          <a:xfrm>
            <a:off x="11049000" y="639127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93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CE2CED-7FC3-1079-50BA-4B3D4E2B8954}"/>
              </a:ext>
            </a:extLst>
          </p:cNvPr>
          <p:cNvSpPr txBox="1"/>
          <p:nvPr/>
        </p:nvSpPr>
        <p:spPr>
          <a:xfrm>
            <a:off x="548640" y="384048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课后作业：画出你的县域生意版图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AD85E3-ABA8-E175-6CAD-07BBE4A8F59D}"/>
              </a:ext>
            </a:extLst>
          </p:cNvPr>
          <p:cNvSpPr txBox="1"/>
          <p:nvPr/>
        </p:nvSpPr>
        <p:spPr>
          <a:xfrm>
            <a:off x="640080" y="1463040"/>
            <a:ext cx="6217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7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作业五步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DE68EA-D6BB-DAF3-BBA2-744A6A7995A2}"/>
              </a:ext>
            </a:extLst>
          </p:cNvPr>
          <p:cNvSpPr txBox="1"/>
          <p:nvPr/>
        </p:nvSpPr>
        <p:spPr>
          <a:xfrm>
            <a:off x="640080" y="2057400"/>
            <a:ext cx="62179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标出县城和主要乡镇</a:t>
            </a:r>
          </a:p>
          <a:p>
            <a:pPr>
              <a:lnSpc>
                <a:spcPct val="140000"/>
              </a:lnSpc>
            </a:pPr>
            <a:r>
              <a:rPr lang="en-US" altLang="zh-CN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判断各乡镇属于「进得去、站得住、卖得动、做得深」中的哪种状态</a:t>
            </a:r>
          </a:p>
          <a:p>
            <a:pPr>
              <a:lnSpc>
                <a:spcPct val="140000"/>
              </a:lnSpc>
            </a:pPr>
            <a:r>
              <a:rPr lang="en-US" altLang="zh-CN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标出重点乡镇最明显的四力短板</a:t>
            </a:r>
          </a:p>
          <a:p>
            <a:pPr>
              <a:lnSpc>
                <a:spcPct val="140000"/>
              </a:lnSpc>
            </a:pPr>
            <a:r>
              <a:rPr lang="en-US" altLang="zh-CN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初步区分需要继续深耕和需要进一步评估的乡镇</a:t>
            </a:r>
          </a:p>
          <a:p>
            <a:pPr>
              <a:lnSpc>
                <a:spcPct val="140000"/>
              </a:lnSpc>
            </a:pPr>
            <a:r>
              <a:rPr lang="en-US" altLang="zh-CN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1400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由经销商与雨虹县长课后共同补充真实信息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9463DE-9071-EF11-C3FE-AAC635E037C9}"/>
              </a:ext>
            </a:extLst>
          </p:cNvPr>
          <p:cNvSpPr txBox="1"/>
          <p:nvPr/>
        </p:nvSpPr>
        <p:spPr>
          <a:xfrm>
            <a:off x="7223760" y="1463040"/>
            <a:ext cx="4480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3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示例（匿名化综合案例，仅说明填法）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8EA0DC-2241-A72D-60A2-A20BAC8E512F}"/>
              </a:ext>
            </a:extLst>
          </p:cNvPr>
          <p:cNvSpPr txBox="1"/>
          <p:nvPr/>
        </p:nvSpPr>
        <p:spPr>
          <a:xfrm>
            <a:off x="7223760" y="2057400"/>
            <a:ext cx="44805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某县经销商早期在多个乡镇平均跑动、广撒网点，后来把资源集中到机场周边两个重点乡镇：县城做仓储配送和品牌展示，两个重点镇各建一个核心网点连接工人和包工头，乡镇业务占比达到六成以上，实现从「乡镇都去过」到「重点乡镇做透」的转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2B6087-107D-F919-A6CD-52EEC4CEAE11}"/>
              </a:ext>
            </a:extLst>
          </p:cNvPr>
          <p:cNvSpPr txBox="1"/>
          <p:nvPr/>
        </p:nvSpPr>
        <p:spPr>
          <a:xfrm>
            <a:off x="640080" y="5943600"/>
            <a:ext cx="108813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这张版图是下一步「盘区域」的输入：判状态看现状，盘区域看外部机会，做完才能决定资源投到哪里。</a:t>
            </a:r>
          </a:p>
        </p:txBody>
      </p:sp>
    </p:spTree>
    <p:extLst>
      <p:ext uri="{BB962C8B-B14F-4D97-AF65-F5344CB8AC3E}">
        <p14:creationId xmlns:p14="http://schemas.microsoft.com/office/powerpoint/2010/main" val="2389771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2DF9FF-AEDA-94C2-279C-94C6D1BA15B7}"/>
              </a:ext>
            </a:extLst>
          </p:cNvPr>
          <p:cNvSpPr txBox="1"/>
          <p:nvPr/>
        </p:nvSpPr>
        <p:spPr>
          <a:xfrm>
            <a:off x="548640" y="548640"/>
            <a:ext cx="110642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 sz="26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下一步：盘区域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A97FFD-4FC3-0E9D-98E6-35930A51ED46}"/>
              </a:ext>
            </a:extLst>
          </p:cNvPr>
          <p:cNvSpPr txBox="1"/>
          <p:nvPr/>
        </p:nvSpPr>
        <p:spPr>
          <a:xfrm>
            <a:off x="822960" y="201168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200" b="1">
                <a:solidFill>
                  <a:srgbClr val="172A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判状态看现状，盘区域看外部机会，二者结合，才能决定下一步把人、钱和时间投到哪里。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F04DE2-754E-0776-6DB8-57ADEF6A67F5}"/>
              </a:ext>
            </a:extLst>
          </p:cNvPr>
          <p:cNvSpPr txBox="1"/>
          <p:nvPr/>
        </p:nvSpPr>
        <p:spPr>
          <a:xfrm>
            <a:off x="822960" y="393192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zh-CN" altLang="en-US">
                <a:solidFill>
                  <a:srgbClr val="6674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先看懂外面发生了什么，再看清自己已经做到哪里。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DC2F74-0673-9FFD-0F37-F10D6BC368F1}"/>
              </a:ext>
            </a:extLst>
          </p:cNvPr>
          <p:cNvSpPr txBox="1"/>
          <p:nvPr/>
        </p:nvSpPr>
        <p:spPr>
          <a:xfrm>
            <a:off x="822960" y="502920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课后动作：带上这张县域生意版图，与县长</a:t>
            </a:r>
            <a:r>
              <a:rPr lang="en-US" altLang="zh-CN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业务负责人盘一遍区域优先级</a:t>
            </a:r>
            <a:r>
              <a:rPr lang="en-US" altLang="zh-CN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600" b="1">
                <a:solidFill>
                  <a:srgbClr val="C617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哪些继续深耕、哪些进一步评估、哪些暂缓。</a:t>
            </a:r>
          </a:p>
        </p:txBody>
      </p:sp>
    </p:spTree>
    <p:extLst>
      <p:ext uri="{BB962C8B-B14F-4D97-AF65-F5344CB8AC3E}">
        <p14:creationId xmlns:p14="http://schemas.microsoft.com/office/powerpoint/2010/main" val="29520153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4063</Words>
  <Application>Microsoft Office PowerPoint</Application>
  <DocSecurity>0</DocSecurity>
  <PresentationFormat>宽屏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起轩 王</cp:lastModifiedBy>
  <cp:revision>2</cp:revision>
  <dcterms:created xsi:type="dcterms:W3CDTF">2026-08-13T12:27:10Z</dcterms:created>
  <dcterms:modified xsi:type="dcterms:W3CDTF">2026-08-14T07:14:13Z</dcterms:modified>
</cp:coreProperties>
</file>