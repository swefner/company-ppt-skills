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68" r:id="rId2"/>
    <p:sldId id="267" r:id="rId3"/>
    <p:sldId id="266" r:id="rId4"/>
    <p:sldId id="265" r:id="rId5"/>
    <p:sldId id="264" r:id="rId6"/>
    <p:sldId id="263" r:id="rId7"/>
    <p:sldId id="256" r:id="rId8"/>
    <p:sldId id="257" r:id="rId9"/>
    <p:sldId id="258" r:id="rId10"/>
    <p:sldId id="259" r:id="rId11"/>
    <p:sldId id="260" r:id="rId12"/>
    <p:sldId id="261" r:id="rId13"/>
    <p:sldId id="262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开场三句话：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1.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县里的建材生意正在变，很多老板凭感觉在做判断；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这份材料帮你看清外面发生了什么、自己已经做到哪里；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3.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看完你要带走一个判断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下一步人、钱、时间投到哪里。封面停留不超过 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分钟。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6093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先承认现实：新楼盘减少是事实，很多县确实难。再给结论：不是市场没了，是市场变了、位置变了、打法要变。老板若质疑「你说有复合市场，我的县还是没单」：机会不会平均分布到每个乡镇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这正是材料后半部分要解决的问题（先判状态，再盘区域）。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335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禁止读文件。每个信号只讲两句话：政策在推什么 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对你意味着什么。落点强调：国家不保证每个县、每个乡镇都自然增长，机会落在哪里仍要老板自己判断。政策出处见页面备注备注：十五五规划纲要、城市更新十五五规划（新开工改造老旧小区 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11.5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万个）、农业农村现代化十五五规划、商务部等 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17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部门县域商业建设行动。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2425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可引素材（内部）：部分县域县城新房交付明显减少、装饰公司转向乡镇自建房找项目；乡镇业务占比可达六成以上（对外使用需按保密要求处理）。讲法：不要让老板觉得是在上地理课，每条变化都要落到「订单从哪里来」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9587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破除误区：把县城和乡镇割裂看待。正确姿势：县城做支撑，乡镇做触点，村级做项目。强调不是平均进入所有乡镇：先判断重点乡镇，再形成县城承接、乡镇触达、村级获客的网络。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8762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避免讲成「农村人不看重价格」。正确表达：价格要可接受，但价格之外，客户买的是确定性；品牌让客户愿意了解，熟人和样板让客户真正下单。引导老板对照：这五样确定性，你具备几样。数据（可放备注）：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2025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年农村居民人均可支配收入 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24,456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元、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+5.8%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；人均消费支出 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20,259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元、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+5.1%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（国家统计局）；居住支出不能直接等同于建材市场容量。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81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模块一看趋势的收束页。讲完三个判断后停顿，让老板默想对照：这三条，哪条跟你县里的情况相符、哪条不符（默想对照，不组织课堂问答）。</a:t>
            </a:r>
            <a:endParaRPr sz="11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先还原事实，再做决策：第一步只要求老板把乡镇对号入座，不要求马上决定投入。防止两种误判：把客户名单当经营网络；把全县平均状态当每个乡镇的真实状态。四个乡镇槽位为示例占位，老板版后续按真实乡镇名替换。</a:t>
            </a:r>
            <a:endParaRPr sz="11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四个问题是可观察的经营问题，不是概念定义；证据不足可以标「待验证」，不能凭感觉打分。老板若四项都低或都高：允许主短板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次短板，目标是形成优先级，不是给乡镇打分。</a:t>
            </a:r>
            <a:endParaRPr sz="11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关键防错：防止老板把「铺过货、做过活动」当成「站住了」。阶段看的是实际形成的市场结果，不是投入的动作。允许主阶段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次级瓶颈双标签：一个乡镇可能主阶段是站得住，但产品力还是进得去水平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这不矛盾。</a:t>
            </a:r>
            <a:endParaRPr sz="11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病症与阶段有关但不机械对应：市场空转症多出现在刚进入或正要进入的乡镇；首单依赖症多在进得去→站得住途中；网点低效症多在站得住→卖得动途中；老路依赖症多在卖得动→做得深途中。成熟乡镇开发新品时也可能出现首单依赖。一个乡镇可能同时有两类病症，先抓最突出的一类。</a:t>
            </a:r>
            <a:endParaRPr sz="11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全材料核心工具页。让老板选一个最弱的乡镇，用模板默念说一遍完整诊断。防错：禁止从病症直接跳到多铺货、多做活动、多压产品；动作必须从短板反推，且不超过 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项。</a:t>
            </a:r>
            <a:endParaRPr sz="11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行动板是课程收尾的动作承诺页：老板从前面诊断出的短板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机会反推动作，不凭空列待办。每项行动必须能检查（对象、动作、责任人、节点、指标）。最多 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项最重要的，优先动作从短板反推，禁止从病症直接跳到多铺货多压货。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79549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示例只用来讲「怎么填」，不是标准答案；每个老板的版图要由真实经营信息构成，课后与县长共同补充。说明作业与下一模块的关系：判状态看「我现在做到哪一步」，盘区域看「哪些地方外部机会更大」。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9124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结尾不追加新内容，只给一个明确动作。如果老板问「那到底投哪」：答案不在今天这页材料里，在盘区域这一步</a:t>
            </a:r>
            <a:r>
              <a:rPr lang="en-US" altLang="zh-CN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把版图带上会，我们用它排出优先级。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450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E41A16D-8190-B17C-05D8-43336C92BF57}"/>
              </a:ext>
            </a:extLst>
          </p:cNvPr>
          <p:cNvSpPr txBox="1"/>
          <p:nvPr/>
        </p:nvSpPr>
        <p:spPr>
          <a:xfrm>
            <a:off x="914400" y="1600200"/>
            <a:ext cx="103327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14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东方雨虹 </a:t>
            </a:r>
            <a:r>
              <a:rPr lang="en-US" altLang="zh-CN" sz="14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县域经销商课程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1E7B524-9609-1955-666F-D18EFAF82763}"/>
              </a:ext>
            </a:extLst>
          </p:cNvPr>
          <p:cNvSpPr txBox="1"/>
          <p:nvPr/>
        </p:nvSpPr>
        <p:spPr>
          <a:xfrm>
            <a:off x="731520" y="2148840"/>
            <a:ext cx="10698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40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县域机会诊断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93AFB62-D5AC-C567-9871-F4C8D002AF83}"/>
              </a:ext>
            </a:extLst>
          </p:cNvPr>
          <p:cNvSpPr txBox="1"/>
          <p:nvPr/>
        </p:nvSpPr>
        <p:spPr>
          <a:xfrm>
            <a:off x="731520" y="3246120"/>
            <a:ext cx="10698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2200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看趋势 </a:t>
            </a:r>
            <a:r>
              <a:rPr lang="en-US" altLang="zh-CN" sz="2200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2200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判状态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2A448-8402-D574-9DE6-2B727207ED3A}"/>
              </a:ext>
            </a:extLst>
          </p:cNvPr>
          <p:cNvSpPr txBox="1"/>
          <p:nvPr/>
        </p:nvSpPr>
        <p:spPr>
          <a:xfrm>
            <a:off x="731520" y="5394960"/>
            <a:ext cx="10698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日期：＿＿＿＿＿＿   经销商</a:t>
            </a:r>
            <a:r>
              <a:rPr lang="en-US" altLang="zh-CN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区域：＿＿＿＿＿＿   组织方：＿＿＿＿＿＿</a:t>
            </a:r>
          </a:p>
        </p:txBody>
      </p:sp>
    </p:spTree>
    <p:extLst>
      <p:ext uri="{BB962C8B-B14F-4D97-AF65-F5344CB8AC3E}">
        <p14:creationId xmlns:p14="http://schemas.microsoft.com/office/powerpoint/2010/main" val="3797984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DB4F26D-3448-52E9-964A-FAFF284A765A}"/>
              </a:ext>
            </a:extLst>
          </p:cNvPr>
          <p:cNvSpPr txBox="1"/>
          <p:nvPr/>
        </p:nvSpPr>
        <p:spPr>
          <a:xfrm>
            <a:off x="548640" y="384048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县域机会为什么还在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DC8BFD4-5451-A102-01ED-2C38803AA887}"/>
              </a:ext>
            </a:extLst>
          </p:cNvPr>
          <p:cNvSpPr txBox="1"/>
          <p:nvPr/>
        </p:nvSpPr>
        <p:spPr>
          <a:xfrm>
            <a:off x="822960" y="1600200"/>
            <a:ext cx="10515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>
              <a:lnSpc>
                <a:spcPct val="125000"/>
              </a:lnSpc>
            </a:pPr>
            <a:r>
              <a:rPr lang="zh-CN" altLang="en-US" sz="21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县域不是房地产增量市场的简单替代，而是县城、中心镇和乡村之间，新建、翻修、维修与服务需求并存的复合市场。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3DEB12-4A58-9F62-68F3-4A7ADB3326E2}"/>
              </a:ext>
            </a:extLst>
          </p:cNvPr>
          <p:cNvSpPr txBox="1"/>
          <p:nvPr/>
        </p:nvSpPr>
        <p:spPr>
          <a:xfrm>
            <a:off x="822960" y="3886200"/>
            <a:ext cx="3383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16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国家方向</a:t>
            </a:r>
          </a:p>
          <a:p>
            <a:pPr algn="ctr"/>
            <a:r>
              <a:rPr lang="zh-CN" altLang="en-US" sz="16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没离开县域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7E53CC3-F23B-5867-48F3-FA286A2F7B4D}"/>
              </a:ext>
            </a:extLst>
          </p:cNvPr>
          <p:cNvSpPr txBox="1"/>
          <p:nvPr/>
        </p:nvSpPr>
        <p:spPr>
          <a:xfrm>
            <a:off x="4434840" y="3886200"/>
            <a:ext cx="3383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16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生意发生的</a:t>
            </a:r>
          </a:p>
          <a:p>
            <a:pPr algn="ctr"/>
            <a:r>
              <a:rPr lang="zh-CN" altLang="en-US" sz="16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位置变了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CC7C336-0821-1F4D-3808-CE9373656D38}"/>
              </a:ext>
            </a:extLst>
          </p:cNvPr>
          <p:cNvSpPr txBox="1"/>
          <p:nvPr/>
        </p:nvSpPr>
        <p:spPr>
          <a:xfrm>
            <a:off x="8046720" y="3886200"/>
            <a:ext cx="3383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16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客户购买的</a:t>
            </a:r>
          </a:p>
          <a:p>
            <a:pPr algn="ctr"/>
            <a:r>
              <a:rPr lang="zh-CN" altLang="en-US" sz="16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逻辑变了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C008A6-2468-11B0-8B7D-E3C91F3A0818}"/>
              </a:ext>
            </a:extLst>
          </p:cNvPr>
          <p:cNvSpPr txBox="1"/>
          <p:nvPr/>
        </p:nvSpPr>
        <p:spPr>
          <a:xfrm>
            <a:off x="822960" y="5349240"/>
            <a:ext cx="10515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接下来三页，分别回答这三个变化：信号、位置、客户。</a:t>
            </a:r>
          </a:p>
        </p:txBody>
      </p:sp>
    </p:spTree>
    <p:extLst>
      <p:ext uri="{BB962C8B-B14F-4D97-AF65-F5344CB8AC3E}">
        <p14:creationId xmlns:p14="http://schemas.microsoft.com/office/powerpoint/2010/main" val="2330052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4EF7E84-D12E-0726-87CD-1FDCCDA5E915}"/>
              </a:ext>
            </a:extLst>
          </p:cNvPr>
          <p:cNvSpPr txBox="1"/>
          <p:nvPr/>
        </p:nvSpPr>
        <p:spPr>
          <a:xfrm>
            <a:off x="548640" y="384048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597E253-04A2-E46E-7F37-A54DC9A27167}"/>
              </a:ext>
            </a:extLst>
          </p:cNvPr>
          <p:cNvSpPr txBox="1"/>
          <p:nvPr/>
        </p:nvSpPr>
        <p:spPr>
          <a:xfrm>
            <a:off x="640080" y="1463040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信号一</a:t>
            </a:r>
          </a:p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城镇化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699422E-0CCA-43FF-6474-A0E391F4E1FF}"/>
              </a:ext>
            </a:extLst>
          </p:cNvPr>
          <p:cNvSpPr txBox="1"/>
          <p:nvPr/>
        </p:nvSpPr>
        <p:spPr>
          <a:xfrm>
            <a:off x="3108960" y="1481328"/>
            <a:ext cx="8412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20000"/>
              </a:lnSpc>
            </a:pP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县城承载、中心镇集聚、乡村联动。</a:t>
            </a:r>
          </a:p>
          <a:p>
            <a:pPr>
              <a:lnSpc>
                <a:spcPct val="120000"/>
              </a:lnSpc>
            </a:pP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机会不会平均分布到每个乡镇：县城与部分中心镇在集聚人口和商业，要判断哪些地方在集聚、哪些在收缩。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DA130E-D0E8-F7CB-8CDB-1B861DCB6F3B}"/>
              </a:ext>
            </a:extLst>
          </p:cNvPr>
          <p:cNvSpPr txBox="1"/>
          <p:nvPr/>
        </p:nvSpPr>
        <p:spPr>
          <a:xfrm>
            <a:off x="640080" y="2788920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信号二</a:t>
            </a:r>
          </a:p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城市更新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2A76C0-6B4D-EFB7-E1E3-1EE3DB37B0E4}"/>
              </a:ext>
            </a:extLst>
          </p:cNvPr>
          <p:cNvSpPr txBox="1"/>
          <p:nvPr/>
        </p:nvSpPr>
        <p:spPr>
          <a:xfrm>
            <a:off x="3108960" y="2807208"/>
            <a:ext cx="8412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20000"/>
              </a:lnSpc>
            </a:pP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新楼盘减少，不等于建材需求消失。</a:t>
            </a:r>
          </a:p>
          <a:p>
            <a:pPr>
              <a:lnSpc>
                <a:spcPct val="120000"/>
              </a:lnSpc>
            </a:pP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老旧小区改造、既有住房翻新、厨卫局改、防水修缮和管网更新，成为需要主动识别和承接的存量场景。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EDF1EEA-32E7-3F15-1D1D-B2A4DA36C4A2}"/>
              </a:ext>
            </a:extLst>
          </p:cNvPr>
          <p:cNvSpPr txBox="1"/>
          <p:nvPr/>
        </p:nvSpPr>
        <p:spPr>
          <a:xfrm>
            <a:off x="640080" y="4114800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信号三</a:t>
            </a:r>
          </a:p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乡村建设与</a:t>
            </a:r>
          </a:p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绿色建材下乡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0DB9107-CD45-2EE4-AC8D-3C8F031E825C}"/>
              </a:ext>
            </a:extLst>
          </p:cNvPr>
          <p:cNvSpPr txBox="1"/>
          <p:nvPr/>
        </p:nvSpPr>
        <p:spPr>
          <a:xfrm>
            <a:off x="3108960" y="4133088"/>
            <a:ext cx="8412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20000"/>
              </a:lnSpc>
            </a:pP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商品下乡还不够，服务也要下乡。</a:t>
            </a:r>
          </a:p>
          <a:p>
            <a:pPr>
              <a:lnSpc>
                <a:spcPct val="120000"/>
              </a:lnSpc>
            </a:pP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自建房、危房改造、农村人居环境改善形成分散在村镇的项目机会；关键是谁发现项目、谁推荐、谁施工、谁处理售后。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38EC6D-2E78-4B0E-2B39-FC2291B50CFB}"/>
              </a:ext>
            </a:extLst>
          </p:cNvPr>
          <p:cNvSpPr txBox="1"/>
          <p:nvPr/>
        </p:nvSpPr>
        <p:spPr>
          <a:xfrm>
            <a:off x="640080" y="5623560"/>
            <a:ext cx="10881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政策不保证每个县、每个乡镇都自然增长；政策给的是方向，机会落在哪里仍然要自己判断。</a:t>
            </a:r>
          </a:p>
        </p:txBody>
      </p:sp>
    </p:spTree>
    <p:extLst>
      <p:ext uri="{BB962C8B-B14F-4D97-AF65-F5344CB8AC3E}">
        <p14:creationId xmlns:p14="http://schemas.microsoft.com/office/powerpoint/2010/main" val="4101921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27A3823-6BE3-06A8-071E-DFB9CCD0642F}"/>
              </a:ext>
            </a:extLst>
          </p:cNvPr>
          <p:cNvSpPr txBox="1"/>
          <p:nvPr/>
        </p:nvSpPr>
        <p:spPr>
          <a:xfrm>
            <a:off x="548640" y="384048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生意没有消失，发生的位置和方式变了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AE3E3B3-E064-9E5C-1043-54130E40BF88}"/>
              </a:ext>
            </a:extLst>
          </p:cNvPr>
          <p:cNvSpPr txBox="1"/>
          <p:nvPr/>
        </p:nvSpPr>
        <p:spPr>
          <a:xfrm>
            <a:off x="640080" y="1417320"/>
            <a:ext cx="1371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空间中心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1492540-4527-57D3-B75D-6B97F266762C}"/>
              </a:ext>
            </a:extLst>
          </p:cNvPr>
          <p:cNvSpPr txBox="1"/>
          <p:nvPr/>
        </p:nvSpPr>
        <p:spPr>
          <a:xfrm>
            <a:off x="2194560" y="1417320"/>
            <a:ext cx="93268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从主要盯县城城区和集中项目 → 县城做中心，同时向重点乡镇、村庄和具体项目延伸触点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194756-1668-043E-1656-07949A96377C}"/>
              </a:ext>
            </a:extLst>
          </p:cNvPr>
          <p:cNvSpPr txBox="1"/>
          <p:nvPr/>
        </p:nvSpPr>
        <p:spPr>
          <a:xfrm>
            <a:off x="640080" y="2286000"/>
            <a:ext cx="1371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需求中心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FA1C79-FDBE-B39E-8CEA-CA2F4A219DE6}"/>
              </a:ext>
            </a:extLst>
          </p:cNvPr>
          <p:cNvSpPr txBox="1"/>
          <p:nvPr/>
        </p:nvSpPr>
        <p:spPr>
          <a:xfrm>
            <a:off x="2194560" y="2286000"/>
            <a:ext cx="93268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从依赖新房建设与整体装修 → 自建房、新房装修、旧房翻修、局部维修与小微工程并存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FF9B06-8724-88C3-51CE-C4AFBABF67A1}"/>
              </a:ext>
            </a:extLst>
          </p:cNvPr>
          <p:cNvSpPr txBox="1"/>
          <p:nvPr/>
        </p:nvSpPr>
        <p:spPr>
          <a:xfrm>
            <a:off x="640080" y="3154680"/>
            <a:ext cx="1371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获客方式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9C6F5D-5F4A-FF1B-3492-FA55681DB6E2}"/>
              </a:ext>
            </a:extLst>
          </p:cNvPr>
          <p:cNvSpPr txBox="1"/>
          <p:nvPr/>
        </p:nvSpPr>
        <p:spPr>
          <a:xfrm>
            <a:off x="2194560" y="3154680"/>
            <a:ext cx="93268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从守店、铺货、等待客户上门 → 依靠网点、工人、关键人和项目摸排主动找到真实需求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1543BAA-F04C-96EF-45A2-1776FB7FAC06}"/>
              </a:ext>
            </a:extLst>
          </p:cNvPr>
          <p:cNvSpPr txBox="1"/>
          <p:nvPr/>
        </p:nvSpPr>
        <p:spPr>
          <a:xfrm>
            <a:off x="640080" y="4023360"/>
            <a:ext cx="1371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成交方式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40E375-6077-1265-DF12-E055BD88AF02}"/>
              </a:ext>
            </a:extLst>
          </p:cNvPr>
          <p:cNvSpPr txBox="1"/>
          <p:nvPr/>
        </p:nvSpPr>
        <p:spPr>
          <a:xfrm>
            <a:off x="2194560" y="4023360"/>
            <a:ext cx="93268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从围绕单品、价格和临时需求卖货 → 围绕具体场景提供产品组合、施工连接和本地服务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28AC112-8B14-C757-39E7-2865859AA9F6}"/>
              </a:ext>
            </a:extLst>
          </p:cNvPr>
          <p:cNvSpPr txBox="1"/>
          <p:nvPr/>
        </p:nvSpPr>
        <p:spPr>
          <a:xfrm>
            <a:off x="640080" y="5349240"/>
            <a:ext cx="10881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过去等一套新房，现在要经营一栋自建房、一次翻修、一个漏水点和一个小工程。</a:t>
            </a:r>
          </a:p>
        </p:txBody>
      </p:sp>
    </p:spTree>
    <p:extLst>
      <p:ext uri="{BB962C8B-B14F-4D97-AF65-F5344CB8AC3E}">
        <p14:creationId xmlns:p14="http://schemas.microsoft.com/office/powerpoint/2010/main" val="2809682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F94D264-8E03-3A56-501D-3E2410E5DB20}"/>
              </a:ext>
            </a:extLst>
          </p:cNvPr>
          <p:cNvSpPr txBox="1"/>
          <p:nvPr/>
        </p:nvSpPr>
        <p:spPr>
          <a:xfrm>
            <a:off x="548640" y="384048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县城做承接，中心镇做辐射，乡村产生项目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4A0BB5E-C60F-2292-9F14-72568D7DBB10}"/>
              </a:ext>
            </a:extLst>
          </p:cNvPr>
          <p:cNvSpPr txBox="1"/>
          <p:nvPr/>
        </p:nvSpPr>
        <p:spPr>
          <a:xfrm>
            <a:off x="640080" y="1508760"/>
            <a:ext cx="34747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县城 </a:t>
            </a:r>
            <a:r>
              <a:rPr lang="en-US" altLang="zh-CN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大本营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F80006D-C2BD-0217-7451-F3F4949D74F0}"/>
              </a:ext>
            </a:extLst>
          </p:cNvPr>
          <p:cNvSpPr txBox="1"/>
          <p:nvPr/>
        </p:nvSpPr>
        <p:spPr>
          <a:xfrm>
            <a:off x="640080" y="2103120"/>
            <a:ext cx="34747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品牌展示与专业形象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大店体验与客户接待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仓储、配送与产品保障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专业服务和售后承接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对重点乡镇的资源支持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4880818-FD0B-2DFA-C3AC-22A35218B143}"/>
              </a:ext>
            </a:extLst>
          </p:cNvPr>
          <p:cNvSpPr txBox="1"/>
          <p:nvPr/>
        </p:nvSpPr>
        <p:spPr>
          <a:xfrm>
            <a:off x="4480560" y="1508760"/>
            <a:ext cx="34747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 </a:t>
            </a:r>
            <a:r>
              <a:rPr lang="en-US" altLang="zh-CN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辐射点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0F8345-85D5-4428-1354-13FA29DECEBE}"/>
              </a:ext>
            </a:extLst>
          </p:cNvPr>
          <p:cNvSpPr txBox="1"/>
          <p:nvPr/>
        </p:nvSpPr>
        <p:spPr>
          <a:xfrm>
            <a:off x="4480560" y="2103120"/>
            <a:ext cx="34747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聚集周边村镇的消费需求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建立核心网点或合作伙伴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连接本地工人、包工头和关键人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形成局部展示、推荐和服务能力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向周边村庄辐射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5EF88F-AF58-3C77-9B69-602F6300E5FF}"/>
              </a:ext>
            </a:extLst>
          </p:cNvPr>
          <p:cNvSpPr txBox="1"/>
          <p:nvPr/>
        </p:nvSpPr>
        <p:spPr>
          <a:xfrm>
            <a:off x="8321040" y="1508760"/>
            <a:ext cx="34747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乡村 </a:t>
            </a:r>
            <a:r>
              <a:rPr lang="en-US" altLang="zh-CN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项目发生地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A8538E0-0F18-4050-173B-3B23BF8557CA}"/>
              </a:ext>
            </a:extLst>
          </p:cNvPr>
          <p:cNvSpPr txBox="1"/>
          <p:nvPr/>
        </p:nvSpPr>
        <p:spPr>
          <a:xfrm>
            <a:off x="8321040" y="2103120"/>
            <a:ext cx="34747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自建房、翻修及维修项目发生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业主、熟人和施工关系形成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口碑传播和项目转介绍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真实使用场景和样板沉淀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123D4F-D049-6B73-2C62-79ACEC1E6BEC}"/>
              </a:ext>
            </a:extLst>
          </p:cNvPr>
          <p:cNvSpPr txBox="1"/>
          <p:nvPr/>
        </p:nvSpPr>
        <p:spPr>
          <a:xfrm>
            <a:off x="640080" y="5623560"/>
            <a:ext cx="10881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县域经销商真正要经营的，是一张县、镇、村协同的生意网络</a:t>
            </a:r>
            <a:r>
              <a:rPr lang="en-US" altLang="zh-CN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不是平均进入所有乡镇，而是先判断重点乡镇。</a:t>
            </a:r>
          </a:p>
        </p:txBody>
      </p:sp>
    </p:spTree>
    <p:extLst>
      <p:ext uri="{BB962C8B-B14F-4D97-AF65-F5344CB8AC3E}">
        <p14:creationId xmlns:p14="http://schemas.microsoft.com/office/powerpoint/2010/main" val="3181815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91CD36-F79E-AB48-271B-AD10BA6F74CC}"/>
              </a:ext>
            </a:extLst>
          </p:cNvPr>
          <p:cNvSpPr txBox="1"/>
          <p:nvPr/>
        </p:nvSpPr>
        <p:spPr>
          <a:xfrm>
            <a:off x="548640" y="384048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客户买的不只是一桶材料，而是确定性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274A40C-03BE-1B6E-791C-217E75F918C9}"/>
              </a:ext>
            </a:extLst>
          </p:cNvPr>
          <p:cNvSpPr txBox="1"/>
          <p:nvPr/>
        </p:nvSpPr>
        <p:spPr>
          <a:xfrm>
            <a:off x="640080" y="1463040"/>
            <a:ext cx="5212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700" b="1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县域消费的真实处境：怕什么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E523F3-D0F8-4C2E-BE90-28F8EAC360ED}"/>
              </a:ext>
            </a:extLst>
          </p:cNvPr>
          <p:cNvSpPr txBox="1"/>
          <p:nvPr/>
        </p:nvSpPr>
        <p:spPr>
          <a:xfrm>
            <a:off x="640080" y="2057400"/>
            <a:ext cx="5212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多年才做一次，缺少判断产品和施工的经验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年轻业主在外务工，家中老人盯施工，选材权常交给包工头或工人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一栋房分多个施工节点采购，不同材料由不同工人推荐，难以独立比较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产品是否合适，要等贴砖、闭水或经历雨季后才能验证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熟人圈小，一次漏水、掉砖或售后拖延，很快影响当地口碑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296AA9-97E5-9BEA-C5D9-0880F873E030}"/>
              </a:ext>
            </a:extLst>
          </p:cNvPr>
          <p:cNvSpPr txBox="1"/>
          <p:nvPr/>
        </p:nvSpPr>
        <p:spPr>
          <a:xfrm>
            <a:off x="6309360" y="1463040"/>
            <a:ext cx="5212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客户愿意相信的确定性：信什么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4583E23-2952-3937-351D-1F8D413A0429}"/>
              </a:ext>
            </a:extLst>
          </p:cNvPr>
          <p:cNvSpPr txBox="1"/>
          <p:nvPr/>
        </p:nvSpPr>
        <p:spPr>
          <a:xfrm>
            <a:off x="6309360" y="2057400"/>
            <a:ext cx="5212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县城或乡镇有正规授权门店，产品来源清楚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附近村里有已经完工、经受过使用检验的真实样板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长期在当地做活的包工头、瓦工、防水工或熟人愿意推荐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产品对应屋面、厨卫、外墙、贴砖等具体施工节点</a:t>
            </a: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材料能送到村、缺货能及时补，出了问题经销商能到现场处理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398B376-C08B-2D0C-2E64-6D39B32ED735}"/>
              </a:ext>
            </a:extLst>
          </p:cNvPr>
          <p:cNvSpPr txBox="1"/>
          <p:nvPr/>
        </p:nvSpPr>
        <p:spPr>
          <a:xfrm>
            <a:off x="640080" y="5623560"/>
            <a:ext cx="10881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6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熟人敢推荐、工人会施工、门店能送到、出了问题有人到场</a:t>
            </a:r>
            <a:r>
              <a:rPr lang="en-US" altLang="zh-CN" sz="16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6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这四样确定性，你具备几样？</a:t>
            </a:r>
          </a:p>
        </p:txBody>
      </p:sp>
    </p:spTree>
    <p:extLst>
      <p:ext uri="{BB962C8B-B14F-4D97-AF65-F5344CB8AC3E}">
        <p14:creationId xmlns:p14="http://schemas.microsoft.com/office/powerpoint/2010/main" val="1919444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看趋势，最后剩下三个判断</a:t>
            </a:r>
            <a:endParaRPr sz="25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机会来源变了 </a:t>
            </a:r>
            <a:r>
              <a:rPr lang="en-US" altLang="zh-CN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机会位置变了 </a:t>
            </a:r>
            <a:r>
              <a:rPr lang="en-US" altLang="zh-CN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  <a:endParaRPr sz="1200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  <a:endParaRPr sz="17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主要依赖新房新建</a:t>
            </a:r>
            <a:endParaRPr sz="142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新建、翻修、维修、更新和改善并存</a:t>
            </a:r>
            <a:endParaRPr sz="1425" b="1">
              <a:solidFill>
                <a:srgbClr val="D6001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  <a:endParaRPr sz="17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</a:t>
            </a:r>
            <a:endParaRPr sz="142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需求在县、镇、村之间流动</a:t>
            </a:r>
            <a:endParaRPr sz="1425" b="1">
              <a:solidFill>
                <a:srgbClr val="246AA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  <a:endParaRPr sz="17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只讲产品和价格</a:t>
            </a:r>
            <a:endParaRPr sz="142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品牌、信任、关键人、施工与售后</a:t>
            </a:r>
            <a:endParaRPr sz="1425" b="1">
              <a:solidFill>
                <a:srgbClr val="26866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把货送进乡镇不难，难在看懂机会在哪发生、客户通过谁做决定。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先把县域分成三个区看</a:t>
            </a:r>
            <a:endParaRPr sz="25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有订单，不等于有市场；能够持续获客、持续卖货，才叫把市场做起来</a:t>
            </a:r>
            <a:endParaRPr sz="1200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____</a:t>
            </a:r>
            <a:r>
              <a:rPr lang="zh-CN" altLang="en-US"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</a:t>
            </a:r>
            <a:endParaRPr sz="1875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  <a:endParaRPr sz="975" b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乡镇①</a:t>
            </a:r>
            <a:endParaRPr sz="150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  <a:endParaRPr sz="1125" b="1">
              <a:solidFill>
                <a:srgbClr val="26866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乡镇②</a:t>
            </a:r>
            <a:endParaRPr sz="150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  <a:endParaRPr sz="1125" b="1">
              <a:solidFill>
                <a:srgbClr val="246AA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乡镇③</a:t>
            </a:r>
            <a:endParaRPr sz="150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  <a:endParaRPr sz="1125" b="1">
              <a:solidFill>
                <a:srgbClr val="B8770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乡镇④</a:t>
            </a:r>
            <a:endParaRPr sz="150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评估</a:t>
            </a:r>
            <a:endParaRPr sz="1125" b="1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先还原事实，再决定投入；不能全县平均，也不能把客户名单当成经营网络。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四力：品牌、渠道、场景、产品</a:t>
            </a:r>
            <a:endParaRPr sz="25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品牌让人信，渠道帮你卖，场景帮你找活，产品把钱接住</a:t>
            </a:r>
            <a:endParaRPr sz="1200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主要卡在哪一力？</a:t>
            </a:r>
            <a:endParaRPr sz="1725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当地人知不知道、信不信雨虹？</a:t>
            </a:r>
            <a:endParaRPr sz="127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认知｜门店｜样板｜口碑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当地有没有人卖、有人推？</a:t>
            </a:r>
            <a:endParaRPr sz="127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网点｜工人｜关键人带客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能不能找到活、赶上采购点？</a:t>
            </a:r>
            <a:endParaRPr sz="127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项目｜进度｜采购节点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先卖什么，能不能越卖越多？</a:t>
            </a:r>
            <a:endParaRPr sz="127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首单｜复购｜组合扩品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短板判断要凭可观察的证据，不是凭感觉打分；允许「主短板 </a:t>
            </a:r>
            <a:r>
              <a:rPr lang="en-US" altLang="zh-CN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+ </a:t>
            </a: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次短板」。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进得去、站得住、卖得动、做得深</a:t>
            </a:r>
            <a:endParaRPr sz="25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四阶段不按开发了几年判断，而是看乡镇市场实际做到什么程度</a:t>
            </a:r>
            <a:endParaRPr sz="1200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  <a:endParaRPr sz="1200" b="1">
              <a:solidFill>
                <a:srgbClr val="4C525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找到入口，完成第一批生意</a:t>
            </a:r>
            <a:endParaRPr sz="1050" b="0">
              <a:solidFill>
                <a:srgbClr val="4C525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不再只靠偶然订单，开始有稳定基础</a:t>
            </a:r>
            <a:endParaRPr sz="1200" b="1">
              <a:solidFill>
                <a:srgbClr val="343A4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让网点、线索和产品开始重复</a:t>
            </a:r>
            <a:endParaRPr sz="1050" b="0">
              <a:solidFill>
                <a:srgbClr val="343A4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  <a:endParaRPr sz="120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提高有效网点、有效项目和有效销量</a:t>
            </a:r>
            <a:endParaRPr sz="1050" b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提高单点和单客价值</a:t>
            </a:r>
            <a:endParaRPr sz="120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组合扩品，沉淀并复制方法</a:t>
            </a:r>
            <a:endParaRPr sz="1050" b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阶段判断看的是已形成的市场结果，不是投入的动作</a:t>
            </a:r>
            <a:endParaRPr sz="16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允许「主阶段 </a:t>
            </a:r>
            <a:r>
              <a:rPr lang="en-US" altLang="zh-CN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+ </a:t>
            </a: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次级瓶颈」：一个乡镇可能站得住，但产品力还是进得去水平。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乡镇做不起来，通常卡在这四类病</a:t>
            </a:r>
            <a:endParaRPr sz="25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病症是「投入、过程和结果不匹配」的整体状态；先认出病，再找病因</a:t>
            </a:r>
            <a:endParaRPr sz="1200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动作做了不少，一停就安静</a:t>
            </a:r>
            <a:endParaRPr sz="11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网点进了货，但不主动卖</a:t>
            </a:r>
            <a:endParaRPr sz="11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活动一停，市场就安静</a:t>
            </a:r>
            <a:endParaRPr sz="11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首批结束后，很少补货</a:t>
            </a:r>
            <a:endParaRPr sz="11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每次出货靠老板推</a:t>
            </a:r>
            <a:endParaRPr sz="11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网点不少，卖货的少</a:t>
            </a:r>
            <a:endParaRPr sz="11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天天跑，只送货收款</a:t>
            </a:r>
            <a:endParaRPr sz="11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靠少数单品，增长慢</a:t>
            </a:r>
            <a:endParaRPr sz="112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  <a:endParaRPr sz="1650" b="1">
              <a:solidFill>
                <a:srgbClr val="D6001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  <a:endParaRPr sz="120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  <a:endParaRPr sz="1650" b="1">
              <a:solidFill>
                <a:srgbClr val="246AA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  <a:endParaRPr sz="120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  <a:endParaRPr sz="1650" b="1">
              <a:solidFill>
                <a:srgbClr val="B8770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  <a:endParaRPr sz="120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  <a:endParaRPr sz="1650" b="1">
              <a:solidFill>
                <a:srgbClr val="26866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  <a:endParaRPr sz="120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症状是可观察的事实，病症是诊断结论；病症与阶段有关，但不机械对应。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从现象到动作的五步判断</a:t>
            </a:r>
            <a:endParaRPr sz="25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阶段决定下一步任务，病症帮助找到当前最该补的能力和动作</a:t>
            </a:r>
            <a:endParaRPr sz="1200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  <a:endParaRPr sz="13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处于</a:t>
            </a:r>
            <a:r>
              <a:rPr lang="en-US" altLang="zh-CN"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____</a:t>
            </a:r>
            <a:r>
              <a:rPr lang="zh-CN" altLang="en-US"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  <a:endParaRPr sz="1275" b="1">
              <a:solidFill>
                <a:srgbClr val="246AA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下一步要完成什么任务？</a:t>
            </a:r>
            <a:endParaRPr sz="13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一句话任务</a:t>
            </a:r>
            <a:endParaRPr sz="1275" b="1">
              <a:solidFill>
                <a:srgbClr val="D6001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最突出的整体病症是什么？</a:t>
            </a:r>
            <a:endParaRPr sz="13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____</a:t>
            </a:r>
            <a:r>
              <a:rPr lang="zh-CN" altLang="en-US"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症</a:t>
            </a:r>
            <a:endParaRPr sz="1275" b="1">
              <a:solidFill>
                <a:srgbClr val="B8770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主要短板在哪一力？</a:t>
            </a:r>
            <a:endParaRPr sz="13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</a:t>
            </a:r>
            <a:r>
              <a:rPr lang="en-US" altLang="zh-CN"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____</a:t>
            </a:r>
            <a:r>
              <a:rPr lang="zh-CN" altLang="en-US"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1275" b="1">
              <a:solidFill>
                <a:srgbClr val="26866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 </a:t>
            </a:r>
            <a:r>
              <a:rPr lang="en-US" altLang="zh-CN"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2-3 </a:t>
            </a:r>
            <a:r>
              <a:rPr lang="zh-CN" altLang="en-US"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件事？</a:t>
            </a:r>
            <a:endParaRPr sz="1350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动作从短板反推，不超过 </a:t>
            </a:r>
            <a:r>
              <a:rPr lang="en-US" altLang="zh-CN"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lang="zh-CN" altLang="en-US"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</a:t>
            </a:r>
            <a:endParaRPr sz="1275" b="1">
              <a:solidFill>
                <a:srgbClr val="19191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对一个乡镇，按五步说出完整诊断</a:t>
            </a:r>
            <a:endParaRPr sz="12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禁止从病症直接跳到「多铺货、多做活动、多压产品」。</a:t>
            </a:r>
            <a:endParaRPr sz="975" b="0">
              <a:solidFill>
                <a:srgbClr val="5F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天行动承诺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乡镇①（做深）</a:t>
            </a: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核心网点连续跟进补货与项目线索</a:t>
            </a: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1-2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周</a:t>
            </a: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补货≥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次</a:t>
            </a: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乡镇③（开拓）</a:t>
            </a: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找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个核心网点 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+ 1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个真实项目</a:t>
            </a: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1-3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周</a:t>
            </a: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完成首批业务</a:t>
            </a: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全区域</a:t>
            </a: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盘点旧房翻修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漏水维修线索</a:t>
            </a: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周</a:t>
            </a: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线索清单≥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</a:t>
            </a: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品牌沉淀</a:t>
            </a: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个样板项目整理照片与推荐</a:t>
            </a: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3-4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周</a:t>
            </a: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样板照片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</a:t>
            </a:r>
            <a:r>
              <a:rPr lang="zh-CN" altLang="en-US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推荐≥</a:t>
            </a:r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行动必须连接前面诊断出的短板或机会；每项都要能检查，最多选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5805162-1D1D-B5DB-0478-BF5B96F6B051}"/>
              </a:ext>
            </a:extLst>
          </p:cNvPr>
          <p:cNvSpPr txBox="1"/>
          <p:nvPr/>
        </p:nvSpPr>
        <p:spPr>
          <a:xfrm>
            <a:off x="548640" y="384048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课后作业：画出你的县域生意版图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4C6A9C6-AB13-6EC9-8E85-DAC4B4772A8E}"/>
              </a:ext>
            </a:extLst>
          </p:cNvPr>
          <p:cNvSpPr txBox="1"/>
          <p:nvPr/>
        </p:nvSpPr>
        <p:spPr>
          <a:xfrm>
            <a:off x="640080" y="1463040"/>
            <a:ext cx="6217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7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作业五步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8BEB12-76B8-18F3-0515-11CC25E2E626}"/>
              </a:ext>
            </a:extLst>
          </p:cNvPr>
          <p:cNvSpPr txBox="1"/>
          <p:nvPr/>
        </p:nvSpPr>
        <p:spPr>
          <a:xfrm>
            <a:off x="640080" y="2057400"/>
            <a:ext cx="6217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40000"/>
              </a:lnSpc>
            </a:pPr>
            <a:r>
              <a:rPr lang="en-US" altLang="zh-CN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 </a:t>
            </a: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标出县城和主要乡镇</a:t>
            </a:r>
          </a:p>
          <a:p>
            <a:pPr>
              <a:lnSpc>
                <a:spcPct val="140000"/>
              </a:lnSpc>
            </a:pPr>
            <a:r>
              <a:rPr lang="en-US" altLang="zh-CN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判断各乡镇属于「进得去、站得住、卖得动、做得深」中的哪种状态</a:t>
            </a:r>
          </a:p>
          <a:p>
            <a:pPr>
              <a:lnSpc>
                <a:spcPct val="140000"/>
              </a:lnSpc>
            </a:pPr>
            <a:r>
              <a:rPr lang="en-US" altLang="zh-CN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3. </a:t>
            </a: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标出重点乡镇最明显的四力短板</a:t>
            </a:r>
          </a:p>
          <a:p>
            <a:pPr>
              <a:lnSpc>
                <a:spcPct val="140000"/>
              </a:lnSpc>
            </a:pPr>
            <a:r>
              <a:rPr lang="en-US" altLang="zh-CN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 </a:t>
            </a: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初步区分需要继续深耕和需要进一步评估的乡镇</a:t>
            </a:r>
          </a:p>
          <a:p>
            <a:pPr>
              <a:lnSpc>
                <a:spcPct val="140000"/>
              </a:lnSpc>
            </a:pPr>
            <a:r>
              <a:rPr lang="en-US" altLang="zh-CN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 </a:t>
            </a:r>
            <a:r>
              <a:rPr lang="zh-CN" altLang="en-US" sz="14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由经销商与雨虹县长课后共同补充真实信息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84B3DF-97C5-4B37-0CE6-228198DEC3F1}"/>
              </a:ext>
            </a:extLst>
          </p:cNvPr>
          <p:cNvSpPr txBox="1"/>
          <p:nvPr/>
        </p:nvSpPr>
        <p:spPr>
          <a:xfrm>
            <a:off x="7223760" y="1463040"/>
            <a:ext cx="4480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示例（匿名化综合案例，仅说明填法）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7296A3-8913-6E98-BD3D-D5514D4D3C23}"/>
              </a:ext>
            </a:extLst>
          </p:cNvPr>
          <p:cNvSpPr txBox="1"/>
          <p:nvPr/>
        </p:nvSpPr>
        <p:spPr>
          <a:xfrm>
            <a:off x="7223760" y="2057400"/>
            <a:ext cx="4480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县经销商早期在多个乡镇平均跑动、广撒网点，后来把资源集中到机场周边两个重点乡镇：县城做仓储配送和品牌展示，两个重点镇各建一个核心网点连接工人和包工头，乡镇业务占比达到六成以上，实现从「乡镇都去过」到「重点乡镇做透」的转变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73754AF-06C4-98B5-CF25-A4ACAE91DFD9}"/>
              </a:ext>
            </a:extLst>
          </p:cNvPr>
          <p:cNvSpPr txBox="1"/>
          <p:nvPr/>
        </p:nvSpPr>
        <p:spPr>
          <a:xfrm>
            <a:off x="640080" y="5943600"/>
            <a:ext cx="10881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15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这张版图是下一步「盘区域」的输入：判状态看现状，盘区域看外部机会，做完才能决定资源投到哪里。</a:t>
            </a:r>
          </a:p>
        </p:txBody>
      </p:sp>
    </p:spTree>
    <p:extLst>
      <p:ext uri="{BB962C8B-B14F-4D97-AF65-F5344CB8AC3E}">
        <p14:creationId xmlns:p14="http://schemas.microsoft.com/office/powerpoint/2010/main" val="940378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1C54961-1B7B-EB4C-2984-32E39EDAB253}"/>
              </a:ext>
            </a:extLst>
          </p:cNvPr>
          <p:cNvSpPr txBox="1"/>
          <p:nvPr/>
        </p:nvSpPr>
        <p:spPr>
          <a:xfrm>
            <a:off x="548640" y="5486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下一步：盘区域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B4CA68-5CC2-DA18-E0E5-8FFC8F5EE570}"/>
              </a:ext>
            </a:extLst>
          </p:cNvPr>
          <p:cNvSpPr txBox="1"/>
          <p:nvPr/>
        </p:nvSpPr>
        <p:spPr>
          <a:xfrm>
            <a:off x="822960" y="2011680"/>
            <a:ext cx="10515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>
              <a:lnSpc>
                <a:spcPct val="125000"/>
              </a:lnSpc>
            </a:pPr>
            <a:r>
              <a:rPr lang="zh-CN" altLang="en-US" sz="22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判状态看现状，盘区域看外部机会，二者结合，才能决定下一步把人、钱和时间投到哪里。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1FEE47-A16F-6A14-21A5-3F7B173763CD}"/>
              </a:ext>
            </a:extLst>
          </p:cNvPr>
          <p:cNvSpPr txBox="1"/>
          <p:nvPr/>
        </p:nvSpPr>
        <p:spPr>
          <a:xfrm>
            <a:off x="822960" y="3931920"/>
            <a:ext cx="10515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zh-CN" altLang="en-US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先看懂外面发生了什么，再看清自己已经做到哪里。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343149-D25A-8326-698F-7BF0C82E8D69}"/>
              </a:ext>
            </a:extLst>
          </p:cNvPr>
          <p:cNvSpPr txBox="1"/>
          <p:nvPr/>
        </p:nvSpPr>
        <p:spPr>
          <a:xfrm>
            <a:off x="822960" y="5029200"/>
            <a:ext cx="10515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6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课后动作：带上这张县域生意版图，与县长</a:t>
            </a:r>
            <a:r>
              <a:rPr lang="en-US" altLang="zh-CN" sz="16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6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业务负责人盘一遍区域优先级</a:t>
            </a:r>
            <a:r>
              <a:rPr lang="en-US" altLang="zh-CN" sz="16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6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哪些继续深耕、哪些进一步评估、哪些暂缓。</a:t>
            </a:r>
          </a:p>
        </p:txBody>
      </p:sp>
    </p:spTree>
    <p:extLst>
      <p:ext uri="{BB962C8B-B14F-4D97-AF65-F5344CB8AC3E}">
        <p14:creationId xmlns:p14="http://schemas.microsoft.com/office/powerpoint/2010/main" val="97622430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4365</Words>
  <Application>Microsoft Office PowerPoint</Application>
  <DocSecurity>0</DocSecurity>
  <PresentationFormat>宽屏</PresentationFormat>
  <Paragraphs>244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4</cp:revision>
  <dcterms:created xsi:type="dcterms:W3CDTF">2026-08-13T12:27:10Z</dcterms:created>
  <dcterms:modified xsi:type="dcterms:W3CDTF">2026-08-17T03:24:28Z</dcterms:modified>
</cp:coreProperties>
</file>