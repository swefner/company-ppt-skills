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_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  <a:latin typeface="Microsoft YaHei"/>
              </a:rPr>
              <a:t>客户经营分析 · 汇报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chemeClr val="dk1"/>
                </a:solidFill>
                <a:latin typeface="Microsoft YaHei"/>
              </a:rPr>
              <a:t>KPI 总览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chemeClr val="accent5"/>
                </a:solidFill>
                <a:latin typeface="Microsoft YaHei"/>
              </a:rPr>
              <a:t>本期间核心经营指标</a:t>
            </a:r>
          </a:p>
        </p:txBody>
      </p:sp>
      <p:sp>
        <p:nvSpPr>
          <p:cNvPr id="6" name="KPI_1_BAND"/>
          <p:cNvSpPr/>
          <p:nvPr/>
        </p:nvSpPr>
        <p:spPr>
          <a:xfrm>
            <a:off x="548640" y="1554480"/>
            <a:ext cx="5394960" cy="2103120"/>
          </a:xfrm>
          <a:prstGeom prst="roundRect">
            <a:avLst/>
          </a:prstGeom>
          <a:solidFill>
            <a:schemeClr val="l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_1_LABEL"/>
          <p:cNvSpPr txBox="1"/>
          <p:nvPr/>
        </p:nvSpPr>
        <p:spPr>
          <a:xfrm>
            <a:off x="822959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chemeClr val="accent5"/>
                </a:solidFill>
                <a:latin typeface="Microsoft YaHei"/>
              </a:rPr>
              <a:t>指标名称</a:t>
            </a:r>
          </a:p>
        </p:txBody>
      </p:sp>
      <p:sp>
        <p:nvSpPr>
          <p:cNvPr id="8" name="KPI_1_VALUE"/>
          <p:cNvSpPr txBox="1"/>
          <p:nvPr/>
        </p:nvSpPr>
        <p:spPr>
          <a:xfrm>
            <a:off x="822959" y="22402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chemeClr val="dk1"/>
                </a:solidFill>
                <a:latin typeface="Microsoft YaHei"/>
              </a:rPr>
              <a:t>0.00</a:t>
            </a:r>
          </a:p>
        </p:txBody>
      </p:sp>
      <p:sp>
        <p:nvSpPr>
          <p:cNvPr id="9" name="KPI_1_NOTE"/>
          <p:cNvSpPr txBox="1"/>
          <p:nvPr/>
        </p:nvSpPr>
        <p:spPr>
          <a:xfrm>
            <a:off x="822959" y="306323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  <a:latin typeface="Microsoft YaHei"/>
              </a:rPr>
              <a:t>口径说明</a:t>
            </a:r>
          </a:p>
        </p:txBody>
      </p:sp>
      <p:sp>
        <p:nvSpPr>
          <p:cNvPr id="10" name="KPI_2_BAND"/>
          <p:cNvSpPr/>
          <p:nvPr/>
        </p:nvSpPr>
        <p:spPr>
          <a:xfrm>
            <a:off x="6309360" y="1554480"/>
            <a:ext cx="5394960" cy="2103120"/>
          </a:xfrm>
          <a:prstGeom prst="roundRect">
            <a:avLst/>
          </a:prstGeom>
          <a:solidFill>
            <a:schemeClr val="l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PI_2_LABEL"/>
          <p:cNvSpPr txBox="1"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chemeClr val="accent5"/>
                </a:solidFill>
                <a:latin typeface="Microsoft YaHei"/>
              </a:rPr>
              <a:t>指标名称</a:t>
            </a:r>
          </a:p>
        </p:txBody>
      </p:sp>
      <p:sp>
        <p:nvSpPr>
          <p:cNvPr id="12" name="KPI_2_VALUE"/>
          <p:cNvSpPr txBox="1"/>
          <p:nvPr/>
        </p:nvSpPr>
        <p:spPr>
          <a:xfrm>
            <a:off x="6583680" y="22402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chemeClr val="dk1"/>
                </a:solidFill>
                <a:latin typeface="Microsoft YaHei"/>
              </a:rPr>
              <a:t>0.00</a:t>
            </a:r>
          </a:p>
        </p:txBody>
      </p:sp>
      <p:sp>
        <p:nvSpPr>
          <p:cNvPr id="13" name="KPI_2_NOTE"/>
          <p:cNvSpPr txBox="1"/>
          <p:nvPr/>
        </p:nvSpPr>
        <p:spPr>
          <a:xfrm>
            <a:off x="6583680" y="3063239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  <a:latin typeface="Microsoft YaHei"/>
              </a:rPr>
              <a:t>口径说明</a:t>
            </a:r>
          </a:p>
        </p:txBody>
      </p:sp>
      <p:sp>
        <p:nvSpPr>
          <p:cNvPr id="14" name="KPI_3_BAND"/>
          <p:cNvSpPr/>
          <p:nvPr/>
        </p:nvSpPr>
        <p:spPr>
          <a:xfrm>
            <a:off x="548640" y="3840480"/>
            <a:ext cx="5394960" cy="2103120"/>
          </a:xfrm>
          <a:prstGeom prst="roundRect">
            <a:avLst/>
          </a:prstGeom>
          <a:solidFill>
            <a:schemeClr val="l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PI_3_LABEL"/>
          <p:cNvSpPr txBox="1"/>
          <p:nvPr/>
        </p:nvSpPr>
        <p:spPr>
          <a:xfrm>
            <a:off x="822959" y="4069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chemeClr val="accent5"/>
                </a:solidFill>
                <a:latin typeface="Microsoft YaHei"/>
              </a:rPr>
              <a:t>指标名称</a:t>
            </a:r>
          </a:p>
        </p:txBody>
      </p:sp>
      <p:sp>
        <p:nvSpPr>
          <p:cNvPr id="16" name="KPI_3_VALUE"/>
          <p:cNvSpPr txBox="1"/>
          <p:nvPr/>
        </p:nvSpPr>
        <p:spPr>
          <a:xfrm>
            <a:off x="822959" y="45262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chemeClr val="dk1"/>
                </a:solidFill>
                <a:latin typeface="Microsoft YaHei"/>
              </a:rPr>
              <a:t>0.00</a:t>
            </a:r>
          </a:p>
        </p:txBody>
      </p:sp>
      <p:sp>
        <p:nvSpPr>
          <p:cNvPr id="17" name="KPI_3_NOTE"/>
          <p:cNvSpPr txBox="1"/>
          <p:nvPr/>
        </p:nvSpPr>
        <p:spPr>
          <a:xfrm>
            <a:off x="822959" y="5349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  <a:latin typeface="Microsoft YaHei"/>
              </a:rPr>
              <a:t>口径说明</a:t>
            </a:r>
          </a:p>
        </p:txBody>
      </p:sp>
      <p:sp>
        <p:nvSpPr>
          <p:cNvPr id="18" name="KPI_4_BAND"/>
          <p:cNvSpPr/>
          <p:nvPr/>
        </p:nvSpPr>
        <p:spPr>
          <a:xfrm>
            <a:off x="6309360" y="3840480"/>
            <a:ext cx="5394960" cy="2103120"/>
          </a:xfrm>
          <a:prstGeom prst="roundRect">
            <a:avLst/>
          </a:prstGeom>
          <a:solidFill>
            <a:schemeClr val="l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KPI_4_LABEL"/>
          <p:cNvSpPr txBox="1"/>
          <p:nvPr/>
        </p:nvSpPr>
        <p:spPr>
          <a:xfrm>
            <a:off x="6583680" y="4069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chemeClr val="accent5"/>
                </a:solidFill>
                <a:latin typeface="Microsoft YaHei"/>
              </a:rPr>
              <a:t>指标名称</a:t>
            </a:r>
          </a:p>
        </p:txBody>
      </p:sp>
      <p:sp>
        <p:nvSpPr>
          <p:cNvPr id="20" name="KPI_4_VALUE"/>
          <p:cNvSpPr txBox="1"/>
          <p:nvPr/>
        </p:nvSpPr>
        <p:spPr>
          <a:xfrm>
            <a:off x="6583680" y="452628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chemeClr val="dk1"/>
                </a:solidFill>
                <a:latin typeface="Microsoft YaHei"/>
              </a:rPr>
              <a:t>0.00</a:t>
            </a:r>
          </a:p>
        </p:txBody>
      </p:sp>
      <p:sp>
        <p:nvSpPr>
          <p:cNvPr id="21" name="KPI_4_NOTE"/>
          <p:cNvSpPr txBox="1"/>
          <p:nvPr/>
        </p:nvSpPr>
        <p:spPr>
          <a:xfrm>
            <a:off x="6583680" y="5349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  <a:latin typeface="Microsoft YaHei"/>
              </a:rPr>
              <a:t>口径说明</a:t>
            </a:r>
          </a:p>
        </p:txBody>
      </p:sp>
      <p:sp>
        <p:nvSpPr>
          <p:cNvPr id="22" name="TEACHING_CUE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  <a:latin typeface="Microsoft YaHei"/>
              </a:rPr>
              <a:t>讲解提示：逐块说明指标口径与变化含义；重点指标可用主题强调色标注。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_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  <a:latin typeface="Microsoft YaHei"/>
              </a:rPr>
              <a:t>客户经营分析 · 汇报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chemeClr val="dk1"/>
                </a:solidFill>
                <a:latin typeface="Microsoft YaHei"/>
              </a:rPr>
              <a:t>客户分层结果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chemeClr val="accent5"/>
                </a:solidFill>
                <a:latin typeface="Microsoft YaHei"/>
              </a:rPr>
              <a:t>A/B/C/D 四级：客户数、销售额与占比</a:t>
            </a:r>
          </a:p>
        </p:txBody>
      </p:sp>
      <p:sp>
        <p:nvSpPr>
          <p:cNvPr id="6" name="COL_TIER"/>
          <p:cNvSpPr txBox="1"/>
          <p:nvPr/>
        </p:nvSpPr>
        <p:spPr>
          <a:xfrm>
            <a:off x="548640" y="15544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2"/>
                </a:solidFill>
                <a:latin typeface="Microsoft YaHei"/>
              </a:rPr>
              <a:t>层级</a:t>
            </a:r>
          </a:p>
        </p:txBody>
      </p:sp>
      <p:sp>
        <p:nvSpPr>
          <p:cNvPr id="7" name="COL_COUNT"/>
          <p:cNvSpPr txBox="1"/>
          <p:nvPr/>
        </p:nvSpPr>
        <p:spPr>
          <a:xfrm>
            <a:off x="2011680" y="155448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2"/>
                </a:solidFill>
                <a:latin typeface="Microsoft YaHei"/>
              </a:rPr>
              <a:t>客户数</a:t>
            </a:r>
          </a:p>
        </p:txBody>
      </p:sp>
      <p:sp>
        <p:nvSpPr>
          <p:cNvPr id="8" name="COL_SALES"/>
          <p:cNvSpPr txBox="1"/>
          <p:nvPr/>
        </p:nvSpPr>
        <p:spPr>
          <a:xfrm>
            <a:off x="3840480" y="15544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2"/>
                </a:solidFill>
                <a:latin typeface="Microsoft YaHei"/>
              </a:rPr>
              <a:t>销售额</a:t>
            </a:r>
          </a:p>
        </p:txBody>
      </p:sp>
      <p:sp>
        <p:nvSpPr>
          <p:cNvPr id="9" name="COL_SHARE"/>
          <p:cNvSpPr txBox="1"/>
          <p:nvPr/>
        </p:nvSpPr>
        <p:spPr>
          <a:xfrm>
            <a:off x="6217920" y="155448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2"/>
                </a:solidFill>
                <a:latin typeface="Microsoft YaHei"/>
              </a:rPr>
              <a:t>占比</a:t>
            </a:r>
          </a:p>
        </p:txBody>
      </p:sp>
      <p:sp>
        <p:nvSpPr>
          <p:cNvPr id="10" name="COL_NOTE"/>
          <p:cNvSpPr txBox="1"/>
          <p:nvPr/>
        </p:nvSpPr>
        <p:spPr>
          <a:xfrm>
            <a:off x="7680960" y="15544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2"/>
                </a:solidFill>
                <a:latin typeface="Microsoft YaHei"/>
              </a:rPr>
              <a:t>经营含义</a:t>
            </a:r>
          </a:p>
        </p:txBody>
      </p:sp>
      <p:sp>
        <p:nvSpPr>
          <p:cNvPr id="11" name="TIER_1_TIER"/>
          <p:cNvSpPr txBox="1"/>
          <p:nvPr/>
        </p:nvSpPr>
        <p:spPr>
          <a:xfrm>
            <a:off x="548640" y="2194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accent1"/>
                </a:solidFill>
                <a:latin typeface="Microsoft YaHei"/>
              </a:rPr>
              <a:t>A</a:t>
            </a:r>
          </a:p>
        </p:txBody>
      </p:sp>
      <p:sp>
        <p:nvSpPr>
          <p:cNvPr id="12" name="TIER_1_COUNT"/>
          <p:cNvSpPr txBox="1"/>
          <p:nvPr/>
        </p:nvSpPr>
        <p:spPr>
          <a:xfrm>
            <a:off x="2011680" y="219456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3" name="TIER_1_SALES"/>
          <p:cNvSpPr txBox="1"/>
          <p:nvPr/>
        </p:nvSpPr>
        <p:spPr>
          <a:xfrm>
            <a:off x="3840480" y="2194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4" name="TIER_1_SHARE"/>
          <p:cNvSpPr txBox="1"/>
          <p:nvPr/>
        </p:nvSpPr>
        <p:spPr>
          <a:xfrm>
            <a:off x="6217920" y="219456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5" name="TIER_1_NOTE"/>
          <p:cNvSpPr txBox="1"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6" name="TIER_2_TIER"/>
          <p:cNvSpPr txBox="1"/>
          <p:nvPr/>
        </p:nvSpPr>
        <p:spPr>
          <a:xfrm>
            <a:off x="548640" y="2971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B</a:t>
            </a:r>
          </a:p>
        </p:txBody>
      </p:sp>
      <p:sp>
        <p:nvSpPr>
          <p:cNvPr id="17" name="TIER_2_COUNT"/>
          <p:cNvSpPr txBox="1"/>
          <p:nvPr/>
        </p:nvSpPr>
        <p:spPr>
          <a:xfrm>
            <a:off x="2011680" y="29718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8" name="TIER_2_SALES"/>
          <p:cNvSpPr txBox="1"/>
          <p:nvPr/>
        </p:nvSpPr>
        <p:spPr>
          <a:xfrm>
            <a:off x="3840480" y="29718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9" name="TIER_2_SHARE"/>
          <p:cNvSpPr txBox="1"/>
          <p:nvPr/>
        </p:nvSpPr>
        <p:spPr>
          <a:xfrm>
            <a:off x="6217920" y="29718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0" name="TIER_2_NOTE"/>
          <p:cNvSpPr txBox="1"/>
          <p:nvPr/>
        </p:nvSpPr>
        <p:spPr>
          <a:xfrm>
            <a:off x="7680960" y="2971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1" name="TIER_3_TIER"/>
          <p:cNvSpPr txBox="1"/>
          <p:nvPr/>
        </p:nvSpPr>
        <p:spPr>
          <a:xfrm>
            <a:off x="548640" y="3749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C</a:t>
            </a:r>
          </a:p>
        </p:txBody>
      </p:sp>
      <p:sp>
        <p:nvSpPr>
          <p:cNvPr id="22" name="TIER_3_COUNT"/>
          <p:cNvSpPr txBox="1"/>
          <p:nvPr/>
        </p:nvSpPr>
        <p:spPr>
          <a:xfrm>
            <a:off x="2011680" y="3749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3" name="TIER_3_SALES"/>
          <p:cNvSpPr txBox="1"/>
          <p:nvPr/>
        </p:nvSpPr>
        <p:spPr>
          <a:xfrm>
            <a:off x="3840480" y="3749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4" name="TIER_3_SHARE"/>
          <p:cNvSpPr txBox="1"/>
          <p:nvPr/>
        </p:nvSpPr>
        <p:spPr>
          <a:xfrm>
            <a:off x="6217920" y="374904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5" name="TIER_3_NOTE"/>
          <p:cNvSpPr txBox="1"/>
          <p:nvPr/>
        </p:nvSpPr>
        <p:spPr>
          <a:xfrm>
            <a:off x="7680960" y="37490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6" name="TIER_4_TIER"/>
          <p:cNvSpPr txBox="1"/>
          <p:nvPr/>
        </p:nvSpPr>
        <p:spPr>
          <a:xfrm>
            <a:off x="548640" y="4526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D</a:t>
            </a:r>
          </a:p>
        </p:txBody>
      </p:sp>
      <p:sp>
        <p:nvSpPr>
          <p:cNvPr id="27" name="TIER_4_COUNT"/>
          <p:cNvSpPr txBox="1"/>
          <p:nvPr/>
        </p:nvSpPr>
        <p:spPr>
          <a:xfrm>
            <a:off x="2011680" y="45262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8" name="TIER_4_SALES"/>
          <p:cNvSpPr txBox="1"/>
          <p:nvPr/>
        </p:nvSpPr>
        <p:spPr>
          <a:xfrm>
            <a:off x="3840480" y="4526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9" name="TIER_4_SHARE"/>
          <p:cNvSpPr txBox="1"/>
          <p:nvPr/>
        </p:nvSpPr>
        <p:spPr>
          <a:xfrm>
            <a:off x="6217920" y="452628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30" name="TIER_4_NOTE"/>
          <p:cNvSpPr txBox="1"/>
          <p:nvPr/>
        </p:nvSpPr>
        <p:spPr>
          <a:xfrm>
            <a:off x="7680960" y="4526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31" name="TOTAL_COUNT"/>
          <p:cNvSpPr txBox="1"/>
          <p:nvPr/>
        </p:nvSpPr>
        <p:spPr>
          <a:xfrm>
            <a:off x="2011680" y="525780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合计</a:t>
            </a:r>
          </a:p>
        </p:txBody>
      </p:sp>
      <p:sp>
        <p:nvSpPr>
          <p:cNvPr id="32" name="TOTAL_SALES"/>
          <p:cNvSpPr txBox="1"/>
          <p:nvPr/>
        </p:nvSpPr>
        <p:spPr>
          <a:xfrm>
            <a:off x="3840480" y="52578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0.00</a:t>
            </a:r>
          </a:p>
        </p:txBody>
      </p:sp>
      <p:sp>
        <p:nvSpPr>
          <p:cNvPr id="33" name="CONCLUSION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chemeClr val="dk1"/>
                </a:solidFill>
                <a:latin typeface="Microsoft YaHei"/>
              </a:rPr>
              <a:t>核心结论：____</a:t>
            </a:r>
          </a:p>
        </p:txBody>
      </p:sp>
      <p:sp>
        <p:nvSpPr>
          <p:cNvPr id="34" name="TEACHING_CUE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  <a:latin typeface="Microsoft YaHei"/>
              </a:rPr>
              <a:t>讲解提示：头部集中度是分层结论的关键——A 级少数客户贡献大部分销售额。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_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  <a:latin typeface="Microsoft YaHei"/>
              </a:rPr>
              <a:t>客户经营分析 · 汇报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chemeClr val="dk1"/>
                </a:solidFill>
                <a:latin typeface="Microsoft YaHei"/>
              </a:rPr>
              <a:t>名单明细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chemeClr val="accent5"/>
                </a:solidFill>
                <a:latin typeface="Microsoft YaHei"/>
              </a:rPr>
              <a:t>预警 / 沉睡 / 新客 共用表格</a:t>
            </a:r>
          </a:p>
        </p:txBody>
      </p:sp>
      <p:sp>
        <p:nvSpPr>
          <p:cNvPr id="6" name="COL_NAME"/>
          <p:cNvSpPr txBox="1"/>
          <p:nvPr/>
        </p:nvSpPr>
        <p:spPr>
          <a:xfrm>
            <a:off x="548640" y="1554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2"/>
                </a:solidFill>
                <a:latin typeface="Microsoft YaHei"/>
              </a:rPr>
              <a:t>客户名称</a:t>
            </a:r>
          </a:p>
        </p:txBody>
      </p:sp>
      <p:sp>
        <p:nvSpPr>
          <p:cNvPr id="7" name="COL_METRIC"/>
          <p:cNvSpPr txBox="1"/>
          <p:nvPr/>
        </p:nvSpPr>
        <p:spPr>
          <a:xfrm>
            <a:off x="3840480" y="155448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2"/>
                </a:solidFill>
                <a:latin typeface="Microsoft YaHei"/>
              </a:rPr>
              <a:t>关键指标</a:t>
            </a:r>
          </a:p>
        </p:txBody>
      </p:sp>
      <p:sp>
        <p:nvSpPr>
          <p:cNvPr id="8" name="COL_STATUS"/>
          <p:cNvSpPr txBox="1"/>
          <p:nvPr/>
        </p:nvSpPr>
        <p:spPr>
          <a:xfrm>
            <a:off x="6583680" y="155448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2"/>
                </a:solidFill>
                <a:latin typeface="Microsoft YaHei"/>
              </a:rPr>
              <a:t>状态</a:t>
            </a:r>
          </a:p>
        </p:txBody>
      </p:sp>
      <p:sp>
        <p:nvSpPr>
          <p:cNvPr id="9" name="COL_ACTION"/>
          <p:cNvSpPr txBox="1"/>
          <p:nvPr/>
        </p:nvSpPr>
        <p:spPr>
          <a:xfrm>
            <a:off x="8412480" y="1554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2"/>
                </a:solidFill>
                <a:latin typeface="Microsoft YaHei"/>
              </a:rPr>
              <a:t>建议动作</a:t>
            </a:r>
          </a:p>
        </p:txBody>
      </p:sp>
      <p:sp>
        <p:nvSpPr>
          <p:cNvPr id="10" name="ROW_1_BAND"/>
          <p:cNvSpPr/>
          <p:nvPr/>
        </p:nvSpPr>
        <p:spPr>
          <a:xfrm>
            <a:off x="548640" y="2057400"/>
            <a:ext cx="11064240" cy="731520"/>
          </a:xfrm>
          <a:prstGeom prst="rect">
            <a:avLst/>
          </a:prstGeom>
          <a:solidFill>
            <a:schemeClr val="l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_1_NAME"/>
          <p:cNvSpPr txBox="1"/>
          <p:nvPr/>
        </p:nvSpPr>
        <p:spPr>
          <a:xfrm>
            <a:off x="548640" y="22219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2" name="ROW_1_METRIC"/>
          <p:cNvSpPr txBox="1"/>
          <p:nvPr/>
        </p:nvSpPr>
        <p:spPr>
          <a:xfrm>
            <a:off x="3840480" y="222199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3" name="ROW_1_STATUS"/>
          <p:cNvSpPr txBox="1"/>
          <p:nvPr/>
        </p:nvSpPr>
        <p:spPr>
          <a:xfrm>
            <a:off x="6583680" y="222199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4" name="ROW_1_ACTION"/>
          <p:cNvSpPr txBox="1"/>
          <p:nvPr/>
        </p:nvSpPr>
        <p:spPr>
          <a:xfrm>
            <a:off x="8412480" y="222199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5" name="ROW_2_NAME"/>
          <p:cNvSpPr txBox="1"/>
          <p:nvPr/>
        </p:nvSpPr>
        <p:spPr>
          <a:xfrm>
            <a:off x="548640" y="29992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6" name="ROW_2_METRIC"/>
          <p:cNvSpPr txBox="1"/>
          <p:nvPr/>
        </p:nvSpPr>
        <p:spPr>
          <a:xfrm>
            <a:off x="3840480" y="299923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7" name="ROW_2_STATUS"/>
          <p:cNvSpPr txBox="1"/>
          <p:nvPr/>
        </p:nvSpPr>
        <p:spPr>
          <a:xfrm>
            <a:off x="6583680" y="299923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8" name="ROW_2_ACTION"/>
          <p:cNvSpPr txBox="1"/>
          <p:nvPr/>
        </p:nvSpPr>
        <p:spPr>
          <a:xfrm>
            <a:off x="8412480" y="299923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9" name="ROW_3_BAND"/>
          <p:cNvSpPr/>
          <p:nvPr/>
        </p:nvSpPr>
        <p:spPr>
          <a:xfrm>
            <a:off x="548640" y="3611880"/>
            <a:ext cx="11064240" cy="731520"/>
          </a:xfrm>
          <a:prstGeom prst="rect">
            <a:avLst/>
          </a:prstGeom>
          <a:solidFill>
            <a:schemeClr val="l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_3_NAME"/>
          <p:cNvSpPr txBox="1"/>
          <p:nvPr/>
        </p:nvSpPr>
        <p:spPr>
          <a:xfrm>
            <a:off x="548640" y="377647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1" name="ROW_3_METRIC"/>
          <p:cNvSpPr txBox="1"/>
          <p:nvPr/>
        </p:nvSpPr>
        <p:spPr>
          <a:xfrm>
            <a:off x="3840480" y="37764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2" name="ROW_3_STATUS"/>
          <p:cNvSpPr txBox="1"/>
          <p:nvPr/>
        </p:nvSpPr>
        <p:spPr>
          <a:xfrm>
            <a:off x="6583680" y="377647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3" name="ROW_3_ACTION"/>
          <p:cNvSpPr txBox="1"/>
          <p:nvPr/>
        </p:nvSpPr>
        <p:spPr>
          <a:xfrm>
            <a:off x="8412480" y="37764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4" name="ROW_4_NAME"/>
          <p:cNvSpPr txBox="1"/>
          <p:nvPr/>
        </p:nvSpPr>
        <p:spPr>
          <a:xfrm>
            <a:off x="548640" y="45537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5" name="ROW_4_METRIC"/>
          <p:cNvSpPr txBox="1"/>
          <p:nvPr/>
        </p:nvSpPr>
        <p:spPr>
          <a:xfrm>
            <a:off x="3840480" y="45537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6" name="ROW_4_STATUS"/>
          <p:cNvSpPr txBox="1"/>
          <p:nvPr/>
        </p:nvSpPr>
        <p:spPr>
          <a:xfrm>
            <a:off x="6583680" y="455371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7" name="ROW_4_ACTION"/>
          <p:cNvSpPr txBox="1"/>
          <p:nvPr/>
        </p:nvSpPr>
        <p:spPr>
          <a:xfrm>
            <a:off x="8412480" y="455371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28" name="ROW_5_BAND"/>
          <p:cNvSpPr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solidFill>
            <a:schemeClr val="l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_5_NAME"/>
          <p:cNvSpPr txBox="1"/>
          <p:nvPr/>
        </p:nvSpPr>
        <p:spPr>
          <a:xfrm>
            <a:off x="548640" y="53309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30" name="ROW_5_METRIC"/>
          <p:cNvSpPr txBox="1"/>
          <p:nvPr/>
        </p:nvSpPr>
        <p:spPr>
          <a:xfrm>
            <a:off x="3840480" y="533095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31" name="ROW_5_STATUS"/>
          <p:cNvSpPr txBox="1"/>
          <p:nvPr/>
        </p:nvSpPr>
        <p:spPr>
          <a:xfrm>
            <a:off x="6583680" y="5330952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32" name="ROW_5_ACTION"/>
          <p:cNvSpPr txBox="1"/>
          <p:nvPr/>
        </p:nvSpPr>
        <p:spPr>
          <a:xfrm>
            <a:off x="8412480" y="533095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33" name="FOOT_NOTE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  <a:latin typeface="Microsoft YaHei"/>
              </a:rPr>
              <a:t>口径：____（示例：最近 3 个月 vs 前 3 个月）</a:t>
            </a:r>
          </a:p>
        </p:txBody>
      </p:sp>
      <p:sp>
        <p:nvSpPr>
          <p:cNvPr id="34" name="TEACHING_CUE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  <a:latin typeface="Microsoft YaHei"/>
              </a:rPr>
              <a:t>讲解提示：状态列可用主题色区分（预警=警示色、正常=正向色）。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P_BAR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chemeClr val="accent5"/>
                </a:solidFill>
                <a:latin typeface="Microsoft YaHei"/>
              </a:rPr>
              <a:t>客户经营分析 · 汇报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384048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chemeClr val="dk1"/>
                </a:solidFill>
                <a:latin typeface="Microsoft YaHei"/>
              </a:rPr>
              <a:t>客户经营卡片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chemeClr val="accent5"/>
                </a:solidFill>
                <a:latin typeface="Microsoft YaHei"/>
              </a:rPr>
              <a:t>单客户画像：层级 / 销售 / 毛利 / 品类 / 趋势 / 建议</a:t>
            </a:r>
          </a:p>
        </p:txBody>
      </p:sp>
      <p:sp>
        <p:nvSpPr>
          <p:cNvPr id="6" name="FIELD_1_LABEL"/>
          <p:cNvSpPr txBox="1"/>
          <p:nvPr/>
        </p:nvSpPr>
        <p:spPr>
          <a:xfrm>
            <a:off x="548640" y="16002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accent5"/>
                </a:solidFill>
                <a:latin typeface="Microsoft YaHei"/>
              </a:rPr>
              <a:t>客户层级</a:t>
            </a:r>
          </a:p>
        </p:txBody>
      </p:sp>
      <p:sp>
        <p:nvSpPr>
          <p:cNvPr id="7" name="FIELD_1_VALUE"/>
          <p:cNvSpPr txBox="1"/>
          <p:nvPr/>
        </p:nvSpPr>
        <p:spPr>
          <a:xfrm>
            <a:off x="2377440" y="1600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8" name="FIELD_2_LABEL"/>
          <p:cNvSpPr txBox="1"/>
          <p:nvPr/>
        </p:nvSpPr>
        <p:spPr>
          <a:xfrm>
            <a:off x="548640" y="23317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accent5"/>
                </a:solidFill>
                <a:latin typeface="Microsoft YaHei"/>
              </a:rPr>
              <a:t>累计销售额</a:t>
            </a:r>
          </a:p>
        </p:txBody>
      </p:sp>
      <p:sp>
        <p:nvSpPr>
          <p:cNvPr id="9" name="FIELD_2_VALUE"/>
          <p:cNvSpPr txBox="1"/>
          <p:nvPr/>
        </p:nvSpPr>
        <p:spPr>
          <a:xfrm>
            <a:off x="2377440" y="2331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0" name="FIELD_3_LABEL"/>
          <p:cNvSpPr txBox="1"/>
          <p:nvPr/>
        </p:nvSpPr>
        <p:spPr>
          <a:xfrm>
            <a:off x="548640" y="30632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accent5"/>
                </a:solidFill>
                <a:latin typeface="Microsoft YaHei"/>
              </a:rPr>
              <a:t>累计毛利</a:t>
            </a:r>
          </a:p>
        </p:txBody>
      </p:sp>
      <p:sp>
        <p:nvSpPr>
          <p:cNvPr id="11" name="FIELD_3_VALUE"/>
          <p:cNvSpPr txBox="1"/>
          <p:nvPr/>
        </p:nvSpPr>
        <p:spPr>
          <a:xfrm>
            <a:off x="2377440" y="3063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2" name="FIELD_4_LABEL"/>
          <p:cNvSpPr txBox="1"/>
          <p:nvPr/>
        </p:nvSpPr>
        <p:spPr>
          <a:xfrm>
            <a:off x="6309360" y="16002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accent5"/>
                </a:solidFill>
                <a:latin typeface="Microsoft YaHei"/>
              </a:rPr>
              <a:t>品类结构</a:t>
            </a:r>
          </a:p>
        </p:txBody>
      </p:sp>
      <p:sp>
        <p:nvSpPr>
          <p:cNvPr id="13" name="FIELD_4_VALUE"/>
          <p:cNvSpPr txBox="1"/>
          <p:nvPr/>
        </p:nvSpPr>
        <p:spPr>
          <a:xfrm>
            <a:off x="8138160" y="1600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4" name="FIELD_5_LABEL"/>
          <p:cNvSpPr txBox="1"/>
          <p:nvPr/>
        </p:nvSpPr>
        <p:spPr>
          <a:xfrm>
            <a:off x="6309360" y="23317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accent5"/>
                </a:solidFill>
                <a:latin typeface="Microsoft YaHei"/>
              </a:rPr>
              <a:t>近期趋势</a:t>
            </a:r>
          </a:p>
        </p:txBody>
      </p:sp>
      <p:sp>
        <p:nvSpPr>
          <p:cNvPr id="15" name="FIELD_5_VALUE"/>
          <p:cNvSpPr txBox="1"/>
          <p:nvPr/>
        </p:nvSpPr>
        <p:spPr>
          <a:xfrm>
            <a:off x="8138160" y="2331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6" name="FIELD_6_LABEL"/>
          <p:cNvSpPr txBox="1"/>
          <p:nvPr/>
        </p:nvSpPr>
        <p:spPr>
          <a:xfrm>
            <a:off x="6309360" y="306324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chemeClr val="accent5"/>
                </a:solidFill>
                <a:latin typeface="Microsoft YaHei"/>
              </a:rPr>
              <a:t>关注事项</a:t>
            </a:r>
          </a:p>
        </p:txBody>
      </p:sp>
      <p:sp>
        <p:nvSpPr>
          <p:cNvPr id="17" name="FIELD_6_VALUE"/>
          <p:cNvSpPr txBox="1"/>
          <p:nvPr/>
        </p:nvSpPr>
        <p:spPr>
          <a:xfrm>
            <a:off x="8138160" y="30632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chemeClr val="dk1"/>
                </a:solidFill>
                <a:latin typeface="Microsoft YaHei"/>
              </a:rPr>
              <a:t>—</a:t>
            </a:r>
          </a:p>
        </p:txBody>
      </p:sp>
      <p:sp>
        <p:nvSpPr>
          <p:cNvPr id="18" name="ADVICE_LABEL"/>
          <p:cNvSpPr txBox="1"/>
          <p:nvPr/>
        </p:nvSpPr>
        <p:spPr>
          <a:xfrm>
            <a:off x="54864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chemeClr val="accent1"/>
                </a:solidFill>
                <a:latin typeface="Microsoft YaHei"/>
              </a:rPr>
              <a:t>下一步建议</a:t>
            </a:r>
          </a:p>
        </p:txBody>
      </p:sp>
      <p:sp>
        <p:nvSpPr>
          <p:cNvPr id="19" name="ADVICE_TEXT"/>
          <p:cNvSpPr txBox="1"/>
          <p:nvPr/>
        </p:nvSpPr>
        <p:spPr>
          <a:xfrm>
            <a:off x="2651760" y="4114800"/>
            <a:ext cx="8961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chemeClr val="dk1"/>
                </a:solidFill>
                <a:latin typeface="Microsoft YaHei"/>
              </a:rPr>
              <a:t>（建议内容：回访节奏 / 促销资源 / 增量品类，标注"供参考"）</a:t>
            </a:r>
          </a:p>
        </p:txBody>
      </p:sp>
      <p:sp>
        <p:nvSpPr>
          <p:cNvPr id="20" name="TEACHING_CUE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chemeClr val="accent5"/>
                </a:solidFill>
                <a:latin typeface="Microsoft YaHei"/>
              </a:rPr>
              <a:t>讲解提示：卡片用于 Top 客户逐一过会；建议必须标注"供参考"。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A3A"/>
      </a:dk1>
      <a:lt1>
        <a:srgbClr val="FFFFFF"/>
      </a:lt1>
      <a:dk2>
        <a:srgbClr val="1F4E79"/>
      </a:dk2>
      <a:lt2>
        <a:srgbClr val="F4F5F2"/>
      </a:lt2>
      <a:accent1>
        <a:srgbClr val="1F4E79"/>
      </a:accent1>
      <a:accent2>
        <a:srgbClr val="C61720"/>
      </a:accent2>
      <a:accent3>
        <a:srgbClr val="2F6B4F"/>
      </a:accent3>
      <a:accent4>
        <a:srgbClr val="8A5B13"/>
      </a:accent4>
      <a:accent5>
        <a:srgbClr val="66747C"/>
      </a:accent5>
      <a:accent6>
        <a:srgbClr val="4B8BBE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